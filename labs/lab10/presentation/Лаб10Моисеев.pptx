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9228" y="391949"/>
            <a:ext cx="3491865" cy="69850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7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7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03530" marR="219710" indent="46990">
              <a:lnSpc>
                <a:spcPct val="16080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5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4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30898" y="1970606"/>
            <a:ext cx="2562860" cy="819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 marL="41910">
              <a:lnSpc>
                <a:spcPct val="100000"/>
              </a:lnSpc>
              <a:spcBef>
                <a:spcPts val="819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6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spc="-25" b="1">
                <a:latin typeface="Times New Roman"/>
                <a:cs typeface="Times New Roman"/>
              </a:rPr>
              <a:t>10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74725" algn="l"/>
              </a:tabLst>
            </a:pP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050" spc="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9817" y="4260396"/>
            <a:ext cx="2061845" cy="5232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334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85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86023" y="6262062"/>
            <a:ext cx="528320" cy="4445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  <a:spcBef>
                <a:spcPts val="625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1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3745557" y="3198619"/>
            <a:ext cx="171450" cy="129539"/>
            <a:chOff x="3745557" y="3198619"/>
            <a:chExt cx="171450" cy="129539"/>
          </a:xfrm>
        </p:grpSpPr>
        <p:sp>
          <p:nvSpPr>
            <p:cNvPr id="5" name="object 5" descr=""/>
            <p:cNvSpPr/>
            <p:nvPr/>
          </p:nvSpPr>
          <p:spPr>
            <a:xfrm>
              <a:off x="3748088" y="3201149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748088" y="3201149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43204" y="766996"/>
            <a:ext cx="4149725" cy="2679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8.</a:t>
            </a:r>
            <a:r>
              <a:rPr dirty="0" sz="950" spc="26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Текстовой</a:t>
            </a:r>
            <a:r>
              <a:rPr dirty="0" sz="950" spc="8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редактор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Courier New"/>
                <a:cs typeface="Courier New"/>
              </a:rPr>
              <a:t>vi</a:t>
            </a:r>
            <a:endParaRPr sz="850">
              <a:latin typeface="Courier New"/>
              <a:cs typeface="Courier New"/>
            </a:endParaRPr>
          </a:p>
          <a:p>
            <a:pPr lvl="1" marL="342265" indent="-292100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34226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50800" marR="3810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Познакомиться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Linux.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Получить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практические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навыки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установленным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практически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дистрибутивах.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lvl="1" marL="341630" indent="-290830">
              <a:lnSpc>
                <a:spcPct val="100000"/>
              </a:lnSpc>
              <a:buAutoNum type="arabicPeriod" startAt="2"/>
              <a:tabLst>
                <a:tab pos="34163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marL="50800" marR="59055" indent="97790">
              <a:lnSpc>
                <a:spcPct val="100000"/>
              </a:lnSpc>
              <a:spcBef>
                <a:spcPts val="860"/>
              </a:spcBef>
            </a:pP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большинстве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дистрибутивов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Linux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качестве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текстового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редактора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умолчанию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устанавливается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интерактивный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экранный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(Visual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display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editor).</a:t>
            </a:r>
            <a:endParaRPr sz="750">
              <a:latin typeface="Book Antiqua"/>
              <a:cs typeface="Book Antiqua"/>
            </a:endParaRPr>
          </a:p>
          <a:p>
            <a:pPr marL="148590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работы:</a:t>
            </a:r>
            <a:endParaRPr sz="750">
              <a:latin typeface="Book Antiqua"/>
              <a:cs typeface="Book Antiqua"/>
            </a:endParaRPr>
          </a:p>
          <a:p>
            <a:pPr lvl="2" marL="182245" marR="59055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83515" algn="l"/>
              </a:tabLst>
            </a:pPr>
            <a:r>
              <a:rPr dirty="0" sz="750" i="1">
                <a:latin typeface="Book Antiqua"/>
                <a:cs typeface="Book Antiqua"/>
              </a:rPr>
              <a:t>командный</a:t>
            </a:r>
            <a:r>
              <a:rPr dirty="0" sz="750" spc="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режим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редактирования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навигации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редактируемому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файлу;</a:t>
            </a:r>
            <a:endParaRPr sz="750">
              <a:latin typeface="Book Antiqua"/>
              <a:cs typeface="Book Antiqua"/>
            </a:endParaRPr>
          </a:p>
          <a:p>
            <a:pPr lvl="2" marL="182245" indent="-117475">
              <a:lnSpc>
                <a:spcPts val="869"/>
              </a:lnSpc>
              <a:buFont typeface="Book Antiqua"/>
              <a:buChar char="–"/>
              <a:tabLst>
                <a:tab pos="182245" algn="l"/>
              </a:tabLst>
            </a:pPr>
            <a:r>
              <a:rPr dirty="0" sz="750" i="1">
                <a:latin typeface="Book Antiqua"/>
                <a:cs typeface="Book Antiqua"/>
              </a:rPr>
              <a:t>режим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вставки</a:t>
            </a:r>
            <a:r>
              <a:rPr dirty="0" sz="750" spc="45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редактируемого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файла;</a:t>
            </a:r>
            <a:endParaRPr sz="750">
              <a:latin typeface="Book Antiqua"/>
              <a:cs typeface="Book Antiqua"/>
            </a:endParaRPr>
          </a:p>
          <a:p>
            <a:pPr lvl="2" marL="182245" marR="59055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83515" algn="l"/>
              </a:tabLst>
            </a:pPr>
            <a:r>
              <a:rPr dirty="0" sz="750" i="1">
                <a:latin typeface="Book Antiqua"/>
                <a:cs typeface="Book Antiqua"/>
              </a:rPr>
              <a:t>режим</a:t>
            </a:r>
            <a:r>
              <a:rPr dirty="0" sz="750" spc="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последней</a:t>
            </a:r>
            <a:r>
              <a:rPr dirty="0" sz="750" spc="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(или</a:t>
            </a:r>
            <a:r>
              <a:rPr dirty="0" sz="750" spc="6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командной)</a:t>
            </a:r>
            <a:r>
              <a:rPr dirty="0" sz="750" spc="5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строки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редактора.</a:t>
            </a:r>
            <a:endParaRPr sz="750">
              <a:latin typeface="Book Antiqua"/>
              <a:cs typeface="Book Antiqua"/>
            </a:endParaRPr>
          </a:p>
          <a:p>
            <a:pPr marL="148590">
              <a:lnSpc>
                <a:spcPts val="869"/>
              </a:lnSpc>
            </a:pP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редактируемого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файла:</a:t>
            </a:r>
            <a:endParaRPr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&lt;имя_файла&gt;</a:t>
            </a:r>
            <a:endParaRPr sz="700">
              <a:latin typeface="Courier New"/>
              <a:cs typeface="Courier New"/>
            </a:endParaRPr>
          </a:p>
          <a:p>
            <a:pPr marL="148590">
              <a:lnSpc>
                <a:spcPct val="100000"/>
              </a:lnSpc>
              <a:spcBef>
                <a:spcPts val="5"/>
              </a:spcBef>
            </a:pP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отсутствия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файл.</a:t>
            </a:r>
            <a:endParaRPr sz="750">
              <a:latin typeface="Book Antiqua"/>
              <a:cs typeface="Book Antiqua"/>
            </a:endParaRPr>
          </a:p>
          <a:p>
            <a:pPr marL="50800" marR="59055" indent="97790">
              <a:lnSpc>
                <a:spcPct val="100000"/>
              </a:lnSpc>
              <a:spcBef>
                <a:spcPts val="170"/>
              </a:spcBef>
            </a:pP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нажатием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33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20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из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строки: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находясь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командном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3437483"/>
            <a:ext cx="757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режиме,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нажать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348056" y="3446434"/>
            <a:ext cx="266065" cy="129539"/>
            <a:chOff x="1348056" y="3446434"/>
            <a:chExt cx="266065" cy="129539"/>
          </a:xfrm>
        </p:grpSpPr>
        <p:sp>
          <p:nvSpPr>
            <p:cNvPr id="10" name="object 10" descr=""/>
            <p:cNvSpPr/>
            <p:nvPr/>
          </p:nvSpPr>
          <p:spPr>
            <a:xfrm>
              <a:off x="1350586" y="3448964"/>
              <a:ext cx="261620" cy="124460"/>
            </a:xfrm>
            <a:custGeom>
              <a:avLst/>
              <a:gdLst/>
              <a:ahLst/>
              <a:cxnLst/>
              <a:rect l="l" t="t" r="r" b="b"/>
              <a:pathLst>
                <a:path w="261619" h="124460">
                  <a:moveTo>
                    <a:pt x="25440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54407" y="123926"/>
                  </a:lnTo>
                  <a:lnTo>
                    <a:pt x="261000" y="117333"/>
                  </a:lnTo>
                  <a:lnTo>
                    <a:pt x="261000" y="6592"/>
                  </a:lnTo>
                  <a:lnTo>
                    <a:pt x="25440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50586" y="3448964"/>
              <a:ext cx="261620" cy="124460"/>
            </a:xfrm>
            <a:custGeom>
              <a:avLst/>
              <a:gdLst/>
              <a:ahLst/>
              <a:cxnLst/>
              <a:rect l="l" t="t" r="r" b="b"/>
              <a:pathLst>
                <a:path w="261619" h="124460">
                  <a:moveTo>
                    <a:pt x="246275" y="0"/>
                  </a:moveTo>
                  <a:lnTo>
                    <a:pt x="14724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4" y="123926"/>
                  </a:lnTo>
                  <a:lnTo>
                    <a:pt x="246275" y="123926"/>
                  </a:lnTo>
                  <a:lnTo>
                    <a:pt x="254407" y="123926"/>
                  </a:lnTo>
                  <a:lnTo>
                    <a:pt x="261000" y="117333"/>
                  </a:lnTo>
                  <a:lnTo>
                    <a:pt x="261000" y="109202"/>
                  </a:lnTo>
                  <a:lnTo>
                    <a:pt x="261000" y="14723"/>
                  </a:lnTo>
                  <a:lnTo>
                    <a:pt x="261000" y="6592"/>
                  </a:lnTo>
                  <a:lnTo>
                    <a:pt x="254407" y="0"/>
                  </a:lnTo>
                  <a:lnTo>
                    <a:pt x="24627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350586" y="3448964"/>
            <a:ext cx="2616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Shift-</a:t>
            </a:r>
            <a:r>
              <a:rPr dirty="0" sz="650" spc="-50">
                <a:latin typeface="Calibri"/>
                <a:cs typeface="Calibri"/>
              </a:rPr>
              <a:t>;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25257" y="3437483"/>
            <a:ext cx="18205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: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двоеточие),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затем: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7964" y="3551097"/>
            <a:ext cx="4060825" cy="1699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7320" marR="5080" indent="-117475">
              <a:lnSpc>
                <a:spcPct val="100000"/>
              </a:lnSpc>
              <a:spcBef>
                <a:spcPts val="120"/>
              </a:spcBef>
              <a:buFont typeface="Book Antiqua"/>
              <a:buChar char="–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набрать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wq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редактора</a:t>
            </a:r>
            <a:r>
              <a:rPr dirty="0" sz="750">
                <a:latin typeface="Book Antiqua"/>
                <a:cs typeface="Book Antiqua"/>
              </a:rPr>
              <a:t> требуется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файл;</a:t>
            </a:r>
            <a:endParaRPr sz="750">
              <a:latin typeface="Book Antiqua"/>
              <a:cs typeface="Book Antiqua"/>
            </a:endParaRPr>
          </a:p>
          <a:p>
            <a:pPr marL="147320" indent="-117475">
              <a:lnSpc>
                <a:spcPts val="890"/>
              </a:lnSpc>
              <a:buFont typeface="Book Antiqua"/>
              <a:buChar char="–"/>
              <a:tabLst>
                <a:tab pos="147320" algn="l"/>
              </a:tabLst>
            </a:pPr>
            <a:r>
              <a:rPr dirty="0" sz="750">
                <a:latin typeface="Book Antiqua"/>
                <a:cs typeface="Book Antiqua"/>
              </a:rPr>
              <a:t>набрать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q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(или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q!</a:t>
            </a:r>
            <a:r>
              <a:rPr dirty="0" sz="750">
                <a:latin typeface="Book Antiqua"/>
                <a:cs typeface="Book Antiqua"/>
              </a:rPr>
              <a:t>), если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сохранения.</a:t>
            </a:r>
            <a:endParaRPr sz="750">
              <a:latin typeface="Book Antiqua"/>
              <a:cs typeface="Book Antiqua"/>
            </a:endParaRPr>
          </a:p>
          <a:p>
            <a:pPr marL="12700" marR="5080" indent="3175">
              <a:lnSpc>
                <a:spcPct val="100000"/>
              </a:lnSpc>
              <a:spcBef>
                <a:spcPts val="595"/>
              </a:spcBef>
            </a:pPr>
            <a:r>
              <a:rPr dirty="0" sz="750" b="1">
                <a:latin typeface="Book Antiqua"/>
                <a:cs typeface="Book Antiqua"/>
              </a:rPr>
              <a:t>Замечание.</a:t>
            </a:r>
            <a:r>
              <a:rPr dirty="0" sz="750" spc="390" b="1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Следует </a:t>
            </a:r>
            <a:r>
              <a:rPr dirty="0" sz="750">
                <a:latin typeface="Book Antiqua"/>
                <a:cs typeface="Book Antiqua"/>
              </a:rPr>
              <a:t>помнить,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vi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прописные </a:t>
            </a:r>
            <a:r>
              <a:rPr dirty="0" sz="750" spc="-2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строчные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буквы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наборе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(восприятии)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750">
              <a:latin typeface="Book Antiqua"/>
              <a:cs typeface="Book Antiqua"/>
            </a:endParaRPr>
          </a:p>
          <a:p>
            <a:pPr lvl="2" marL="401955" indent="-38608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01955" algn="l"/>
              </a:tabLst>
            </a:pPr>
            <a:r>
              <a:rPr dirty="0" sz="850" b="1">
                <a:latin typeface="Book Antiqua"/>
                <a:cs typeface="Book Antiqua"/>
              </a:rPr>
              <a:t>Основные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группы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команд</a:t>
            </a:r>
            <a:r>
              <a:rPr dirty="0" sz="850" spc="6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редактора</a:t>
            </a:r>
            <a:endParaRPr sz="850">
              <a:latin typeface="Book Antiqua"/>
              <a:cs typeface="Book Antiqua"/>
            </a:endParaRPr>
          </a:p>
          <a:p>
            <a:pPr lvl="3" marL="448309" indent="-432434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48309" algn="l"/>
              </a:tabLst>
            </a:pPr>
            <a:r>
              <a:rPr dirty="0" sz="750" b="1">
                <a:latin typeface="Book Antiqua"/>
                <a:cs typeface="Book Antiqua"/>
              </a:rPr>
              <a:t>Команды</a:t>
            </a:r>
            <a:r>
              <a:rPr dirty="0" sz="750" spc="18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управления</a:t>
            </a:r>
            <a:r>
              <a:rPr dirty="0" sz="750" spc="19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курсором</a:t>
            </a:r>
            <a:endParaRPr sz="750">
              <a:latin typeface="Book Antiqua"/>
              <a:cs typeface="Book Antiqua"/>
            </a:endParaRPr>
          </a:p>
          <a:p>
            <a:pPr marL="113664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приведены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  <a:hlinkClick r:id="rId2" action="ppaction://hlinksldjump"/>
              </a:rPr>
              <a:t>8.1.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50">
              <a:latin typeface="Book Antiqua"/>
              <a:cs typeface="Book Antiqua"/>
            </a:endParaRPr>
          </a:p>
          <a:p>
            <a:pPr algn="ctr" marL="3517265">
              <a:lnSpc>
                <a:spcPct val="100000"/>
              </a:lnSpc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8.1</a:t>
            </a:r>
            <a:endParaRPr sz="650">
              <a:latin typeface="Book Antiqua"/>
              <a:cs typeface="Book Antiqua"/>
            </a:endParaRPr>
          </a:p>
          <a:p>
            <a:pPr algn="ctr" marL="3175">
              <a:lnSpc>
                <a:spcPct val="100000"/>
              </a:lnSpc>
              <a:spcBef>
                <a:spcPts val="114"/>
              </a:spcBef>
            </a:pPr>
            <a:r>
              <a:rPr dirty="0" sz="650" spc="10" b="1">
                <a:latin typeface="Book Antiqua"/>
                <a:cs typeface="Book Antiqua"/>
              </a:rPr>
              <a:t>Команды</a:t>
            </a:r>
            <a:r>
              <a:rPr dirty="0" sz="650" spc="17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управления</a:t>
            </a:r>
            <a:r>
              <a:rPr dirty="0" sz="650" spc="17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курсором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61466" y="5383200"/>
            <a:ext cx="3697604" cy="0"/>
          </a:xfrm>
          <a:custGeom>
            <a:avLst/>
            <a:gdLst/>
            <a:ahLst/>
            <a:cxnLst/>
            <a:rect l="l" t="t" r="r" b="b"/>
            <a:pathLst>
              <a:path w="3697604" h="0">
                <a:moveTo>
                  <a:pt x="0" y="0"/>
                </a:moveTo>
                <a:lnTo>
                  <a:pt x="36970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970102" y="5397156"/>
            <a:ext cx="6724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влево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61466" y="5574893"/>
            <a:ext cx="3697604" cy="159385"/>
            <a:chOff x="761466" y="5574893"/>
            <a:chExt cx="3697604" cy="159385"/>
          </a:xfrm>
        </p:grpSpPr>
        <p:sp>
          <p:nvSpPr>
            <p:cNvPr id="18" name="object 18" descr=""/>
            <p:cNvSpPr/>
            <p:nvPr/>
          </p:nvSpPr>
          <p:spPr>
            <a:xfrm>
              <a:off x="761466" y="5577421"/>
              <a:ext cx="3697604" cy="0"/>
            </a:xfrm>
            <a:custGeom>
              <a:avLst/>
              <a:gdLst/>
              <a:ahLst/>
              <a:cxnLst/>
              <a:rect l="l" t="t" r="r" b="b"/>
              <a:pathLst>
                <a:path w="3697604" h="0">
                  <a:moveTo>
                    <a:pt x="0" y="0"/>
                  </a:moveTo>
                  <a:lnTo>
                    <a:pt x="369705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8082" y="5605243"/>
              <a:ext cx="176326" cy="12898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088954" y="5607774"/>
              <a:ext cx="582930" cy="124460"/>
            </a:xfrm>
            <a:custGeom>
              <a:avLst/>
              <a:gdLst/>
              <a:ahLst/>
              <a:cxnLst/>
              <a:rect l="l" t="t" r="r" b="b"/>
              <a:pathLst>
                <a:path w="582930" h="124460">
                  <a:moveTo>
                    <a:pt x="576044" y="0"/>
                  </a:moveTo>
                  <a:lnTo>
                    <a:pt x="6591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1" y="123926"/>
                  </a:lnTo>
                  <a:lnTo>
                    <a:pt x="576044" y="123926"/>
                  </a:lnTo>
                  <a:lnTo>
                    <a:pt x="582635" y="117333"/>
                  </a:lnTo>
                  <a:lnTo>
                    <a:pt x="582635" y="6592"/>
                  </a:lnTo>
                  <a:lnTo>
                    <a:pt x="57604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88954" y="5607774"/>
              <a:ext cx="582930" cy="124460"/>
            </a:xfrm>
            <a:custGeom>
              <a:avLst/>
              <a:gdLst/>
              <a:ahLst/>
              <a:cxnLst/>
              <a:rect l="l" t="t" r="r" b="b"/>
              <a:pathLst>
                <a:path w="582930" h="124460">
                  <a:moveTo>
                    <a:pt x="567912" y="0"/>
                  </a:moveTo>
                  <a:lnTo>
                    <a:pt x="14723" y="0"/>
                  </a:lnTo>
                  <a:lnTo>
                    <a:pt x="6591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1" y="123926"/>
                  </a:lnTo>
                  <a:lnTo>
                    <a:pt x="14723" y="123926"/>
                  </a:lnTo>
                  <a:lnTo>
                    <a:pt x="567912" y="123926"/>
                  </a:lnTo>
                  <a:lnTo>
                    <a:pt x="576044" y="123926"/>
                  </a:lnTo>
                  <a:lnTo>
                    <a:pt x="582635" y="117333"/>
                  </a:lnTo>
                  <a:lnTo>
                    <a:pt x="582635" y="109202"/>
                  </a:lnTo>
                  <a:lnTo>
                    <a:pt x="582635" y="14723"/>
                  </a:lnTo>
                  <a:lnTo>
                    <a:pt x="582635" y="6592"/>
                  </a:lnTo>
                  <a:lnTo>
                    <a:pt x="576044" y="0"/>
                  </a:lnTo>
                  <a:lnTo>
                    <a:pt x="56791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64208" y="5607774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88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6592"/>
                  </a:lnTo>
                  <a:lnTo>
                    <a:pt x="2288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964208" y="5607774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06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067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109202"/>
                  </a:lnTo>
                  <a:lnTo>
                    <a:pt x="235396" y="14723"/>
                  </a:lnTo>
                  <a:lnTo>
                    <a:pt x="235396" y="6592"/>
                  </a:lnTo>
                  <a:lnTo>
                    <a:pt x="228804" y="0"/>
                  </a:lnTo>
                  <a:lnTo>
                    <a:pt x="2206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009796" y="5397156"/>
            <a:ext cx="2385695" cy="3295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  <a:tabLst>
                <a:tab pos="962660" algn="l"/>
                <a:tab pos="1758314" algn="l"/>
              </a:tabLst>
            </a:pPr>
            <a:r>
              <a:rPr dirty="0" sz="750" b="1">
                <a:latin typeface="Book Antiqua"/>
                <a:cs typeface="Book Antiqua"/>
              </a:rPr>
              <a:t>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вправо</a:t>
            </a:r>
            <a:r>
              <a:rPr dirty="0" sz="750" b="1">
                <a:latin typeface="Book Antiqua"/>
                <a:cs typeface="Book Antiqua"/>
              </a:rPr>
              <a:t>	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вверх</a:t>
            </a:r>
            <a:r>
              <a:rPr dirty="0" sz="750" b="1">
                <a:latin typeface="Book Antiqua"/>
                <a:cs typeface="Book Antiqua"/>
              </a:rPr>
              <a:t>	Курсор</a:t>
            </a:r>
            <a:r>
              <a:rPr dirty="0" sz="750" spc="-5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вниз</a:t>
            </a:r>
            <a:endParaRPr sz="750">
              <a:latin typeface="Book Antiqua"/>
              <a:cs typeface="Book Antiqua"/>
            </a:endParaRPr>
          </a:p>
          <a:p>
            <a:pPr algn="ctr" marL="46990">
              <a:lnSpc>
                <a:spcPct val="100000"/>
              </a:lnSpc>
              <a:spcBef>
                <a:spcPts val="690"/>
              </a:spcBef>
              <a:tabLst>
                <a:tab pos="1758314" algn="l"/>
              </a:tabLst>
            </a:pPr>
            <a:r>
              <a:rPr dirty="0" sz="650" spc="-10">
                <a:latin typeface="Calibri"/>
                <a:cs typeface="Calibri"/>
              </a:rPr>
              <a:t>Space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650" spc="-20">
                <a:latin typeface="Calibri"/>
                <a:cs typeface="Calibri"/>
              </a:rPr>
              <a:t>Enter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24687" y="5734850"/>
            <a:ext cx="2021839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01725" algn="l"/>
              </a:tabLst>
            </a:pPr>
            <a:r>
              <a:rPr dirty="0" sz="750">
                <a:latin typeface="Book Antiqua"/>
                <a:cs typeface="Book Antiqua"/>
              </a:rPr>
              <a:t>(клавиша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Backspace)</a:t>
            </a:r>
            <a:r>
              <a:rPr dirty="0" sz="750">
                <a:latin typeface="Book Antiqua"/>
                <a:cs typeface="Book Antiqua"/>
              </a:rPr>
              <a:t>	(клавиша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«пробел»)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230086" y="6025807"/>
            <a:ext cx="152400" cy="129539"/>
            <a:chOff x="1230086" y="6025807"/>
            <a:chExt cx="152400" cy="129539"/>
          </a:xfrm>
        </p:grpSpPr>
        <p:sp>
          <p:nvSpPr>
            <p:cNvPr id="27" name="object 27" descr=""/>
            <p:cNvSpPr/>
            <p:nvPr/>
          </p:nvSpPr>
          <p:spPr>
            <a:xfrm>
              <a:off x="1232626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232626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232626" y="6028347"/>
            <a:ext cx="147320" cy="2679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h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2304112" y="6025807"/>
            <a:ext cx="152400" cy="129539"/>
            <a:chOff x="2304112" y="6025807"/>
            <a:chExt cx="152400" cy="129539"/>
          </a:xfrm>
        </p:grpSpPr>
        <p:sp>
          <p:nvSpPr>
            <p:cNvPr id="31" name="object 31" descr=""/>
            <p:cNvSpPr/>
            <p:nvPr/>
          </p:nvSpPr>
          <p:spPr>
            <a:xfrm>
              <a:off x="2306652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306652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2355621" y="6023421"/>
            <a:ext cx="4953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l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231250" y="6025807"/>
            <a:ext cx="152400" cy="129539"/>
            <a:chOff x="3231250" y="6025807"/>
            <a:chExt cx="152400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3233790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233790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275114" y="6023421"/>
            <a:ext cx="64769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k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4005747" y="6025807"/>
            <a:ext cx="152400" cy="129539"/>
            <a:chOff x="4005747" y="6025807"/>
            <a:chExt cx="152400" cy="129539"/>
          </a:xfrm>
        </p:grpSpPr>
        <p:sp>
          <p:nvSpPr>
            <p:cNvPr id="39" name="object 39" descr=""/>
            <p:cNvSpPr/>
            <p:nvPr/>
          </p:nvSpPr>
          <p:spPr>
            <a:xfrm>
              <a:off x="4008287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008287" y="602834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4058284" y="6023421"/>
            <a:ext cx="4762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j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761466" y="6169301"/>
            <a:ext cx="3697604" cy="173990"/>
            <a:chOff x="761466" y="6169301"/>
            <a:chExt cx="3697604" cy="173990"/>
          </a:xfrm>
        </p:grpSpPr>
        <p:sp>
          <p:nvSpPr>
            <p:cNvPr id="43" name="object 43" descr=""/>
            <p:cNvSpPr/>
            <p:nvPr/>
          </p:nvSpPr>
          <p:spPr>
            <a:xfrm>
              <a:off x="1232626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32626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278734" y="624095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 h="0">
                  <a:moveTo>
                    <a:pt x="60226" y="0"/>
                  </a:moveTo>
                  <a:lnTo>
                    <a:pt x="0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275157" y="6221876"/>
              <a:ext cx="18415" cy="38735"/>
            </a:xfrm>
            <a:custGeom>
              <a:avLst/>
              <a:gdLst/>
              <a:ahLst/>
              <a:cxnLst/>
              <a:rect l="l" t="t" r="r" b="b"/>
              <a:pathLst>
                <a:path w="18415" h="38735">
                  <a:moveTo>
                    <a:pt x="17886" y="38157"/>
                  </a:moveTo>
                  <a:lnTo>
                    <a:pt x="15091" y="32325"/>
                  </a:lnTo>
                  <a:lnTo>
                    <a:pt x="9837" y="26382"/>
                  </a:lnTo>
                  <a:lnTo>
                    <a:pt x="4136" y="21556"/>
                  </a:lnTo>
                  <a:lnTo>
                    <a:pt x="0" y="19078"/>
                  </a:lnTo>
                  <a:lnTo>
                    <a:pt x="4136" y="16600"/>
                  </a:lnTo>
                  <a:lnTo>
                    <a:pt x="9837" y="11775"/>
                  </a:lnTo>
                  <a:lnTo>
                    <a:pt x="15091" y="5831"/>
                  </a:lnTo>
                  <a:lnTo>
                    <a:pt x="17886" y="0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306652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306652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347544" y="6240955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 h="0">
                  <a:moveTo>
                    <a:pt x="0" y="0"/>
                  </a:moveTo>
                  <a:lnTo>
                    <a:pt x="60226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393461" y="6221876"/>
              <a:ext cx="18415" cy="38735"/>
            </a:xfrm>
            <a:custGeom>
              <a:avLst/>
              <a:gdLst/>
              <a:ahLst/>
              <a:cxnLst/>
              <a:rect l="l" t="t" r="r" b="b"/>
              <a:pathLst>
                <a:path w="18414" h="38735">
                  <a:moveTo>
                    <a:pt x="0" y="0"/>
                  </a:moveTo>
                  <a:lnTo>
                    <a:pt x="2794" y="5831"/>
                  </a:lnTo>
                  <a:lnTo>
                    <a:pt x="8048" y="11775"/>
                  </a:lnTo>
                  <a:lnTo>
                    <a:pt x="13750" y="16600"/>
                  </a:lnTo>
                  <a:lnTo>
                    <a:pt x="17886" y="19078"/>
                  </a:lnTo>
                  <a:lnTo>
                    <a:pt x="13750" y="21556"/>
                  </a:lnTo>
                  <a:lnTo>
                    <a:pt x="8048" y="26382"/>
                  </a:lnTo>
                  <a:lnTo>
                    <a:pt x="2794" y="32325"/>
                  </a:lnTo>
                  <a:lnTo>
                    <a:pt x="0" y="38157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33790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233790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307410" y="6209358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w="0" h="60325">
                  <a:moveTo>
                    <a:pt x="0" y="60226"/>
                  </a:moveTo>
                  <a:lnTo>
                    <a:pt x="0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288331" y="6205781"/>
              <a:ext cx="38735" cy="18415"/>
            </a:xfrm>
            <a:custGeom>
              <a:avLst/>
              <a:gdLst/>
              <a:ahLst/>
              <a:cxnLst/>
              <a:rect l="l" t="t" r="r" b="b"/>
              <a:pathLst>
                <a:path w="38735" h="18414">
                  <a:moveTo>
                    <a:pt x="0" y="17886"/>
                  </a:moveTo>
                  <a:lnTo>
                    <a:pt x="5831" y="15091"/>
                  </a:lnTo>
                  <a:lnTo>
                    <a:pt x="11775" y="9837"/>
                  </a:lnTo>
                  <a:lnTo>
                    <a:pt x="16600" y="4136"/>
                  </a:lnTo>
                  <a:lnTo>
                    <a:pt x="19078" y="0"/>
                  </a:lnTo>
                  <a:lnTo>
                    <a:pt x="21556" y="4136"/>
                  </a:lnTo>
                  <a:lnTo>
                    <a:pt x="26382" y="9837"/>
                  </a:lnTo>
                  <a:lnTo>
                    <a:pt x="32325" y="15091"/>
                  </a:lnTo>
                  <a:lnTo>
                    <a:pt x="38157" y="17886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008287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008287" y="61718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20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081906" y="6204145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w="0" h="60325">
                  <a:moveTo>
                    <a:pt x="0" y="0"/>
                  </a:moveTo>
                  <a:lnTo>
                    <a:pt x="0" y="60226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062828" y="6250063"/>
              <a:ext cx="38735" cy="18415"/>
            </a:xfrm>
            <a:custGeom>
              <a:avLst/>
              <a:gdLst/>
              <a:ahLst/>
              <a:cxnLst/>
              <a:rect l="l" t="t" r="r" b="b"/>
              <a:pathLst>
                <a:path w="38735" h="18414">
                  <a:moveTo>
                    <a:pt x="38157" y="0"/>
                  </a:moveTo>
                  <a:lnTo>
                    <a:pt x="32325" y="2794"/>
                  </a:lnTo>
                  <a:lnTo>
                    <a:pt x="26382" y="8048"/>
                  </a:lnTo>
                  <a:lnTo>
                    <a:pt x="21556" y="13750"/>
                  </a:lnTo>
                  <a:lnTo>
                    <a:pt x="19078" y="17886"/>
                  </a:lnTo>
                  <a:lnTo>
                    <a:pt x="16600" y="13750"/>
                  </a:lnTo>
                  <a:lnTo>
                    <a:pt x="11775" y="8048"/>
                  </a:lnTo>
                  <a:lnTo>
                    <a:pt x="5831" y="2794"/>
                  </a:lnTo>
                  <a:lnTo>
                    <a:pt x="0" y="0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61466" y="6340614"/>
              <a:ext cx="3697604" cy="0"/>
            </a:xfrm>
            <a:custGeom>
              <a:avLst/>
              <a:gdLst/>
              <a:ahLst/>
              <a:cxnLst/>
              <a:rect l="l" t="t" r="r" b="b"/>
              <a:pathLst>
                <a:path w="3697604" h="0">
                  <a:moveTo>
                    <a:pt x="0" y="0"/>
                  </a:moveTo>
                  <a:lnTo>
                    <a:pt x="369705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71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26718" y="884603"/>
            <a:ext cx="152400" cy="412750"/>
            <a:chOff x="726718" y="884603"/>
            <a:chExt cx="152400" cy="412750"/>
          </a:xfrm>
        </p:grpSpPr>
        <p:sp>
          <p:nvSpPr>
            <p:cNvPr id="6" name="object 6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9248" y="117040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9248" y="117040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95031" y="1309519"/>
            <a:ext cx="152400" cy="129539"/>
            <a:chOff x="795031" y="1309519"/>
            <a:chExt cx="152400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797562" y="131205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7562" y="131205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43204" y="653389"/>
            <a:ext cx="2200910" cy="10636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lvl="3" marL="482600" indent="-432434">
              <a:lnSpc>
                <a:spcPct val="100000"/>
              </a:lnSpc>
              <a:spcBef>
                <a:spcPts val="120"/>
              </a:spcBef>
              <a:buAutoNum type="arabicPeriod" startAt="2"/>
              <a:tabLst>
                <a:tab pos="482600" algn="l"/>
              </a:tabLst>
            </a:pPr>
            <a:r>
              <a:rPr dirty="0" sz="750" b="1">
                <a:latin typeface="Book Antiqua"/>
                <a:cs typeface="Book Antiqua"/>
              </a:rPr>
              <a:t>Команды</a:t>
            </a:r>
            <a:r>
              <a:rPr dirty="0" sz="750" spc="17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позиционирования</a:t>
            </a:r>
            <a:endParaRPr sz="750">
              <a:latin typeface="Book Antiqua"/>
              <a:cs typeface="Book Antiqua"/>
            </a:endParaRPr>
          </a:p>
          <a:p>
            <a:pPr lvl="4" marL="236854" indent="-172085">
              <a:lnSpc>
                <a:spcPct val="100000"/>
              </a:lnSpc>
              <a:spcBef>
                <a:spcPts val="850"/>
              </a:spcBef>
              <a:buSzPct val="115384"/>
              <a:buFont typeface="Book Antiqua"/>
              <a:buChar char="–"/>
              <a:tabLst>
                <a:tab pos="236854" algn="l"/>
              </a:tabLst>
            </a:pPr>
            <a:r>
              <a:rPr dirty="0" baseline="8547" sz="975">
                <a:latin typeface="Calibri"/>
                <a:cs typeface="Calibri"/>
              </a:rPr>
              <a:t>0</a:t>
            </a:r>
            <a:r>
              <a:rPr dirty="0" baseline="8547" sz="975" spc="292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(ноль)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  <a:p>
            <a:pPr lvl="4" marL="236854" indent="-17208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36854" algn="l"/>
              </a:tabLst>
            </a:pPr>
            <a:r>
              <a:rPr dirty="0" baseline="8547" sz="975">
                <a:latin typeface="Calibri"/>
                <a:cs typeface="Calibri"/>
              </a:rPr>
              <a:t>$</a:t>
            </a:r>
            <a:r>
              <a:rPr dirty="0" baseline="8547" sz="975" spc="26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  <a:p>
            <a:pPr lvl="4" marL="233679" indent="-16891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33679" algn="l"/>
              </a:tabLst>
            </a:pPr>
            <a:r>
              <a:rPr dirty="0" baseline="8547" sz="975">
                <a:latin typeface="Calibri"/>
                <a:cs typeface="Calibri"/>
              </a:rPr>
              <a:t>G</a:t>
            </a:r>
            <a:r>
              <a:rPr dirty="0" baseline="8547" sz="975" spc="697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файла;</a:t>
            </a:r>
            <a:endParaRPr sz="750">
              <a:latin typeface="Book Antiqua"/>
              <a:cs typeface="Book Antiqua"/>
            </a:endParaRPr>
          </a:p>
          <a:p>
            <a:pPr lvl="4" marL="182245" indent="-117475">
              <a:lnSpc>
                <a:spcPct val="100000"/>
              </a:lnSpc>
              <a:spcBef>
                <a:spcPts val="65"/>
              </a:spcBef>
              <a:buSzPct val="83333"/>
              <a:buFont typeface="Book Antiqua"/>
              <a:buChar char="–"/>
              <a:tabLst>
                <a:tab pos="182245" algn="l"/>
              </a:tabLst>
            </a:pP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4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G</a:t>
            </a:r>
            <a:r>
              <a:rPr dirty="0" baseline="8547" sz="975" spc="705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𝑛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8.2.1.3.</a:t>
            </a:r>
            <a:r>
              <a:rPr dirty="0" sz="750" spc="275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Команды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перемещения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по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файлу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26709" y="1804886"/>
            <a:ext cx="252729" cy="129539"/>
            <a:chOff x="726709" y="1804886"/>
            <a:chExt cx="252729" cy="129539"/>
          </a:xfrm>
        </p:grpSpPr>
        <p:sp>
          <p:nvSpPr>
            <p:cNvPr id="17" name="object 17" descr=""/>
            <p:cNvSpPr/>
            <p:nvPr/>
          </p:nvSpPr>
          <p:spPr>
            <a:xfrm>
              <a:off x="729249" y="1807426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746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746" y="123926"/>
                  </a:lnTo>
                  <a:lnTo>
                    <a:pt x="247339" y="117333"/>
                  </a:lnTo>
                  <a:lnTo>
                    <a:pt x="247339" y="6592"/>
                  </a:lnTo>
                  <a:lnTo>
                    <a:pt x="24074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9249" y="1807426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6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615" y="123926"/>
                  </a:lnTo>
                  <a:lnTo>
                    <a:pt x="240746" y="123926"/>
                  </a:lnTo>
                  <a:lnTo>
                    <a:pt x="247339" y="117333"/>
                  </a:lnTo>
                  <a:lnTo>
                    <a:pt x="247339" y="109202"/>
                  </a:lnTo>
                  <a:lnTo>
                    <a:pt x="247339" y="14723"/>
                  </a:lnTo>
                  <a:lnTo>
                    <a:pt x="247339" y="6592"/>
                  </a:lnTo>
                  <a:lnTo>
                    <a:pt x="240746" y="0"/>
                  </a:lnTo>
                  <a:lnTo>
                    <a:pt x="2326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29240" y="1802500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26706" y="1946529"/>
            <a:ext cx="252729" cy="129539"/>
            <a:chOff x="726706" y="1946529"/>
            <a:chExt cx="252729" cy="129539"/>
          </a:xfrm>
        </p:grpSpPr>
        <p:sp>
          <p:nvSpPr>
            <p:cNvPr id="21" name="object 21" descr=""/>
            <p:cNvSpPr/>
            <p:nvPr/>
          </p:nvSpPr>
          <p:spPr>
            <a:xfrm>
              <a:off x="729246" y="1949069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82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6592"/>
                  </a:lnTo>
                  <a:lnTo>
                    <a:pt x="24082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9246" y="1949069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69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697" y="123926"/>
                  </a:lnTo>
                  <a:lnTo>
                    <a:pt x="240828" y="123926"/>
                  </a:lnTo>
                  <a:lnTo>
                    <a:pt x="247420" y="117333"/>
                  </a:lnTo>
                  <a:lnTo>
                    <a:pt x="247420" y="109202"/>
                  </a:lnTo>
                  <a:lnTo>
                    <a:pt x="247420" y="14723"/>
                  </a:lnTo>
                  <a:lnTo>
                    <a:pt x="247420" y="6592"/>
                  </a:lnTo>
                  <a:lnTo>
                    <a:pt x="240828" y="0"/>
                  </a:lnTo>
                  <a:lnTo>
                    <a:pt x="23269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29240" y="1944143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u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26700" y="2088172"/>
            <a:ext cx="234950" cy="129539"/>
            <a:chOff x="726700" y="2088172"/>
            <a:chExt cx="234950" cy="129539"/>
          </a:xfrm>
        </p:grpSpPr>
        <p:sp>
          <p:nvSpPr>
            <p:cNvPr id="25" name="object 25" descr=""/>
            <p:cNvSpPr/>
            <p:nvPr/>
          </p:nvSpPr>
          <p:spPr>
            <a:xfrm>
              <a:off x="729240" y="2090712"/>
              <a:ext cx="229870" cy="124460"/>
            </a:xfrm>
            <a:custGeom>
              <a:avLst/>
              <a:gdLst/>
              <a:ahLst/>
              <a:cxnLst/>
              <a:rect l="l" t="t" r="r" b="b"/>
              <a:pathLst>
                <a:path w="229869" h="124460">
                  <a:moveTo>
                    <a:pt x="22283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2832" y="123926"/>
                  </a:lnTo>
                  <a:lnTo>
                    <a:pt x="229424" y="117333"/>
                  </a:lnTo>
                  <a:lnTo>
                    <a:pt x="229424" y="6592"/>
                  </a:lnTo>
                  <a:lnTo>
                    <a:pt x="2228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29240" y="2090712"/>
              <a:ext cx="229870" cy="124460"/>
            </a:xfrm>
            <a:custGeom>
              <a:avLst/>
              <a:gdLst/>
              <a:ahLst/>
              <a:cxnLst/>
              <a:rect l="l" t="t" r="r" b="b"/>
              <a:pathLst>
                <a:path w="229869" h="124460">
                  <a:moveTo>
                    <a:pt x="21470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4700" y="123926"/>
                  </a:lnTo>
                  <a:lnTo>
                    <a:pt x="222832" y="123926"/>
                  </a:lnTo>
                  <a:lnTo>
                    <a:pt x="229424" y="117333"/>
                  </a:lnTo>
                  <a:lnTo>
                    <a:pt x="229424" y="109202"/>
                  </a:lnTo>
                  <a:lnTo>
                    <a:pt x="229424" y="14723"/>
                  </a:lnTo>
                  <a:lnTo>
                    <a:pt x="229424" y="6592"/>
                  </a:lnTo>
                  <a:lnTo>
                    <a:pt x="222832" y="0"/>
                  </a:lnTo>
                  <a:lnTo>
                    <a:pt x="21470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29240" y="2085774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f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26713" y="2229812"/>
            <a:ext cx="252729" cy="129539"/>
            <a:chOff x="726713" y="2229812"/>
            <a:chExt cx="252729" cy="129539"/>
          </a:xfrm>
        </p:grpSpPr>
        <p:sp>
          <p:nvSpPr>
            <p:cNvPr id="29" name="object 29" descr=""/>
            <p:cNvSpPr/>
            <p:nvPr/>
          </p:nvSpPr>
          <p:spPr>
            <a:xfrm>
              <a:off x="729244" y="2232343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4091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910" y="123926"/>
                  </a:lnTo>
                  <a:lnTo>
                    <a:pt x="247502" y="117333"/>
                  </a:lnTo>
                  <a:lnTo>
                    <a:pt x="247502" y="6592"/>
                  </a:lnTo>
                  <a:lnTo>
                    <a:pt x="24091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9244" y="2232343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60">
                  <a:moveTo>
                    <a:pt x="232778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778" y="123926"/>
                  </a:lnTo>
                  <a:lnTo>
                    <a:pt x="240910" y="123926"/>
                  </a:lnTo>
                  <a:lnTo>
                    <a:pt x="247502" y="117333"/>
                  </a:lnTo>
                  <a:lnTo>
                    <a:pt x="247502" y="109202"/>
                  </a:lnTo>
                  <a:lnTo>
                    <a:pt x="247502" y="14723"/>
                  </a:lnTo>
                  <a:lnTo>
                    <a:pt x="247502" y="6592"/>
                  </a:lnTo>
                  <a:lnTo>
                    <a:pt x="240910" y="0"/>
                  </a:lnTo>
                  <a:lnTo>
                    <a:pt x="23277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729240" y="2227416"/>
            <a:ext cx="2476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b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95630" y="1772104"/>
            <a:ext cx="1964055" cy="59245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403225" indent="-390525">
              <a:lnSpc>
                <a:spcPct val="100000"/>
              </a:lnSpc>
              <a:spcBef>
                <a:spcPts val="310"/>
              </a:spcBef>
              <a:buFont typeface="Book Antiqua"/>
              <a:buChar char="–"/>
              <a:tabLst>
                <a:tab pos="40322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пол-экрана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  <a:p>
            <a:pPr marL="403225" indent="-39052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40322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пол-экрана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назад;</a:t>
            </a:r>
            <a:endParaRPr sz="750">
              <a:latin typeface="Book Antiqua"/>
              <a:cs typeface="Book Antiqua"/>
            </a:endParaRPr>
          </a:p>
          <a:p>
            <a:pPr marL="384810" indent="-372110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84810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страницу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  <a:p>
            <a:pPr marL="403225" indent="-39052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40322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страницу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55904" y="2510358"/>
            <a:ext cx="22548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8.2.1.4.</a:t>
            </a:r>
            <a:r>
              <a:rPr dirty="0" sz="750" spc="275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Команды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перемещения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по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словам</a:t>
            </a:r>
            <a:r>
              <a:rPr dirty="0" baseline="35353" sz="825" spc="-15">
                <a:latin typeface="Book Antiqua"/>
                <a:cs typeface="Book Antiqua"/>
                <a:hlinkClick r:id="rId2" action="ppaction://hlinksldjump"/>
              </a:rPr>
              <a:t>1</a:t>
            </a:r>
            <a:endParaRPr baseline="35353" sz="825">
              <a:latin typeface="Book Antiqua"/>
              <a:cs typeface="Book Antiqu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26718" y="2741571"/>
            <a:ext cx="152400" cy="129539"/>
            <a:chOff x="726718" y="2741571"/>
            <a:chExt cx="152400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729248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29248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70230" y="2732621"/>
            <a:ext cx="5568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185" b="1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555">
                <a:latin typeface="Calibri"/>
                <a:cs typeface="Calibri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или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100152" y="2741562"/>
            <a:ext cx="152400" cy="129539"/>
            <a:chOff x="1100152" y="2741562"/>
            <a:chExt cx="152400" cy="129539"/>
          </a:xfrm>
        </p:grpSpPr>
        <p:sp>
          <p:nvSpPr>
            <p:cNvPr id="39" name="object 39" descr=""/>
            <p:cNvSpPr/>
            <p:nvPr/>
          </p:nvSpPr>
          <p:spPr>
            <a:xfrm>
              <a:off x="1102692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02692" y="274410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102692" y="2744102"/>
            <a:ext cx="147320" cy="1422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259687" y="2732621"/>
            <a:ext cx="13074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95031" y="2883202"/>
            <a:ext cx="152400" cy="129539"/>
            <a:chOff x="795031" y="2883202"/>
            <a:chExt cx="152400" cy="129539"/>
          </a:xfrm>
        </p:grpSpPr>
        <p:sp>
          <p:nvSpPr>
            <p:cNvPr id="44" name="object 44" descr=""/>
            <p:cNvSpPr/>
            <p:nvPr/>
          </p:nvSpPr>
          <p:spPr>
            <a:xfrm>
              <a:off x="797562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97562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570230" y="2858549"/>
            <a:ext cx="7048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40" b="1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3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54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900" spc="-50">
                <a:latin typeface="Cambria"/>
                <a:cs typeface="Cambria"/>
              </a:rPr>
              <a:t>𝑛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236804" y="2883192"/>
            <a:ext cx="152400" cy="129539"/>
            <a:chOff x="1236804" y="2883192"/>
            <a:chExt cx="152400" cy="129539"/>
          </a:xfrm>
        </p:grpSpPr>
        <p:sp>
          <p:nvSpPr>
            <p:cNvPr id="48" name="object 48" descr=""/>
            <p:cNvSpPr/>
            <p:nvPr/>
          </p:nvSpPr>
          <p:spPr>
            <a:xfrm>
              <a:off x="1239344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239344" y="28857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249931" y="2885732"/>
            <a:ext cx="13716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396339" y="2858549"/>
            <a:ext cx="134493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726718" y="3024845"/>
            <a:ext cx="152400" cy="129539"/>
            <a:chOff x="726718" y="3024845"/>
            <a:chExt cx="152400" cy="129539"/>
          </a:xfrm>
        </p:grpSpPr>
        <p:sp>
          <p:nvSpPr>
            <p:cNvPr id="53" name="object 53" descr=""/>
            <p:cNvSpPr/>
            <p:nvPr/>
          </p:nvSpPr>
          <p:spPr>
            <a:xfrm>
              <a:off x="729248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29248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570230" y="3015907"/>
            <a:ext cx="5568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50" b="1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b</a:t>
            </a:r>
            <a:r>
              <a:rPr dirty="0" baseline="8547" sz="975" spc="727">
                <a:latin typeface="Calibri"/>
                <a:cs typeface="Calibri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или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1100161" y="3024845"/>
            <a:ext cx="152400" cy="129539"/>
            <a:chOff x="1100161" y="3024845"/>
            <a:chExt cx="152400" cy="129539"/>
          </a:xfrm>
        </p:grpSpPr>
        <p:sp>
          <p:nvSpPr>
            <p:cNvPr id="57" name="object 57" descr=""/>
            <p:cNvSpPr/>
            <p:nvPr/>
          </p:nvSpPr>
          <p:spPr>
            <a:xfrm>
              <a:off x="1102692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102692" y="302737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102692" y="3009658"/>
            <a:ext cx="147320" cy="1422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650" spc="-50">
                <a:latin typeface="Calibri"/>
                <a:cs typeface="Calibri"/>
              </a:rPr>
              <a:t>B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259687" y="3015907"/>
            <a:ext cx="124841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795031" y="3166475"/>
            <a:ext cx="152400" cy="129539"/>
            <a:chOff x="795031" y="3166475"/>
            <a:chExt cx="152400" cy="129539"/>
          </a:xfrm>
        </p:grpSpPr>
        <p:sp>
          <p:nvSpPr>
            <p:cNvPr id="62" name="object 62" descr=""/>
            <p:cNvSpPr/>
            <p:nvPr/>
          </p:nvSpPr>
          <p:spPr>
            <a:xfrm>
              <a:off x="797562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97562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1236813" y="3166475"/>
            <a:ext cx="152400" cy="129539"/>
            <a:chOff x="1236813" y="3166475"/>
            <a:chExt cx="152400" cy="129539"/>
          </a:xfrm>
        </p:grpSpPr>
        <p:sp>
          <p:nvSpPr>
            <p:cNvPr id="65" name="object 65" descr=""/>
            <p:cNvSpPr/>
            <p:nvPr/>
          </p:nvSpPr>
          <p:spPr>
            <a:xfrm>
              <a:off x="1239344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239344" y="316900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726718" y="3875910"/>
            <a:ext cx="152400" cy="412750"/>
            <a:chOff x="726718" y="3875910"/>
            <a:chExt cx="152400" cy="412750"/>
          </a:xfrm>
        </p:grpSpPr>
        <p:sp>
          <p:nvSpPr>
            <p:cNvPr id="68" name="object 68" descr=""/>
            <p:cNvSpPr/>
            <p:nvPr/>
          </p:nvSpPr>
          <p:spPr>
            <a:xfrm>
              <a:off x="729248" y="3878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29248" y="3878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29248" y="402007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29248" y="402007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29248" y="41617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29248" y="41617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 descr=""/>
          <p:cNvGrpSpPr/>
          <p:nvPr/>
        </p:nvGrpSpPr>
        <p:grpSpPr>
          <a:xfrm>
            <a:off x="795031" y="4300827"/>
            <a:ext cx="152400" cy="129539"/>
            <a:chOff x="795031" y="4300827"/>
            <a:chExt cx="152400" cy="129539"/>
          </a:xfrm>
        </p:grpSpPr>
        <p:sp>
          <p:nvSpPr>
            <p:cNvPr id="75" name="object 75" descr=""/>
            <p:cNvSpPr/>
            <p:nvPr/>
          </p:nvSpPr>
          <p:spPr>
            <a:xfrm>
              <a:off x="797562" y="43033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97562" y="43033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 descr=""/>
          <p:cNvGrpSpPr/>
          <p:nvPr/>
        </p:nvGrpSpPr>
        <p:grpSpPr>
          <a:xfrm>
            <a:off x="726718" y="4442457"/>
            <a:ext cx="152400" cy="129539"/>
            <a:chOff x="726718" y="4442457"/>
            <a:chExt cx="152400" cy="129539"/>
          </a:xfrm>
        </p:grpSpPr>
        <p:sp>
          <p:nvSpPr>
            <p:cNvPr id="78" name="object 78" descr=""/>
            <p:cNvSpPr/>
            <p:nvPr/>
          </p:nvSpPr>
          <p:spPr>
            <a:xfrm>
              <a:off x="729248" y="444498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29248" y="444498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506730" y="3141822"/>
            <a:ext cx="2259965" cy="1708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80" b="1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5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b</a:t>
            </a:r>
            <a:r>
              <a:rPr dirty="0" baseline="8547" sz="975" spc="270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4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B</a:t>
            </a:r>
            <a:r>
              <a:rPr dirty="0" baseline="8547" sz="975" spc="697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-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назад.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50">
              <a:latin typeface="Book Antiqua"/>
              <a:cs typeface="Book Antiqua"/>
            </a:endParaRPr>
          </a:p>
          <a:p>
            <a:pPr lvl="2" marL="473075" indent="-386080">
              <a:lnSpc>
                <a:spcPct val="100000"/>
              </a:lnSpc>
              <a:buAutoNum type="arabicPeriod" startAt="2"/>
              <a:tabLst>
                <a:tab pos="473075" algn="l"/>
              </a:tabLst>
            </a:pP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редактирования</a:t>
            </a:r>
            <a:endParaRPr sz="850">
              <a:latin typeface="Book Antiqua"/>
              <a:cs typeface="Book Antiqua"/>
            </a:endParaRPr>
          </a:p>
          <a:p>
            <a:pPr lvl="3" marL="519430" indent="-432434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519430" algn="l"/>
              </a:tabLst>
            </a:pPr>
            <a:r>
              <a:rPr dirty="0" sz="750" spc="10" b="1">
                <a:latin typeface="Book Antiqua"/>
                <a:cs typeface="Book Antiqua"/>
              </a:rPr>
              <a:t>Вставка</a:t>
            </a:r>
            <a:r>
              <a:rPr dirty="0" sz="750" spc="12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  <a:p>
            <a:pPr lvl="4" marL="275590" indent="-173990">
              <a:lnSpc>
                <a:spcPct val="100000"/>
              </a:lnSpc>
              <a:spcBef>
                <a:spcPts val="850"/>
              </a:spcBef>
              <a:buSzPct val="115384"/>
              <a:buFont typeface="Book Antiqua"/>
              <a:buChar char="–"/>
              <a:tabLst>
                <a:tab pos="275590" algn="l"/>
              </a:tabLst>
            </a:pPr>
            <a:r>
              <a:rPr dirty="0" baseline="8547" sz="975">
                <a:latin typeface="Calibri"/>
                <a:cs typeface="Calibri"/>
              </a:rPr>
              <a:t>а</a:t>
            </a:r>
            <a:r>
              <a:rPr dirty="0" baseline="8547" sz="975" spc="32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вставить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курсора;</a:t>
            </a:r>
            <a:endParaRPr sz="750">
              <a:latin typeface="Book Antiqua"/>
              <a:cs typeface="Book Antiqua"/>
            </a:endParaRPr>
          </a:p>
          <a:p>
            <a:pPr lvl="4" marL="271780" indent="-17018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71780" algn="l"/>
              </a:tabLst>
            </a:pPr>
            <a:r>
              <a:rPr dirty="0" baseline="8547" sz="975">
                <a:latin typeface="Calibri"/>
                <a:cs typeface="Calibri"/>
              </a:rPr>
              <a:t>А</a:t>
            </a:r>
            <a:r>
              <a:rPr dirty="0" baseline="8547" sz="975" spc="300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  <a:p>
            <a:pPr lvl="4" marL="284480" indent="-18288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84480" algn="l"/>
              </a:tabLst>
            </a:pPr>
            <a:r>
              <a:rPr dirty="0" baseline="8547" sz="975">
                <a:latin typeface="Calibri"/>
                <a:cs typeface="Calibri"/>
              </a:rPr>
              <a:t>i</a:t>
            </a:r>
            <a:r>
              <a:rPr dirty="0" baseline="8547" sz="975" spc="405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курсором;</a:t>
            </a:r>
            <a:endParaRPr sz="750">
              <a:latin typeface="Book Antiqua"/>
              <a:cs typeface="Book Antiqua"/>
            </a:endParaRPr>
          </a:p>
          <a:p>
            <a:pPr lvl="4" marL="219075" indent="-117475">
              <a:lnSpc>
                <a:spcPct val="100000"/>
              </a:lnSpc>
              <a:spcBef>
                <a:spcPts val="65"/>
              </a:spcBef>
              <a:buSzPct val="83333"/>
              <a:buFont typeface="Book Antiqua"/>
              <a:buChar char="–"/>
              <a:tabLst>
                <a:tab pos="219075" algn="l"/>
              </a:tabLst>
            </a:pP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395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i</a:t>
            </a:r>
            <a:r>
              <a:rPr dirty="0" baseline="8547" sz="975" spc="367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раз;</a:t>
            </a:r>
            <a:endParaRPr sz="750">
              <a:latin typeface="Book Antiqua"/>
              <a:cs typeface="Book Antiqua"/>
            </a:endParaRPr>
          </a:p>
          <a:p>
            <a:pPr lvl="4" marL="283845" indent="-182245">
              <a:lnSpc>
                <a:spcPct val="100000"/>
              </a:lnSpc>
              <a:spcBef>
                <a:spcPts val="185"/>
              </a:spcBef>
              <a:buSzPct val="115384"/>
              <a:buFont typeface="Book Antiqua"/>
              <a:buChar char="–"/>
              <a:tabLst>
                <a:tab pos="283845" algn="l"/>
              </a:tabLst>
            </a:pPr>
            <a:r>
              <a:rPr dirty="0" baseline="8547" sz="975">
                <a:latin typeface="Calibri"/>
                <a:cs typeface="Calibri"/>
              </a:rPr>
              <a:t>I</a:t>
            </a:r>
            <a:r>
              <a:rPr dirty="0" baseline="8547" sz="975" spc="38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750">
              <a:latin typeface="Book Antiqua"/>
              <a:cs typeface="Book Antiqua"/>
            </a:endParaRPr>
          </a:p>
          <a:p>
            <a:pPr marL="86995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8.2.2.2.</a:t>
            </a:r>
            <a:r>
              <a:rPr dirty="0" sz="750" spc="26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Вставка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строки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26718" y="4937846"/>
            <a:ext cx="152400" cy="271145"/>
            <a:chOff x="726718" y="4937846"/>
            <a:chExt cx="152400" cy="271145"/>
          </a:xfrm>
        </p:grpSpPr>
        <p:sp>
          <p:nvSpPr>
            <p:cNvPr id="82" name="object 82" descr=""/>
            <p:cNvSpPr/>
            <p:nvPr/>
          </p:nvSpPr>
          <p:spPr>
            <a:xfrm>
              <a:off x="729248" y="494037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29248" y="494037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29248" y="508201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29248" y="508201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729248" y="5077081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О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570230" y="4905068"/>
            <a:ext cx="189293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10185" indent="-172085">
              <a:lnSpc>
                <a:spcPct val="100000"/>
              </a:lnSpc>
              <a:spcBef>
                <a:spcPts val="310"/>
              </a:spcBef>
              <a:buSzPct val="115384"/>
              <a:buFont typeface="Book Antiqua"/>
              <a:buChar char="–"/>
              <a:tabLst>
                <a:tab pos="210185" algn="l"/>
              </a:tabLst>
            </a:pPr>
            <a:r>
              <a:rPr dirty="0" baseline="8547" sz="975">
                <a:latin typeface="Calibri"/>
                <a:cs typeface="Calibri"/>
              </a:rPr>
              <a:t>о</a:t>
            </a:r>
            <a:r>
              <a:rPr dirty="0" baseline="8547" sz="975" spc="284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курсором;</a:t>
            </a:r>
            <a:endParaRPr sz="750">
              <a:latin typeface="Book Antiqua"/>
              <a:cs typeface="Book Antiqua"/>
            </a:endParaRPr>
          </a:p>
          <a:p>
            <a:pPr marL="328295" indent="-29019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282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81304" y="5343652"/>
            <a:ext cx="12636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8.2.2.3.</a:t>
            </a:r>
            <a:r>
              <a:rPr dirty="0" sz="750" spc="20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Удаление</a:t>
            </a:r>
            <a:r>
              <a:rPr dirty="0" sz="750" spc="1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726718" y="5574865"/>
            <a:ext cx="152400" cy="129539"/>
            <a:chOff x="726718" y="5574865"/>
            <a:chExt cx="152400" cy="129539"/>
          </a:xfrm>
        </p:grpSpPr>
        <p:sp>
          <p:nvSpPr>
            <p:cNvPr id="90" name="object 90" descr=""/>
            <p:cNvSpPr/>
            <p:nvPr/>
          </p:nvSpPr>
          <p:spPr>
            <a:xfrm>
              <a:off x="729248" y="55773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29248" y="55773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 descr=""/>
          <p:cNvGrpSpPr/>
          <p:nvPr/>
        </p:nvGrpSpPr>
        <p:grpSpPr>
          <a:xfrm>
            <a:off x="726708" y="5716499"/>
            <a:ext cx="152400" cy="129539"/>
            <a:chOff x="726708" y="5716499"/>
            <a:chExt cx="152400" cy="129539"/>
          </a:xfrm>
        </p:grpSpPr>
        <p:sp>
          <p:nvSpPr>
            <p:cNvPr id="93" name="object 93" descr=""/>
            <p:cNvSpPr/>
            <p:nvPr/>
          </p:nvSpPr>
          <p:spPr>
            <a:xfrm>
              <a:off x="729248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29248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768159" y="5714113"/>
            <a:ext cx="698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879007" y="5716499"/>
            <a:ext cx="152400" cy="129539"/>
            <a:chOff x="879007" y="5716499"/>
            <a:chExt cx="152400" cy="129539"/>
          </a:xfrm>
        </p:grpSpPr>
        <p:sp>
          <p:nvSpPr>
            <p:cNvPr id="97" name="object 97" descr=""/>
            <p:cNvSpPr/>
            <p:nvPr/>
          </p:nvSpPr>
          <p:spPr>
            <a:xfrm>
              <a:off x="881547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881547" y="571903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887006" y="5707570"/>
            <a:ext cx="16084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65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 одно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00" name="object 100" descr=""/>
          <p:cNvGrpSpPr/>
          <p:nvPr/>
        </p:nvGrpSpPr>
        <p:grpSpPr>
          <a:xfrm>
            <a:off x="726708" y="5858129"/>
            <a:ext cx="152400" cy="129539"/>
            <a:chOff x="726708" y="5858129"/>
            <a:chExt cx="152400" cy="129539"/>
          </a:xfrm>
        </p:grpSpPr>
        <p:sp>
          <p:nvSpPr>
            <p:cNvPr id="101" name="object 101" descr=""/>
            <p:cNvSpPr/>
            <p:nvPr/>
          </p:nvSpPr>
          <p:spPr>
            <a:xfrm>
              <a:off x="729248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729248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768159" y="5855743"/>
            <a:ext cx="698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4" name="object 104" descr=""/>
          <p:cNvGrpSpPr/>
          <p:nvPr/>
        </p:nvGrpSpPr>
        <p:grpSpPr>
          <a:xfrm>
            <a:off x="879007" y="5858129"/>
            <a:ext cx="152400" cy="129539"/>
            <a:chOff x="879007" y="5858129"/>
            <a:chExt cx="152400" cy="129539"/>
          </a:xfrm>
        </p:grpSpPr>
        <p:sp>
          <p:nvSpPr>
            <p:cNvPr id="105" name="object 105" descr=""/>
            <p:cNvSpPr/>
            <p:nvPr/>
          </p:nvSpPr>
          <p:spPr>
            <a:xfrm>
              <a:off x="881547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881547" y="586066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 descr=""/>
          <p:cNvSpPr txBox="1"/>
          <p:nvPr/>
        </p:nvSpPr>
        <p:spPr>
          <a:xfrm>
            <a:off x="894778" y="5849201"/>
            <a:ext cx="26155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8547" sz="975">
                <a:latin typeface="Calibri"/>
                <a:cs typeface="Calibri"/>
              </a:rPr>
              <a:t>$</a:t>
            </a:r>
            <a:r>
              <a:rPr dirty="0" baseline="8547" sz="975" spc="74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 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 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курсора до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726708" y="5999772"/>
            <a:ext cx="328930" cy="129539"/>
            <a:chOff x="726708" y="5999772"/>
            <a:chExt cx="328930" cy="129539"/>
          </a:xfrm>
        </p:grpSpPr>
        <p:sp>
          <p:nvSpPr>
            <p:cNvPr id="109" name="object 109" descr=""/>
            <p:cNvSpPr/>
            <p:nvPr/>
          </p:nvSpPr>
          <p:spPr>
            <a:xfrm>
              <a:off x="729248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729248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905397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905397" y="600231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 txBox="1"/>
          <p:nvPr/>
        </p:nvSpPr>
        <p:spPr>
          <a:xfrm>
            <a:off x="729248" y="5997386"/>
            <a:ext cx="33147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95"/>
              </a:spcBef>
              <a:tabLst>
                <a:tab pos="227329" algn="l"/>
              </a:tabLst>
            </a:pPr>
            <a:r>
              <a:rPr dirty="0" sz="650" spc="-50">
                <a:latin typeface="Calibri"/>
                <a:cs typeface="Calibri"/>
              </a:rPr>
              <a:t>d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650" spc="-50">
                <a:latin typeface="Calibri"/>
                <a:cs typeface="Calibri"/>
              </a:rPr>
              <a:t>0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1062393" y="5990844"/>
            <a:ext cx="291211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</a:t>
            </a:r>
            <a:r>
              <a:rPr dirty="0" sz="750">
                <a:latin typeface="Book Antiqua"/>
                <a:cs typeface="Book Antiqua"/>
              </a:rPr>
              <a:t> текст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позиции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курсора;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570230" y="5542074"/>
            <a:ext cx="1869439" cy="73406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85" b="1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x</a:t>
            </a:r>
            <a:r>
              <a:rPr dirty="0" baseline="8547" sz="975" spc="74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16" name="object 116" descr=""/>
          <p:cNvGrpSpPr/>
          <p:nvPr/>
        </p:nvGrpSpPr>
        <p:grpSpPr>
          <a:xfrm>
            <a:off x="726708" y="6141415"/>
            <a:ext cx="152400" cy="129539"/>
            <a:chOff x="726708" y="6141415"/>
            <a:chExt cx="152400" cy="129539"/>
          </a:xfrm>
        </p:grpSpPr>
        <p:sp>
          <p:nvSpPr>
            <p:cNvPr id="117" name="object 117" descr=""/>
            <p:cNvSpPr/>
            <p:nvPr/>
          </p:nvSpPr>
          <p:spPr>
            <a:xfrm>
              <a:off x="729248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29248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 descr=""/>
          <p:cNvSpPr txBox="1"/>
          <p:nvPr/>
        </p:nvSpPr>
        <p:spPr>
          <a:xfrm>
            <a:off x="768159" y="6139017"/>
            <a:ext cx="698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879007" y="6141415"/>
            <a:ext cx="152400" cy="129539"/>
            <a:chOff x="879007" y="6141415"/>
            <a:chExt cx="152400" cy="129539"/>
          </a:xfrm>
        </p:grpSpPr>
        <p:sp>
          <p:nvSpPr>
            <p:cNvPr id="121" name="object 121" descr=""/>
            <p:cNvSpPr/>
            <p:nvPr/>
          </p:nvSpPr>
          <p:spPr>
            <a:xfrm>
              <a:off x="881547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81547" y="614395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895057" y="6132474"/>
            <a:ext cx="1644014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8547" sz="975">
                <a:latin typeface="Calibri"/>
                <a:cs typeface="Calibri"/>
              </a:rPr>
              <a:t>d</a:t>
            </a:r>
            <a:r>
              <a:rPr dirty="0" baseline="8547" sz="975" spc="682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24" name="object 124" descr=""/>
          <p:cNvGrpSpPr/>
          <p:nvPr/>
        </p:nvGrpSpPr>
        <p:grpSpPr>
          <a:xfrm>
            <a:off x="594004" y="6283055"/>
            <a:ext cx="1612900" cy="175260"/>
            <a:chOff x="594004" y="6283055"/>
            <a:chExt cx="1612900" cy="175260"/>
          </a:xfrm>
        </p:grpSpPr>
        <p:sp>
          <p:nvSpPr>
            <p:cNvPr id="125" name="object 125" descr=""/>
            <p:cNvSpPr/>
            <p:nvPr/>
          </p:nvSpPr>
          <p:spPr>
            <a:xfrm>
              <a:off x="797562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97562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949860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949860" y="628558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94004" y="6455511"/>
              <a:ext cx="1612900" cy="0"/>
            </a:xfrm>
            <a:custGeom>
              <a:avLst/>
              <a:gdLst/>
              <a:ahLst/>
              <a:cxnLst/>
              <a:rect l="l" t="t" r="r" b="b"/>
              <a:pathLst>
                <a:path w="1612900" h="0">
                  <a:moveTo>
                    <a:pt x="0" y="0"/>
                  </a:moveTo>
                  <a:lnTo>
                    <a:pt x="161277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 txBox="1"/>
          <p:nvPr/>
        </p:nvSpPr>
        <p:spPr>
          <a:xfrm>
            <a:off x="543204" y="6258402"/>
            <a:ext cx="4133850" cy="4419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65" b="1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4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d</a:t>
            </a:r>
            <a:r>
              <a:rPr dirty="0" baseline="8547" sz="975" spc="450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d</a:t>
            </a:r>
            <a:r>
              <a:rPr dirty="0" baseline="8547" sz="975" spc="690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-10">
                <a:latin typeface="Cambria"/>
                <a:cs typeface="Cambri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  <a:p>
            <a:pPr marL="50800" marR="43180" indent="142240">
              <a:lnSpc>
                <a:spcPct val="110700"/>
              </a:lnSpc>
              <a:spcBef>
                <a:spcPts val="605"/>
              </a:spcBef>
            </a:pPr>
            <a:r>
              <a:rPr dirty="0" baseline="34722" sz="600">
                <a:latin typeface="Book Antiqua"/>
                <a:cs typeface="Book Antiqua"/>
              </a:rPr>
              <a:t>1</a:t>
            </a:r>
            <a:r>
              <a:rPr dirty="0" sz="600">
                <a:latin typeface="Book Antiqua"/>
                <a:cs typeface="Book Antiqua"/>
              </a:rPr>
              <a:t>При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использовании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прописных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40">
                <a:latin typeface="Book Antiqua"/>
                <a:cs typeface="Book Antiqua"/>
              </a:rPr>
              <a:t>W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B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под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разделителями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понимаются</a:t>
            </a:r>
            <a:r>
              <a:rPr dirty="0" sz="600" spc="-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только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пробел,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табуляция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и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возврат</a:t>
            </a:r>
            <a:r>
              <a:rPr dirty="0" sz="600" spc="50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каретки.</a:t>
            </a:r>
            <a:r>
              <a:rPr dirty="0" sz="600" spc="-25">
                <a:latin typeface="Book Antiqua"/>
                <a:cs typeface="Book Antiqua"/>
              </a:rPr>
              <a:t> </a:t>
            </a:r>
            <a:r>
              <a:rPr dirty="0" sz="600" spc="-35">
                <a:latin typeface="Book Antiqua"/>
                <a:cs typeface="Book Antiqua"/>
              </a:rPr>
              <a:t>При</a:t>
            </a:r>
            <a:r>
              <a:rPr dirty="0" sz="600">
                <a:latin typeface="Book Antiqua"/>
                <a:cs typeface="Book Antiqua"/>
              </a:rPr>
              <a:t> использовании строчных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70">
                <a:latin typeface="Book Antiqua"/>
                <a:cs typeface="Book Antiqua"/>
              </a:rPr>
              <a:t>w</a:t>
            </a:r>
            <a:r>
              <a:rPr dirty="0" sz="600">
                <a:latin typeface="Book Antiqua"/>
                <a:cs typeface="Book Antiqua"/>
              </a:rPr>
              <a:t> и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b под разделителями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понимаются</a:t>
            </a:r>
            <a:r>
              <a:rPr dirty="0" sz="600" spc="-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также</a:t>
            </a:r>
            <a:r>
              <a:rPr dirty="0" sz="600" spc="-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любые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знаки </a:t>
            </a:r>
            <a:r>
              <a:rPr dirty="0" sz="600" spc="-10">
                <a:latin typeface="Book Antiqua"/>
                <a:cs typeface="Book Antiqua"/>
              </a:rPr>
              <a:t>пунктуации.</a:t>
            </a:r>
            <a:endParaRPr sz="6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31576" y="392412"/>
            <a:ext cx="1807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8.</a:t>
            </a:r>
            <a:r>
              <a:rPr dirty="0" sz="600" spc="3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Текстовой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редактор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550" spc="-25">
                <a:latin typeface="Courier New"/>
                <a:cs typeface="Courier New"/>
              </a:rPr>
              <a:t>vi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27019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8.2.2.4.</a:t>
            </a:r>
            <a:r>
              <a:rPr dirty="0" sz="750" spc="225" b="1">
                <a:latin typeface="Book Antiqua"/>
                <a:cs typeface="Book Antiqua"/>
              </a:rPr>
              <a:t>  </a:t>
            </a:r>
            <a:r>
              <a:rPr dirty="0" sz="750" spc="20" b="1">
                <a:latin typeface="Book Antiqua"/>
                <a:cs typeface="Book Antiqua"/>
              </a:rPr>
              <a:t>Отмена</a:t>
            </a:r>
            <a:r>
              <a:rPr dirty="0" sz="750" spc="50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и</a:t>
            </a:r>
            <a:r>
              <a:rPr dirty="0" sz="750" spc="45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повтор</a:t>
            </a:r>
            <a:r>
              <a:rPr dirty="0" sz="750" spc="45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произведённых</a:t>
            </a:r>
            <a:r>
              <a:rPr dirty="0" sz="750" spc="4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изменений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26708" y="884593"/>
            <a:ext cx="152400" cy="129539"/>
            <a:chOff x="726708" y="884593"/>
            <a:chExt cx="15240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9248" y="8871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9248" y="882207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u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26718" y="1026233"/>
            <a:ext cx="152400" cy="129539"/>
            <a:chOff x="726718" y="1026233"/>
            <a:chExt cx="152400" cy="129539"/>
          </a:xfrm>
        </p:grpSpPr>
        <p:sp>
          <p:nvSpPr>
            <p:cNvPr id="11" name="object 11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9248" y="102876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70230" y="851799"/>
            <a:ext cx="201104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28295" indent="-290195">
              <a:lnSpc>
                <a:spcPct val="100000"/>
              </a:lnSpc>
              <a:spcBef>
                <a:spcPts val="310"/>
              </a:spcBef>
              <a:buFont typeface="Book Antiqua"/>
              <a:buChar char="–"/>
              <a:tabLst>
                <a:tab pos="3282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изменение;</a:t>
            </a:r>
            <a:endParaRPr sz="750">
              <a:latin typeface="Book Antiqua"/>
              <a:cs typeface="Book Antiqua"/>
            </a:endParaRPr>
          </a:p>
          <a:p>
            <a:pPr marL="223520" indent="-18542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23520" algn="l"/>
              </a:tabLst>
            </a:pPr>
            <a:r>
              <a:rPr dirty="0" baseline="8547" sz="975">
                <a:latin typeface="Calibri"/>
                <a:cs typeface="Calibri"/>
              </a:rPr>
              <a:t>.</a:t>
            </a:r>
            <a:r>
              <a:rPr dirty="0" baseline="8547" sz="975" spc="367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повторить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изменение.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26718" y="1521622"/>
            <a:ext cx="152400" cy="129539"/>
            <a:chOff x="726718" y="1521622"/>
            <a:chExt cx="152400" cy="129539"/>
          </a:xfrm>
        </p:grpSpPr>
        <p:sp>
          <p:nvSpPr>
            <p:cNvPr id="15" name="object 15" descr=""/>
            <p:cNvSpPr/>
            <p:nvPr/>
          </p:nvSpPr>
          <p:spPr>
            <a:xfrm>
              <a:off x="729248" y="15241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9248" y="15241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795031" y="1663265"/>
            <a:ext cx="152400" cy="129539"/>
            <a:chOff x="795031" y="1663265"/>
            <a:chExt cx="152400" cy="129539"/>
          </a:xfrm>
        </p:grpSpPr>
        <p:sp>
          <p:nvSpPr>
            <p:cNvPr id="18" name="object 18" descr=""/>
            <p:cNvSpPr/>
            <p:nvPr/>
          </p:nvSpPr>
          <p:spPr>
            <a:xfrm>
              <a:off x="797562" y="16657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7562" y="166579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43204" y="1290409"/>
            <a:ext cx="1950085" cy="5105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lvl="3" marL="483234" indent="-432434">
              <a:lnSpc>
                <a:spcPct val="100000"/>
              </a:lnSpc>
              <a:spcBef>
                <a:spcPts val="120"/>
              </a:spcBef>
              <a:buAutoNum type="arabicPeriod" startAt="5"/>
              <a:tabLst>
                <a:tab pos="483234" algn="l"/>
              </a:tabLst>
            </a:pPr>
            <a:r>
              <a:rPr dirty="0" sz="750" spc="10" b="1">
                <a:latin typeface="Book Antiqua"/>
                <a:cs typeface="Book Antiqua"/>
              </a:rPr>
              <a:t>Копирование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текста</a:t>
            </a:r>
            <a:r>
              <a:rPr dirty="0" sz="750" spc="9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в</a:t>
            </a:r>
            <a:r>
              <a:rPr dirty="0" sz="750" spc="95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буфер</a:t>
            </a:r>
            <a:endParaRPr sz="750">
              <a:latin typeface="Book Antiqua"/>
              <a:cs typeface="Book Antiqua"/>
            </a:endParaRPr>
          </a:p>
          <a:p>
            <a:pPr lvl="4" marL="236220" indent="-171450">
              <a:lnSpc>
                <a:spcPct val="100000"/>
              </a:lnSpc>
              <a:spcBef>
                <a:spcPts val="850"/>
              </a:spcBef>
              <a:buSzPct val="115384"/>
              <a:buFont typeface="Book Antiqua"/>
              <a:buChar char="–"/>
              <a:tabLst>
                <a:tab pos="236220" algn="l"/>
              </a:tabLst>
            </a:pPr>
            <a:r>
              <a:rPr dirty="0" baseline="8547" sz="975">
                <a:latin typeface="Calibri"/>
                <a:cs typeface="Calibri"/>
              </a:rPr>
              <a:t>Y</a:t>
            </a:r>
            <a:r>
              <a:rPr dirty="0" baseline="8547" sz="975" spc="284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  <a:p>
            <a:pPr lvl="4" marL="182245" indent="-117475">
              <a:lnSpc>
                <a:spcPct val="100000"/>
              </a:lnSpc>
              <a:spcBef>
                <a:spcPts val="65"/>
              </a:spcBef>
              <a:buSzPct val="83333"/>
              <a:buFont typeface="Book Antiqua"/>
              <a:buChar char="–"/>
              <a:tabLst>
                <a:tab pos="182245" algn="l"/>
              </a:tabLst>
            </a:pP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280">
                <a:latin typeface="Cambria"/>
                <a:cs typeface="Cambri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Y</a:t>
            </a:r>
            <a:r>
              <a:rPr dirty="0" baseline="8547" sz="975" spc="277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26718" y="1804895"/>
            <a:ext cx="304800" cy="129539"/>
            <a:chOff x="726718" y="1804895"/>
            <a:chExt cx="304800" cy="129539"/>
          </a:xfrm>
        </p:grpSpPr>
        <p:sp>
          <p:nvSpPr>
            <p:cNvPr id="22" name="object 22" descr=""/>
            <p:cNvSpPr/>
            <p:nvPr/>
          </p:nvSpPr>
          <p:spPr>
            <a:xfrm>
              <a:off x="729248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9248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81547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81547" y="180742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29248" y="1802500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y</a:t>
            </a:r>
            <a:r>
              <a:rPr dirty="0" sz="650" spc="26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95630" y="1795957"/>
            <a:ext cx="18395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5295" algn="l"/>
              </a:tabLst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r>
              <a:rPr dirty="0" sz="750" b="1">
                <a:latin typeface="Book Antiqua"/>
                <a:cs typeface="Book Antiqua"/>
              </a:rPr>
              <a:t>	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81304" y="2069071"/>
            <a:ext cx="17081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8.2.2.6.</a:t>
            </a:r>
            <a:r>
              <a:rPr dirty="0" sz="750" spc="260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Вставка</a:t>
            </a:r>
            <a:r>
              <a:rPr dirty="0" sz="750" spc="5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текста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из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буфера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26708" y="2300275"/>
            <a:ext cx="152400" cy="129539"/>
            <a:chOff x="726708" y="2300275"/>
            <a:chExt cx="152400" cy="129539"/>
          </a:xfrm>
        </p:grpSpPr>
        <p:sp>
          <p:nvSpPr>
            <p:cNvPr id="30" name="object 30" descr=""/>
            <p:cNvSpPr/>
            <p:nvPr/>
          </p:nvSpPr>
          <p:spPr>
            <a:xfrm>
              <a:off x="729248" y="230281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29248" y="230281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29248" y="2297889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p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726718" y="2441927"/>
            <a:ext cx="152400" cy="129539"/>
            <a:chOff x="726718" y="2441927"/>
            <a:chExt cx="152400" cy="129539"/>
          </a:xfrm>
        </p:grpSpPr>
        <p:sp>
          <p:nvSpPr>
            <p:cNvPr id="34" name="object 34" descr=""/>
            <p:cNvSpPr/>
            <p:nvPr/>
          </p:nvSpPr>
          <p:spPr>
            <a:xfrm>
              <a:off x="729248" y="24444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9248" y="24444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29248" y="2439519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P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95630" y="2267506"/>
            <a:ext cx="235013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02895" indent="-290195">
              <a:lnSpc>
                <a:spcPct val="100000"/>
              </a:lnSpc>
              <a:spcBef>
                <a:spcPts val="310"/>
              </a:spcBef>
              <a:buFont typeface="Book Antiqua"/>
              <a:buChar char="–"/>
              <a:tabLst>
                <a:tab pos="3028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курсора;</a:t>
            </a:r>
            <a:endParaRPr sz="750">
              <a:latin typeface="Book Antiqua"/>
              <a:cs typeface="Book Antiqua"/>
            </a:endParaRPr>
          </a:p>
          <a:p>
            <a:pPr marL="302895" indent="-29019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0289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курсором.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81304" y="2706090"/>
            <a:ext cx="11582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Book Antiqua"/>
                <a:cs typeface="Book Antiqua"/>
              </a:rPr>
              <a:t>8.2.2.7.</a:t>
            </a:r>
            <a:r>
              <a:rPr dirty="0" sz="750" spc="350" b="1">
                <a:latin typeface="Book Antiqua"/>
                <a:cs typeface="Book Antiqua"/>
              </a:rPr>
              <a:t>  </a:t>
            </a:r>
            <a:r>
              <a:rPr dirty="0" sz="750" spc="10" b="1">
                <a:latin typeface="Book Antiqua"/>
                <a:cs typeface="Book Antiqua"/>
              </a:rPr>
              <a:t>Замена</a:t>
            </a:r>
            <a:r>
              <a:rPr dirty="0" sz="750" spc="8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95630" y="2928366"/>
            <a:ext cx="869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726708" y="2937294"/>
            <a:ext cx="304800" cy="129539"/>
            <a:chOff x="726708" y="2937294"/>
            <a:chExt cx="304800" cy="129539"/>
          </a:xfrm>
        </p:grpSpPr>
        <p:sp>
          <p:nvSpPr>
            <p:cNvPr id="41" name="object 41" descr=""/>
            <p:cNvSpPr/>
            <p:nvPr/>
          </p:nvSpPr>
          <p:spPr>
            <a:xfrm>
              <a:off x="729248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29248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81547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81547" y="293983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729248" y="2934908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</a:t>
            </a:r>
            <a:r>
              <a:rPr dirty="0" sz="650" spc="27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38542" y="2928366"/>
            <a:ext cx="880744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слово;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95630" y="3054294"/>
            <a:ext cx="21272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105" b="1">
                <a:latin typeface="Book Antiqua"/>
                <a:cs typeface="Book Antiqua"/>
              </a:rPr>
              <a:t>–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900" spc="-50">
                <a:latin typeface="Cambria"/>
                <a:cs typeface="Cambria"/>
              </a:rPr>
              <a:t>𝑛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795022" y="3078937"/>
            <a:ext cx="304800" cy="129539"/>
            <a:chOff x="795022" y="3078937"/>
            <a:chExt cx="304800" cy="129539"/>
          </a:xfrm>
        </p:grpSpPr>
        <p:sp>
          <p:nvSpPr>
            <p:cNvPr id="49" name="object 49" descr=""/>
            <p:cNvSpPr/>
            <p:nvPr/>
          </p:nvSpPr>
          <p:spPr>
            <a:xfrm>
              <a:off x="797562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97562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49860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49860" y="308147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797562" y="3076551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</a:t>
            </a:r>
            <a:r>
              <a:rPr dirty="0" sz="650" spc="27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106855" y="3054294"/>
            <a:ext cx="91884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</a:t>
            </a:r>
            <a:r>
              <a:rPr dirty="0" sz="900" spc="55">
                <a:latin typeface="Cambria"/>
                <a:cs typeface="Cambri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26708" y="3220580"/>
            <a:ext cx="304800" cy="129539"/>
            <a:chOff x="726708" y="3220580"/>
            <a:chExt cx="304800" cy="129539"/>
          </a:xfrm>
        </p:grpSpPr>
        <p:sp>
          <p:nvSpPr>
            <p:cNvPr id="56" name="object 56" descr=""/>
            <p:cNvSpPr/>
            <p:nvPr/>
          </p:nvSpPr>
          <p:spPr>
            <a:xfrm>
              <a:off x="729248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29248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81547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81547" y="322312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729248" y="3218182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</a:t>
            </a:r>
            <a:r>
              <a:rPr dirty="0" sz="650" spc="30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$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038542" y="3211639"/>
            <a:ext cx="21418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заменить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726718" y="3362220"/>
            <a:ext cx="152400" cy="271145"/>
            <a:chOff x="726718" y="3362220"/>
            <a:chExt cx="152400" cy="271145"/>
          </a:xfrm>
        </p:grpSpPr>
        <p:sp>
          <p:nvSpPr>
            <p:cNvPr id="63" name="object 63" descr=""/>
            <p:cNvSpPr/>
            <p:nvPr/>
          </p:nvSpPr>
          <p:spPr>
            <a:xfrm>
              <a:off x="729248" y="336475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29248" y="336475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29248" y="350639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29248" y="350639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570230" y="3187786"/>
            <a:ext cx="1235075" cy="45085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218440" indent="-180340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18440" algn="l"/>
              </a:tabLst>
            </a:pPr>
            <a:r>
              <a:rPr dirty="0" baseline="8547" sz="975">
                <a:latin typeface="Calibri"/>
                <a:cs typeface="Calibri"/>
              </a:rPr>
              <a:t>r</a:t>
            </a:r>
            <a:r>
              <a:rPr dirty="0" baseline="8547" sz="975" spc="345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слово;</a:t>
            </a:r>
            <a:endParaRPr sz="750">
              <a:latin typeface="Book Antiqua"/>
              <a:cs typeface="Book Antiqua"/>
            </a:endParaRPr>
          </a:p>
          <a:p>
            <a:pPr marL="207645" indent="-16954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07645" algn="l"/>
              </a:tabLst>
            </a:pPr>
            <a:r>
              <a:rPr dirty="0" baseline="8547" sz="975">
                <a:latin typeface="Calibri"/>
                <a:cs typeface="Calibri"/>
              </a:rPr>
              <a:t>R</a:t>
            </a:r>
            <a:r>
              <a:rPr dirty="0" baseline="8547" sz="975" spc="300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581304" y="3768039"/>
            <a:ext cx="11049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8.2.2.8.</a:t>
            </a:r>
            <a:r>
              <a:rPr dirty="0" sz="750" spc="20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Поиск</a:t>
            </a:r>
            <a:r>
              <a:rPr dirty="0" sz="750" spc="1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726718" y="3999239"/>
            <a:ext cx="152400" cy="271145"/>
            <a:chOff x="726718" y="3999239"/>
            <a:chExt cx="152400" cy="271145"/>
          </a:xfrm>
        </p:grpSpPr>
        <p:sp>
          <p:nvSpPr>
            <p:cNvPr id="70" name="object 70" descr=""/>
            <p:cNvSpPr/>
            <p:nvPr/>
          </p:nvSpPr>
          <p:spPr>
            <a:xfrm>
              <a:off x="729248" y="400177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29248" y="400177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29248" y="41434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29248" y="41434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729248" y="4138487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?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570230" y="3966448"/>
            <a:ext cx="4066540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17804" indent="-179705">
              <a:lnSpc>
                <a:spcPct val="100000"/>
              </a:lnSpc>
              <a:spcBef>
                <a:spcPts val="310"/>
              </a:spcBef>
              <a:buSzPct val="115384"/>
              <a:buFont typeface="Book Antiqua"/>
              <a:buChar char="–"/>
              <a:tabLst>
                <a:tab pos="217804" algn="l"/>
              </a:tabLst>
            </a:pPr>
            <a:r>
              <a:rPr dirty="0" baseline="8547" sz="975">
                <a:latin typeface="Calibri"/>
                <a:cs typeface="Calibri"/>
              </a:rPr>
              <a:t>/</a:t>
            </a:r>
            <a:r>
              <a:rPr dirty="0" baseline="8547" sz="975" spc="419">
                <a:latin typeface="Calibri"/>
                <a:cs typeface="Calibri"/>
              </a:rPr>
              <a:t>  </a:t>
            </a:r>
            <a:r>
              <a:rPr dirty="0" sz="750" i="1">
                <a:latin typeface="Book Antiqua"/>
                <a:cs typeface="Book Antiqua"/>
              </a:rPr>
              <a:t>текст</a:t>
            </a:r>
            <a:r>
              <a:rPr dirty="0" sz="750" spc="1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произвести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вперёд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текст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332105" indent="-294005">
              <a:lnSpc>
                <a:spcPct val="100000"/>
              </a:lnSpc>
              <a:spcBef>
                <a:spcPts val="215"/>
              </a:spcBef>
              <a:buFont typeface="Book Antiqua"/>
              <a:buChar char="–"/>
              <a:tabLst>
                <a:tab pos="332105" algn="l"/>
              </a:tabLst>
            </a:pPr>
            <a:r>
              <a:rPr dirty="0" sz="750" i="1">
                <a:latin typeface="Book Antiqua"/>
                <a:cs typeface="Book Antiqua"/>
              </a:rPr>
              <a:t>текст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произвести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назад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тексту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текст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581304" y="4405048"/>
            <a:ext cx="3481704" cy="357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lvl="2" marL="398780" indent="-386080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редактирования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в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режиме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командной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строки</a:t>
            </a:r>
            <a:endParaRPr sz="850">
              <a:latin typeface="Book Antiqua"/>
              <a:cs typeface="Book Antiqua"/>
            </a:endParaRPr>
          </a:p>
          <a:p>
            <a:pPr lvl="3" marL="445134" indent="-432434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45134" algn="l"/>
              </a:tabLst>
            </a:pPr>
            <a:r>
              <a:rPr dirty="0" sz="750" spc="20" b="1">
                <a:latin typeface="Book Antiqua"/>
                <a:cs typeface="Book Antiqua"/>
              </a:rPr>
              <a:t>Копирование</a:t>
            </a:r>
            <a:r>
              <a:rPr dirty="0" sz="750" spc="35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и</a:t>
            </a:r>
            <a:r>
              <a:rPr dirty="0" sz="750" spc="40" b="1">
                <a:latin typeface="Book Antiqua"/>
                <a:cs typeface="Book Antiqua"/>
              </a:rPr>
              <a:t> </a:t>
            </a:r>
            <a:r>
              <a:rPr dirty="0" sz="750" spc="20" b="1">
                <a:latin typeface="Book Antiqua"/>
                <a:cs typeface="Book Antiqua"/>
              </a:rPr>
              <a:t>перемещение</a:t>
            </a:r>
            <a:r>
              <a:rPr dirty="0" sz="750" spc="1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726708" y="4850295"/>
            <a:ext cx="152400" cy="129539"/>
            <a:chOff x="726708" y="4850295"/>
            <a:chExt cx="152400" cy="129539"/>
          </a:xfrm>
        </p:grpSpPr>
        <p:sp>
          <p:nvSpPr>
            <p:cNvPr id="78" name="object 78" descr=""/>
            <p:cNvSpPr/>
            <p:nvPr/>
          </p:nvSpPr>
          <p:spPr>
            <a:xfrm>
              <a:off x="729248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29248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729248" y="4847909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1075082" y="4850295"/>
            <a:ext cx="152400" cy="129539"/>
            <a:chOff x="1075082" y="4850295"/>
            <a:chExt cx="152400" cy="129539"/>
          </a:xfrm>
        </p:grpSpPr>
        <p:sp>
          <p:nvSpPr>
            <p:cNvPr id="82" name="object 82" descr=""/>
            <p:cNvSpPr/>
            <p:nvPr/>
          </p:nvSpPr>
          <p:spPr>
            <a:xfrm>
              <a:off x="1077622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077622" y="4852835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 txBox="1"/>
          <p:nvPr/>
        </p:nvSpPr>
        <p:spPr>
          <a:xfrm>
            <a:off x="1077622" y="4852835"/>
            <a:ext cx="1473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726708" y="4991938"/>
            <a:ext cx="152400" cy="129539"/>
            <a:chOff x="726708" y="4991938"/>
            <a:chExt cx="152400" cy="129539"/>
          </a:xfrm>
        </p:grpSpPr>
        <p:sp>
          <p:nvSpPr>
            <p:cNvPr id="86" name="object 86" descr=""/>
            <p:cNvSpPr/>
            <p:nvPr/>
          </p:nvSpPr>
          <p:spPr>
            <a:xfrm>
              <a:off x="729248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29248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729248" y="4989552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992989" y="4991938"/>
            <a:ext cx="152400" cy="129539"/>
            <a:chOff x="992989" y="4991938"/>
            <a:chExt cx="152400" cy="129539"/>
          </a:xfrm>
        </p:grpSpPr>
        <p:sp>
          <p:nvSpPr>
            <p:cNvPr id="90" name="object 90" descr=""/>
            <p:cNvSpPr/>
            <p:nvPr/>
          </p:nvSpPr>
          <p:spPr>
            <a:xfrm>
              <a:off x="995529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95529" y="499447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995529" y="4989552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m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726708" y="5133581"/>
            <a:ext cx="152400" cy="129539"/>
            <a:chOff x="726708" y="5133581"/>
            <a:chExt cx="152400" cy="129539"/>
          </a:xfrm>
        </p:grpSpPr>
        <p:sp>
          <p:nvSpPr>
            <p:cNvPr id="94" name="object 94" descr=""/>
            <p:cNvSpPr/>
            <p:nvPr/>
          </p:nvSpPr>
          <p:spPr>
            <a:xfrm>
              <a:off x="729248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29248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729248" y="5131183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992989" y="5133581"/>
            <a:ext cx="152400" cy="129539"/>
            <a:chOff x="992989" y="5133581"/>
            <a:chExt cx="152400" cy="129539"/>
          </a:xfrm>
        </p:grpSpPr>
        <p:sp>
          <p:nvSpPr>
            <p:cNvPr id="98" name="object 98" descr=""/>
            <p:cNvSpPr/>
            <p:nvPr/>
          </p:nvSpPr>
          <p:spPr>
            <a:xfrm>
              <a:off x="995529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95529" y="513612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995529" y="5131183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726718" y="5275221"/>
            <a:ext cx="152400" cy="129539"/>
            <a:chOff x="726718" y="5275221"/>
            <a:chExt cx="152400" cy="129539"/>
          </a:xfrm>
        </p:grpSpPr>
        <p:sp>
          <p:nvSpPr>
            <p:cNvPr id="102" name="object 102" descr=""/>
            <p:cNvSpPr/>
            <p:nvPr/>
          </p:nvSpPr>
          <p:spPr>
            <a:xfrm>
              <a:off x="729248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729248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729248" y="5272826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866317" y="4967295"/>
            <a:ext cx="139700" cy="445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latin typeface="Cambria"/>
                <a:cs typeface="Cambria"/>
              </a:rPr>
              <a:t>𝑖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𝑗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>
                <a:latin typeface="Cambria"/>
                <a:cs typeface="Cambria"/>
              </a:rPr>
              <a:t>𝑖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𝑗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>
                <a:latin typeface="Cambria"/>
                <a:cs typeface="Cambria"/>
              </a:rPr>
              <a:t>𝑖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𝑗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106" name="object 106" descr=""/>
          <p:cNvGrpSpPr/>
          <p:nvPr/>
        </p:nvGrpSpPr>
        <p:grpSpPr>
          <a:xfrm>
            <a:off x="992999" y="5275221"/>
            <a:ext cx="152400" cy="129539"/>
            <a:chOff x="992999" y="5275221"/>
            <a:chExt cx="152400" cy="129539"/>
          </a:xfrm>
        </p:grpSpPr>
        <p:sp>
          <p:nvSpPr>
            <p:cNvPr id="107" name="object 107" descr=""/>
            <p:cNvSpPr/>
            <p:nvPr/>
          </p:nvSpPr>
          <p:spPr>
            <a:xfrm>
              <a:off x="995529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95529" y="527775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995529" y="5272826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595630" y="4825652"/>
            <a:ext cx="3613150" cy="58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95"/>
              </a:spcBef>
              <a:buSzPct val="83333"/>
              <a:buFont typeface="Book Antiqua"/>
              <a:buChar char="–"/>
              <a:tabLst>
                <a:tab pos="283210" algn="l"/>
                <a:tab pos="651510" algn="l"/>
              </a:tabLst>
            </a:pPr>
            <a:r>
              <a:rPr dirty="0" sz="900" spc="-25">
                <a:latin typeface="Cambria"/>
                <a:cs typeface="Cambria"/>
              </a:rPr>
              <a:t>𝑛</a:t>
            </a:r>
            <a:r>
              <a:rPr dirty="0" sz="750" spc="-25">
                <a:latin typeface="Book Antiqua"/>
                <a:cs typeface="Book Antiqua"/>
              </a:rPr>
              <a:t>,</a:t>
            </a:r>
            <a:r>
              <a:rPr dirty="0" sz="900" spc="-25">
                <a:latin typeface="Cambria"/>
                <a:cs typeface="Cambria"/>
              </a:rPr>
              <a:t>𝑚</a:t>
            </a:r>
            <a:r>
              <a:rPr dirty="0" sz="900">
                <a:latin typeface="Cambria"/>
                <a:cs typeface="Cambria"/>
              </a:rPr>
              <a:t>	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 строки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𝑛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𝑚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549275" indent="-536575">
              <a:lnSpc>
                <a:spcPct val="100000"/>
              </a:lnSpc>
              <a:spcBef>
                <a:spcPts val="35"/>
              </a:spcBef>
              <a:buSzPct val="83333"/>
              <a:buFont typeface="Book Antiqua"/>
              <a:buChar char="–"/>
              <a:tabLst>
                <a:tab pos="549275" algn="l"/>
              </a:tabLst>
            </a:pPr>
            <a:r>
              <a:rPr dirty="0" sz="900" spc="-40">
                <a:latin typeface="Cambria"/>
                <a:cs typeface="Cambria"/>
              </a:rPr>
              <a:t>𝑘</a:t>
            </a:r>
            <a:r>
              <a:rPr dirty="0" sz="900" spc="-15">
                <a:latin typeface="Cambria"/>
                <a:cs typeface="Cambri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𝑖</a:t>
            </a:r>
            <a:r>
              <a:rPr dirty="0" sz="900" spc="2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𝑗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𝑘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549275" indent="-536575">
              <a:lnSpc>
                <a:spcPct val="100000"/>
              </a:lnSpc>
              <a:spcBef>
                <a:spcPts val="35"/>
              </a:spcBef>
              <a:buSzPct val="83333"/>
              <a:buFont typeface="Book Antiqua"/>
              <a:buChar char="–"/>
              <a:tabLst>
                <a:tab pos="549275" algn="l"/>
              </a:tabLst>
            </a:pPr>
            <a:r>
              <a:rPr dirty="0" sz="900" spc="-40">
                <a:latin typeface="Cambria"/>
                <a:cs typeface="Cambria"/>
              </a:rPr>
              <a:t>𝑘</a:t>
            </a:r>
            <a:r>
              <a:rPr dirty="0" sz="900" spc="-20">
                <a:latin typeface="Cambria"/>
                <a:cs typeface="Cambri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𝑖</a:t>
            </a:r>
            <a:r>
              <a:rPr dirty="0" sz="900" spc="2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𝑗</a:t>
            </a:r>
            <a:r>
              <a:rPr dirty="0" sz="900" spc="1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900" spc="-25">
                <a:latin typeface="Cambria"/>
                <a:cs typeface="Cambria"/>
              </a:rPr>
              <a:t>𝑘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573405" indent="-560705">
              <a:lnSpc>
                <a:spcPct val="100000"/>
              </a:lnSpc>
              <a:spcBef>
                <a:spcPts val="35"/>
              </a:spcBef>
              <a:buFont typeface="Book Antiqua"/>
              <a:buChar char="–"/>
              <a:tabLst>
                <a:tab pos="573405" algn="l"/>
              </a:tabLst>
            </a:pPr>
            <a:r>
              <a:rPr dirty="0" sz="750" i="1">
                <a:latin typeface="Book Antiqua"/>
                <a:cs typeface="Book Antiqua"/>
              </a:rPr>
              <a:t>имя-файла</a:t>
            </a:r>
            <a:r>
              <a:rPr dirty="0" sz="750" spc="15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𝑖</a:t>
            </a:r>
            <a:r>
              <a:rPr dirty="0" sz="900" spc="5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900">
                <a:latin typeface="Cambria"/>
                <a:cs typeface="Cambria"/>
              </a:rPr>
              <a:t>𝑗</a:t>
            </a:r>
            <a:r>
              <a:rPr dirty="0" sz="900" spc="5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имя-</a:t>
            </a:r>
            <a:r>
              <a:rPr dirty="0" sz="750" spc="-10" i="1">
                <a:latin typeface="Book Antiqua"/>
                <a:cs typeface="Book Antiqua"/>
              </a:rPr>
              <a:t>файла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581304" y="5539397"/>
            <a:ext cx="22669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 b="1">
                <a:latin typeface="Book Antiqua"/>
                <a:cs typeface="Book Antiqua"/>
              </a:rPr>
              <a:t>8.2.3.2.</a:t>
            </a:r>
            <a:r>
              <a:rPr dirty="0" sz="750" spc="254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Запись</a:t>
            </a:r>
            <a:r>
              <a:rPr dirty="0" sz="750" spc="5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в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файл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и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выход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из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редактора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12" name="object 112" descr=""/>
          <p:cNvGrpSpPr/>
          <p:nvPr/>
        </p:nvGrpSpPr>
        <p:grpSpPr>
          <a:xfrm>
            <a:off x="726708" y="5770600"/>
            <a:ext cx="304800" cy="129539"/>
            <a:chOff x="726708" y="5770600"/>
            <a:chExt cx="304800" cy="129539"/>
          </a:xfrm>
        </p:grpSpPr>
        <p:sp>
          <p:nvSpPr>
            <p:cNvPr id="113" name="object 113" descr=""/>
            <p:cNvSpPr/>
            <p:nvPr/>
          </p:nvSpPr>
          <p:spPr>
            <a:xfrm>
              <a:off x="729248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729248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881547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881547" y="57731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729248" y="5768215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28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18" name="object 118" descr=""/>
          <p:cNvGrpSpPr/>
          <p:nvPr/>
        </p:nvGrpSpPr>
        <p:grpSpPr>
          <a:xfrm>
            <a:off x="726708" y="5912244"/>
            <a:ext cx="304800" cy="129539"/>
            <a:chOff x="726708" y="5912244"/>
            <a:chExt cx="304800" cy="129539"/>
          </a:xfrm>
        </p:grpSpPr>
        <p:sp>
          <p:nvSpPr>
            <p:cNvPr id="119" name="object 119" descr=""/>
            <p:cNvSpPr/>
            <p:nvPr/>
          </p:nvSpPr>
          <p:spPr>
            <a:xfrm>
              <a:off x="729248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29248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81547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81547" y="591478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729248" y="5909845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28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w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1038542" y="5737832"/>
            <a:ext cx="3579495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vi;</a:t>
            </a: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dirty="0" sz="750" i="1">
                <a:latin typeface="Book Antiqua"/>
                <a:cs typeface="Book Antiqua"/>
              </a:rPr>
              <a:t>имя-файла</a:t>
            </a:r>
            <a:r>
              <a:rPr dirty="0" sz="750" spc="4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имя-</a:t>
            </a:r>
            <a:r>
              <a:rPr dirty="0" sz="750" spc="-10" i="1">
                <a:latin typeface="Book Antiqua"/>
                <a:cs typeface="Book Antiqua"/>
              </a:rPr>
              <a:t>файла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25" name="object 125" descr=""/>
          <p:cNvGrpSpPr/>
          <p:nvPr/>
        </p:nvGrpSpPr>
        <p:grpSpPr>
          <a:xfrm>
            <a:off x="726708" y="6053874"/>
            <a:ext cx="457200" cy="412750"/>
            <a:chOff x="726708" y="6053874"/>
            <a:chExt cx="457200" cy="412750"/>
          </a:xfrm>
        </p:grpSpPr>
        <p:sp>
          <p:nvSpPr>
            <p:cNvPr id="126" name="object 126" descr=""/>
            <p:cNvSpPr/>
            <p:nvPr/>
          </p:nvSpPr>
          <p:spPr>
            <a:xfrm>
              <a:off x="729248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729248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881547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881547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033845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033845" y="6056414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729248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729248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881547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881547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033845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033845" y="619805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29248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29248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81547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81547" y="633968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 descr=""/>
          <p:cNvSpPr txBox="1"/>
          <p:nvPr/>
        </p:nvSpPr>
        <p:spPr>
          <a:xfrm>
            <a:off x="729248" y="6334762"/>
            <a:ext cx="2997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32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q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1038542" y="6328219"/>
            <a:ext cx="11855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выйти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vi;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570230" y="5737832"/>
            <a:ext cx="3927475" cy="87566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222885" indent="-18478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22885" algn="l"/>
              </a:tabLst>
            </a:pP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585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562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!</a:t>
            </a:r>
            <a:r>
              <a:rPr dirty="0" baseline="8547" sz="975" spc="397">
                <a:latin typeface="Calibri"/>
                <a:cs typeface="Calibri"/>
              </a:rPr>
              <a:t>  </a:t>
            </a:r>
            <a:r>
              <a:rPr dirty="0" sz="750" i="1">
                <a:latin typeface="Book Antiqua"/>
                <a:cs typeface="Book Antiqua"/>
              </a:rPr>
              <a:t>имя-файла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изменённый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имя-</a:t>
            </a:r>
            <a:r>
              <a:rPr dirty="0" sz="750" spc="-10" i="1">
                <a:latin typeface="Book Antiqua"/>
                <a:cs typeface="Book Antiqua"/>
              </a:rPr>
              <a:t>файла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222885" indent="-18478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22885" algn="l"/>
              </a:tabLst>
            </a:pP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517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434">
                <a:latin typeface="Calibri"/>
                <a:cs typeface="Calibri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q</a:t>
            </a:r>
            <a:r>
              <a:rPr dirty="0" baseline="8547" sz="975" spc="262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vi;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45" name="object 145" descr=""/>
          <p:cNvGrpSpPr/>
          <p:nvPr/>
        </p:nvGrpSpPr>
        <p:grpSpPr>
          <a:xfrm>
            <a:off x="726718" y="6478800"/>
            <a:ext cx="457200" cy="129539"/>
            <a:chOff x="726718" y="6478800"/>
            <a:chExt cx="457200" cy="129539"/>
          </a:xfrm>
        </p:grpSpPr>
        <p:sp>
          <p:nvSpPr>
            <p:cNvPr id="146" name="object 146" descr=""/>
            <p:cNvSpPr/>
            <p:nvPr/>
          </p:nvSpPr>
          <p:spPr>
            <a:xfrm>
              <a:off x="729248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29248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81547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81547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033845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033845" y="6481331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2" name="object 152" descr=""/>
          <p:cNvSpPr txBox="1"/>
          <p:nvPr/>
        </p:nvSpPr>
        <p:spPr>
          <a:xfrm>
            <a:off x="729248" y="6476405"/>
            <a:ext cx="4521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33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q</a:t>
            </a:r>
            <a:r>
              <a:rPr dirty="0" sz="650" spc="31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!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53" name="object 153" descr=""/>
          <p:cNvSpPr txBox="1"/>
          <p:nvPr/>
        </p:nvSpPr>
        <p:spPr>
          <a:xfrm>
            <a:off x="1190840" y="6469862"/>
            <a:ext cx="16008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записи;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95630" y="653389"/>
            <a:ext cx="869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26718" y="662327"/>
            <a:ext cx="457200" cy="129539"/>
            <a:chOff x="726718" y="662327"/>
            <a:chExt cx="45720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729248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9248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81547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81547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33845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33845" y="664858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59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29248" y="664858"/>
            <a:ext cx="4521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:</a:t>
            </a:r>
            <a:r>
              <a:rPr dirty="0" sz="650" spc="33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e</a:t>
            </a:r>
            <a:r>
              <a:rPr dirty="0" sz="650" spc="320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!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90777" y="653389"/>
            <a:ext cx="34480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вернуться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отменив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произведённые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304" y="766991"/>
            <a:ext cx="4078604" cy="7283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времени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8.2.4.</a:t>
            </a:r>
            <a:r>
              <a:rPr dirty="0" sz="850" spc="340" b="1">
                <a:latin typeface="Book Antiqua"/>
                <a:cs typeface="Book Antiqua"/>
              </a:rPr>
              <a:t>  </a:t>
            </a:r>
            <a:r>
              <a:rPr dirty="0" sz="850" spc="-10" b="1">
                <a:latin typeface="Book Antiqua"/>
                <a:cs typeface="Book Antiqua"/>
              </a:rPr>
              <a:t>Опции</a:t>
            </a:r>
            <a:endParaRPr sz="850">
              <a:latin typeface="Book Antiqua"/>
              <a:cs typeface="Book Antiqua"/>
            </a:endParaRPr>
          </a:p>
          <a:p>
            <a:pPr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10">
                <a:latin typeface="Book Antiqua"/>
                <a:cs typeface="Book Antiqua"/>
              </a:rPr>
              <a:t>Опции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позволяют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настроить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рабочую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среду.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строки):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26708" y="1521257"/>
            <a:ext cx="152400" cy="271145"/>
            <a:chOff x="726708" y="1521257"/>
            <a:chExt cx="152400" cy="271145"/>
          </a:xfrm>
        </p:grpSpPr>
        <p:sp>
          <p:nvSpPr>
            <p:cNvPr id="17" name="object 17" descr=""/>
            <p:cNvSpPr/>
            <p:nvPr/>
          </p:nvSpPr>
          <p:spPr>
            <a:xfrm>
              <a:off x="729248" y="152379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9248" y="1523797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29248" y="1665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9248" y="16654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29248" y="1660514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26708" y="1804543"/>
            <a:ext cx="152400" cy="129539"/>
            <a:chOff x="726708" y="1804543"/>
            <a:chExt cx="152400" cy="129539"/>
          </a:xfrm>
        </p:grpSpPr>
        <p:sp>
          <p:nvSpPr>
            <p:cNvPr id="23" name="object 23" descr=""/>
            <p:cNvSpPr/>
            <p:nvPr/>
          </p:nvSpPr>
          <p:spPr>
            <a:xfrm>
              <a:off x="729248" y="1807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9248" y="1807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29248" y="1802144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26718" y="1946183"/>
            <a:ext cx="152400" cy="129539"/>
            <a:chOff x="726718" y="1946183"/>
            <a:chExt cx="152400" cy="129539"/>
          </a:xfrm>
        </p:grpSpPr>
        <p:sp>
          <p:nvSpPr>
            <p:cNvPr id="27" name="object 27" descr=""/>
            <p:cNvSpPr/>
            <p:nvPr/>
          </p:nvSpPr>
          <p:spPr>
            <a:xfrm>
              <a:off x="729248" y="1948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29248" y="1948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729248" y="1943788"/>
            <a:ext cx="14732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: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70230" y="1488476"/>
            <a:ext cx="4113529" cy="59245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22885" indent="-184785">
              <a:lnSpc>
                <a:spcPct val="100000"/>
              </a:lnSpc>
              <a:spcBef>
                <a:spcPts val="310"/>
              </a:spcBef>
              <a:buSzPct val="115384"/>
              <a:buFont typeface="Book Antiqua"/>
              <a:buChar char="–"/>
              <a:tabLst>
                <a:tab pos="222885" algn="l"/>
              </a:tabLst>
            </a:pP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375">
                <a:latin typeface="Calibri"/>
                <a:cs typeface="Calibri"/>
              </a:rPr>
              <a:t> 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all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опций;</a:t>
            </a:r>
            <a:endParaRPr sz="750">
              <a:latin typeface="Book Antiqua"/>
              <a:cs typeface="Book Antiqua"/>
            </a:endParaRPr>
          </a:p>
          <a:p>
            <a:pPr marL="332105" indent="-294005">
              <a:lnSpc>
                <a:spcPct val="100000"/>
              </a:lnSpc>
              <a:spcBef>
                <a:spcPts val="215"/>
              </a:spcBef>
              <a:buSzPct val="107142"/>
              <a:buFont typeface="Book Antiqua"/>
              <a:buChar char="–"/>
              <a:tabLst>
                <a:tab pos="332105" algn="l"/>
              </a:tabLst>
            </a:pP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1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nu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вывести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строк;</a:t>
            </a:r>
            <a:endParaRPr sz="750">
              <a:latin typeface="Book Antiqua"/>
              <a:cs typeface="Book Antiqua"/>
            </a:endParaRPr>
          </a:p>
          <a:p>
            <a:pPr marL="332105" indent="-294005">
              <a:lnSpc>
                <a:spcPct val="100000"/>
              </a:lnSpc>
              <a:spcBef>
                <a:spcPts val="215"/>
              </a:spcBef>
              <a:buSzPct val="107142"/>
              <a:buFont typeface="Book Antiqua"/>
              <a:buChar char="–"/>
              <a:tabLst>
                <a:tab pos="332105" algn="l"/>
              </a:tabLst>
            </a:pP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1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list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невидимые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символы;</a:t>
            </a:r>
            <a:endParaRPr sz="750">
              <a:latin typeface="Book Antiqua"/>
              <a:cs typeface="Book Antiqua"/>
            </a:endParaRPr>
          </a:p>
          <a:p>
            <a:pPr marL="329565" indent="-291465">
              <a:lnSpc>
                <a:spcPct val="100000"/>
              </a:lnSpc>
              <a:spcBef>
                <a:spcPts val="215"/>
              </a:spcBef>
              <a:buSzPct val="107142"/>
              <a:buFont typeface="Book Antiqua"/>
              <a:buChar char="–"/>
              <a:tabLst>
                <a:tab pos="329565" algn="l"/>
              </a:tabLst>
            </a:pP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ic</a:t>
            </a:r>
            <a:r>
              <a:rPr dirty="0" sz="700" spc="-27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учитывать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 </a:t>
            </a:r>
            <a:r>
              <a:rPr dirty="0" sz="750">
                <a:latin typeface="Book Antiqua"/>
                <a:cs typeface="Book Antiqua"/>
              </a:rPr>
              <a:t>поиске,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прописным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строчным.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77367" y="2076158"/>
            <a:ext cx="4061460" cy="1705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51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хотите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отказаться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опции,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перед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именем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надо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поставить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no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10" b="1">
                <a:latin typeface="Book Antiqua"/>
                <a:cs typeface="Book Antiqua"/>
              </a:rPr>
              <a:t>8.3.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Ознакомиться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теоретическим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материалом.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Ознакомиться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упражнения,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10" b="1">
                <a:latin typeface="Book Antiqua"/>
                <a:cs typeface="Book Antiqua"/>
              </a:rPr>
              <a:t>8.3.1.</a:t>
            </a:r>
            <a:r>
              <a:rPr dirty="0" sz="850" spc="310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Задание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1.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Создание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нового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файла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с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использованием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Book Antiqua"/>
                <a:cs typeface="Book Antiqua"/>
              </a:rPr>
              <a:t>vi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55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~/work/os/lab06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вновь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созданный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Вызовите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hello.sh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33120" y="391292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26719" y="3862666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hello.sh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595614" y="4139803"/>
            <a:ext cx="152400" cy="129539"/>
            <a:chOff x="1595614" y="4139803"/>
            <a:chExt cx="152400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1598144" y="41423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598144" y="414233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648104" y="4137395"/>
            <a:ext cx="4762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i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77367" y="4130852"/>
            <a:ext cx="25012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93800" algn="l"/>
              </a:tabLst>
            </a:pPr>
            <a:r>
              <a:rPr dirty="0" sz="750">
                <a:latin typeface="Book Antiqua"/>
                <a:cs typeface="Book Antiqua"/>
              </a:rPr>
              <a:t>4.</a:t>
            </a:r>
            <a:r>
              <a:rPr dirty="0" sz="750" spc="3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r>
              <a:rPr dirty="0" sz="750">
                <a:latin typeface="Book Antiqua"/>
                <a:cs typeface="Book Antiqua"/>
              </a:rPr>
              <a:t>	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33120" y="4405567"/>
            <a:ext cx="54610" cy="886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26719" y="4355312"/>
            <a:ext cx="3899535" cy="98488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978785">
              <a:lnSpc>
                <a:spcPct val="106500"/>
              </a:lnSpc>
              <a:spcBef>
                <a:spcPts val="170"/>
              </a:spcBef>
            </a:pP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#!/bin/bash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HELL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Hello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dirty="0" sz="700" spc="3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LOCAL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HELLO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World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$HELLO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37465" marR="3251835">
              <a:lnSpc>
                <a:spcPct val="106500"/>
              </a:lnSpc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$HELLO </a:t>
            </a:r>
            <a:r>
              <a:rPr dirty="0" sz="700" spc="-10">
                <a:latin typeface="Courier New"/>
                <a:cs typeface="Courier New"/>
              </a:rPr>
              <a:t>hello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621596" y="5427710"/>
            <a:ext cx="171450" cy="129539"/>
            <a:chOff x="1621596" y="5427710"/>
            <a:chExt cx="171450" cy="129539"/>
          </a:xfrm>
        </p:grpSpPr>
        <p:sp>
          <p:nvSpPr>
            <p:cNvPr id="42" name="object 42" descr=""/>
            <p:cNvSpPr/>
            <p:nvPr/>
          </p:nvSpPr>
          <p:spPr>
            <a:xfrm>
              <a:off x="1624127" y="5430241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624127" y="5430241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1162049" y="5654926"/>
            <a:ext cx="152400" cy="129539"/>
            <a:chOff x="1162049" y="5654926"/>
            <a:chExt cx="152400" cy="129539"/>
          </a:xfrm>
        </p:grpSpPr>
        <p:sp>
          <p:nvSpPr>
            <p:cNvPr id="45" name="object 45" descr=""/>
            <p:cNvSpPr/>
            <p:nvPr/>
          </p:nvSpPr>
          <p:spPr>
            <a:xfrm>
              <a:off x="1164579" y="565745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164579" y="565745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526567" y="5418772"/>
            <a:ext cx="4175760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98755" marR="68580" indent="-135890">
              <a:lnSpc>
                <a:spcPct val="100000"/>
              </a:lnSpc>
              <a:spcBef>
                <a:spcPts val="120"/>
              </a:spcBef>
              <a:buAutoNum type="arabicPeriod" startAt="5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клавишу</a:t>
            </a:r>
            <a:r>
              <a:rPr dirty="0" sz="750" spc="409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66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ввода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текста.</a:t>
            </a:r>
            <a:endParaRPr sz="750">
              <a:latin typeface="Book Antiqua"/>
              <a:cs typeface="Book Antiqua"/>
            </a:endParaRPr>
          </a:p>
          <a:p>
            <a:pPr marL="198755" marR="68580" indent="-135890">
              <a:lnSpc>
                <a:spcPts val="890"/>
              </a:lnSpc>
              <a:spcBef>
                <a:spcPts val="30"/>
              </a:spcBef>
              <a:buAutoNum type="arabicPeriod" startAt="5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484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277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внизу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появится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приглашение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виде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двоеточия.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161350" y="5902728"/>
            <a:ext cx="152400" cy="129539"/>
            <a:chOff x="1161350" y="5902728"/>
            <a:chExt cx="152400" cy="129539"/>
          </a:xfrm>
        </p:grpSpPr>
        <p:sp>
          <p:nvSpPr>
            <p:cNvPr id="49" name="object 49" descr=""/>
            <p:cNvSpPr/>
            <p:nvPr/>
          </p:nvSpPr>
          <p:spPr>
            <a:xfrm>
              <a:off x="1163881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63881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1903589" y="5902728"/>
            <a:ext cx="152400" cy="129539"/>
            <a:chOff x="1903589" y="5902728"/>
            <a:chExt cx="152400" cy="129539"/>
          </a:xfrm>
        </p:grpSpPr>
        <p:sp>
          <p:nvSpPr>
            <p:cNvPr id="52" name="object 52" descr=""/>
            <p:cNvSpPr/>
            <p:nvPr/>
          </p:nvSpPr>
          <p:spPr>
            <a:xfrm>
              <a:off x="1906119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906119" y="590525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3662707" y="5902728"/>
            <a:ext cx="240665" cy="129539"/>
            <a:chOff x="3662707" y="5902728"/>
            <a:chExt cx="240665" cy="129539"/>
          </a:xfrm>
        </p:grpSpPr>
        <p:sp>
          <p:nvSpPr>
            <p:cNvPr id="55" name="object 55" descr=""/>
            <p:cNvSpPr/>
            <p:nvPr/>
          </p:nvSpPr>
          <p:spPr>
            <a:xfrm>
              <a:off x="3665237" y="5905259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88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6592"/>
                  </a:lnTo>
                  <a:lnTo>
                    <a:pt x="2288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665237" y="5905259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06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067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109202"/>
                  </a:lnTo>
                  <a:lnTo>
                    <a:pt x="235396" y="14723"/>
                  </a:lnTo>
                  <a:lnTo>
                    <a:pt x="235396" y="6592"/>
                  </a:lnTo>
                  <a:lnTo>
                    <a:pt x="228804" y="0"/>
                  </a:lnTo>
                  <a:lnTo>
                    <a:pt x="2206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3665237" y="5905259"/>
            <a:ext cx="23558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Enter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3909695" y="5893790"/>
            <a:ext cx="7296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сохранения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551967" y="5893790"/>
            <a:ext cx="312801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3355" marR="30480" indent="-125730">
              <a:lnSpc>
                <a:spcPct val="100000"/>
              </a:lnSpc>
              <a:spcBef>
                <a:spcPts val="120"/>
              </a:spcBef>
              <a:buAutoNum type="arabicPeriod" startAt="7"/>
              <a:tabLst>
                <a:tab pos="17462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39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w</a:t>
            </a:r>
            <a:r>
              <a:rPr dirty="0" baseline="8547" sz="975" spc="667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(записать)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6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q</a:t>
            </a:r>
            <a:r>
              <a:rPr dirty="0" baseline="8547" sz="975" spc="270">
                <a:latin typeface="Calibri"/>
                <a:cs typeface="Calibri"/>
              </a:rPr>
              <a:t>  </a:t>
            </a:r>
            <a:r>
              <a:rPr dirty="0" sz="750">
                <a:latin typeface="Book Antiqua"/>
                <a:cs typeface="Book Antiqua"/>
              </a:rPr>
              <a:t>(выйти),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73990" indent="-135890">
              <a:lnSpc>
                <a:spcPts val="890"/>
              </a:lnSpc>
              <a:buAutoNum type="arabicPeriod" startAt="7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Сделайте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исполняемым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33120" y="639572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726719" y="6345478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+x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hello.sh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367" y="392412"/>
            <a:ext cx="4061460" cy="591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2266315" algn="l"/>
              </a:tabLst>
            </a:pPr>
            <a:r>
              <a:rPr dirty="0" sz="600" spc="-25">
                <a:latin typeface="Book Antiqua"/>
                <a:cs typeface="Book Antiqua"/>
              </a:rPr>
              <a:t>74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8.</a:t>
            </a:r>
            <a:r>
              <a:rPr dirty="0" sz="600" spc="3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Текстовой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редактор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550" spc="-25">
                <a:latin typeface="Courier New"/>
                <a:cs typeface="Courier New"/>
              </a:rPr>
              <a:t>vi</a:t>
            </a:r>
            <a:endParaRPr sz="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6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dirty="0" sz="850" spc="10" b="1">
                <a:latin typeface="Book Antiqua"/>
                <a:cs typeface="Book Antiqua"/>
              </a:rPr>
              <a:t>8.3.2.</a:t>
            </a:r>
            <a:r>
              <a:rPr dirty="0" sz="850" spc="320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Задание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2.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Редактирование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существующего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файла</a:t>
            </a:r>
            <a:endParaRPr sz="8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редактирование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3120" y="1115328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6719" y="1065085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vi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~/work/os/lab06/hello.sh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407991" y="1477883"/>
            <a:ext cx="171450" cy="129539"/>
            <a:chOff x="3407991" y="1477883"/>
            <a:chExt cx="17145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3410522" y="1480414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59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410522" y="1480414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59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4265279" y="1840773"/>
            <a:ext cx="171450" cy="129539"/>
            <a:chOff x="4265279" y="1840773"/>
            <a:chExt cx="171450" cy="129539"/>
          </a:xfrm>
        </p:grpSpPr>
        <p:sp>
          <p:nvSpPr>
            <p:cNvPr id="10" name="object 10" descr=""/>
            <p:cNvSpPr/>
            <p:nvPr/>
          </p:nvSpPr>
          <p:spPr>
            <a:xfrm>
              <a:off x="4267810" y="1843303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67810" y="1843303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70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172550" y="2317264"/>
            <a:ext cx="171450" cy="129539"/>
            <a:chOff x="1172550" y="2317264"/>
            <a:chExt cx="171450" cy="129539"/>
          </a:xfrm>
        </p:grpSpPr>
        <p:sp>
          <p:nvSpPr>
            <p:cNvPr id="13" name="object 13" descr=""/>
            <p:cNvSpPr/>
            <p:nvPr/>
          </p:nvSpPr>
          <p:spPr>
            <a:xfrm>
              <a:off x="1175080" y="2319795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75080" y="2319795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60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51967" y="1315387"/>
            <a:ext cx="4133215" cy="125031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73990" indent="-135890">
              <a:lnSpc>
                <a:spcPct val="100000"/>
              </a:lnSpc>
              <a:spcBef>
                <a:spcPts val="260"/>
              </a:spcBef>
              <a:buAutoNum type="arabicPeriod" startAt="2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Установите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HELL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второй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 marL="173355" marR="30480" indent="-135890">
              <a:lnSpc>
                <a:spcPct val="100000"/>
              </a:lnSpc>
              <a:spcBef>
                <a:spcPts val="170"/>
              </a:spcBef>
              <a:buAutoNum type="arabicPeriod" startAt="2"/>
              <a:tabLst>
                <a:tab pos="174625" algn="l"/>
              </a:tabLst>
            </a:pPr>
            <a:r>
              <a:rPr dirty="0" sz="750" spc="-10">
                <a:latin typeface="Book Antiqua"/>
                <a:cs typeface="Book Antiqua"/>
              </a:rPr>
              <a:t>Перейдите</a:t>
            </a:r>
            <a:r>
              <a:rPr dirty="0" sz="750">
                <a:latin typeface="Book Antiqua"/>
                <a:cs typeface="Book Antiqua"/>
              </a:rPr>
              <a:t> 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вставки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434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для возврата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режим.</a:t>
            </a:r>
            <a:endParaRPr sz="750">
              <a:latin typeface="Book Antiqua"/>
              <a:cs typeface="Book Antiqua"/>
            </a:endParaRPr>
          </a:p>
          <a:p>
            <a:pPr marL="173990" indent="-135890">
              <a:lnSpc>
                <a:spcPts val="890"/>
              </a:lnSpc>
              <a:buAutoNum type="arabicPeriod" startAt="2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Установите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четвертую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сотрите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LOCAL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73355" marR="51435" indent="-135890">
              <a:lnSpc>
                <a:spcPct val="100000"/>
              </a:lnSpc>
              <a:spcBef>
                <a:spcPts val="170"/>
              </a:spcBef>
              <a:buAutoNum type="arabicPeriod" startAt="2"/>
              <a:tabLst>
                <a:tab pos="174625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вставки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наберите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текст: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local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644">
                <a:latin typeface="Calibri"/>
                <a:cs typeface="Calibri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для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возврата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режим.</a:t>
            </a:r>
            <a:endParaRPr sz="750">
              <a:latin typeface="Book Antiqua"/>
              <a:cs typeface="Book Antiqua"/>
            </a:endParaRPr>
          </a:p>
          <a:p>
            <a:pPr marL="173355" marR="50800" indent="-135890">
              <a:lnSpc>
                <a:spcPts val="890"/>
              </a:lnSpc>
              <a:spcBef>
                <a:spcPts val="25"/>
              </a:spcBef>
              <a:buAutoNum type="arabicPeriod" startAt="2"/>
              <a:tabLst>
                <a:tab pos="174625" algn="l"/>
              </a:tabLst>
            </a:pPr>
            <a:r>
              <a:rPr dirty="0" sz="750" spc="-10">
                <a:latin typeface="Book Antiqua"/>
                <a:cs typeface="Book Antiqua"/>
              </a:rPr>
              <a:t>Установите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курсор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-10">
                <a:latin typeface="Book Antiqua"/>
                <a:cs typeface="Book Antiqua"/>
              </a:rPr>
              <a:t>последней</a:t>
            </a:r>
            <a:r>
              <a:rPr dirty="0" sz="750">
                <a:latin typeface="Book Antiqua"/>
                <a:cs typeface="Book Antiqua"/>
              </a:rPr>
              <a:t> строке </a:t>
            </a:r>
            <a:r>
              <a:rPr dirty="0" sz="750" spc="-20">
                <a:latin typeface="Book Antiqua"/>
                <a:cs typeface="Book Antiqua"/>
              </a:rPr>
              <a:t>файла.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Вставьте после неё </a:t>
            </a:r>
            <a:r>
              <a:rPr dirty="0" sz="750" spc="-10">
                <a:latin typeface="Book Antiqua"/>
                <a:cs typeface="Book Antiqua"/>
              </a:rPr>
              <a:t>строку,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следующий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текст: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echo</a:t>
            </a:r>
            <a:r>
              <a:rPr dirty="0" sz="700" spc="1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$HELLO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73355" indent="-125730">
              <a:lnSpc>
                <a:spcPts val="894"/>
              </a:lnSpc>
              <a:spcBef>
                <a:spcPts val="145"/>
              </a:spcBef>
              <a:buAutoNum type="arabicPeriod" startAt="2"/>
              <a:tabLst>
                <a:tab pos="173355" algn="l"/>
              </a:tabLst>
            </a:pP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28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480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режим.</a:t>
            </a:r>
            <a:endParaRPr sz="750">
              <a:latin typeface="Book Antiqua"/>
              <a:cs typeface="Book Antiqua"/>
            </a:endParaRPr>
          </a:p>
          <a:p>
            <a:pPr marL="173990" indent="-135890">
              <a:lnSpc>
                <a:spcPts val="894"/>
              </a:lnSpc>
              <a:buAutoNum type="arabicPeriod" startAt="2"/>
              <a:tabLst>
                <a:tab pos="173990" algn="l"/>
              </a:tabLst>
            </a:pPr>
            <a:r>
              <a:rPr dirty="0" sz="750">
                <a:latin typeface="Book Antiqua"/>
                <a:cs typeface="Book Antiqua"/>
              </a:rPr>
              <a:t>Удалите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последнюю</a:t>
            </a:r>
            <a:r>
              <a:rPr dirty="0" sz="750" spc="-10">
                <a:latin typeface="Book Antiqua"/>
                <a:cs typeface="Book Antiqua"/>
              </a:rPr>
              <a:t> строку.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7367" y="2557602"/>
            <a:ext cx="18751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9.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Введите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изменений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463621" y="2566553"/>
            <a:ext cx="152400" cy="129539"/>
            <a:chOff x="2463621" y="2566553"/>
            <a:chExt cx="152400" cy="129539"/>
          </a:xfrm>
        </p:grpSpPr>
        <p:sp>
          <p:nvSpPr>
            <p:cNvPr id="18" name="object 18" descr=""/>
            <p:cNvSpPr/>
            <p:nvPr/>
          </p:nvSpPr>
          <p:spPr>
            <a:xfrm>
              <a:off x="2466151" y="2569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466151" y="256908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466151" y="2569083"/>
            <a:ext cx="14732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650" spc="-50">
                <a:latin typeface="Calibri"/>
                <a:cs typeface="Calibri"/>
              </a:rPr>
              <a:t>u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625217" y="2557602"/>
            <a:ext cx="15443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453856" y="2708183"/>
            <a:ext cx="152400" cy="129539"/>
            <a:chOff x="1453856" y="2708183"/>
            <a:chExt cx="152400" cy="129539"/>
          </a:xfrm>
        </p:grpSpPr>
        <p:sp>
          <p:nvSpPr>
            <p:cNvPr id="23" name="object 23" descr=""/>
            <p:cNvSpPr/>
            <p:nvPr/>
          </p:nvSpPr>
          <p:spPr>
            <a:xfrm>
              <a:off x="1456387" y="2710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56387" y="2710713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474256" y="2699245"/>
            <a:ext cx="4215765" cy="3915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2095" marR="55880" indent="-18923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10.</a:t>
            </a:r>
            <a:r>
              <a:rPr dirty="0" sz="750" spc="3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Введите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190">
                <a:latin typeface="Book Antiqua"/>
                <a:cs typeface="Book Antiqua"/>
              </a:rPr>
              <a:t>  </a:t>
            </a:r>
            <a:r>
              <a:rPr dirty="0" baseline="8547" sz="975">
                <a:latin typeface="Calibri"/>
                <a:cs typeface="Calibri"/>
              </a:rPr>
              <a:t>:</a:t>
            </a:r>
            <a:r>
              <a:rPr dirty="0" baseline="8547" sz="975" spc="345">
                <a:latin typeface="Calibri"/>
                <a:cs typeface="Calibri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перехода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последней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Запишите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произведённые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выйдите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marL="11938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8.4.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463550" indent="-117475">
              <a:lnSpc>
                <a:spcPts val="894"/>
              </a:lnSpc>
              <a:buFont typeface="Book Antiqua"/>
              <a:buChar char="–"/>
              <a:tabLst>
                <a:tab pos="46355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463550" indent="-117475">
              <a:lnSpc>
                <a:spcPts val="894"/>
              </a:lnSpc>
              <a:buFont typeface="Book Antiqua"/>
              <a:buChar char="–"/>
              <a:tabLst>
                <a:tab pos="46355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463550" marR="5588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464820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69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1938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8.5.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краткую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выйти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сохраняя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произведённые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изменения?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позиционирования.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словом?</a:t>
            </a:r>
            <a:endParaRPr sz="750">
              <a:latin typeface="Book Antiqua"/>
              <a:cs typeface="Book Antiqua"/>
            </a:endParaRPr>
          </a:p>
          <a:p>
            <a:pPr marL="250825" marR="48895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52095" algn="l"/>
              </a:tabLst>
            </a:pPr>
            <a:r>
              <a:rPr dirty="0" sz="750">
                <a:latin typeface="Book Antiqua"/>
                <a:cs typeface="Book Antiqua"/>
              </a:rPr>
              <a:t>Каким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образом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любого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места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редактируемого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(конец)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файла?</a:t>
            </a:r>
            <a:endParaRPr sz="750">
              <a:latin typeface="Book Antiqua"/>
              <a:cs typeface="Book Antiqua"/>
            </a:endParaRPr>
          </a:p>
          <a:p>
            <a:pPr marL="250825" marR="34925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25209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краткую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редактирова-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20">
                <a:latin typeface="Book Antiqua"/>
                <a:cs typeface="Book Antiqua"/>
              </a:rPr>
              <a:t>ния.</a:t>
            </a:r>
            <a:endParaRPr sz="750">
              <a:latin typeface="Book Antiqua"/>
              <a:cs typeface="Book Antiqua"/>
            </a:endParaRPr>
          </a:p>
          <a:p>
            <a:pPr marL="250825" indent="-125730">
              <a:lnSpc>
                <a:spcPts val="869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заполнить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Каковы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действия?</a:t>
            </a:r>
            <a:endParaRPr sz="750">
              <a:latin typeface="Book Antiqua"/>
              <a:cs typeface="Book Antiqua"/>
            </a:endParaRPr>
          </a:p>
          <a:p>
            <a:pPr marL="251460" indent="-135890">
              <a:lnSpc>
                <a:spcPts val="894"/>
              </a:lnSpc>
              <a:buAutoNum type="arabicPeriod"/>
              <a:tabLst>
                <a:tab pos="2514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отменить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некорректное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действие,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связанное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редактирования?</a:t>
            </a:r>
            <a:endParaRPr sz="750">
              <a:latin typeface="Book Antiqua"/>
              <a:cs typeface="Book Antiqua"/>
            </a:endParaRPr>
          </a:p>
          <a:p>
            <a:pPr marL="250825" marR="34925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5209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характеристику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25">
                <a:latin typeface="Book Antiqua"/>
                <a:cs typeface="Book Antiqua"/>
              </a:rPr>
              <a:t>ки.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69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перемещая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курсора,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позицию,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заканчивается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строка?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94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анализ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(сколько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их, как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узнать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т.д.).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94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vi?</a:t>
            </a:r>
            <a:endParaRPr sz="750">
              <a:latin typeface="Book Antiqua"/>
              <a:cs typeface="Book Antiqua"/>
            </a:endParaRPr>
          </a:p>
          <a:p>
            <a:pPr marL="250825" indent="-187960">
              <a:lnSpc>
                <a:spcPts val="894"/>
              </a:lnSpc>
              <a:buAutoNum type="arabicPeriod"/>
              <a:tabLst>
                <a:tab pos="250825" algn="l"/>
              </a:tabLst>
            </a:pPr>
            <a:r>
              <a:rPr dirty="0" sz="750">
                <a:latin typeface="Book Antiqua"/>
                <a:cs typeface="Book Antiqua"/>
              </a:rPr>
              <a:t>Постройте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граф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взаимосвязи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режимов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vi.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2026-03-20T17:46:35Z</dcterms:created>
  <dcterms:modified xsi:type="dcterms:W3CDTF">2026-03-20T17:46:35Z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