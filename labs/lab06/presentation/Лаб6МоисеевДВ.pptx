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5219700" cy="7200900"/>
  <p:notesSz cx="5219700" cy="72009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81952" y="2232279"/>
            <a:ext cx="4328795" cy="15121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763905" y="4032504"/>
            <a:ext cx="3564890" cy="18002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254635" y="1656207"/>
            <a:ext cx="2215324" cy="4752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2622740" y="1656207"/>
            <a:ext cx="2215324" cy="4752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54635" y="288036"/>
            <a:ext cx="4583430" cy="11521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54635" y="1656207"/>
            <a:ext cx="4583430" cy="4752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1731518" y="6696837"/>
            <a:ext cx="1629664" cy="3600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254635" y="6696837"/>
            <a:ext cx="1171321" cy="3600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3666744" y="6696837"/>
            <a:ext cx="1171321" cy="3600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3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4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745424" y="372632"/>
            <a:ext cx="3522979" cy="678815"/>
          </a:xfrm>
          <a:prstGeom prst="rect">
            <a:avLst/>
          </a:prstGeom>
        </p:spPr>
        <p:txBody>
          <a:bodyPr wrap="square" lIns="0" tIns="1066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dirty="0" sz="1050" b="1">
                <a:latin typeface="Times New Roman"/>
                <a:cs typeface="Times New Roman"/>
              </a:rPr>
              <a:t>РОССИЙСКИЙ</a:t>
            </a:r>
            <a:r>
              <a:rPr dirty="0" sz="1050" spc="150" b="1">
                <a:latin typeface="Times New Roman"/>
                <a:cs typeface="Times New Roman"/>
              </a:rPr>
              <a:t> </a:t>
            </a:r>
            <a:r>
              <a:rPr dirty="0" sz="1050" b="1">
                <a:latin typeface="Times New Roman"/>
                <a:cs typeface="Times New Roman"/>
              </a:rPr>
              <a:t>УНИВЕРСИТЕТ</a:t>
            </a:r>
            <a:r>
              <a:rPr dirty="0" sz="1050" spc="155" b="1">
                <a:latin typeface="Times New Roman"/>
                <a:cs typeface="Times New Roman"/>
              </a:rPr>
              <a:t> </a:t>
            </a:r>
            <a:r>
              <a:rPr dirty="0" sz="1050" b="1">
                <a:latin typeface="Times New Roman"/>
                <a:cs typeface="Times New Roman"/>
              </a:rPr>
              <a:t>ДРУЖБЫ</a:t>
            </a:r>
            <a:r>
              <a:rPr dirty="0" sz="1050" spc="155" b="1">
                <a:latin typeface="Times New Roman"/>
                <a:cs typeface="Times New Roman"/>
              </a:rPr>
              <a:t> </a:t>
            </a:r>
            <a:r>
              <a:rPr dirty="0" sz="1050" spc="-10" b="1">
                <a:latin typeface="Times New Roman"/>
                <a:cs typeface="Times New Roman"/>
              </a:rPr>
              <a:t>НАРОДОВ</a:t>
            </a:r>
            <a:endParaRPr sz="1050">
              <a:latin typeface="Times New Roman"/>
              <a:cs typeface="Times New Roman"/>
            </a:endParaRPr>
          </a:p>
          <a:p>
            <a:pPr marL="309880" marR="226695" indent="45720">
              <a:lnSpc>
                <a:spcPct val="148000"/>
              </a:lnSpc>
              <a:spcBef>
                <a:spcPts val="120"/>
              </a:spcBef>
            </a:pPr>
            <a:r>
              <a:rPr dirty="0" sz="850" b="1">
                <a:latin typeface="Times New Roman"/>
                <a:cs typeface="Times New Roman"/>
              </a:rPr>
              <a:t>Факультет</a:t>
            </a:r>
            <a:r>
              <a:rPr dirty="0" sz="850" spc="125" b="1">
                <a:latin typeface="Times New Roman"/>
                <a:cs typeface="Times New Roman"/>
              </a:rPr>
              <a:t> </a:t>
            </a:r>
            <a:r>
              <a:rPr dirty="0" sz="850" b="1">
                <a:latin typeface="Times New Roman"/>
                <a:cs typeface="Times New Roman"/>
              </a:rPr>
              <a:t>физико-математических</a:t>
            </a:r>
            <a:r>
              <a:rPr dirty="0" sz="850" spc="125" b="1">
                <a:latin typeface="Times New Roman"/>
                <a:cs typeface="Times New Roman"/>
              </a:rPr>
              <a:t> </a:t>
            </a:r>
            <a:r>
              <a:rPr dirty="0" sz="850" b="1">
                <a:latin typeface="Times New Roman"/>
                <a:cs typeface="Times New Roman"/>
              </a:rPr>
              <a:t>и</a:t>
            </a:r>
            <a:r>
              <a:rPr dirty="0" sz="850" spc="125" b="1">
                <a:latin typeface="Times New Roman"/>
                <a:cs typeface="Times New Roman"/>
              </a:rPr>
              <a:t> </a:t>
            </a:r>
            <a:r>
              <a:rPr dirty="0" sz="850" b="1">
                <a:latin typeface="Times New Roman"/>
                <a:cs typeface="Times New Roman"/>
              </a:rPr>
              <a:t>естественных</a:t>
            </a:r>
            <a:r>
              <a:rPr dirty="0" sz="850" spc="125" b="1">
                <a:latin typeface="Times New Roman"/>
                <a:cs typeface="Times New Roman"/>
              </a:rPr>
              <a:t> </a:t>
            </a:r>
            <a:r>
              <a:rPr dirty="0" sz="850" spc="-20" b="1">
                <a:latin typeface="Times New Roman"/>
                <a:cs typeface="Times New Roman"/>
              </a:rPr>
              <a:t>наук</a:t>
            </a:r>
            <a:r>
              <a:rPr dirty="0" sz="850" b="1">
                <a:latin typeface="Times New Roman"/>
                <a:cs typeface="Times New Roman"/>
              </a:rPr>
              <a:t> Кафедра</a:t>
            </a:r>
            <a:r>
              <a:rPr dirty="0" sz="850" spc="75" b="1">
                <a:latin typeface="Times New Roman"/>
                <a:cs typeface="Times New Roman"/>
              </a:rPr>
              <a:t> </a:t>
            </a:r>
            <a:r>
              <a:rPr dirty="0" sz="850" b="1">
                <a:latin typeface="Times New Roman"/>
                <a:cs typeface="Times New Roman"/>
              </a:rPr>
              <a:t>прикладной</a:t>
            </a:r>
            <a:r>
              <a:rPr dirty="0" sz="850" spc="80" b="1">
                <a:latin typeface="Times New Roman"/>
                <a:cs typeface="Times New Roman"/>
              </a:rPr>
              <a:t> </a:t>
            </a:r>
            <a:r>
              <a:rPr dirty="0" sz="850" b="1">
                <a:latin typeface="Times New Roman"/>
                <a:cs typeface="Times New Roman"/>
              </a:rPr>
              <a:t>информатики</a:t>
            </a:r>
            <a:r>
              <a:rPr dirty="0" sz="850" spc="80" b="1">
                <a:latin typeface="Times New Roman"/>
                <a:cs typeface="Times New Roman"/>
              </a:rPr>
              <a:t> </a:t>
            </a:r>
            <a:r>
              <a:rPr dirty="0" sz="850" b="1">
                <a:latin typeface="Times New Roman"/>
                <a:cs typeface="Times New Roman"/>
              </a:rPr>
              <a:t>и</a:t>
            </a:r>
            <a:r>
              <a:rPr dirty="0" sz="850" spc="80" b="1">
                <a:latin typeface="Times New Roman"/>
                <a:cs typeface="Times New Roman"/>
              </a:rPr>
              <a:t> </a:t>
            </a:r>
            <a:r>
              <a:rPr dirty="0" sz="850" b="1">
                <a:latin typeface="Times New Roman"/>
                <a:cs typeface="Times New Roman"/>
              </a:rPr>
              <a:t>теории</a:t>
            </a:r>
            <a:r>
              <a:rPr dirty="0" sz="850" spc="80" b="1">
                <a:latin typeface="Times New Roman"/>
                <a:cs typeface="Times New Roman"/>
              </a:rPr>
              <a:t> </a:t>
            </a:r>
            <a:r>
              <a:rPr dirty="0" sz="850" spc="-10" b="1">
                <a:latin typeface="Times New Roman"/>
                <a:cs typeface="Times New Roman"/>
              </a:rPr>
              <a:t>вероятностей</a:t>
            </a:r>
            <a:endParaRPr sz="85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211805" y="1895913"/>
            <a:ext cx="2589530" cy="836294"/>
          </a:xfrm>
          <a:prstGeom prst="rect">
            <a:avLst/>
          </a:prstGeom>
        </p:spPr>
        <p:txBody>
          <a:bodyPr wrap="square" lIns="0" tIns="87630" rIns="0" bIns="0" rtlCol="0" vert="horz">
            <a:spAutoFit/>
          </a:bodyPr>
          <a:lstStyle/>
          <a:p>
            <a:pPr algn="ctr" marL="1270">
              <a:lnSpc>
                <a:spcPct val="100000"/>
              </a:lnSpc>
              <a:spcBef>
                <a:spcPts val="690"/>
              </a:spcBef>
            </a:pPr>
            <a:r>
              <a:rPr dirty="0" sz="1050" spc="-10" b="1">
                <a:latin typeface="Times New Roman"/>
                <a:cs typeface="Times New Roman"/>
              </a:rPr>
              <a:t>ОТЧЕТ</a:t>
            </a:r>
            <a:endParaRPr sz="10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600"/>
              </a:spcBef>
            </a:pPr>
            <a:r>
              <a:rPr dirty="0" sz="1050" b="1">
                <a:latin typeface="Times New Roman"/>
                <a:cs typeface="Times New Roman"/>
              </a:rPr>
              <a:t>ПО</a:t>
            </a:r>
            <a:r>
              <a:rPr dirty="0" sz="1050" spc="95" b="1">
                <a:latin typeface="Times New Roman"/>
                <a:cs typeface="Times New Roman"/>
              </a:rPr>
              <a:t> </a:t>
            </a:r>
            <a:r>
              <a:rPr dirty="0" sz="1050" b="1">
                <a:latin typeface="Times New Roman"/>
                <a:cs typeface="Times New Roman"/>
              </a:rPr>
              <a:t>ЛАБОРАТОРНОЙ</a:t>
            </a:r>
            <a:r>
              <a:rPr dirty="0" sz="1050" spc="95" b="1">
                <a:latin typeface="Times New Roman"/>
                <a:cs typeface="Times New Roman"/>
              </a:rPr>
              <a:t> </a:t>
            </a:r>
            <a:r>
              <a:rPr dirty="0" sz="1050" b="1">
                <a:latin typeface="Times New Roman"/>
                <a:cs typeface="Times New Roman"/>
              </a:rPr>
              <a:t>РАБОТЕ</a:t>
            </a:r>
            <a:r>
              <a:rPr dirty="0" sz="1050" spc="100" b="1">
                <a:latin typeface="Times New Roman"/>
                <a:cs typeface="Times New Roman"/>
              </a:rPr>
              <a:t> </a:t>
            </a:r>
            <a:r>
              <a:rPr dirty="0" sz="1050" b="1">
                <a:latin typeface="Times New Roman"/>
                <a:cs typeface="Times New Roman"/>
              </a:rPr>
              <a:t>№</a:t>
            </a:r>
            <a:r>
              <a:rPr dirty="0" sz="1050" spc="95" b="1">
                <a:latin typeface="Times New Roman"/>
                <a:cs typeface="Times New Roman"/>
              </a:rPr>
              <a:t> </a:t>
            </a:r>
            <a:r>
              <a:rPr dirty="0" sz="1050" spc="-50" b="1">
                <a:latin typeface="Times New Roman"/>
                <a:cs typeface="Times New Roman"/>
              </a:rPr>
              <a:t>6</a:t>
            </a: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sz="10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tabLst>
                <a:tab pos="986155" algn="l"/>
              </a:tabLst>
            </a:pPr>
            <a:r>
              <a:rPr dirty="0" u="sng" sz="1050" spc="-10" i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дисциплина:</a:t>
            </a:r>
            <a:r>
              <a:rPr dirty="0" u="sng" sz="1050" i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Архитектура</a:t>
            </a:r>
            <a:r>
              <a:rPr dirty="0" u="sng" sz="1050" spc="114" i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050" spc="-10" i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компьютера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2582840" y="4449126"/>
            <a:ext cx="2035810" cy="49847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algn="r" marR="5715">
              <a:lnSpc>
                <a:spcPct val="100000"/>
              </a:lnSpc>
              <a:spcBef>
                <a:spcPts val="125"/>
              </a:spcBef>
            </a:pPr>
            <a:r>
              <a:rPr dirty="0" u="sng" sz="85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Студент:</a:t>
            </a:r>
            <a:r>
              <a:rPr dirty="0" u="sng" sz="850" spc="7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85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Моисеев</a:t>
            </a:r>
            <a:r>
              <a:rPr dirty="0" u="sng" sz="850" spc="8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85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Дмитрий</a:t>
            </a:r>
            <a:r>
              <a:rPr dirty="0" u="sng" sz="850" spc="7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850" spc="-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Вячеславович</a:t>
            </a:r>
            <a:endParaRPr sz="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70"/>
              </a:spcBef>
            </a:pPr>
            <a:endParaRPr sz="850">
              <a:latin typeface="Times New Roman"/>
              <a:cs typeface="Times New Roman"/>
            </a:endParaRPr>
          </a:p>
          <a:p>
            <a:pPr algn="r" marR="5080">
              <a:lnSpc>
                <a:spcPct val="100000"/>
              </a:lnSpc>
              <a:spcBef>
                <a:spcPts val="5"/>
              </a:spcBef>
            </a:pPr>
            <a:r>
              <a:rPr dirty="0" u="sng" sz="85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Группа:</a:t>
            </a:r>
            <a:r>
              <a:rPr dirty="0" u="sng" sz="850" spc="12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85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НБИбд-02-</a:t>
            </a:r>
            <a:r>
              <a:rPr dirty="0" u="sng" sz="850" spc="-2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25</a:t>
            </a:r>
            <a:endParaRPr sz="850">
              <a:latin typeface="Times New Roman"/>
              <a:cs typeface="Times New Roman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2279454" y="6160902"/>
            <a:ext cx="532130" cy="408940"/>
          </a:xfrm>
          <a:prstGeom prst="rect">
            <a:avLst/>
          </a:prstGeom>
        </p:spPr>
        <p:txBody>
          <a:bodyPr wrap="square" lIns="0" tIns="7429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585"/>
              </a:spcBef>
            </a:pPr>
            <a:r>
              <a:rPr dirty="0" sz="850" spc="-10" b="1">
                <a:latin typeface="Times New Roman"/>
                <a:cs typeface="Times New Roman"/>
              </a:rPr>
              <a:t>МОСКВА</a:t>
            </a:r>
            <a:endParaRPr sz="8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489"/>
              </a:spcBef>
            </a:pPr>
            <a:r>
              <a:rPr dirty="0" sz="850">
                <a:latin typeface="Times New Roman"/>
                <a:cs typeface="Times New Roman"/>
              </a:rPr>
              <a:t>2026</a:t>
            </a:r>
            <a:r>
              <a:rPr dirty="0" sz="850" spc="35">
                <a:latin typeface="Times New Roman"/>
                <a:cs typeface="Times New Roman"/>
              </a:rPr>
              <a:t> </a:t>
            </a:r>
            <a:r>
              <a:rPr dirty="0" sz="850" spc="-25">
                <a:latin typeface="Times New Roman"/>
                <a:cs typeface="Times New Roman"/>
              </a:rPr>
              <a:t>г.</a:t>
            </a:r>
            <a:endParaRPr sz="8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81304" y="392412"/>
            <a:ext cx="107314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latin typeface="Book Antiqua"/>
                <a:cs typeface="Book Antiqua"/>
              </a:rPr>
              <a:t>38</a:t>
            </a:r>
            <a:endParaRPr sz="600">
              <a:latin typeface="Book Antiqua"/>
              <a:cs typeface="Book Antiqua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594004" y="514540"/>
            <a:ext cx="4032250" cy="0"/>
          </a:xfrm>
          <a:custGeom>
            <a:avLst/>
            <a:gdLst/>
            <a:ahLst/>
            <a:cxnLst/>
            <a:rect l="l" t="t" r="r" b="b"/>
            <a:pathLst>
              <a:path w="4032250" h="0">
                <a:moveTo>
                  <a:pt x="0" y="0"/>
                </a:moveTo>
                <a:lnTo>
                  <a:pt x="4031996" y="0"/>
                </a:lnTo>
              </a:path>
            </a:pathLst>
          </a:custGeom>
          <a:ln w="541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575830" y="766996"/>
            <a:ext cx="4084320" cy="3563620"/>
          </a:xfrm>
          <a:prstGeom prst="rect">
            <a:avLst/>
          </a:prstGeom>
        </p:spPr>
        <p:txBody>
          <a:bodyPr wrap="square" lIns="0" tIns="24130" rIns="0" bIns="0" rtlCol="0" vert="horz">
            <a:spAutoFit/>
          </a:bodyPr>
          <a:lstStyle/>
          <a:p>
            <a:pPr marL="17780" marR="102235">
              <a:lnSpc>
                <a:spcPts val="1060"/>
              </a:lnSpc>
              <a:spcBef>
                <a:spcPts val="190"/>
              </a:spcBef>
            </a:pPr>
            <a:r>
              <a:rPr dirty="0" sz="950" b="1">
                <a:latin typeface="Book Antiqua"/>
                <a:cs typeface="Book Antiqua"/>
              </a:rPr>
              <a:t>Лабораторная</a:t>
            </a:r>
            <a:r>
              <a:rPr dirty="0" sz="950" spc="65" b="1">
                <a:latin typeface="Book Antiqua"/>
                <a:cs typeface="Book Antiqua"/>
              </a:rPr>
              <a:t> </a:t>
            </a:r>
            <a:r>
              <a:rPr dirty="0" sz="950" b="1">
                <a:latin typeface="Book Antiqua"/>
                <a:cs typeface="Book Antiqua"/>
              </a:rPr>
              <a:t>работа</a:t>
            </a:r>
            <a:r>
              <a:rPr dirty="0" sz="950" spc="70" b="1">
                <a:latin typeface="Book Antiqua"/>
                <a:cs typeface="Book Antiqua"/>
              </a:rPr>
              <a:t> </a:t>
            </a:r>
            <a:r>
              <a:rPr dirty="0" sz="950" b="1">
                <a:latin typeface="Book Antiqua"/>
                <a:cs typeface="Book Antiqua"/>
              </a:rPr>
              <a:t>№</a:t>
            </a:r>
            <a:r>
              <a:rPr dirty="0" sz="950" spc="65" b="1">
                <a:latin typeface="Book Antiqua"/>
                <a:cs typeface="Book Antiqua"/>
              </a:rPr>
              <a:t> </a:t>
            </a:r>
            <a:r>
              <a:rPr dirty="0" sz="950" b="1">
                <a:latin typeface="Book Antiqua"/>
                <a:cs typeface="Book Antiqua"/>
              </a:rPr>
              <a:t>4.</a:t>
            </a:r>
            <a:r>
              <a:rPr dirty="0" sz="950" spc="254" b="1">
                <a:latin typeface="Book Antiqua"/>
                <a:cs typeface="Book Antiqua"/>
              </a:rPr>
              <a:t>  </a:t>
            </a:r>
            <a:r>
              <a:rPr dirty="0" sz="950" b="1">
                <a:latin typeface="Book Antiqua"/>
                <a:cs typeface="Book Antiqua"/>
              </a:rPr>
              <a:t>Основы</a:t>
            </a:r>
            <a:r>
              <a:rPr dirty="0" sz="950" spc="65" b="1">
                <a:latin typeface="Book Antiqua"/>
                <a:cs typeface="Book Antiqua"/>
              </a:rPr>
              <a:t> </a:t>
            </a:r>
            <a:r>
              <a:rPr dirty="0" sz="950" b="1">
                <a:latin typeface="Book Antiqua"/>
                <a:cs typeface="Book Antiqua"/>
              </a:rPr>
              <a:t>интерфейса</a:t>
            </a:r>
            <a:r>
              <a:rPr dirty="0" sz="950" spc="70" b="1">
                <a:latin typeface="Book Antiqua"/>
                <a:cs typeface="Book Antiqua"/>
              </a:rPr>
              <a:t> </a:t>
            </a:r>
            <a:r>
              <a:rPr dirty="0" sz="950" spc="-10" b="1">
                <a:latin typeface="Book Antiqua"/>
                <a:cs typeface="Book Antiqua"/>
              </a:rPr>
              <a:t>взаимодействия </a:t>
            </a:r>
            <a:r>
              <a:rPr dirty="0" sz="950" b="1">
                <a:latin typeface="Book Antiqua"/>
                <a:cs typeface="Book Antiqua"/>
              </a:rPr>
              <a:t>пользователя</a:t>
            </a:r>
            <a:r>
              <a:rPr dirty="0" sz="950" spc="80" b="1">
                <a:latin typeface="Book Antiqua"/>
                <a:cs typeface="Book Antiqua"/>
              </a:rPr>
              <a:t> </a:t>
            </a:r>
            <a:r>
              <a:rPr dirty="0" sz="950" b="1">
                <a:latin typeface="Book Antiqua"/>
                <a:cs typeface="Book Antiqua"/>
              </a:rPr>
              <a:t>с</a:t>
            </a:r>
            <a:r>
              <a:rPr dirty="0" sz="950" spc="85" b="1">
                <a:latin typeface="Book Antiqua"/>
                <a:cs typeface="Book Antiqua"/>
              </a:rPr>
              <a:t> </a:t>
            </a:r>
            <a:r>
              <a:rPr dirty="0" sz="950" b="1">
                <a:latin typeface="Book Antiqua"/>
                <a:cs typeface="Book Antiqua"/>
              </a:rPr>
              <a:t>системой</a:t>
            </a:r>
            <a:r>
              <a:rPr dirty="0" sz="950" spc="85" b="1">
                <a:latin typeface="Book Antiqua"/>
                <a:cs typeface="Book Antiqua"/>
              </a:rPr>
              <a:t> </a:t>
            </a:r>
            <a:r>
              <a:rPr dirty="0" sz="950" b="1">
                <a:latin typeface="Book Antiqua"/>
                <a:cs typeface="Book Antiqua"/>
              </a:rPr>
              <a:t>Unix</a:t>
            </a:r>
            <a:r>
              <a:rPr dirty="0" sz="950" spc="85" b="1">
                <a:latin typeface="Book Antiqua"/>
                <a:cs typeface="Book Antiqua"/>
              </a:rPr>
              <a:t> </a:t>
            </a:r>
            <a:r>
              <a:rPr dirty="0" sz="950" b="1">
                <a:latin typeface="Book Antiqua"/>
                <a:cs typeface="Book Antiqua"/>
              </a:rPr>
              <a:t>на</a:t>
            </a:r>
            <a:r>
              <a:rPr dirty="0" sz="950" spc="85" b="1">
                <a:latin typeface="Book Antiqua"/>
                <a:cs typeface="Book Antiqua"/>
              </a:rPr>
              <a:t> </a:t>
            </a:r>
            <a:r>
              <a:rPr dirty="0" sz="950" b="1">
                <a:latin typeface="Book Antiqua"/>
                <a:cs typeface="Book Antiqua"/>
              </a:rPr>
              <a:t>уровне</a:t>
            </a:r>
            <a:r>
              <a:rPr dirty="0" sz="950" spc="85" b="1">
                <a:latin typeface="Book Antiqua"/>
                <a:cs typeface="Book Antiqua"/>
              </a:rPr>
              <a:t> </a:t>
            </a:r>
            <a:r>
              <a:rPr dirty="0" sz="950" b="1">
                <a:latin typeface="Book Antiqua"/>
                <a:cs typeface="Book Antiqua"/>
              </a:rPr>
              <a:t>командной</a:t>
            </a:r>
            <a:r>
              <a:rPr dirty="0" sz="950" spc="85" b="1">
                <a:latin typeface="Book Antiqua"/>
                <a:cs typeface="Book Antiqua"/>
              </a:rPr>
              <a:t> </a:t>
            </a:r>
            <a:r>
              <a:rPr dirty="0" sz="950" spc="-10" b="1">
                <a:latin typeface="Book Antiqua"/>
                <a:cs typeface="Book Antiqua"/>
              </a:rPr>
              <a:t>строки</a:t>
            </a:r>
            <a:endParaRPr sz="950">
              <a:latin typeface="Book Antiqua"/>
              <a:cs typeface="Book Antiqua"/>
            </a:endParaRPr>
          </a:p>
          <a:p>
            <a:pPr lvl="1" marL="309880" indent="-292100">
              <a:lnSpc>
                <a:spcPct val="100000"/>
              </a:lnSpc>
              <a:spcBef>
                <a:spcPts val="1040"/>
              </a:spcBef>
              <a:buAutoNum type="arabicPeriod"/>
              <a:tabLst>
                <a:tab pos="309880" algn="l"/>
              </a:tabLst>
            </a:pPr>
            <a:r>
              <a:rPr dirty="0" sz="850" b="1">
                <a:latin typeface="Book Antiqua"/>
                <a:cs typeface="Book Antiqua"/>
              </a:rPr>
              <a:t>Цель</a:t>
            </a:r>
            <a:r>
              <a:rPr dirty="0" sz="850" spc="-35" b="1">
                <a:latin typeface="Book Antiqua"/>
                <a:cs typeface="Book Antiqua"/>
              </a:rPr>
              <a:t> </a:t>
            </a:r>
            <a:r>
              <a:rPr dirty="0" sz="850" spc="-10" b="1">
                <a:latin typeface="Book Antiqua"/>
                <a:cs typeface="Book Antiqua"/>
              </a:rPr>
              <a:t>работы</a:t>
            </a:r>
            <a:endParaRPr sz="850">
              <a:latin typeface="Book Antiqua"/>
              <a:cs typeface="Book Antiqua"/>
            </a:endParaRPr>
          </a:p>
          <a:p>
            <a:pPr algn="just" marL="17780" marR="5080" indent="97790">
              <a:lnSpc>
                <a:spcPct val="100000"/>
              </a:lnSpc>
              <a:spcBef>
                <a:spcPts val="865"/>
              </a:spcBef>
            </a:pPr>
            <a:r>
              <a:rPr dirty="0" sz="750" spc="10">
                <a:latin typeface="Book Antiqua"/>
                <a:cs typeface="Book Antiqua"/>
              </a:rPr>
              <a:t>Приобретение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практических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навыков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взаимодействия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пользователя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с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системой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-25">
                <a:latin typeface="Book Antiqua"/>
                <a:cs typeface="Book Antiqua"/>
              </a:rPr>
              <a:t>по-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средством</a:t>
            </a:r>
            <a:r>
              <a:rPr dirty="0" sz="750" spc="1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командной</a:t>
            </a:r>
            <a:r>
              <a:rPr dirty="0" sz="750" spc="11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строки.</a:t>
            </a:r>
            <a:endParaRPr sz="75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390"/>
              </a:spcBef>
            </a:pPr>
            <a:endParaRPr sz="750">
              <a:latin typeface="Book Antiqua"/>
              <a:cs typeface="Book Antiqua"/>
            </a:endParaRPr>
          </a:p>
          <a:p>
            <a:pPr lvl="1" marL="308610" indent="-290830">
              <a:lnSpc>
                <a:spcPct val="100000"/>
              </a:lnSpc>
              <a:buAutoNum type="arabicPeriod" startAt="2"/>
              <a:tabLst>
                <a:tab pos="308610" algn="l"/>
              </a:tabLst>
            </a:pPr>
            <a:r>
              <a:rPr dirty="0" sz="850" b="1">
                <a:latin typeface="Book Antiqua"/>
                <a:cs typeface="Book Antiqua"/>
              </a:rPr>
              <a:t>Указания</a:t>
            </a:r>
            <a:r>
              <a:rPr dirty="0" sz="850" spc="15" b="1">
                <a:latin typeface="Book Antiqua"/>
                <a:cs typeface="Book Antiqua"/>
              </a:rPr>
              <a:t> </a:t>
            </a:r>
            <a:r>
              <a:rPr dirty="0" sz="850" b="1">
                <a:latin typeface="Book Antiqua"/>
                <a:cs typeface="Book Antiqua"/>
              </a:rPr>
              <a:t>к</a:t>
            </a:r>
            <a:r>
              <a:rPr dirty="0" sz="850" spc="15" b="1">
                <a:latin typeface="Book Antiqua"/>
                <a:cs typeface="Book Antiqua"/>
              </a:rPr>
              <a:t> </a:t>
            </a:r>
            <a:r>
              <a:rPr dirty="0" sz="850" spc="-10" b="1">
                <a:latin typeface="Book Antiqua"/>
                <a:cs typeface="Book Antiqua"/>
              </a:rPr>
              <a:t>работе</a:t>
            </a:r>
            <a:endParaRPr sz="850">
              <a:latin typeface="Book Antiqua"/>
              <a:cs typeface="Book Antiqua"/>
            </a:endParaRPr>
          </a:p>
          <a:p>
            <a:pPr algn="just" marL="17780" marR="5080" indent="97790">
              <a:lnSpc>
                <a:spcPct val="100000"/>
              </a:lnSpc>
              <a:spcBef>
                <a:spcPts val="865"/>
              </a:spcBef>
            </a:pP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операционной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системе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типа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Linux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взаимодействие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пользователя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системой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обычно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осуществляется</a:t>
            </a:r>
            <a:r>
              <a:rPr dirty="0" sz="750" spc="29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</a:t>
            </a:r>
            <a:r>
              <a:rPr dirty="0" sz="750" spc="29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помощью</a:t>
            </a:r>
            <a:r>
              <a:rPr dirty="0" sz="750" spc="3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командной</a:t>
            </a:r>
            <a:r>
              <a:rPr dirty="0" sz="750" spc="29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строки</a:t>
            </a:r>
            <a:r>
              <a:rPr dirty="0" sz="750" spc="3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посредством</a:t>
            </a:r>
            <a:r>
              <a:rPr dirty="0" sz="750" spc="29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построчного</a:t>
            </a:r>
            <a:r>
              <a:rPr dirty="0" sz="750" spc="29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ввода</a:t>
            </a:r>
            <a:r>
              <a:rPr dirty="0" sz="750" spc="300">
                <a:latin typeface="Book Antiqua"/>
                <a:cs typeface="Book Antiqua"/>
              </a:rPr>
              <a:t> </a:t>
            </a:r>
            <a:r>
              <a:rPr dirty="0" sz="750" spc="-25">
                <a:latin typeface="Book Antiqua"/>
                <a:cs typeface="Book Antiqua"/>
              </a:rPr>
              <a:t>ко-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манд.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-35">
                <a:latin typeface="Book Antiqua"/>
                <a:cs typeface="Book Antiqua"/>
              </a:rPr>
              <a:t>При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этом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обычно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используется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командные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интерпретаторы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языка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shell: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/bin/sh</a:t>
            </a:r>
            <a:r>
              <a:rPr dirty="0" sz="750" spc="-10">
                <a:latin typeface="Book Antiqua"/>
                <a:cs typeface="Book Antiqua"/>
              </a:rPr>
              <a:t>;</a:t>
            </a:r>
            <a:endParaRPr sz="750">
              <a:latin typeface="Book Antiqua"/>
              <a:cs typeface="Book Antiqua"/>
            </a:endParaRPr>
          </a:p>
          <a:p>
            <a:pPr marL="12700">
              <a:lnSpc>
                <a:spcPts val="885"/>
              </a:lnSpc>
            </a:pPr>
            <a:r>
              <a:rPr dirty="0" sz="700">
                <a:latin typeface="Courier New"/>
                <a:cs typeface="Courier New"/>
              </a:rPr>
              <a:t>/bin/csh</a:t>
            </a:r>
            <a:r>
              <a:rPr dirty="0" sz="750">
                <a:latin typeface="Book Antiqua"/>
                <a:cs typeface="Book Antiqua"/>
              </a:rPr>
              <a:t>;</a:t>
            </a:r>
            <a:r>
              <a:rPr dirty="0" sz="750" spc="100">
                <a:latin typeface="Book Antiqua"/>
                <a:cs typeface="Book Antiqua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/bin/ksh</a:t>
            </a:r>
            <a:r>
              <a:rPr dirty="0" sz="750" spc="-10">
                <a:latin typeface="Book Antiqua"/>
                <a:cs typeface="Book Antiqua"/>
              </a:rPr>
              <a:t>.</a:t>
            </a:r>
            <a:endParaRPr sz="75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370"/>
              </a:spcBef>
            </a:pPr>
            <a:endParaRPr sz="700">
              <a:latin typeface="Book Antiqua"/>
              <a:cs typeface="Book Antiqua"/>
            </a:endParaRPr>
          </a:p>
          <a:p>
            <a:pPr algn="just" marL="17780" marR="5080">
              <a:lnSpc>
                <a:spcPct val="100000"/>
              </a:lnSpc>
              <a:spcBef>
                <a:spcPts val="5"/>
              </a:spcBef>
            </a:pPr>
            <a:r>
              <a:rPr dirty="0" sz="750" spc="35" b="1">
                <a:latin typeface="Book Antiqua"/>
                <a:cs typeface="Book Antiqua"/>
              </a:rPr>
              <a:t>Формат</a:t>
            </a:r>
            <a:r>
              <a:rPr dirty="0" sz="750" spc="50" b="1">
                <a:latin typeface="Book Antiqua"/>
                <a:cs typeface="Book Antiqua"/>
              </a:rPr>
              <a:t> </a:t>
            </a:r>
            <a:r>
              <a:rPr dirty="0" sz="750" spc="40" b="1">
                <a:latin typeface="Book Antiqua"/>
                <a:cs typeface="Book Antiqua"/>
              </a:rPr>
              <a:t>команды.</a:t>
            </a:r>
            <a:r>
              <a:rPr dirty="0" sz="750" spc="705" b="1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Командой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50">
                <a:latin typeface="Book Antiqua"/>
                <a:cs typeface="Book Antiqua"/>
              </a:rPr>
              <a:t>в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операционной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25">
                <a:latin typeface="Book Antiqua"/>
                <a:cs typeface="Book Antiqua"/>
              </a:rPr>
              <a:t>системе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30">
                <a:latin typeface="Book Antiqua"/>
                <a:cs typeface="Book Antiqua"/>
              </a:rPr>
              <a:t>называется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записанный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по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специальным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правилам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текст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 spc="25">
                <a:latin typeface="Book Antiqua"/>
                <a:cs typeface="Book Antiqua"/>
              </a:rPr>
              <a:t>(возможно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25">
                <a:latin typeface="Book Antiqua"/>
                <a:cs typeface="Book Antiqua"/>
              </a:rPr>
              <a:t>с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аргументами),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представляющий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собой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25">
                <a:latin typeface="Book Antiqua"/>
                <a:cs typeface="Book Antiqua"/>
              </a:rPr>
              <a:t>ука-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зание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на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выполнение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какой-</a:t>
            </a:r>
            <a:r>
              <a:rPr dirty="0" sz="750" spc="5">
                <a:latin typeface="Book Antiqua"/>
                <a:cs typeface="Book Antiqua"/>
              </a:rPr>
              <a:t>либо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функций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(или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действий)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 spc="50">
                <a:latin typeface="Book Antiqua"/>
                <a:cs typeface="Book Antiqua"/>
              </a:rPr>
              <a:t>в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операционной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 spc="25">
                <a:latin typeface="Book Antiqua"/>
                <a:cs typeface="Book Antiqua"/>
              </a:rPr>
              <a:t>системе.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Обычно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30">
                <a:latin typeface="Book Antiqua"/>
                <a:cs typeface="Book Antiqua"/>
              </a:rPr>
              <a:t>первым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25">
                <a:latin typeface="Book Antiqua"/>
                <a:cs typeface="Book Antiqua"/>
              </a:rPr>
              <a:t>словом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идёт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имя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25">
                <a:latin typeface="Book Antiqua"/>
                <a:cs typeface="Book Antiqua"/>
              </a:rPr>
              <a:t>команды,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остальной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текст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 spc="-55">
                <a:latin typeface="Book Antiqua"/>
                <a:cs typeface="Book Antiqua"/>
              </a:rPr>
              <a:t>—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аргументы </a:t>
            </a:r>
            <a:r>
              <a:rPr dirty="0" sz="750">
                <a:latin typeface="Book Antiqua"/>
                <a:cs typeface="Book Antiqua"/>
              </a:rPr>
              <a:t>или</a:t>
            </a:r>
            <a:r>
              <a:rPr dirty="0" sz="750" spc="15">
                <a:latin typeface="Book Antiqua"/>
                <a:cs typeface="Book Antiqua"/>
              </a:rPr>
              <a:t> опции,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конкретизирующие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действие.</a:t>
            </a:r>
            <a:endParaRPr sz="750">
              <a:latin typeface="Book Antiqua"/>
              <a:cs typeface="Book Antiqua"/>
            </a:endParaRPr>
          </a:p>
          <a:p>
            <a:pPr algn="just" marL="116205">
              <a:lnSpc>
                <a:spcPts val="875"/>
              </a:lnSpc>
            </a:pPr>
            <a:r>
              <a:rPr dirty="0" sz="750" spc="-10">
                <a:latin typeface="Book Antiqua"/>
                <a:cs typeface="Book Antiqua"/>
              </a:rPr>
              <a:t>Общий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формат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можно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представить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следующим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образом:</a:t>
            </a:r>
            <a:endParaRPr sz="750">
              <a:latin typeface="Book Antiqua"/>
              <a:cs typeface="Book Antiqua"/>
            </a:endParaRPr>
          </a:p>
          <a:p>
            <a:pPr marL="17780">
              <a:lnSpc>
                <a:spcPct val="100000"/>
              </a:lnSpc>
              <a:spcBef>
                <a:spcPts val="45"/>
              </a:spcBef>
            </a:pPr>
            <a:r>
              <a:rPr dirty="0" sz="700" spc="-10">
                <a:latin typeface="Courier New"/>
                <a:cs typeface="Courier New"/>
              </a:rPr>
              <a:t>&lt;имя_команды&gt;&lt;разделитель&gt;&lt;аргументы&gt;</a:t>
            </a:r>
            <a:endParaRPr sz="7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59"/>
              </a:spcBef>
            </a:pPr>
            <a:endParaRPr sz="700">
              <a:latin typeface="Courier New"/>
              <a:cs typeface="Courier New"/>
            </a:endParaRPr>
          </a:p>
          <a:p>
            <a:pPr algn="just" marL="17780" marR="5080">
              <a:lnSpc>
                <a:spcPct val="100000"/>
              </a:lnSpc>
            </a:pPr>
            <a:r>
              <a:rPr dirty="0" sz="750" b="1">
                <a:latin typeface="Book Antiqua"/>
                <a:cs typeface="Book Antiqua"/>
              </a:rPr>
              <a:t>Команда</a:t>
            </a:r>
            <a:r>
              <a:rPr dirty="0" sz="750" spc="-50" b="1">
                <a:latin typeface="Book Antiqua"/>
                <a:cs typeface="Book Antiqua"/>
              </a:rPr>
              <a:t> </a:t>
            </a:r>
            <a:r>
              <a:rPr dirty="0" sz="750" b="1">
                <a:latin typeface="Book Antiqua"/>
                <a:cs typeface="Book Antiqua"/>
              </a:rPr>
              <a:t>man.</a:t>
            </a:r>
            <a:r>
              <a:rPr dirty="0" sz="750" spc="340" b="1">
                <a:latin typeface="Book Antiqua"/>
                <a:cs typeface="Book Antiqua"/>
              </a:rPr>
              <a:t>  </a:t>
            </a:r>
            <a:r>
              <a:rPr dirty="0" sz="750" spc="-10">
                <a:latin typeface="Book Antiqua"/>
                <a:cs typeface="Book Antiqua"/>
              </a:rPr>
              <a:t>Команда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00" spc="-60">
                <a:latin typeface="Courier New"/>
                <a:cs typeface="Courier New"/>
              </a:rPr>
              <a:t>man</a:t>
            </a:r>
            <a:r>
              <a:rPr dirty="0" sz="700" spc="-45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используется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для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просмотра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(оперативная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помощь)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диа-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логовом</a:t>
            </a:r>
            <a:r>
              <a:rPr dirty="0" sz="750" spc="10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режиме</a:t>
            </a:r>
            <a:r>
              <a:rPr dirty="0" sz="750" spc="1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руководства</a:t>
            </a:r>
            <a:r>
              <a:rPr dirty="0" sz="750" spc="10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(manual)</a:t>
            </a:r>
            <a:r>
              <a:rPr dirty="0" sz="750" spc="1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</a:t>
            </a:r>
            <a:r>
              <a:rPr dirty="0" sz="750" spc="1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основным</a:t>
            </a:r>
            <a:r>
              <a:rPr dirty="0" sz="750" spc="10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командам</a:t>
            </a:r>
            <a:r>
              <a:rPr dirty="0" sz="750" spc="1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операционной</a:t>
            </a:r>
            <a:r>
              <a:rPr dirty="0" sz="750" spc="11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системы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типа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Linux.</a:t>
            </a:r>
            <a:endParaRPr sz="750">
              <a:latin typeface="Book Antiqua"/>
              <a:cs typeface="Book Antiqua"/>
            </a:endParaRPr>
          </a:p>
          <a:p>
            <a:pPr algn="just" marL="116205">
              <a:lnSpc>
                <a:spcPts val="885"/>
              </a:lnSpc>
            </a:pPr>
            <a:r>
              <a:rPr dirty="0" sz="750">
                <a:latin typeface="Book Antiqua"/>
                <a:cs typeface="Book Antiqua"/>
              </a:rPr>
              <a:t>Формат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команды:</a:t>
            </a:r>
            <a:endParaRPr sz="750">
              <a:latin typeface="Book Antiqua"/>
              <a:cs typeface="Book Antiqua"/>
            </a:endParaRPr>
          </a:p>
          <a:p>
            <a:pPr marL="17780">
              <a:lnSpc>
                <a:spcPct val="100000"/>
              </a:lnSpc>
              <a:spcBef>
                <a:spcPts val="45"/>
              </a:spcBef>
            </a:pPr>
            <a:r>
              <a:rPr dirty="0" sz="700">
                <a:latin typeface="Courier New"/>
                <a:cs typeface="Courier New"/>
              </a:rPr>
              <a:t>man</a:t>
            </a:r>
            <a:r>
              <a:rPr dirty="0" sz="700" spc="20">
                <a:latin typeface="Courier New"/>
                <a:cs typeface="Courier New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&lt;команда&gt;</a:t>
            </a:r>
            <a:endParaRPr sz="700">
              <a:latin typeface="Courier New"/>
              <a:cs typeface="Courier New"/>
            </a:endParaRPr>
          </a:p>
          <a:p>
            <a:pPr algn="just" marL="116205">
              <a:lnSpc>
                <a:spcPct val="100000"/>
              </a:lnSpc>
              <a:spcBef>
                <a:spcPts val="5"/>
              </a:spcBef>
            </a:pPr>
            <a:r>
              <a:rPr dirty="0" sz="750">
                <a:latin typeface="Book Antiqua"/>
                <a:cs typeface="Book Antiqua"/>
              </a:rPr>
              <a:t>Пример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(вывод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информации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команде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man</a:t>
            </a:r>
            <a:r>
              <a:rPr dirty="0" sz="750" spc="-10">
                <a:latin typeface="Book Antiqua"/>
                <a:cs typeface="Book Antiqua"/>
              </a:rPr>
              <a:t>):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00405" y="4460317"/>
            <a:ext cx="54610" cy="914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50">
                <a:latin typeface="Book Antiqua"/>
                <a:cs typeface="Book Antiqua"/>
              </a:rPr>
              <a:t>1</a:t>
            </a:r>
            <a:endParaRPr sz="400">
              <a:latin typeface="Book Antiqua"/>
              <a:cs typeface="Book Antiqua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94004" y="4410075"/>
            <a:ext cx="4032250" cy="189865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857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225"/>
              </a:spcBef>
            </a:pPr>
            <a:r>
              <a:rPr dirty="0" sz="700">
                <a:latin typeface="Courier New"/>
                <a:cs typeface="Courier New"/>
              </a:rPr>
              <a:t>man</a:t>
            </a:r>
            <a:r>
              <a:rPr dirty="0" sz="700" spc="20">
                <a:latin typeface="Courier New"/>
                <a:cs typeface="Courier New"/>
              </a:rPr>
              <a:t> </a:t>
            </a:r>
            <a:r>
              <a:rPr dirty="0" sz="700" spc="-25">
                <a:latin typeface="Courier New"/>
                <a:cs typeface="Courier New"/>
              </a:rPr>
              <a:t>man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581304" y="4676431"/>
            <a:ext cx="4057650" cy="2571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 marR="5080" indent="97790">
              <a:lnSpc>
                <a:spcPct val="100000"/>
              </a:lnSpc>
              <a:spcBef>
                <a:spcPts val="120"/>
              </a:spcBef>
            </a:pPr>
            <a:r>
              <a:rPr dirty="0" sz="750" spc="-30">
                <a:latin typeface="Book Antiqua"/>
                <a:cs typeface="Book Antiqua"/>
              </a:rPr>
              <a:t>Для</a:t>
            </a:r>
            <a:r>
              <a:rPr dirty="0" sz="750" spc="-10">
                <a:latin typeface="Book Antiqua"/>
                <a:cs typeface="Book Antiqua"/>
              </a:rPr>
              <a:t> управления </a:t>
            </a:r>
            <a:r>
              <a:rPr dirty="0" sz="750">
                <a:latin typeface="Book Antiqua"/>
                <a:cs typeface="Book Antiqua"/>
              </a:rPr>
              <a:t>просмотром</a:t>
            </a:r>
            <a:r>
              <a:rPr dirty="0" sz="750" spc="-10">
                <a:latin typeface="Book Antiqua"/>
                <a:cs typeface="Book Antiqua"/>
              </a:rPr>
              <a:t> результата выполнения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команды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man</a:t>
            </a:r>
            <a:r>
              <a:rPr dirty="0" sz="700" spc="-240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можно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использовать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следующие </a:t>
            </a:r>
            <a:r>
              <a:rPr dirty="0" sz="750" spc="-10">
                <a:latin typeface="Book Antiqua"/>
                <a:cs typeface="Book Antiqua"/>
              </a:rPr>
              <a:t>клавиши:</a:t>
            </a:r>
            <a:endParaRPr sz="750">
              <a:latin typeface="Book Antiqua"/>
              <a:cs typeface="Book Antiqua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726699" y="4934648"/>
            <a:ext cx="260985" cy="129539"/>
            <a:chOff x="726699" y="4934648"/>
            <a:chExt cx="260985" cy="129539"/>
          </a:xfrm>
        </p:grpSpPr>
        <p:sp>
          <p:nvSpPr>
            <p:cNvPr id="9" name="object 9" descr=""/>
            <p:cNvSpPr/>
            <p:nvPr/>
          </p:nvSpPr>
          <p:spPr>
            <a:xfrm>
              <a:off x="729239" y="4937188"/>
              <a:ext cx="255904" cy="124460"/>
            </a:xfrm>
            <a:custGeom>
              <a:avLst/>
              <a:gdLst/>
              <a:ahLst/>
              <a:cxnLst/>
              <a:rect l="l" t="t" r="r" b="b"/>
              <a:pathLst>
                <a:path w="255905" h="124460">
                  <a:moveTo>
                    <a:pt x="248845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248845" y="123926"/>
                  </a:lnTo>
                  <a:lnTo>
                    <a:pt x="255437" y="117333"/>
                  </a:lnTo>
                  <a:lnTo>
                    <a:pt x="255437" y="6592"/>
                  </a:lnTo>
                  <a:lnTo>
                    <a:pt x="248845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729239" y="4937188"/>
              <a:ext cx="255904" cy="124460"/>
            </a:xfrm>
            <a:custGeom>
              <a:avLst/>
              <a:gdLst/>
              <a:ahLst/>
              <a:cxnLst/>
              <a:rect l="l" t="t" r="r" b="b"/>
              <a:pathLst>
                <a:path w="255905" h="124460">
                  <a:moveTo>
                    <a:pt x="240713" y="0"/>
                  </a:moveTo>
                  <a:lnTo>
                    <a:pt x="14724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4" y="123926"/>
                  </a:lnTo>
                  <a:lnTo>
                    <a:pt x="240713" y="123926"/>
                  </a:lnTo>
                  <a:lnTo>
                    <a:pt x="248845" y="123926"/>
                  </a:lnTo>
                  <a:lnTo>
                    <a:pt x="255437" y="117333"/>
                  </a:lnTo>
                  <a:lnTo>
                    <a:pt x="255437" y="109202"/>
                  </a:lnTo>
                  <a:lnTo>
                    <a:pt x="255437" y="14723"/>
                  </a:lnTo>
                  <a:lnTo>
                    <a:pt x="255437" y="6592"/>
                  </a:lnTo>
                  <a:lnTo>
                    <a:pt x="248845" y="0"/>
                  </a:lnTo>
                  <a:lnTo>
                    <a:pt x="240713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 txBox="1"/>
          <p:nvPr/>
        </p:nvSpPr>
        <p:spPr>
          <a:xfrm>
            <a:off x="729239" y="4932250"/>
            <a:ext cx="245745" cy="1238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4765">
              <a:lnSpc>
                <a:spcPct val="100000"/>
              </a:lnSpc>
              <a:spcBef>
                <a:spcPts val="95"/>
              </a:spcBef>
            </a:pPr>
            <a:r>
              <a:rPr dirty="0" sz="650" spc="-10">
                <a:latin typeface="Calibri"/>
                <a:cs typeface="Calibri"/>
              </a:rPr>
              <a:t>Space</a:t>
            </a:r>
            <a:endParaRPr sz="650">
              <a:latin typeface="Calibri"/>
              <a:cs typeface="Calibri"/>
            </a:endParaRPr>
          </a:p>
        </p:txBody>
      </p:sp>
      <p:grpSp>
        <p:nvGrpSpPr>
          <p:cNvPr id="12" name="object 12" descr=""/>
          <p:cNvGrpSpPr/>
          <p:nvPr/>
        </p:nvGrpSpPr>
        <p:grpSpPr>
          <a:xfrm>
            <a:off x="726708" y="5076288"/>
            <a:ext cx="240665" cy="271145"/>
            <a:chOff x="726708" y="5076288"/>
            <a:chExt cx="240665" cy="271145"/>
          </a:xfrm>
        </p:grpSpPr>
        <p:sp>
          <p:nvSpPr>
            <p:cNvPr id="13" name="object 13" descr=""/>
            <p:cNvSpPr/>
            <p:nvPr/>
          </p:nvSpPr>
          <p:spPr>
            <a:xfrm>
              <a:off x="729239" y="5078819"/>
              <a:ext cx="235585" cy="124460"/>
            </a:xfrm>
            <a:custGeom>
              <a:avLst/>
              <a:gdLst/>
              <a:ahLst/>
              <a:cxnLst/>
              <a:rect l="l" t="t" r="r" b="b"/>
              <a:pathLst>
                <a:path w="235584" h="124460">
                  <a:moveTo>
                    <a:pt x="228804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228804" y="123926"/>
                  </a:lnTo>
                  <a:lnTo>
                    <a:pt x="235396" y="117333"/>
                  </a:lnTo>
                  <a:lnTo>
                    <a:pt x="235396" y="6592"/>
                  </a:lnTo>
                  <a:lnTo>
                    <a:pt x="228804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729239" y="5078819"/>
              <a:ext cx="235585" cy="124460"/>
            </a:xfrm>
            <a:custGeom>
              <a:avLst/>
              <a:gdLst/>
              <a:ahLst/>
              <a:cxnLst/>
              <a:rect l="l" t="t" r="r" b="b"/>
              <a:pathLst>
                <a:path w="235584" h="124460">
                  <a:moveTo>
                    <a:pt x="220672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220672" y="123926"/>
                  </a:lnTo>
                  <a:lnTo>
                    <a:pt x="228804" y="123926"/>
                  </a:lnTo>
                  <a:lnTo>
                    <a:pt x="235396" y="117333"/>
                  </a:lnTo>
                  <a:lnTo>
                    <a:pt x="235396" y="109202"/>
                  </a:lnTo>
                  <a:lnTo>
                    <a:pt x="235396" y="14723"/>
                  </a:lnTo>
                  <a:lnTo>
                    <a:pt x="235396" y="6592"/>
                  </a:lnTo>
                  <a:lnTo>
                    <a:pt x="228804" y="0"/>
                  </a:lnTo>
                  <a:lnTo>
                    <a:pt x="220672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729248" y="5220462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729248" y="5220462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 descr=""/>
          <p:cNvSpPr txBox="1"/>
          <p:nvPr/>
        </p:nvSpPr>
        <p:spPr>
          <a:xfrm>
            <a:off x="544830" y="4901854"/>
            <a:ext cx="3114675" cy="450850"/>
          </a:xfrm>
          <a:prstGeom prst="rect">
            <a:avLst/>
          </a:prstGeom>
        </p:spPr>
        <p:txBody>
          <a:bodyPr wrap="square" lIns="0" tIns="39370" rIns="0" bIns="0" rtlCol="0" vert="horz">
            <a:spAutoFit/>
          </a:bodyPr>
          <a:lstStyle/>
          <a:p>
            <a:pPr marL="461645" indent="-398145">
              <a:lnSpc>
                <a:spcPct val="100000"/>
              </a:lnSpc>
              <a:spcBef>
                <a:spcPts val="310"/>
              </a:spcBef>
              <a:buFont typeface="Book Antiqua"/>
              <a:buChar char="–"/>
              <a:tabLst>
                <a:tab pos="461645" algn="l"/>
              </a:tabLst>
            </a:pP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перемещение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документу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одну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страницу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вперёд;</a:t>
            </a:r>
            <a:endParaRPr sz="750">
              <a:latin typeface="Book Antiqua"/>
              <a:cs typeface="Book Antiqua"/>
            </a:endParaRPr>
          </a:p>
          <a:p>
            <a:pPr marL="208915" indent="-145415">
              <a:lnSpc>
                <a:spcPct val="100000"/>
              </a:lnSpc>
              <a:spcBef>
                <a:spcPts val="215"/>
              </a:spcBef>
              <a:buSzPct val="115384"/>
              <a:buFont typeface="Book Antiqua"/>
              <a:buChar char="–"/>
              <a:tabLst>
                <a:tab pos="208915" algn="l"/>
              </a:tabLst>
            </a:pPr>
            <a:r>
              <a:rPr dirty="0" baseline="8547" sz="975">
                <a:latin typeface="Calibri"/>
                <a:cs typeface="Calibri"/>
              </a:rPr>
              <a:t>Enter</a:t>
            </a:r>
            <a:r>
              <a:rPr dirty="0" baseline="8547" sz="975" spc="434">
                <a:latin typeface="Calibri"/>
                <a:cs typeface="Calibri"/>
              </a:rPr>
              <a:t> </a:t>
            </a: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перемещение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документу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одну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строку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вперёд;</a:t>
            </a:r>
            <a:endParaRPr sz="750">
              <a:latin typeface="Book Antiqua"/>
              <a:cs typeface="Book Antiqua"/>
            </a:endParaRPr>
          </a:p>
          <a:p>
            <a:pPr marL="235585" indent="-172085">
              <a:lnSpc>
                <a:spcPct val="100000"/>
              </a:lnSpc>
              <a:spcBef>
                <a:spcPts val="215"/>
              </a:spcBef>
              <a:buSzPct val="115384"/>
              <a:buFont typeface="Book Antiqua"/>
              <a:buChar char="–"/>
              <a:tabLst>
                <a:tab pos="235585" algn="l"/>
              </a:tabLst>
            </a:pPr>
            <a:r>
              <a:rPr dirty="0" baseline="8547" sz="975">
                <a:latin typeface="Calibri"/>
                <a:cs typeface="Calibri"/>
              </a:rPr>
              <a:t>q</a:t>
            </a:r>
            <a:r>
              <a:rPr dirty="0" baseline="8547" sz="975" spc="300">
                <a:latin typeface="Calibri"/>
                <a:cs typeface="Calibri"/>
              </a:rPr>
              <a:t>  </a:t>
            </a: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выход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из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режима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просмотра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описания.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581303" y="5481396"/>
            <a:ext cx="4078604" cy="122174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120"/>
              </a:spcBef>
            </a:pPr>
            <a:r>
              <a:rPr dirty="0" sz="750" b="1">
                <a:latin typeface="Book Antiqua"/>
                <a:cs typeface="Book Antiqua"/>
              </a:rPr>
              <a:t>Команда</a:t>
            </a:r>
            <a:r>
              <a:rPr dirty="0" sz="750" spc="-50" b="1">
                <a:latin typeface="Book Antiqua"/>
                <a:cs typeface="Book Antiqua"/>
              </a:rPr>
              <a:t> </a:t>
            </a:r>
            <a:r>
              <a:rPr dirty="0" sz="750" b="1">
                <a:latin typeface="Book Antiqua"/>
                <a:cs typeface="Book Antiqua"/>
              </a:rPr>
              <a:t>cd.</a:t>
            </a:r>
            <a:r>
              <a:rPr dirty="0" sz="750" spc="360" b="1">
                <a:latin typeface="Book Antiqua"/>
                <a:cs typeface="Book Antiqua"/>
              </a:rPr>
              <a:t>  </a:t>
            </a:r>
            <a:r>
              <a:rPr dirty="0" sz="750">
                <a:latin typeface="Book Antiqua"/>
                <a:cs typeface="Book Antiqua"/>
              </a:rPr>
              <a:t>Команда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00" spc="-125">
                <a:latin typeface="Courier New"/>
                <a:cs typeface="Courier New"/>
              </a:rPr>
              <a:t>cd</a:t>
            </a:r>
            <a:r>
              <a:rPr dirty="0" sz="700" spc="20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используется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для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перемещения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файловой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системе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опера-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ционной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системы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типа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Linux.</a:t>
            </a:r>
            <a:endParaRPr sz="750">
              <a:latin typeface="Book Antiqua"/>
              <a:cs typeface="Book Antiqua"/>
            </a:endParaRPr>
          </a:p>
          <a:p>
            <a:pPr algn="just" marL="12700" marR="5080">
              <a:lnSpc>
                <a:spcPct val="100000"/>
              </a:lnSpc>
              <a:spcBef>
                <a:spcPts val="565"/>
              </a:spcBef>
            </a:pPr>
            <a:r>
              <a:rPr dirty="0" sz="750" spc="10" b="1">
                <a:latin typeface="Book Antiqua"/>
                <a:cs typeface="Book Antiqua"/>
              </a:rPr>
              <a:t>Замечание</a:t>
            </a:r>
            <a:r>
              <a:rPr dirty="0" sz="750" spc="45" b="1">
                <a:latin typeface="Book Antiqua"/>
                <a:cs typeface="Book Antiqua"/>
              </a:rPr>
              <a:t> </a:t>
            </a:r>
            <a:r>
              <a:rPr dirty="0" sz="750" spc="50" b="1">
                <a:latin typeface="Book Antiqua"/>
                <a:cs typeface="Book Antiqua"/>
              </a:rPr>
              <a:t>1.</a:t>
            </a:r>
            <a:r>
              <a:rPr dirty="0" sz="750" spc="315" b="1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Файловая</a:t>
            </a:r>
            <a:r>
              <a:rPr dirty="0" sz="750" spc="8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система</a:t>
            </a:r>
            <a:r>
              <a:rPr dirty="0" sz="750" spc="8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ОС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типа</a:t>
            </a:r>
            <a:r>
              <a:rPr dirty="0" sz="750" spc="8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Linux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—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иерархическая</a:t>
            </a:r>
            <a:r>
              <a:rPr dirty="0" sz="750" spc="8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система</a:t>
            </a:r>
            <a:r>
              <a:rPr dirty="0" sz="750" spc="8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каталогов,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подкаталогов</a:t>
            </a:r>
            <a:r>
              <a:rPr dirty="0" sz="750" spc="2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2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файлов,</a:t>
            </a:r>
            <a:r>
              <a:rPr dirty="0" sz="750" spc="204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которые</a:t>
            </a:r>
            <a:r>
              <a:rPr dirty="0" sz="750" spc="2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обычно</a:t>
            </a:r>
            <a:r>
              <a:rPr dirty="0" sz="750" spc="2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организованы</a:t>
            </a:r>
            <a:r>
              <a:rPr dirty="0" sz="750" spc="2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2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сгруппированы</a:t>
            </a:r>
            <a:r>
              <a:rPr dirty="0" sz="750" spc="2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</a:t>
            </a:r>
            <a:r>
              <a:rPr dirty="0" sz="750" spc="24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функ-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циональному</a:t>
            </a:r>
            <a:r>
              <a:rPr dirty="0" sz="750" spc="2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признаку.</a:t>
            </a:r>
            <a:r>
              <a:rPr dirty="0" sz="750" spc="2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Самый</a:t>
            </a:r>
            <a:r>
              <a:rPr dirty="0" sz="750" spc="2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верхний</a:t>
            </a:r>
            <a:r>
              <a:rPr dirty="0" sz="750" spc="2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каталог</a:t>
            </a:r>
            <a:r>
              <a:rPr dirty="0" sz="750" spc="229">
                <a:latin typeface="Book Antiqua"/>
                <a:cs typeface="Book Antiqua"/>
              </a:rPr>
              <a:t> </a:t>
            </a:r>
            <a:r>
              <a:rPr dirty="0" sz="750" spc="50">
                <a:latin typeface="Book Antiqua"/>
                <a:cs typeface="Book Antiqua"/>
              </a:rPr>
              <a:t>в</a:t>
            </a:r>
            <a:r>
              <a:rPr dirty="0" sz="750" spc="2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иерархии</a:t>
            </a:r>
            <a:r>
              <a:rPr dirty="0" sz="750" spc="2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называется</a:t>
            </a:r>
            <a:r>
              <a:rPr dirty="0" sz="750" spc="26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корневым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и</a:t>
            </a:r>
            <a:r>
              <a:rPr dirty="0" sz="750" spc="11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обозначается</a:t>
            </a:r>
            <a:r>
              <a:rPr dirty="0" sz="750" spc="114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символом</a:t>
            </a:r>
            <a:r>
              <a:rPr dirty="0" sz="750" spc="114">
                <a:latin typeface="Book Antiqua"/>
                <a:cs typeface="Book Antiqua"/>
              </a:rPr>
              <a:t> </a:t>
            </a:r>
            <a:r>
              <a:rPr dirty="0" sz="700" spc="10">
                <a:latin typeface="Courier New"/>
                <a:cs typeface="Courier New"/>
              </a:rPr>
              <a:t>/</a:t>
            </a:r>
            <a:r>
              <a:rPr dirty="0" sz="750" spc="10">
                <a:latin typeface="Book Antiqua"/>
                <a:cs typeface="Book Antiqua"/>
              </a:rPr>
              <a:t>.</a:t>
            </a:r>
            <a:r>
              <a:rPr dirty="0" sz="750" spc="8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Корневой</a:t>
            </a:r>
            <a:r>
              <a:rPr dirty="0" sz="750" spc="114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каталог</a:t>
            </a:r>
            <a:r>
              <a:rPr dirty="0" sz="750" spc="9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содержит</a:t>
            </a:r>
            <a:r>
              <a:rPr dirty="0" sz="750" spc="9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системные</a:t>
            </a:r>
            <a:r>
              <a:rPr dirty="0" sz="750" spc="114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файлы</a:t>
            </a:r>
            <a:r>
              <a:rPr dirty="0" sz="750" spc="114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и</a:t>
            </a:r>
            <a:r>
              <a:rPr dirty="0" sz="750" spc="9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другие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каталоги.</a:t>
            </a:r>
            <a:endParaRPr sz="750">
              <a:latin typeface="Book Antiqua"/>
              <a:cs typeface="Book Antiqua"/>
            </a:endParaRPr>
          </a:p>
          <a:p>
            <a:pPr marL="110489">
              <a:lnSpc>
                <a:spcPct val="100000"/>
              </a:lnSpc>
              <a:spcBef>
                <a:spcPts val="745"/>
              </a:spcBef>
            </a:pPr>
            <a:r>
              <a:rPr dirty="0" sz="750">
                <a:latin typeface="Book Antiqua"/>
                <a:cs typeface="Book Antiqua"/>
              </a:rPr>
              <a:t>Формат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команды:</a:t>
            </a:r>
            <a:endParaRPr sz="750">
              <a:latin typeface="Book Antiqua"/>
              <a:cs typeface="Book Antiqua"/>
            </a:endParaRPr>
          </a:p>
          <a:p>
            <a:pPr algn="just" marL="12700">
              <a:lnSpc>
                <a:spcPct val="100000"/>
              </a:lnSpc>
              <a:spcBef>
                <a:spcPts val="40"/>
              </a:spcBef>
            </a:pPr>
            <a:r>
              <a:rPr dirty="0" sz="700">
                <a:latin typeface="Courier New"/>
                <a:cs typeface="Courier New"/>
              </a:rPr>
              <a:t>cd</a:t>
            </a:r>
            <a:r>
              <a:rPr dirty="0" sz="700" spc="15">
                <a:latin typeface="Courier New"/>
                <a:cs typeface="Courier New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[путь_к_каталогу]</a:t>
            </a:r>
            <a:endParaRPr sz="7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81304" y="392412"/>
            <a:ext cx="1534795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40" i="1">
                <a:latin typeface="Georgia"/>
                <a:cs typeface="Georgia"/>
              </a:rPr>
              <a:t>Кулябов</a:t>
            </a:r>
            <a:r>
              <a:rPr dirty="0" sz="600" spc="-5" i="1">
                <a:latin typeface="Georgia"/>
                <a:cs typeface="Georgia"/>
              </a:rPr>
              <a:t> </a:t>
            </a:r>
            <a:r>
              <a:rPr dirty="0" sz="600" spc="-30" i="1">
                <a:latin typeface="Georgia"/>
                <a:cs typeface="Georgia"/>
              </a:rPr>
              <a:t>Д.</a:t>
            </a:r>
            <a:r>
              <a:rPr dirty="0" sz="600" spc="-50" i="1">
                <a:latin typeface="Georgia"/>
                <a:cs typeface="Georgia"/>
              </a:rPr>
              <a:t> </a:t>
            </a:r>
            <a:r>
              <a:rPr dirty="0" sz="600" spc="-10" i="1">
                <a:latin typeface="Georgia"/>
                <a:cs typeface="Georgia"/>
              </a:rPr>
              <a:t>С.</a:t>
            </a:r>
            <a:r>
              <a:rPr dirty="0" sz="600" spc="-25" i="1">
                <a:latin typeface="Georgia"/>
                <a:cs typeface="Georgia"/>
              </a:rPr>
              <a:t> </a:t>
            </a:r>
            <a:r>
              <a:rPr dirty="0" sz="600" i="1">
                <a:latin typeface="Georgia"/>
                <a:cs typeface="Georgia"/>
              </a:rPr>
              <a:t>и</a:t>
            </a:r>
            <a:r>
              <a:rPr dirty="0" sz="600" spc="-5" i="1">
                <a:latin typeface="Georgia"/>
                <a:cs typeface="Georgia"/>
              </a:rPr>
              <a:t> </a:t>
            </a:r>
            <a:r>
              <a:rPr dirty="0" sz="600" i="1">
                <a:latin typeface="Georgia"/>
                <a:cs typeface="Georgia"/>
              </a:rPr>
              <a:t>др.</a:t>
            </a:r>
            <a:r>
              <a:rPr dirty="0" sz="600" spc="55" i="1">
                <a:latin typeface="Georgia"/>
                <a:cs typeface="Georgia"/>
              </a:rPr>
              <a:t> </a:t>
            </a:r>
            <a:r>
              <a:rPr dirty="0" sz="600" spc="-10">
                <a:latin typeface="Book Antiqua"/>
                <a:cs typeface="Book Antiqua"/>
              </a:rPr>
              <a:t>Операционные</a:t>
            </a:r>
            <a:r>
              <a:rPr dirty="0" sz="600" spc="-5">
                <a:latin typeface="Book Antiqua"/>
                <a:cs typeface="Book Antiqua"/>
              </a:rPr>
              <a:t> </a:t>
            </a:r>
            <a:r>
              <a:rPr dirty="0" sz="600" spc="-10">
                <a:latin typeface="Book Antiqua"/>
                <a:cs typeface="Book Antiqua"/>
              </a:rPr>
              <a:t>системы</a:t>
            </a:r>
            <a:endParaRPr sz="600">
              <a:latin typeface="Book Antiqua"/>
              <a:cs typeface="Book Antiqua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4531906" y="392412"/>
            <a:ext cx="107314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latin typeface="Book Antiqua"/>
                <a:cs typeface="Book Antiqua"/>
              </a:rPr>
              <a:t>39</a:t>
            </a:r>
            <a:endParaRPr sz="600">
              <a:latin typeface="Book Antiqua"/>
              <a:cs typeface="Book Antiqua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594004" y="514540"/>
            <a:ext cx="4032250" cy="0"/>
          </a:xfrm>
          <a:custGeom>
            <a:avLst/>
            <a:gdLst/>
            <a:ahLst/>
            <a:cxnLst/>
            <a:rect l="l" t="t" r="r" b="b"/>
            <a:pathLst>
              <a:path w="4032250" h="0">
                <a:moveTo>
                  <a:pt x="0" y="0"/>
                </a:moveTo>
                <a:lnTo>
                  <a:pt x="4031996" y="0"/>
                </a:lnTo>
              </a:path>
            </a:pathLst>
          </a:custGeom>
          <a:ln w="541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581304" y="653389"/>
            <a:ext cx="4057650" cy="37084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 marR="5080" indent="97790">
              <a:lnSpc>
                <a:spcPct val="100000"/>
              </a:lnSpc>
              <a:spcBef>
                <a:spcPts val="120"/>
              </a:spcBef>
            </a:pPr>
            <a:r>
              <a:rPr dirty="0" sz="750" spc="-10">
                <a:latin typeface="Book Antiqua"/>
                <a:cs typeface="Book Antiqua"/>
              </a:rPr>
              <a:t>Для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перехода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домашний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каталог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пользователя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следует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использовать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команду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cd</a:t>
            </a:r>
            <a:r>
              <a:rPr dirty="0" sz="700" spc="-190">
                <a:latin typeface="Courier New"/>
                <a:cs typeface="Courier New"/>
              </a:rPr>
              <a:t> </a:t>
            </a:r>
            <a:r>
              <a:rPr dirty="0" sz="750" spc="-25">
                <a:latin typeface="Book Antiqua"/>
                <a:cs typeface="Book Antiqua"/>
              </a:rPr>
              <a:t>без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параметров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или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cd</a:t>
            </a:r>
            <a:r>
              <a:rPr dirty="0" sz="700" spc="65">
                <a:latin typeface="Courier New"/>
                <a:cs typeface="Courier New"/>
              </a:rPr>
              <a:t> </a:t>
            </a:r>
            <a:r>
              <a:rPr dirty="0" sz="700" spc="-25">
                <a:latin typeface="Courier New"/>
                <a:cs typeface="Courier New"/>
              </a:rPr>
              <a:t>~</a:t>
            </a:r>
            <a:r>
              <a:rPr dirty="0" sz="750" spc="-25">
                <a:latin typeface="Book Antiqua"/>
                <a:cs typeface="Book Antiqua"/>
              </a:rPr>
              <a:t>.</a:t>
            </a:r>
            <a:endParaRPr sz="750">
              <a:latin typeface="Book Antiqua"/>
              <a:cs typeface="Book Antiqua"/>
            </a:endParaRPr>
          </a:p>
          <a:p>
            <a:pPr marL="110489">
              <a:lnSpc>
                <a:spcPts val="890"/>
              </a:lnSpc>
            </a:pPr>
            <a:r>
              <a:rPr dirty="0" sz="750">
                <a:latin typeface="Book Antiqua"/>
                <a:cs typeface="Book Antiqua"/>
              </a:rPr>
              <a:t>Например,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команда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400405" y="1155320"/>
            <a:ext cx="54610" cy="914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50">
                <a:latin typeface="Book Antiqua"/>
                <a:cs typeface="Book Antiqua"/>
              </a:rPr>
              <a:t>1</a:t>
            </a:r>
            <a:endParaRPr sz="400">
              <a:latin typeface="Book Antiqua"/>
              <a:cs typeface="Book Antiqua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594004" y="1105077"/>
            <a:ext cx="4032250" cy="189865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857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225"/>
              </a:spcBef>
            </a:pPr>
            <a:r>
              <a:rPr dirty="0" sz="700">
                <a:solidFill>
                  <a:srgbClr val="007F00"/>
                </a:solidFill>
                <a:latin typeface="Courier New"/>
                <a:cs typeface="Courier New"/>
              </a:rPr>
              <a:t>cd</a:t>
            </a:r>
            <a:r>
              <a:rPr dirty="0" sz="700" spc="15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/afs/dk.sci.pfu.edu.ru/home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581304" y="1373263"/>
            <a:ext cx="4071620" cy="2571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20"/>
              </a:spcBef>
            </a:pPr>
            <a:r>
              <a:rPr dirty="0" sz="750" spc="10">
                <a:latin typeface="Book Antiqua"/>
                <a:cs typeface="Book Antiqua"/>
              </a:rPr>
              <a:t>позволяет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перейти</a:t>
            </a:r>
            <a:r>
              <a:rPr dirty="0" sz="750" spc="80">
                <a:latin typeface="Book Antiqua"/>
                <a:cs typeface="Book Antiqua"/>
              </a:rPr>
              <a:t> </a:t>
            </a:r>
            <a:r>
              <a:rPr dirty="0" sz="750" spc="50">
                <a:latin typeface="Book Antiqua"/>
                <a:cs typeface="Book Antiqua"/>
              </a:rPr>
              <a:t>в</a:t>
            </a:r>
            <a:r>
              <a:rPr dirty="0" sz="750" spc="8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каталог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/afs/dk.sci.pfu.edu.ru/home</a:t>
            </a:r>
            <a:r>
              <a:rPr dirty="0" sz="700" spc="-145">
                <a:latin typeface="Courier New"/>
                <a:cs typeface="Courier New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(если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такой</a:t>
            </a:r>
            <a:r>
              <a:rPr dirty="0" sz="750" spc="8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существует),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а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для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того,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чтобы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подняться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выше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одну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директорию, следует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использовать: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400405" y="1761580"/>
            <a:ext cx="54610" cy="914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50">
                <a:latin typeface="Book Antiqua"/>
                <a:cs typeface="Book Antiqua"/>
              </a:rPr>
              <a:t>1</a:t>
            </a:r>
            <a:endParaRPr sz="400">
              <a:latin typeface="Book Antiqua"/>
              <a:cs typeface="Book Antiqua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594004" y="1711337"/>
            <a:ext cx="4032250" cy="189865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857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225"/>
              </a:spcBef>
            </a:pPr>
            <a:r>
              <a:rPr dirty="0" sz="700">
                <a:solidFill>
                  <a:srgbClr val="007F00"/>
                </a:solidFill>
                <a:latin typeface="Courier New"/>
                <a:cs typeface="Courier New"/>
              </a:rPr>
              <a:t>cd</a:t>
            </a:r>
            <a:r>
              <a:rPr dirty="0" sz="700" spc="15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700" spc="-25">
                <a:latin typeface="Courier New"/>
                <a:cs typeface="Courier New"/>
              </a:rPr>
              <a:t>..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679462" y="1979523"/>
            <a:ext cx="3620135" cy="1435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>
                <a:latin typeface="Book Antiqua"/>
                <a:cs typeface="Book Antiqua"/>
              </a:rPr>
              <a:t>Подробнее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об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опциях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команды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cd</a:t>
            </a:r>
            <a:r>
              <a:rPr dirty="0" sz="700" spc="-185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смотри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справке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помощью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команды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00" spc="-20">
                <a:latin typeface="Courier New"/>
                <a:cs typeface="Courier New"/>
              </a:rPr>
              <a:t>man</a:t>
            </a:r>
            <a:r>
              <a:rPr dirty="0" sz="750" spc="-20">
                <a:latin typeface="Book Antiqua"/>
                <a:cs typeface="Book Antiqua"/>
              </a:rPr>
              <a:t>: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400405" y="2254238"/>
            <a:ext cx="54610" cy="914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50">
                <a:latin typeface="Book Antiqua"/>
                <a:cs typeface="Book Antiqua"/>
              </a:rPr>
              <a:t>1</a:t>
            </a:r>
            <a:endParaRPr sz="400">
              <a:latin typeface="Book Antiqua"/>
              <a:cs typeface="Book Antiqua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594004" y="2203996"/>
            <a:ext cx="4032250" cy="189865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857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225"/>
              </a:spcBef>
            </a:pPr>
            <a:r>
              <a:rPr dirty="0" sz="700">
                <a:latin typeface="Courier New"/>
                <a:cs typeface="Courier New"/>
              </a:rPr>
              <a:t>man</a:t>
            </a:r>
            <a:r>
              <a:rPr dirty="0" sz="700" spc="20">
                <a:latin typeface="Courier New"/>
                <a:cs typeface="Courier New"/>
              </a:rPr>
              <a:t> </a:t>
            </a:r>
            <a:r>
              <a:rPr dirty="0" sz="700" spc="-25">
                <a:solidFill>
                  <a:srgbClr val="007F00"/>
                </a:solidFill>
                <a:latin typeface="Courier New"/>
                <a:cs typeface="Courier New"/>
              </a:rPr>
              <a:t>cd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581304" y="2631681"/>
            <a:ext cx="4057650" cy="37084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20"/>
              </a:spcBef>
            </a:pPr>
            <a:r>
              <a:rPr dirty="0" sz="750" b="1">
                <a:latin typeface="Book Antiqua"/>
                <a:cs typeface="Book Antiqua"/>
              </a:rPr>
              <a:t>Команда</a:t>
            </a:r>
            <a:r>
              <a:rPr dirty="0" sz="750" spc="35" b="1">
                <a:latin typeface="Book Antiqua"/>
                <a:cs typeface="Book Antiqua"/>
              </a:rPr>
              <a:t> </a:t>
            </a:r>
            <a:r>
              <a:rPr dirty="0" sz="750" b="1">
                <a:latin typeface="Book Antiqua"/>
                <a:cs typeface="Book Antiqua"/>
              </a:rPr>
              <a:t>pwd.</a:t>
            </a:r>
            <a:r>
              <a:rPr dirty="0" sz="750" spc="295" b="1">
                <a:latin typeface="Book Antiqua"/>
                <a:cs typeface="Book Antiqua"/>
              </a:rPr>
              <a:t>  </a:t>
            </a:r>
            <a:r>
              <a:rPr dirty="0" sz="750" spc="-10">
                <a:latin typeface="Book Antiqua"/>
                <a:cs typeface="Book Antiqua"/>
              </a:rPr>
              <a:t>Для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определения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абсолютного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пути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текущему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каталогу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используется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команда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pwd</a:t>
            </a:r>
            <a:r>
              <a:rPr dirty="0" sz="700" spc="-185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(print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working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directory).</a:t>
            </a:r>
            <a:endParaRPr sz="750">
              <a:latin typeface="Book Antiqua"/>
              <a:cs typeface="Book Antiqua"/>
            </a:endParaRPr>
          </a:p>
          <a:p>
            <a:pPr marL="110489">
              <a:lnSpc>
                <a:spcPts val="890"/>
              </a:lnSpc>
            </a:pPr>
            <a:r>
              <a:rPr dirty="0" sz="750">
                <a:latin typeface="Book Antiqua"/>
                <a:cs typeface="Book Antiqua"/>
              </a:rPr>
              <a:t>Пример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(абсолютное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имя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текущего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каталога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пользователя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dharma):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400405" y="3133612"/>
            <a:ext cx="54610" cy="914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50">
                <a:latin typeface="Book Antiqua"/>
                <a:cs typeface="Book Antiqua"/>
              </a:rPr>
              <a:t>1</a:t>
            </a:r>
            <a:endParaRPr sz="400">
              <a:latin typeface="Book Antiqua"/>
              <a:cs typeface="Book Antiqua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594004" y="3083369"/>
            <a:ext cx="4032250" cy="189865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857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225"/>
              </a:spcBef>
            </a:pPr>
            <a:r>
              <a:rPr dirty="0" sz="700" spc="-25">
                <a:solidFill>
                  <a:srgbClr val="007F00"/>
                </a:solidFill>
                <a:latin typeface="Courier New"/>
                <a:cs typeface="Courier New"/>
              </a:rPr>
              <a:t>pwd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581304" y="3351555"/>
            <a:ext cx="503555" cy="1435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 spc="-10">
                <a:latin typeface="Book Antiqua"/>
                <a:cs typeface="Book Antiqua"/>
              </a:rPr>
              <a:t>результат: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400405" y="3626270"/>
            <a:ext cx="54610" cy="20447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50">
                <a:latin typeface="Book Antiqua"/>
                <a:cs typeface="Book Antiqua"/>
              </a:rPr>
              <a:t>1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dirty="0" sz="400" spc="-50">
                <a:latin typeface="Book Antiqua"/>
                <a:cs typeface="Book Antiqua"/>
              </a:rPr>
              <a:t>2</a:t>
            </a:r>
            <a:endParaRPr sz="400">
              <a:latin typeface="Book Antiqua"/>
              <a:cs typeface="Book Antiqua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594004" y="3576015"/>
            <a:ext cx="4032250" cy="303530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857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225"/>
              </a:spcBef>
            </a:pPr>
            <a:r>
              <a:rPr dirty="0" sz="700" spc="-10">
                <a:latin typeface="Courier New"/>
                <a:cs typeface="Courier New"/>
              </a:rPr>
              <a:t>/afs/dk.sci.pfu.edu.ru/home/d/h/dharma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581304" y="4117327"/>
            <a:ext cx="4057650" cy="7219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120"/>
              </a:spcBef>
            </a:pPr>
            <a:r>
              <a:rPr dirty="0" sz="750" spc="10" b="1">
                <a:latin typeface="Book Antiqua"/>
                <a:cs typeface="Book Antiqua"/>
              </a:rPr>
              <a:t>Сокращения</a:t>
            </a:r>
            <a:r>
              <a:rPr dirty="0" sz="750" spc="85" b="1">
                <a:latin typeface="Book Antiqua"/>
                <a:cs typeface="Book Antiqua"/>
              </a:rPr>
              <a:t> </a:t>
            </a:r>
            <a:r>
              <a:rPr dirty="0" sz="750" spc="10" b="1">
                <a:latin typeface="Book Antiqua"/>
                <a:cs typeface="Book Antiqua"/>
              </a:rPr>
              <a:t>имён</a:t>
            </a:r>
            <a:r>
              <a:rPr dirty="0" sz="750" spc="85" b="1">
                <a:latin typeface="Book Antiqua"/>
                <a:cs typeface="Book Antiqua"/>
              </a:rPr>
              <a:t> </a:t>
            </a:r>
            <a:r>
              <a:rPr dirty="0" sz="750" spc="10" b="1">
                <a:latin typeface="Book Antiqua"/>
                <a:cs typeface="Book Antiqua"/>
              </a:rPr>
              <a:t>файлов.</a:t>
            </a:r>
            <a:r>
              <a:rPr dirty="0" sz="750" spc="400" b="1">
                <a:latin typeface="Book Antiqua"/>
                <a:cs typeface="Book Antiqua"/>
              </a:rPr>
              <a:t>  </a:t>
            </a:r>
            <a:r>
              <a:rPr dirty="0" sz="750" spc="10">
                <a:latin typeface="Book Antiqua"/>
                <a:cs typeface="Book Antiqua"/>
              </a:rPr>
              <a:t>В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работе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командами,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50">
                <a:latin typeface="Book Antiqua"/>
                <a:cs typeface="Book Antiqua"/>
              </a:rPr>
              <a:t>в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качестве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аргументов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которых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выступает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путь</a:t>
            </a:r>
            <a:r>
              <a:rPr dirty="0" sz="750" spc="8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</a:t>
            </a:r>
            <a:r>
              <a:rPr dirty="0" sz="750" spc="1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какому-либо</a:t>
            </a:r>
            <a:r>
              <a:rPr dirty="0" sz="750" spc="1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каталогу</a:t>
            </a:r>
            <a:r>
              <a:rPr dirty="0" sz="750" spc="1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или</a:t>
            </a:r>
            <a:r>
              <a:rPr dirty="0" sz="750" spc="100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файлу,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можно</a:t>
            </a:r>
            <a:r>
              <a:rPr dirty="0" sz="750" spc="9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использовать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сокращённую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запись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пути.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Символы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сокращения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приведены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табл.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  <a:hlinkClick r:id="rId2" action="ppaction://hlinksldjump"/>
              </a:rPr>
              <a:t>4.1.</a:t>
            </a:r>
            <a:endParaRPr sz="75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145"/>
              </a:spcBef>
            </a:pPr>
            <a:endParaRPr sz="750">
              <a:latin typeface="Book Antiqua"/>
              <a:cs typeface="Book Antiqua"/>
            </a:endParaRPr>
          </a:p>
          <a:p>
            <a:pPr marL="3526790">
              <a:lnSpc>
                <a:spcPct val="100000"/>
              </a:lnSpc>
            </a:pPr>
            <a:r>
              <a:rPr dirty="0" sz="650" b="1">
                <a:latin typeface="Book Antiqua"/>
                <a:cs typeface="Book Antiqua"/>
              </a:rPr>
              <a:t>Таблица</a:t>
            </a:r>
            <a:r>
              <a:rPr dirty="0" sz="650" spc="200" b="1">
                <a:latin typeface="Book Antiqua"/>
                <a:cs typeface="Book Antiqua"/>
              </a:rPr>
              <a:t> </a:t>
            </a:r>
            <a:r>
              <a:rPr dirty="0" sz="650" spc="25" b="1">
                <a:latin typeface="Book Antiqua"/>
                <a:cs typeface="Book Antiqua"/>
              </a:rPr>
              <a:t>4.1</a:t>
            </a:r>
            <a:endParaRPr sz="650">
              <a:latin typeface="Book Antiqua"/>
              <a:cs typeface="Book Antiqua"/>
            </a:endParaRPr>
          </a:p>
          <a:p>
            <a:pPr marL="1236980">
              <a:lnSpc>
                <a:spcPct val="100000"/>
              </a:lnSpc>
              <a:spcBef>
                <a:spcPts val="114"/>
              </a:spcBef>
            </a:pPr>
            <a:r>
              <a:rPr dirty="0" sz="650" spc="20" b="1">
                <a:latin typeface="Book Antiqua"/>
                <a:cs typeface="Book Antiqua"/>
              </a:rPr>
              <a:t>Символы</a:t>
            </a:r>
            <a:r>
              <a:rPr dirty="0" sz="650" spc="85" b="1">
                <a:latin typeface="Book Antiqua"/>
                <a:cs typeface="Book Antiqua"/>
              </a:rPr>
              <a:t> </a:t>
            </a:r>
            <a:r>
              <a:rPr dirty="0" sz="650" spc="20" b="1">
                <a:latin typeface="Book Antiqua"/>
                <a:cs typeface="Book Antiqua"/>
              </a:rPr>
              <a:t>сокращения</a:t>
            </a:r>
            <a:r>
              <a:rPr dirty="0" sz="650" spc="85" b="1">
                <a:latin typeface="Book Antiqua"/>
                <a:cs typeface="Book Antiqua"/>
              </a:rPr>
              <a:t> </a:t>
            </a:r>
            <a:r>
              <a:rPr dirty="0" sz="650" spc="20" b="1">
                <a:latin typeface="Book Antiqua"/>
                <a:cs typeface="Book Antiqua"/>
              </a:rPr>
              <a:t>имён</a:t>
            </a:r>
            <a:r>
              <a:rPr dirty="0" sz="650" spc="85" b="1">
                <a:latin typeface="Book Antiqua"/>
                <a:cs typeface="Book Antiqua"/>
              </a:rPr>
              <a:t> </a:t>
            </a:r>
            <a:r>
              <a:rPr dirty="0" sz="650" spc="-10" b="1">
                <a:latin typeface="Book Antiqua"/>
                <a:cs typeface="Book Antiqua"/>
              </a:rPr>
              <a:t>файлов</a:t>
            </a:r>
            <a:endParaRPr sz="650">
              <a:latin typeface="Book Antiqua"/>
              <a:cs typeface="Book Antiqua"/>
            </a:endParaRPr>
          </a:p>
        </p:txBody>
      </p:sp>
      <p:graphicFrame>
        <p:nvGraphicFramePr>
          <p:cNvPr id="21" name="object 21" descr=""/>
          <p:cNvGraphicFramePr>
            <a:graphicFrameLocks noGrp="1"/>
          </p:cNvGraphicFramePr>
          <p:nvPr/>
        </p:nvGraphicFramePr>
        <p:xfrm>
          <a:off x="1766519" y="4969383"/>
          <a:ext cx="1763395" cy="5740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9270"/>
                <a:gridCol w="1172845"/>
              </a:tblGrid>
              <a:tr h="14351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750" spc="-10">
                          <a:latin typeface="Book Antiqua"/>
                          <a:cs typeface="Book Antiqua"/>
                        </a:rPr>
                        <a:t>Символ</a:t>
                      </a:r>
                      <a:endParaRPr sz="750">
                        <a:latin typeface="Book Antiqua"/>
                        <a:cs typeface="Book Antiqua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750" spc="-10">
                          <a:latin typeface="Book Antiqua"/>
                          <a:cs typeface="Book Antiqua"/>
                        </a:rPr>
                        <a:t>Значение</a:t>
                      </a:r>
                      <a:endParaRPr sz="750">
                        <a:latin typeface="Book Antiqua"/>
                        <a:cs typeface="Book Antiqua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4351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700" spc="-50">
                          <a:latin typeface="Courier New"/>
                          <a:cs typeface="Courier New"/>
                        </a:rPr>
                        <a:t>~</a:t>
                      </a:r>
                      <a:endParaRPr sz="700">
                        <a:latin typeface="Courier New"/>
                        <a:cs typeface="Courier New"/>
                      </a:endParaRPr>
                    </a:p>
                  </a:txBody>
                  <a:tcPr marL="0" marR="0" marB="0" marT="1016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750">
                          <a:latin typeface="Book Antiqua"/>
                          <a:cs typeface="Book Antiqua"/>
                        </a:rPr>
                        <a:t>Домашний</a:t>
                      </a:r>
                      <a:r>
                        <a:rPr dirty="0" sz="750" spc="-15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750" spc="-10">
                          <a:latin typeface="Book Antiqua"/>
                          <a:cs typeface="Book Antiqua"/>
                        </a:rPr>
                        <a:t>каталог</a:t>
                      </a:r>
                      <a:endParaRPr sz="750">
                        <a:latin typeface="Book Antiqua"/>
                        <a:cs typeface="Book Antiqua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43510">
                <a:tc>
                  <a:txBody>
                    <a:bodyPr/>
                    <a:lstStyle/>
                    <a:p>
                      <a:pPr algn="ctr" marL="381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750" spc="-50">
                          <a:latin typeface="Book Antiqua"/>
                          <a:cs typeface="Book Antiqua"/>
                        </a:rPr>
                        <a:t>.</a:t>
                      </a:r>
                      <a:endParaRPr sz="750">
                        <a:latin typeface="Book Antiqua"/>
                        <a:cs typeface="Book Antiqua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750" spc="-10">
                          <a:latin typeface="Book Antiqua"/>
                          <a:cs typeface="Book Antiqua"/>
                        </a:rPr>
                        <a:t>Текущий</a:t>
                      </a:r>
                      <a:r>
                        <a:rPr dirty="0" sz="750" spc="5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750" spc="-10">
                          <a:latin typeface="Book Antiqua"/>
                          <a:cs typeface="Book Antiqua"/>
                        </a:rPr>
                        <a:t>каталог</a:t>
                      </a:r>
                      <a:endParaRPr sz="750">
                        <a:latin typeface="Book Antiqua"/>
                        <a:cs typeface="Book Antiqua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43510">
                <a:tc>
                  <a:txBody>
                    <a:bodyPr/>
                    <a:lstStyle/>
                    <a:p>
                      <a:pPr algn="ctr" marL="381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750" spc="-25">
                          <a:latin typeface="Book Antiqua"/>
                          <a:cs typeface="Book Antiqua"/>
                        </a:rPr>
                        <a:t>..</a:t>
                      </a:r>
                      <a:endParaRPr sz="750">
                        <a:latin typeface="Book Antiqua"/>
                        <a:cs typeface="Book Antiqua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750">
                          <a:latin typeface="Book Antiqua"/>
                          <a:cs typeface="Book Antiqua"/>
                        </a:rPr>
                        <a:t>Родительский</a:t>
                      </a:r>
                      <a:r>
                        <a:rPr dirty="0" sz="750" spc="2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750" spc="-10">
                          <a:latin typeface="Book Antiqua"/>
                          <a:cs typeface="Book Antiqua"/>
                        </a:rPr>
                        <a:t>каталог</a:t>
                      </a:r>
                      <a:endParaRPr sz="750">
                        <a:latin typeface="Book Antiqua"/>
                        <a:cs typeface="Book Antiqua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2" name="object 22" descr=""/>
          <p:cNvSpPr txBox="1"/>
          <p:nvPr/>
        </p:nvSpPr>
        <p:spPr>
          <a:xfrm>
            <a:off x="581301" y="5682348"/>
            <a:ext cx="4078604" cy="37084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just" marL="12700" marR="5080" indent="97790">
              <a:lnSpc>
                <a:spcPct val="100000"/>
              </a:lnSpc>
              <a:spcBef>
                <a:spcPts val="120"/>
              </a:spcBef>
            </a:pPr>
            <a:r>
              <a:rPr dirty="0" sz="750">
                <a:latin typeface="Book Antiqua"/>
                <a:cs typeface="Book Antiqua"/>
              </a:rPr>
              <a:t>Например,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 spc="50">
                <a:latin typeface="Book Antiqua"/>
                <a:cs typeface="Book Antiqua"/>
              </a:rPr>
              <a:t>в</a:t>
            </a:r>
            <a:r>
              <a:rPr dirty="0" sz="750" spc="1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команде</a:t>
            </a:r>
            <a:r>
              <a:rPr dirty="0" sz="750" spc="170">
                <a:latin typeface="Book Antiqua"/>
                <a:cs typeface="Book Antiqua"/>
              </a:rPr>
              <a:t> </a:t>
            </a:r>
            <a:r>
              <a:rPr dirty="0" sz="700" spc="-80">
                <a:latin typeface="Courier New"/>
                <a:cs typeface="Courier New"/>
              </a:rPr>
              <a:t>cd</a:t>
            </a:r>
            <a:r>
              <a:rPr dirty="0" sz="700" spc="-25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для</a:t>
            </a:r>
            <a:r>
              <a:rPr dirty="0" sz="750" spc="1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перемещения</a:t>
            </a:r>
            <a:r>
              <a:rPr dirty="0" sz="750" spc="1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</a:t>
            </a:r>
            <a:r>
              <a:rPr dirty="0" sz="750" spc="1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файловой</a:t>
            </a:r>
            <a:r>
              <a:rPr dirty="0" sz="750" spc="1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системе</a:t>
            </a:r>
            <a:r>
              <a:rPr dirty="0" sz="750" spc="1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сокращённую</a:t>
            </a:r>
            <a:r>
              <a:rPr dirty="0" sz="750" spc="160">
                <a:latin typeface="Book Antiqua"/>
                <a:cs typeface="Book Antiqua"/>
              </a:rPr>
              <a:t> </a:t>
            </a:r>
            <a:r>
              <a:rPr dirty="0" sz="750" spc="30">
                <a:latin typeface="Book Antiqua"/>
                <a:cs typeface="Book Antiqua"/>
              </a:rPr>
              <a:t>за- </a:t>
            </a:r>
            <a:r>
              <a:rPr dirty="0" sz="750" spc="10">
                <a:latin typeface="Book Antiqua"/>
                <a:cs typeface="Book Antiqua"/>
              </a:rPr>
              <a:t>пись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пути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можно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использовать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следующим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образом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(команды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чередуются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выводом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результата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выполнения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команды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pwd</a:t>
            </a:r>
            <a:r>
              <a:rPr dirty="0" sz="750" spc="-10">
                <a:latin typeface="Book Antiqua"/>
                <a:cs typeface="Book Antiqua"/>
              </a:rPr>
              <a:t>):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400405" y="6184279"/>
            <a:ext cx="54610" cy="4318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50">
                <a:latin typeface="Book Antiqua"/>
                <a:cs typeface="Book Antiqua"/>
              </a:rPr>
              <a:t>1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dirty="0" sz="400" spc="-50">
                <a:latin typeface="Book Antiqua"/>
                <a:cs typeface="Book Antiqua"/>
              </a:rPr>
              <a:t>2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3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4</a:t>
            </a:r>
            <a:endParaRPr sz="400">
              <a:latin typeface="Book Antiqua"/>
              <a:cs typeface="Book Antiqua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594004" y="6134024"/>
            <a:ext cx="4032250" cy="530860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857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225"/>
              </a:spcBef>
            </a:pPr>
            <a:r>
              <a:rPr dirty="0" sz="700" spc="-25">
                <a:solidFill>
                  <a:srgbClr val="007F00"/>
                </a:solidFill>
                <a:latin typeface="Courier New"/>
                <a:cs typeface="Courier New"/>
              </a:rPr>
              <a:t>pwd</a:t>
            </a:r>
            <a:endParaRPr sz="7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endParaRPr sz="700">
              <a:latin typeface="Courier New"/>
              <a:cs typeface="Courier New"/>
            </a:endParaRPr>
          </a:p>
          <a:p>
            <a:pPr marL="37465">
              <a:lnSpc>
                <a:spcPct val="100000"/>
              </a:lnSpc>
            </a:pPr>
            <a:r>
              <a:rPr dirty="0" sz="700" spc="-10">
                <a:latin typeface="Courier New"/>
                <a:cs typeface="Courier New"/>
              </a:rPr>
              <a:t>/afs/dk.sci.pfu.edu.ru/home/d/h/dharma</a:t>
            </a:r>
            <a:endParaRPr sz="7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79234" y="392412"/>
            <a:ext cx="107314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latin typeface="Book Antiqua"/>
                <a:cs typeface="Book Antiqua"/>
              </a:rPr>
              <a:t>40</a:t>
            </a:r>
            <a:endParaRPr sz="600">
              <a:latin typeface="Book Antiqua"/>
              <a:cs typeface="Book Antiqua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387690" y="392412"/>
            <a:ext cx="3251200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0">
                <a:latin typeface="Book Antiqua"/>
                <a:cs typeface="Book Antiqua"/>
              </a:rPr>
              <a:t>Лабораторная</a:t>
            </a:r>
            <a:r>
              <a:rPr dirty="0" sz="600" spc="15">
                <a:latin typeface="Book Antiqua"/>
                <a:cs typeface="Book Antiqua"/>
              </a:rPr>
              <a:t> </a:t>
            </a:r>
            <a:r>
              <a:rPr dirty="0" sz="600" spc="-10">
                <a:latin typeface="Book Antiqua"/>
                <a:cs typeface="Book Antiqua"/>
              </a:rPr>
              <a:t>работа</a:t>
            </a:r>
            <a:r>
              <a:rPr dirty="0" sz="600" spc="20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№</a:t>
            </a:r>
            <a:r>
              <a:rPr dirty="0" sz="600" spc="20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4.</a:t>
            </a:r>
            <a:r>
              <a:rPr dirty="0" sz="600" spc="50">
                <a:latin typeface="Book Antiqua"/>
                <a:cs typeface="Book Antiqua"/>
              </a:rPr>
              <a:t> </a:t>
            </a:r>
            <a:r>
              <a:rPr dirty="0" sz="600" spc="-10">
                <a:latin typeface="Book Antiqua"/>
                <a:cs typeface="Book Antiqua"/>
              </a:rPr>
              <a:t>Основы</a:t>
            </a:r>
            <a:r>
              <a:rPr dirty="0" sz="600" spc="20">
                <a:latin typeface="Book Antiqua"/>
                <a:cs typeface="Book Antiqua"/>
              </a:rPr>
              <a:t> </a:t>
            </a:r>
            <a:r>
              <a:rPr dirty="0" sz="600" spc="-20">
                <a:latin typeface="Book Antiqua"/>
                <a:cs typeface="Book Antiqua"/>
              </a:rPr>
              <a:t>интерфейса</a:t>
            </a:r>
            <a:r>
              <a:rPr dirty="0" sz="600" spc="20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взаимодействия</a:t>
            </a:r>
            <a:r>
              <a:rPr dirty="0" sz="600" spc="20">
                <a:latin typeface="Book Antiqua"/>
                <a:cs typeface="Book Antiqua"/>
              </a:rPr>
              <a:t> </a:t>
            </a:r>
            <a:r>
              <a:rPr dirty="0" sz="600" spc="-10">
                <a:latin typeface="Book Antiqua"/>
                <a:cs typeface="Book Antiqua"/>
              </a:rPr>
              <a:t>пользователя</a:t>
            </a:r>
            <a:r>
              <a:rPr dirty="0" sz="600" spc="20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с</a:t>
            </a:r>
            <a:r>
              <a:rPr dirty="0" sz="600" spc="20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системой</a:t>
            </a:r>
            <a:r>
              <a:rPr dirty="0" sz="600" spc="-25">
                <a:latin typeface="Book Antiqua"/>
                <a:cs typeface="Book Antiqua"/>
              </a:rPr>
              <a:t> </a:t>
            </a:r>
            <a:r>
              <a:rPr dirty="0" sz="600" spc="-50">
                <a:latin typeface="Book Antiqua"/>
                <a:cs typeface="Book Antiqua"/>
              </a:rPr>
              <a:t>…</a:t>
            </a:r>
            <a:endParaRPr sz="600">
              <a:latin typeface="Book Antiqua"/>
              <a:cs typeface="Book Antiqua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594004" y="514540"/>
            <a:ext cx="4032250" cy="0"/>
          </a:xfrm>
          <a:custGeom>
            <a:avLst/>
            <a:gdLst/>
            <a:ahLst/>
            <a:cxnLst/>
            <a:rect l="l" t="t" r="r" b="b"/>
            <a:pathLst>
              <a:path w="4032250" h="0">
                <a:moveTo>
                  <a:pt x="0" y="0"/>
                </a:moveTo>
                <a:lnTo>
                  <a:pt x="4031996" y="0"/>
                </a:lnTo>
              </a:path>
            </a:pathLst>
          </a:custGeom>
          <a:ln w="541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371335" y="738582"/>
            <a:ext cx="83820" cy="15678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41275">
              <a:lnSpc>
                <a:spcPct val="100000"/>
              </a:lnSpc>
              <a:spcBef>
                <a:spcPts val="130"/>
              </a:spcBef>
            </a:pPr>
            <a:r>
              <a:rPr dirty="0" sz="400" spc="-50">
                <a:latin typeface="Book Antiqua"/>
                <a:cs typeface="Book Antiqua"/>
              </a:rPr>
              <a:t>5</a:t>
            </a:r>
            <a:endParaRPr sz="400">
              <a:latin typeface="Book Antiqua"/>
              <a:cs typeface="Book Antiqua"/>
            </a:endParaRPr>
          </a:p>
          <a:p>
            <a:pPr marL="41275">
              <a:lnSpc>
                <a:spcPct val="100000"/>
              </a:lnSpc>
              <a:spcBef>
                <a:spcPts val="409"/>
              </a:spcBef>
            </a:pPr>
            <a:r>
              <a:rPr dirty="0" sz="400" spc="-50">
                <a:latin typeface="Book Antiqua"/>
                <a:cs typeface="Book Antiqua"/>
              </a:rPr>
              <a:t>6</a:t>
            </a:r>
            <a:endParaRPr sz="400">
              <a:latin typeface="Book Antiqua"/>
              <a:cs typeface="Book Antiqua"/>
            </a:endParaRPr>
          </a:p>
          <a:p>
            <a:pPr marL="41275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7</a:t>
            </a:r>
            <a:endParaRPr sz="400">
              <a:latin typeface="Book Antiqua"/>
              <a:cs typeface="Book Antiqua"/>
            </a:endParaRPr>
          </a:p>
          <a:p>
            <a:pPr marL="41275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8</a:t>
            </a:r>
            <a:endParaRPr sz="400">
              <a:latin typeface="Book Antiqua"/>
              <a:cs typeface="Book Antiqua"/>
            </a:endParaRPr>
          </a:p>
          <a:p>
            <a:pPr marL="41275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9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dirty="0" sz="400" spc="-25">
                <a:latin typeface="Book Antiqua"/>
                <a:cs typeface="Book Antiqua"/>
              </a:rPr>
              <a:t>10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dirty="0" sz="400" spc="-25">
                <a:latin typeface="Book Antiqua"/>
                <a:cs typeface="Book Antiqua"/>
              </a:rPr>
              <a:t>11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dirty="0" sz="400" spc="-25">
                <a:latin typeface="Book Antiqua"/>
                <a:cs typeface="Book Antiqua"/>
              </a:rPr>
              <a:t>12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dirty="0" sz="400" spc="-25">
                <a:latin typeface="Book Antiqua"/>
                <a:cs typeface="Book Antiqua"/>
              </a:rPr>
              <a:t>13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dirty="0" sz="400" spc="-25">
                <a:latin typeface="Book Antiqua"/>
                <a:cs typeface="Book Antiqua"/>
              </a:rPr>
              <a:t>14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14"/>
              </a:spcBef>
            </a:pPr>
            <a:r>
              <a:rPr dirty="0" sz="400" spc="-25">
                <a:latin typeface="Book Antiqua"/>
                <a:cs typeface="Book Antiqua"/>
              </a:rPr>
              <a:t>15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14"/>
              </a:spcBef>
            </a:pPr>
            <a:r>
              <a:rPr dirty="0" sz="400" spc="-25">
                <a:latin typeface="Book Antiqua"/>
                <a:cs typeface="Book Antiqua"/>
              </a:rPr>
              <a:t>16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dirty="0" sz="400" spc="-25">
                <a:latin typeface="Book Antiqua"/>
                <a:cs typeface="Book Antiqua"/>
              </a:rPr>
              <a:t>17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dirty="0" sz="400" spc="-25">
                <a:latin typeface="Book Antiqua"/>
                <a:cs typeface="Book Antiqua"/>
              </a:rPr>
              <a:t>18</a:t>
            </a:r>
            <a:endParaRPr sz="400">
              <a:latin typeface="Book Antiqua"/>
              <a:cs typeface="Book Antiqua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94004" y="688327"/>
            <a:ext cx="4032250" cy="1666875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1590" rIns="0" bIns="0" rtlCol="0" vert="horz">
            <a:spAutoFit/>
          </a:bodyPr>
          <a:lstStyle/>
          <a:p>
            <a:pPr marL="37465" marR="3712845">
              <a:lnSpc>
                <a:spcPct val="106500"/>
              </a:lnSpc>
              <a:spcBef>
                <a:spcPts val="170"/>
              </a:spcBef>
            </a:pPr>
            <a:r>
              <a:rPr dirty="0" sz="700">
                <a:solidFill>
                  <a:srgbClr val="007F00"/>
                </a:solidFill>
                <a:latin typeface="Courier New"/>
                <a:cs typeface="Courier New"/>
              </a:rPr>
              <a:t>cd</a:t>
            </a:r>
            <a:r>
              <a:rPr dirty="0" sz="700" spc="15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700" spc="-25">
                <a:latin typeface="Courier New"/>
                <a:cs typeface="Courier New"/>
              </a:rPr>
              <a:t>.. </a:t>
            </a:r>
            <a:r>
              <a:rPr dirty="0" sz="700" spc="-25">
                <a:solidFill>
                  <a:srgbClr val="007F00"/>
                </a:solidFill>
                <a:latin typeface="Courier New"/>
                <a:cs typeface="Courier New"/>
              </a:rPr>
              <a:t>pwd</a:t>
            </a:r>
            <a:endParaRPr sz="700">
              <a:latin typeface="Courier New"/>
              <a:cs typeface="Courier New"/>
            </a:endParaRPr>
          </a:p>
          <a:p>
            <a:pPr marL="37465" marR="2291715">
              <a:lnSpc>
                <a:spcPct val="213000"/>
              </a:lnSpc>
            </a:pPr>
            <a:r>
              <a:rPr dirty="0" sz="700" spc="-10">
                <a:latin typeface="Courier New"/>
                <a:cs typeface="Courier New"/>
              </a:rPr>
              <a:t>/afs/dk.sci.pfu.edu.ru/home/d/h </a:t>
            </a:r>
            <a:r>
              <a:rPr dirty="0" sz="700">
                <a:solidFill>
                  <a:srgbClr val="007F00"/>
                </a:solidFill>
                <a:latin typeface="Courier New"/>
                <a:cs typeface="Courier New"/>
              </a:rPr>
              <a:t>cd</a:t>
            </a:r>
            <a:r>
              <a:rPr dirty="0" sz="700" spc="15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../..</a:t>
            </a:r>
            <a:endParaRPr sz="700">
              <a:latin typeface="Courier New"/>
              <a:cs typeface="Courier New"/>
            </a:endParaRPr>
          </a:p>
          <a:p>
            <a:pPr marL="37465">
              <a:lnSpc>
                <a:spcPct val="100000"/>
              </a:lnSpc>
              <a:spcBef>
                <a:spcPts val="55"/>
              </a:spcBef>
            </a:pPr>
            <a:r>
              <a:rPr dirty="0" sz="700" spc="-25">
                <a:solidFill>
                  <a:srgbClr val="007F00"/>
                </a:solidFill>
                <a:latin typeface="Courier New"/>
                <a:cs typeface="Courier New"/>
              </a:rPr>
              <a:t>pwd</a:t>
            </a:r>
            <a:endParaRPr sz="700">
              <a:latin typeface="Courier New"/>
              <a:cs typeface="Courier New"/>
            </a:endParaRPr>
          </a:p>
          <a:p>
            <a:pPr marL="37465" marR="2510155">
              <a:lnSpc>
                <a:spcPct val="213000"/>
              </a:lnSpc>
            </a:pPr>
            <a:r>
              <a:rPr dirty="0" sz="700" spc="-10">
                <a:latin typeface="Courier New"/>
                <a:cs typeface="Courier New"/>
              </a:rPr>
              <a:t>/afs/dk.sci.pfu.edu.ru/home </a:t>
            </a:r>
            <a:r>
              <a:rPr dirty="0" sz="700">
                <a:solidFill>
                  <a:srgbClr val="007F00"/>
                </a:solidFill>
                <a:latin typeface="Courier New"/>
                <a:cs typeface="Courier New"/>
              </a:rPr>
              <a:t>cd</a:t>
            </a:r>
            <a:r>
              <a:rPr dirty="0" sz="700" spc="15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~/work</a:t>
            </a:r>
            <a:endParaRPr sz="700">
              <a:latin typeface="Courier New"/>
              <a:cs typeface="Courier New"/>
            </a:endParaRPr>
          </a:p>
          <a:p>
            <a:pPr marL="37465">
              <a:lnSpc>
                <a:spcPct val="100000"/>
              </a:lnSpc>
              <a:spcBef>
                <a:spcPts val="55"/>
              </a:spcBef>
            </a:pPr>
            <a:r>
              <a:rPr dirty="0" sz="700" spc="-25">
                <a:solidFill>
                  <a:srgbClr val="007F00"/>
                </a:solidFill>
                <a:latin typeface="Courier New"/>
                <a:cs typeface="Courier New"/>
              </a:rPr>
              <a:t>pwd</a:t>
            </a:r>
            <a:endParaRPr sz="7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endParaRPr sz="700">
              <a:latin typeface="Courier New"/>
              <a:cs typeface="Courier New"/>
            </a:endParaRPr>
          </a:p>
          <a:p>
            <a:pPr marL="37465">
              <a:lnSpc>
                <a:spcPct val="100000"/>
              </a:lnSpc>
            </a:pPr>
            <a:r>
              <a:rPr dirty="0" sz="700" spc="-10">
                <a:latin typeface="Courier New"/>
                <a:cs typeface="Courier New"/>
              </a:rPr>
              <a:t>/afs/dk.sci.pfu.edu.ru/home/d/h/dharma/work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581304" y="2592933"/>
            <a:ext cx="3665854" cy="48450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10489" marR="5080" indent="-98425">
              <a:lnSpc>
                <a:spcPct val="100000"/>
              </a:lnSpc>
              <a:spcBef>
                <a:spcPts val="120"/>
              </a:spcBef>
            </a:pPr>
            <a:r>
              <a:rPr dirty="0" sz="750" b="1">
                <a:latin typeface="Book Antiqua"/>
                <a:cs typeface="Book Antiqua"/>
              </a:rPr>
              <a:t>Команда</a:t>
            </a:r>
            <a:r>
              <a:rPr dirty="0" sz="750" spc="70" b="1">
                <a:latin typeface="Book Antiqua"/>
                <a:cs typeface="Book Antiqua"/>
              </a:rPr>
              <a:t> </a:t>
            </a:r>
            <a:r>
              <a:rPr dirty="0" sz="750" b="1">
                <a:latin typeface="Book Antiqua"/>
                <a:cs typeface="Book Antiqua"/>
              </a:rPr>
              <a:t>ls.</a:t>
            </a:r>
            <a:r>
              <a:rPr dirty="0" sz="750" spc="370" b="1">
                <a:latin typeface="Book Antiqua"/>
                <a:cs typeface="Book Antiqua"/>
              </a:rPr>
              <a:t>  </a:t>
            </a:r>
            <a:r>
              <a:rPr dirty="0" sz="750">
                <a:latin typeface="Book Antiqua"/>
                <a:cs typeface="Book Antiqua"/>
              </a:rPr>
              <a:t>Команда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ls</a:t>
            </a:r>
            <a:r>
              <a:rPr dirty="0" sz="700" spc="-190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используется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для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просмотра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содержимого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каталога.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Формат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команды:</a:t>
            </a:r>
            <a:endParaRPr sz="75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 sz="700">
                <a:latin typeface="Courier New"/>
                <a:cs typeface="Courier New"/>
              </a:rPr>
              <a:t>ls</a:t>
            </a:r>
            <a:r>
              <a:rPr dirty="0" sz="700" spc="465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[-опции]</a:t>
            </a:r>
            <a:r>
              <a:rPr dirty="0" sz="700" spc="465">
                <a:latin typeface="Courier New"/>
                <a:cs typeface="Courier New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[путь]</a:t>
            </a:r>
            <a:endParaRPr sz="700">
              <a:latin typeface="Courier New"/>
              <a:cs typeface="Courier New"/>
            </a:endParaRPr>
          </a:p>
          <a:p>
            <a:pPr marL="110489">
              <a:lnSpc>
                <a:spcPct val="100000"/>
              </a:lnSpc>
              <a:spcBef>
                <a:spcPts val="5"/>
              </a:spcBef>
            </a:pPr>
            <a:r>
              <a:rPr dirty="0" sz="750" spc="-10">
                <a:latin typeface="Book Antiqua"/>
                <a:cs typeface="Book Antiqua"/>
              </a:rPr>
              <a:t>Пример: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400405" y="3208465"/>
            <a:ext cx="54610" cy="100012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50">
                <a:latin typeface="Book Antiqua"/>
                <a:cs typeface="Book Antiqua"/>
              </a:rPr>
              <a:t>1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dirty="0" sz="400" spc="-50">
                <a:latin typeface="Book Antiqua"/>
                <a:cs typeface="Book Antiqua"/>
              </a:rPr>
              <a:t>2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3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4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5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6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7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8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9</a:t>
            </a:r>
            <a:endParaRPr sz="400">
              <a:latin typeface="Book Antiqua"/>
              <a:cs typeface="Book Antiqua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594004" y="3158223"/>
            <a:ext cx="4032250" cy="1098550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857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225"/>
              </a:spcBef>
            </a:pPr>
            <a:r>
              <a:rPr dirty="0" sz="700" spc="-25">
                <a:solidFill>
                  <a:srgbClr val="007F00"/>
                </a:solidFill>
                <a:latin typeface="Courier New"/>
                <a:cs typeface="Courier New"/>
              </a:rPr>
              <a:t>cd</a:t>
            </a:r>
            <a:endParaRPr sz="700">
              <a:latin typeface="Courier New"/>
              <a:cs typeface="Courier New"/>
            </a:endParaRPr>
          </a:p>
          <a:p>
            <a:pPr marL="37465" marR="3712845">
              <a:lnSpc>
                <a:spcPct val="106500"/>
              </a:lnSpc>
            </a:pPr>
            <a:r>
              <a:rPr dirty="0" sz="700">
                <a:solidFill>
                  <a:srgbClr val="007F00"/>
                </a:solidFill>
                <a:latin typeface="Courier New"/>
                <a:cs typeface="Courier New"/>
              </a:rPr>
              <a:t>cd</a:t>
            </a:r>
            <a:r>
              <a:rPr dirty="0" sz="700" spc="15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700" spc="-25">
                <a:latin typeface="Courier New"/>
                <a:cs typeface="Courier New"/>
              </a:rPr>
              <a:t>.. </a:t>
            </a:r>
            <a:r>
              <a:rPr dirty="0" sz="700" spc="-25">
                <a:solidFill>
                  <a:srgbClr val="007F00"/>
                </a:solidFill>
                <a:latin typeface="Courier New"/>
                <a:cs typeface="Courier New"/>
              </a:rPr>
              <a:t>pwd</a:t>
            </a:r>
            <a:endParaRPr sz="700">
              <a:latin typeface="Courier New"/>
              <a:cs typeface="Courier New"/>
            </a:endParaRPr>
          </a:p>
          <a:p>
            <a:pPr marL="37465" marR="2291715">
              <a:lnSpc>
                <a:spcPct val="213000"/>
              </a:lnSpc>
            </a:pPr>
            <a:r>
              <a:rPr dirty="0" sz="700" spc="-10">
                <a:latin typeface="Courier New"/>
                <a:cs typeface="Courier New"/>
              </a:rPr>
              <a:t>/afs/dk.sci.pfu.edu.ru/home/d/h </a:t>
            </a:r>
            <a:r>
              <a:rPr dirty="0" sz="700" spc="-25">
                <a:latin typeface="Courier New"/>
                <a:cs typeface="Courier New"/>
              </a:rPr>
              <a:t>ls</a:t>
            </a:r>
            <a:endParaRPr sz="7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endParaRPr sz="700">
              <a:latin typeface="Courier New"/>
              <a:cs typeface="Courier New"/>
            </a:endParaRPr>
          </a:p>
          <a:p>
            <a:pPr marL="37465">
              <a:lnSpc>
                <a:spcPct val="100000"/>
              </a:lnSpc>
            </a:pPr>
            <a:r>
              <a:rPr dirty="0" sz="700" spc="-10">
                <a:latin typeface="Courier New"/>
                <a:cs typeface="Courier New"/>
              </a:rPr>
              <a:t>dharma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581304" y="4335272"/>
            <a:ext cx="4078604" cy="48450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just" marL="12700" marR="5080" indent="97790">
              <a:lnSpc>
                <a:spcPct val="100000"/>
              </a:lnSpc>
              <a:spcBef>
                <a:spcPts val="120"/>
              </a:spcBef>
            </a:pPr>
            <a:r>
              <a:rPr dirty="0" sz="750">
                <a:latin typeface="Book Antiqua"/>
                <a:cs typeface="Book Antiqua"/>
              </a:rPr>
              <a:t>Некоторые</a:t>
            </a:r>
            <a:r>
              <a:rPr dirty="0" sz="750" spc="9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файлы</a:t>
            </a:r>
            <a:r>
              <a:rPr dirty="0" sz="750" spc="95">
                <a:latin typeface="Book Antiqua"/>
                <a:cs typeface="Book Antiqua"/>
              </a:rPr>
              <a:t> </a:t>
            </a:r>
            <a:r>
              <a:rPr dirty="0" sz="750" spc="50">
                <a:latin typeface="Book Antiqua"/>
                <a:cs typeface="Book Antiqua"/>
              </a:rPr>
              <a:t>в</a:t>
            </a:r>
            <a:r>
              <a:rPr dirty="0" sz="750" spc="1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операционной</a:t>
            </a:r>
            <a:r>
              <a:rPr dirty="0" sz="750" spc="9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системе</a:t>
            </a:r>
            <a:r>
              <a:rPr dirty="0" sz="750" spc="1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скрыты</a:t>
            </a:r>
            <a:r>
              <a:rPr dirty="0" sz="750" spc="9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от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просмотра</a:t>
            </a:r>
            <a:r>
              <a:rPr dirty="0" sz="750" spc="9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1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обычно</a:t>
            </a:r>
            <a:r>
              <a:rPr dirty="0" sz="750" spc="9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исполь-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зуются</a:t>
            </a:r>
            <a:r>
              <a:rPr dirty="0" sz="750" spc="1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для</a:t>
            </a:r>
            <a:r>
              <a:rPr dirty="0" sz="750" spc="1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настройки</a:t>
            </a:r>
            <a:r>
              <a:rPr dirty="0" sz="750" spc="1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рабочей</a:t>
            </a:r>
            <a:r>
              <a:rPr dirty="0" sz="750" spc="1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среды.</a:t>
            </a:r>
            <a:r>
              <a:rPr dirty="0" sz="750" spc="10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Имена</a:t>
            </a:r>
            <a:r>
              <a:rPr dirty="0" sz="750" spc="1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таких</a:t>
            </a:r>
            <a:r>
              <a:rPr dirty="0" sz="750" spc="1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файлов</a:t>
            </a:r>
            <a:r>
              <a:rPr dirty="0" sz="750" spc="1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начинаются</a:t>
            </a:r>
            <a:r>
              <a:rPr dirty="0" sz="750" spc="1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</a:t>
            </a:r>
            <a:r>
              <a:rPr dirty="0" sz="750" spc="1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точки.</a:t>
            </a:r>
            <a:r>
              <a:rPr dirty="0" sz="750" spc="110">
                <a:latin typeface="Book Antiqua"/>
                <a:cs typeface="Book Antiqua"/>
              </a:rPr>
              <a:t> </a:t>
            </a:r>
            <a:r>
              <a:rPr dirty="0" sz="750" spc="-25">
                <a:latin typeface="Book Antiqua"/>
                <a:cs typeface="Book Antiqua"/>
              </a:rPr>
              <a:t>Для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того,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чтобы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отобразить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имена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скрытых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файлов,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необходимо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использовать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команду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00" spc="-25">
                <a:latin typeface="Courier New"/>
                <a:cs typeface="Courier New"/>
              </a:rPr>
              <a:t>ls </a:t>
            </a:r>
            <a:r>
              <a:rPr dirty="0" sz="750">
                <a:latin typeface="Book Antiqua"/>
                <a:cs typeface="Book Antiqua"/>
              </a:rPr>
              <a:t>с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опцией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00" spc="-25">
                <a:latin typeface="Courier New"/>
                <a:cs typeface="Courier New"/>
              </a:rPr>
              <a:t>a</a:t>
            </a:r>
            <a:r>
              <a:rPr dirty="0" sz="750" spc="-25">
                <a:latin typeface="Book Antiqua"/>
                <a:cs typeface="Book Antiqua"/>
              </a:rPr>
              <a:t>: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400405" y="4950816"/>
            <a:ext cx="54610" cy="914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50">
                <a:latin typeface="Book Antiqua"/>
                <a:cs typeface="Book Antiqua"/>
              </a:rPr>
              <a:t>1</a:t>
            </a:r>
            <a:endParaRPr sz="400">
              <a:latin typeface="Book Antiqua"/>
              <a:cs typeface="Book Antiqua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594004" y="4900561"/>
            <a:ext cx="4032250" cy="189865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857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225"/>
              </a:spcBef>
            </a:pPr>
            <a:r>
              <a:rPr dirty="0" sz="700">
                <a:latin typeface="Courier New"/>
                <a:cs typeface="Courier New"/>
              </a:rPr>
              <a:t>ls</a:t>
            </a:r>
            <a:r>
              <a:rPr dirty="0" sz="700" spc="20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-</a:t>
            </a:r>
            <a:r>
              <a:rPr dirty="0" sz="700" spc="-50">
                <a:latin typeface="Courier New"/>
                <a:cs typeface="Courier New"/>
              </a:rPr>
              <a:t>a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581304" y="5168747"/>
            <a:ext cx="4071620" cy="72136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just" marL="12700" marR="5080" indent="97790">
              <a:lnSpc>
                <a:spcPct val="100000"/>
              </a:lnSpc>
              <a:spcBef>
                <a:spcPts val="120"/>
              </a:spcBef>
            </a:pPr>
            <a:r>
              <a:rPr dirty="0" sz="750">
                <a:latin typeface="Book Antiqua"/>
                <a:cs typeface="Book Antiqua"/>
              </a:rPr>
              <a:t>Можно</a:t>
            </a:r>
            <a:r>
              <a:rPr dirty="0" sz="750" spc="1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также</a:t>
            </a:r>
            <a:r>
              <a:rPr dirty="0" sz="750" spc="1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получить</a:t>
            </a:r>
            <a:r>
              <a:rPr dirty="0" sz="750" spc="1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информацию</a:t>
            </a:r>
            <a:r>
              <a:rPr dirty="0" sz="750" spc="1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</a:t>
            </a:r>
            <a:r>
              <a:rPr dirty="0" sz="750" spc="1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типах</a:t>
            </a:r>
            <a:r>
              <a:rPr dirty="0" sz="750" spc="1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файлов</a:t>
            </a:r>
            <a:r>
              <a:rPr dirty="0" sz="750" spc="1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(каталог,</a:t>
            </a:r>
            <a:r>
              <a:rPr dirty="0" sz="750" spc="9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исполняемый</a:t>
            </a:r>
            <a:r>
              <a:rPr dirty="0" sz="750" spc="14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файл,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ссылка),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для</a:t>
            </a:r>
            <a:r>
              <a:rPr dirty="0" sz="750" spc="8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чего</a:t>
            </a:r>
            <a:r>
              <a:rPr dirty="0" sz="750" spc="8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используется</a:t>
            </a:r>
            <a:r>
              <a:rPr dirty="0" sz="750" spc="8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опция</a:t>
            </a:r>
            <a:r>
              <a:rPr dirty="0" sz="750" spc="8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F</a:t>
            </a:r>
            <a:r>
              <a:rPr dirty="0" sz="750">
                <a:latin typeface="Book Antiqua"/>
                <a:cs typeface="Book Antiqua"/>
              </a:rPr>
              <a:t>.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При</a:t>
            </a:r>
            <a:r>
              <a:rPr dirty="0" sz="750" spc="8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использовании</a:t>
            </a:r>
            <a:r>
              <a:rPr dirty="0" sz="750" spc="8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этой</a:t>
            </a:r>
            <a:r>
              <a:rPr dirty="0" sz="750" spc="8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опции</a:t>
            </a:r>
            <a:r>
              <a:rPr dirty="0" sz="750" spc="80">
                <a:latin typeface="Book Antiqua"/>
                <a:cs typeface="Book Antiqua"/>
              </a:rPr>
              <a:t> </a:t>
            </a:r>
            <a:r>
              <a:rPr dirty="0" sz="750" spc="50">
                <a:latin typeface="Book Antiqua"/>
                <a:cs typeface="Book Antiqua"/>
              </a:rPr>
              <a:t>в</a:t>
            </a:r>
            <a:r>
              <a:rPr dirty="0" sz="750" spc="8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поле</a:t>
            </a:r>
            <a:r>
              <a:rPr dirty="0" sz="750" spc="8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имени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выводится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символ,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который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определяет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тип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файла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(см.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табл.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  <a:hlinkClick r:id="rId2" action="ppaction://hlinksldjump"/>
              </a:rPr>
              <a:t>4.2)</a:t>
            </a:r>
            <a:endParaRPr sz="75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140"/>
              </a:spcBef>
            </a:pPr>
            <a:endParaRPr sz="750">
              <a:latin typeface="Book Antiqua"/>
              <a:cs typeface="Book Antiqua"/>
            </a:endParaRPr>
          </a:p>
          <a:p>
            <a:pPr marL="3526790">
              <a:lnSpc>
                <a:spcPct val="100000"/>
              </a:lnSpc>
            </a:pPr>
            <a:r>
              <a:rPr dirty="0" sz="650" b="1">
                <a:latin typeface="Book Antiqua"/>
                <a:cs typeface="Book Antiqua"/>
              </a:rPr>
              <a:t>Таблица</a:t>
            </a:r>
            <a:r>
              <a:rPr dirty="0" sz="650" spc="200" b="1">
                <a:latin typeface="Book Antiqua"/>
                <a:cs typeface="Book Antiqua"/>
              </a:rPr>
              <a:t> </a:t>
            </a:r>
            <a:r>
              <a:rPr dirty="0" sz="650" spc="25" b="1">
                <a:latin typeface="Book Antiqua"/>
                <a:cs typeface="Book Antiqua"/>
              </a:rPr>
              <a:t>4.2</a:t>
            </a:r>
            <a:endParaRPr sz="650">
              <a:latin typeface="Book Antiqua"/>
              <a:cs typeface="Book Antiqua"/>
            </a:endParaRPr>
          </a:p>
          <a:p>
            <a:pPr marL="1140460">
              <a:lnSpc>
                <a:spcPct val="100000"/>
              </a:lnSpc>
              <a:spcBef>
                <a:spcPts val="114"/>
              </a:spcBef>
            </a:pPr>
            <a:r>
              <a:rPr dirty="0" sz="650" spc="20" b="1">
                <a:latin typeface="Book Antiqua"/>
                <a:cs typeface="Book Antiqua"/>
              </a:rPr>
              <a:t>Символ,</a:t>
            </a:r>
            <a:r>
              <a:rPr dirty="0" sz="650" spc="40" b="1">
                <a:latin typeface="Book Antiqua"/>
                <a:cs typeface="Book Antiqua"/>
              </a:rPr>
              <a:t> </a:t>
            </a:r>
            <a:r>
              <a:rPr dirty="0" sz="650" spc="20" b="1">
                <a:latin typeface="Book Antiqua"/>
                <a:cs typeface="Book Antiqua"/>
              </a:rPr>
              <a:t>который</a:t>
            </a:r>
            <a:r>
              <a:rPr dirty="0" sz="650" spc="70" b="1">
                <a:latin typeface="Book Antiqua"/>
                <a:cs typeface="Book Antiqua"/>
              </a:rPr>
              <a:t> </a:t>
            </a:r>
            <a:r>
              <a:rPr dirty="0" sz="650" spc="20" b="1">
                <a:latin typeface="Book Antiqua"/>
                <a:cs typeface="Book Antiqua"/>
              </a:rPr>
              <a:t>определяет</a:t>
            </a:r>
            <a:r>
              <a:rPr dirty="0" sz="650" spc="40" b="1">
                <a:latin typeface="Book Antiqua"/>
                <a:cs typeface="Book Antiqua"/>
              </a:rPr>
              <a:t> </a:t>
            </a:r>
            <a:r>
              <a:rPr dirty="0" sz="650" spc="20" b="1">
                <a:latin typeface="Book Antiqua"/>
                <a:cs typeface="Book Antiqua"/>
              </a:rPr>
              <a:t>тип</a:t>
            </a:r>
            <a:r>
              <a:rPr dirty="0" sz="650" spc="75" b="1">
                <a:latin typeface="Book Antiqua"/>
                <a:cs typeface="Book Antiqua"/>
              </a:rPr>
              <a:t> </a:t>
            </a:r>
            <a:r>
              <a:rPr dirty="0" sz="650" spc="-10" b="1">
                <a:latin typeface="Book Antiqua"/>
                <a:cs typeface="Book Antiqua"/>
              </a:rPr>
              <a:t>файла</a:t>
            </a:r>
            <a:endParaRPr sz="650">
              <a:latin typeface="Book Antiqua"/>
              <a:cs typeface="Book Antiqua"/>
            </a:endParaRPr>
          </a:p>
        </p:txBody>
      </p:sp>
      <p:graphicFrame>
        <p:nvGraphicFramePr>
          <p:cNvPr id="14" name="object 14" descr=""/>
          <p:cNvGraphicFramePr>
            <a:graphicFrameLocks noGrp="1"/>
          </p:cNvGraphicFramePr>
          <p:nvPr/>
        </p:nvGraphicFramePr>
        <p:xfrm>
          <a:off x="1820354" y="6020320"/>
          <a:ext cx="1656080" cy="5740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64895"/>
                <a:gridCol w="509269"/>
              </a:tblGrid>
              <a:tr h="14351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750">
                          <a:latin typeface="Book Antiqua"/>
                          <a:cs typeface="Book Antiqua"/>
                        </a:rPr>
                        <a:t>Тип</a:t>
                      </a:r>
                      <a:r>
                        <a:rPr dirty="0" sz="750" spc="-15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750" spc="-10">
                          <a:latin typeface="Book Antiqua"/>
                          <a:cs typeface="Book Antiqua"/>
                        </a:rPr>
                        <a:t>файла</a:t>
                      </a:r>
                      <a:endParaRPr sz="750">
                        <a:latin typeface="Book Antiqua"/>
                        <a:cs typeface="Book Antiqua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750" spc="-10">
                          <a:latin typeface="Book Antiqua"/>
                          <a:cs typeface="Book Antiqua"/>
                        </a:rPr>
                        <a:t>Символ</a:t>
                      </a:r>
                      <a:endParaRPr sz="750">
                        <a:latin typeface="Book Antiqua"/>
                        <a:cs typeface="Book Antiqua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43510"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750" spc="-10">
                          <a:latin typeface="Book Antiqua"/>
                          <a:cs typeface="Book Antiqua"/>
                        </a:rPr>
                        <a:t>Каталог</a:t>
                      </a:r>
                      <a:endParaRPr sz="750">
                        <a:latin typeface="Book Antiqua"/>
                        <a:cs typeface="Book Antiqua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750" spc="-50">
                          <a:latin typeface="Book Antiqua"/>
                          <a:cs typeface="Book Antiqua"/>
                        </a:rPr>
                        <a:t>/</a:t>
                      </a:r>
                      <a:endParaRPr sz="750">
                        <a:latin typeface="Book Antiqua"/>
                        <a:cs typeface="Book Antiqua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4351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750">
                          <a:latin typeface="Book Antiqua"/>
                          <a:cs typeface="Book Antiqua"/>
                        </a:rPr>
                        <a:t>Исполняемый</a:t>
                      </a:r>
                      <a:r>
                        <a:rPr dirty="0" sz="750" spc="25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750" spc="-20">
                          <a:latin typeface="Book Antiqua"/>
                          <a:cs typeface="Book Antiqua"/>
                        </a:rPr>
                        <a:t>файл</a:t>
                      </a:r>
                      <a:endParaRPr sz="750">
                        <a:latin typeface="Book Antiqua"/>
                        <a:cs typeface="Book Antiqua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381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750" spc="20">
                          <a:latin typeface="Book Antiqua"/>
                          <a:cs typeface="Book Antiqua"/>
                        </a:rPr>
                        <a:t>*</a:t>
                      </a:r>
                      <a:endParaRPr sz="750">
                        <a:latin typeface="Book Antiqua"/>
                        <a:cs typeface="Book Antiqua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4351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750" spc="-10">
                          <a:latin typeface="Book Antiqua"/>
                          <a:cs typeface="Book Antiqua"/>
                        </a:rPr>
                        <a:t>Ссылка</a:t>
                      </a:r>
                      <a:endParaRPr sz="750">
                        <a:latin typeface="Book Antiqua"/>
                        <a:cs typeface="Book Antiqua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700" spc="-50">
                          <a:latin typeface="Courier New"/>
                          <a:cs typeface="Courier New"/>
                        </a:rPr>
                        <a:t>@</a:t>
                      </a:r>
                      <a:endParaRPr sz="700">
                        <a:latin typeface="Courier New"/>
                        <a:cs typeface="Courier New"/>
                      </a:endParaRPr>
                    </a:p>
                  </a:txBody>
                  <a:tcPr marL="0" marR="0" marB="0" marT="1016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81304" y="392412"/>
            <a:ext cx="1534795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40" i="1">
                <a:latin typeface="Georgia"/>
                <a:cs typeface="Georgia"/>
              </a:rPr>
              <a:t>Кулябов</a:t>
            </a:r>
            <a:r>
              <a:rPr dirty="0" sz="600" spc="-5" i="1">
                <a:latin typeface="Georgia"/>
                <a:cs typeface="Georgia"/>
              </a:rPr>
              <a:t> </a:t>
            </a:r>
            <a:r>
              <a:rPr dirty="0" sz="600" spc="-30" i="1">
                <a:latin typeface="Georgia"/>
                <a:cs typeface="Georgia"/>
              </a:rPr>
              <a:t>Д.</a:t>
            </a:r>
            <a:r>
              <a:rPr dirty="0" sz="600" spc="-50" i="1">
                <a:latin typeface="Georgia"/>
                <a:cs typeface="Georgia"/>
              </a:rPr>
              <a:t> </a:t>
            </a:r>
            <a:r>
              <a:rPr dirty="0" sz="600" spc="-10" i="1">
                <a:latin typeface="Georgia"/>
                <a:cs typeface="Georgia"/>
              </a:rPr>
              <a:t>С.</a:t>
            </a:r>
            <a:r>
              <a:rPr dirty="0" sz="600" spc="-25" i="1">
                <a:latin typeface="Georgia"/>
                <a:cs typeface="Georgia"/>
              </a:rPr>
              <a:t> </a:t>
            </a:r>
            <a:r>
              <a:rPr dirty="0" sz="600" i="1">
                <a:latin typeface="Georgia"/>
                <a:cs typeface="Georgia"/>
              </a:rPr>
              <a:t>и</a:t>
            </a:r>
            <a:r>
              <a:rPr dirty="0" sz="600" spc="-5" i="1">
                <a:latin typeface="Georgia"/>
                <a:cs typeface="Georgia"/>
              </a:rPr>
              <a:t> </a:t>
            </a:r>
            <a:r>
              <a:rPr dirty="0" sz="600" i="1">
                <a:latin typeface="Georgia"/>
                <a:cs typeface="Georgia"/>
              </a:rPr>
              <a:t>др.</a:t>
            </a:r>
            <a:r>
              <a:rPr dirty="0" sz="600" spc="55" i="1">
                <a:latin typeface="Georgia"/>
                <a:cs typeface="Georgia"/>
              </a:rPr>
              <a:t> </a:t>
            </a:r>
            <a:r>
              <a:rPr dirty="0" sz="600" spc="-10">
                <a:latin typeface="Book Antiqua"/>
                <a:cs typeface="Book Antiqua"/>
              </a:rPr>
              <a:t>Операционные</a:t>
            </a:r>
            <a:r>
              <a:rPr dirty="0" sz="600" spc="-5">
                <a:latin typeface="Book Antiqua"/>
                <a:cs typeface="Book Antiqua"/>
              </a:rPr>
              <a:t> </a:t>
            </a:r>
            <a:r>
              <a:rPr dirty="0" sz="600" spc="-10">
                <a:latin typeface="Book Antiqua"/>
                <a:cs typeface="Book Antiqua"/>
              </a:rPr>
              <a:t>системы</a:t>
            </a:r>
            <a:endParaRPr sz="600">
              <a:latin typeface="Book Antiqua"/>
              <a:cs typeface="Book Antiqua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4531906" y="392412"/>
            <a:ext cx="107314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latin typeface="Book Antiqua"/>
                <a:cs typeface="Book Antiqua"/>
              </a:rPr>
              <a:t>41</a:t>
            </a:r>
            <a:endParaRPr sz="600">
              <a:latin typeface="Book Antiqua"/>
              <a:cs typeface="Book Antiqua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594004" y="514540"/>
            <a:ext cx="4032250" cy="0"/>
          </a:xfrm>
          <a:custGeom>
            <a:avLst/>
            <a:gdLst/>
            <a:ahLst/>
            <a:cxnLst/>
            <a:rect l="l" t="t" r="r" b="b"/>
            <a:pathLst>
              <a:path w="4032250" h="0">
                <a:moveTo>
                  <a:pt x="0" y="0"/>
                </a:moveTo>
                <a:lnTo>
                  <a:pt x="4031996" y="0"/>
                </a:lnTo>
              </a:path>
            </a:pathLst>
          </a:custGeom>
          <a:ln w="541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581304" y="653389"/>
            <a:ext cx="4057650" cy="127952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just" marL="12700" marR="5080" indent="97790">
              <a:lnSpc>
                <a:spcPct val="100000"/>
              </a:lnSpc>
              <a:spcBef>
                <a:spcPts val="120"/>
              </a:spcBef>
            </a:pPr>
            <a:r>
              <a:rPr dirty="0" sz="750">
                <a:latin typeface="Book Antiqua"/>
                <a:cs typeface="Book Antiqua"/>
              </a:rPr>
              <a:t>Чтобы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вывести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экран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подробную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информацию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файлах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каталогах,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необходимо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использовать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опцию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l</a:t>
            </a:r>
            <a:r>
              <a:rPr dirty="0" sz="750">
                <a:latin typeface="Book Antiqua"/>
                <a:cs typeface="Book Antiqua"/>
              </a:rPr>
              <a:t>. </a:t>
            </a:r>
            <a:r>
              <a:rPr dirty="0" sz="750" spc="-25">
                <a:latin typeface="Book Antiqua"/>
                <a:cs typeface="Book Antiqua"/>
              </a:rPr>
              <a:t>При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этом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каждом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файле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каталоге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будет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выведена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следующая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информация:</a:t>
            </a:r>
            <a:endParaRPr sz="750">
              <a:latin typeface="Book Antiqua"/>
              <a:cs typeface="Book Antiqua"/>
            </a:endParaRPr>
          </a:p>
          <a:p>
            <a:pPr marL="144145" indent="-117475">
              <a:lnSpc>
                <a:spcPts val="880"/>
              </a:lnSpc>
              <a:buFont typeface="Book Antiqua"/>
              <a:buChar char="–"/>
              <a:tabLst>
                <a:tab pos="144145" algn="l"/>
              </a:tabLst>
            </a:pPr>
            <a:r>
              <a:rPr dirty="0" sz="750">
                <a:latin typeface="Book Antiqua"/>
                <a:cs typeface="Book Antiqua"/>
              </a:rPr>
              <a:t>тип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файла,</a:t>
            </a:r>
            <a:endParaRPr sz="750">
              <a:latin typeface="Book Antiqua"/>
              <a:cs typeface="Book Antiqua"/>
            </a:endParaRPr>
          </a:p>
          <a:p>
            <a:pPr marL="144145" indent="-117475">
              <a:lnSpc>
                <a:spcPts val="894"/>
              </a:lnSpc>
              <a:buFont typeface="Book Antiqua"/>
              <a:buChar char="–"/>
              <a:tabLst>
                <a:tab pos="144145" algn="l"/>
              </a:tabLst>
            </a:pPr>
            <a:r>
              <a:rPr dirty="0" sz="750">
                <a:latin typeface="Book Antiqua"/>
                <a:cs typeface="Book Antiqua"/>
              </a:rPr>
              <a:t>право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доступа,</a:t>
            </a:r>
            <a:endParaRPr sz="750">
              <a:latin typeface="Book Antiqua"/>
              <a:cs typeface="Book Antiqua"/>
            </a:endParaRPr>
          </a:p>
          <a:p>
            <a:pPr marL="144145" indent="-117475">
              <a:lnSpc>
                <a:spcPts val="894"/>
              </a:lnSpc>
              <a:buFont typeface="Book Antiqua"/>
              <a:buChar char="–"/>
              <a:tabLst>
                <a:tab pos="144145" algn="l"/>
              </a:tabLst>
            </a:pPr>
            <a:r>
              <a:rPr dirty="0" sz="750">
                <a:latin typeface="Book Antiqua"/>
                <a:cs typeface="Book Antiqua"/>
              </a:rPr>
              <a:t>число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ссылок,</a:t>
            </a:r>
            <a:endParaRPr sz="750">
              <a:latin typeface="Book Antiqua"/>
              <a:cs typeface="Book Antiqua"/>
            </a:endParaRPr>
          </a:p>
          <a:p>
            <a:pPr marL="144145" indent="-117475">
              <a:lnSpc>
                <a:spcPts val="894"/>
              </a:lnSpc>
              <a:buFont typeface="Book Antiqua"/>
              <a:buChar char="–"/>
              <a:tabLst>
                <a:tab pos="144145" algn="l"/>
              </a:tabLst>
            </a:pPr>
            <a:r>
              <a:rPr dirty="0" sz="750" spc="-10">
                <a:latin typeface="Book Antiqua"/>
                <a:cs typeface="Book Antiqua"/>
              </a:rPr>
              <a:t>владелец,</a:t>
            </a:r>
            <a:endParaRPr sz="750">
              <a:latin typeface="Book Antiqua"/>
              <a:cs typeface="Book Antiqua"/>
            </a:endParaRPr>
          </a:p>
          <a:p>
            <a:pPr marL="144145" indent="-117475">
              <a:lnSpc>
                <a:spcPts val="894"/>
              </a:lnSpc>
              <a:buFont typeface="Book Antiqua"/>
              <a:buChar char="–"/>
              <a:tabLst>
                <a:tab pos="144145" algn="l"/>
              </a:tabLst>
            </a:pPr>
            <a:r>
              <a:rPr dirty="0" sz="750" spc="-10">
                <a:latin typeface="Book Antiqua"/>
                <a:cs typeface="Book Antiqua"/>
              </a:rPr>
              <a:t>размер,</a:t>
            </a:r>
            <a:endParaRPr sz="750">
              <a:latin typeface="Book Antiqua"/>
              <a:cs typeface="Book Antiqua"/>
            </a:endParaRPr>
          </a:p>
          <a:p>
            <a:pPr marL="144145" indent="-117475">
              <a:lnSpc>
                <a:spcPts val="894"/>
              </a:lnSpc>
              <a:buFont typeface="Book Antiqua"/>
              <a:buChar char="–"/>
              <a:tabLst>
                <a:tab pos="144145" algn="l"/>
              </a:tabLst>
            </a:pPr>
            <a:r>
              <a:rPr dirty="0" sz="750">
                <a:latin typeface="Book Antiqua"/>
                <a:cs typeface="Book Antiqua"/>
              </a:rPr>
              <a:t>дата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последней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ревизии,</a:t>
            </a:r>
            <a:endParaRPr sz="750">
              <a:latin typeface="Book Antiqua"/>
              <a:cs typeface="Book Antiqua"/>
            </a:endParaRPr>
          </a:p>
          <a:p>
            <a:pPr marL="110489" marR="2763520" indent="-84455">
              <a:lnSpc>
                <a:spcPts val="890"/>
              </a:lnSpc>
              <a:spcBef>
                <a:spcPts val="35"/>
              </a:spcBef>
              <a:buFont typeface="Book Antiqua"/>
              <a:buChar char="–"/>
              <a:tabLst>
                <a:tab pos="110489" algn="l"/>
                <a:tab pos="143510" algn="l"/>
              </a:tabLst>
            </a:pPr>
            <a:r>
              <a:rPr dirty="0" sz="750" b="1">
                <a:latin typeface="Book Antiqua"/>
                <a:cs typeface="Book Antiqua"/>
              </a:rPr>
              <a:t>	</a:t>
            </a:r>
            <a:r>
              <a:rPr dirty="0" sz="750">
                <a:latin typeface="Book Antiqua"/>
                <a:cs typeface="Book Antiqua"/>
              </a:rPr>
              <a:t>имя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файла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или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каталога.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Пример: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400405" y="2064183"/>
            <a:ext cx="54610" cy="20447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50">
                <a:latin typeface="Book Antiqua"/>
                <a:cs typeface="Book Antiqua"/>
              </a:rPr>
              <a:t>1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dirty="0" sz="400" spc="-50">
                <a:latin typeface="Book Antiqua"/>
                <a:cs typeface="Book Antiqua"/>
              </a:rPr>
              <a:t>2</a:t>
            </a:r>
            <a:endParaRPr sz="400">
              <a:latin typeface="Book Antiqua"/>
              <a:cs typeface="Book Antiqua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594004" y="2013928"/>
            <a:ext cx="4032250" cy="303530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1590" rIns="0" bIns="0" rtlCol="0" vert="horz">
            <a:spAutoFit/>
          </a:bodyPr>
          <a:lstStyle/>
          <a:p>
            <a:pPr marL="37465" marR="3767454">
              <a:lnSpc>
                <a:spcPct val="106500"/>
              </a:lnSpc>
              <a:spcBef>
                <a:spcPts val="170"/>
              </a:spcBef>
            </a:pPr>
            <a:r>
              <a:rPr dirty="0" sz="700">
                <a:solidFill>
                  <a:srgbClr val="007F00"/>
                </a:solidFill>
                <a:latin typeface="Courier New"/>
                <a:cs typeface="Courier New"/>
              </a:rPr>
              <a:t>cd</a:t>
            </a:r>
            <a:r>
              <a:rPr dirty="0" sz="700" spc="15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700" spc="-50">
                <a:latin typeface="Courier New"/>
                <a:cs typeface="Courier New"/>
              </a:rPr>
              <a:t>/ </a:t>
            </a:r>
            <a:r>
              <a:rPr dirty="0" sz="700" spc="-25">
                <a:latin typeface="Courier New"/>
                <a:cs typeface="Courier New"/>
              </a:rPr>
              <a:t>ls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679462" y="2395728"/>
            <a:ext cx="503555" cy="1435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 spc="-10">
                <a:latin typeface="Book Antiqua"/>
                <a:cs typeface="Book Antiqua"/>
              </a:rPr>
              <a:t>Результат: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400405" y="2670455"/>
            <a:ext cx="54610" cy="20447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50">
                <a:latin typeface="Book Antiqua"/>
                <a:cs typeface="Book Antiqua"/>
              </a:rPr>
              <a:t>1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dirty="0" sz="400" spc="-50">
                <a:latin typeface="Book Antiqua"/>
                <a:cs typeface="Book Antiqua"/>
              </a:rPr>
              <a:t>2</a:t>
            </a:r>
            <a:endParaRPr sz="400">
              <a:latin typeface="Book Antiqua"/>
              <a:cs typeface="Book Antiqua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594004" y="2620187"/>
            <a:ext cx="4032250" cy="303530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1590" rIns="0" bIns="0" rtlCol="0" vert="horz">
            <a:spAutoFit/>
          </a:bodyPr>
          <a:lstStyle/>
          <a:p>
            <a:pPr marL="37465" marR="1744980">
              <a:lnSpc>
                <a:spcPct val="106500"/>
              </a:lnSpc>
              <a:spcBef>
                <a:spcPts val="170"/>
              </a:spcBef>
            </a:pPr>
            <a:r>
              <a:rPr dirty="0" sz="700">
                <a:latin typeface="Courier New"/>
                <a:cs typeface="Courier New"/>
              </a:rPr>
              <a:t>bin</a:t>
            </a:r>
            <a:r>
              <a:rPr dirty="0" sz="700" spc="459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boot</a:t>
            </a:r>
            <a:r>
              <a:rPr dirty="0" sz="700" spc="459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dev</a:t>
            </a:r>
            <a:r>
              <a:rPr dirty="0" sz="700" spc="459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etc</a:t>
            </a:r>
            <a:r>
              <a:rPr dirty="0" sz="700" spc="465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home</a:t>
            </a:r>
            <a:r>
              <a:rPr dirty="0" sz="700" spc="459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lib</a:t>
            </a:r>
            <a:r>
              <a:rPr dirty="0" sz="700" spc="15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media</a:t>
            </a:r>
            <a:r>
              <a:rPr dirty="0" sz="700" spc="465">
                <a:latin typeface="Courier New"/>
                <a:cs typeface="Courier New"/>
              </a:rPr>
              <a:t> </a:t>
            </a:r>
            <a:r>
              <a:rPr dirty="0" sz="700" spc="-25">
                <a:latin typeface="Courier New"/>
                <a:cs typeface="Courier New"/>
              </a:rPr>
              <a:t>mnt </a:t>
            </a:r>
            <a:r>
              <a:rPr dirty="0" sz="700">
                <a:latin typeface="Courier New"/>
                <a:cs typeface="Courier New"/>
              </a:rPr>
              <a:t>opt</a:t>
            </a:r>
            <a:r>
              <a:rPr dirty="0" sz="700" spc="455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proc</a:t>
            </a:r>
            <a:r>
              <a:rPr dirty="0" sz="700" spc="459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root</a:t>
            </a:r>
            <a:r>
              <a:rPr dirty="0" sz="700" spc="459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sbin</a:t>
            </a:r>
            <a:r>
              <a:rPr dirty="0" sz="700" spc="459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sys</a:t>
            </a:r>
            <a:r>
              <a:rPr dirty="0" sz="700" spc="459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tmp</a:t>
            </a:r>
            <a:r>
              <a:rPr dirty="0" sz="700" spc="459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usr</a:t>
            </a:r>
            <a:r>
              <a:rPr dirty="0" sz="700" spc="459">
                <a:latin typeface="Courier New"/>
                <a:cs typeface="Courier New"/>
              </a:rPr>
              <a:t> </a:t>
            </a:r>
            <a:r>
              <a:rPr dirty="0" sz="700" spc="-25">
                <a:latin typeface="Courier New"/>
                <a:cs typeface="Courier New"/>
              </a:rPr>
              <a:t>var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679462" y="3002000"/>
            <a:ext cx="1315720" cy="1435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этом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же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каталоге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команда</a:t>
            </a:r>
            <a:endParaRPr sz="750">
              <a:latin typeface="Book Antiqua"/>
              <a:cs typeface="Book Antiqua"/>
            </a:endParaRPr>
          </a:p>
        </p:txBody>
      </p:sp>
      <p:graphicFrame>
        <p:nvGraphicFramePr>
          <p:cNvPr id="12" name="object 12" descr=""/>
          <p:cNvGraphicFramePr>
            <a:graphicFrameLocks noGrp="1"/>
          </p:cNvGraphicFramePr>
          <p:nvPr/>
        </p:nvGraphicFramePr>
        <p:xfrm>
          <a:off x="362387" y="3226460"/>
          <a:ext cx="4340225" cy="222376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1775"/>
                <a:gridCol w="1789430"/>
                <a:gridCol w="2242820"/>
              </a:tblGrid>
              <a:tr h="1892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  <a:p>
                      <a:pPr marL="50165">
                        <a:lnSpc>
                          <a:spcPct val="100000"/>
                        </a:lnSpc>
                      </a:pPr>
                      <a:r>
                        <a:rPr dirty="0" sz="400" spc="-50">
                          <a:latin typeface="Book Antiqua"/>
                          <a:cs typeface="Book Antiqua"/>
                        </a:rPr>
                        <a:t>1</a:t>
                      </a:r>
                      <a:endParaRPr sz="400">
                        <a:latin typeface="Book Antiqua"/>
                        <a:cs typeface="Book Antiqua"/>
                      </a:endParaRPr>
                    </a:p>
                  </a:txBody>
                  <a:tcPr marL="0" marR="0" marB="0" marT="8255"/>
                </a:tc>
                <a:tc>
                  <a:txBody>
                    <a:bodyPr/>
                    <a:lstStyle/>
                    <a:p>
                      <a:pPr marL="3746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700">
                          <a:latin typeface="Courier New"/>
                          <a:cs typeface="Courier New"/>
                        </a:rPr>
                        <a:t>ls</a:t>
                      </a:r>
                      <a:r>
                        <a:rPr dirty="0" sz="700" spc="20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00">
                          <a:latin typeface="Courier New"/>
                          <a:cs typeface="Courier New"/>
                        </a:rPr>
                        <a:t>-</a:t>
                      </a:r>
                      <a:r>
                        <a:rPr dirty="0" sz="700" spc="-25">
                          <a:latin typeface="Courier New"/>
                          <a:cs typeface="Courier New"/>
                        </a:rPr>
                        <a:t>alF</a:t>
                      </a:r>
                      <a:endParaRPr sz="700">
                        <a:latin typeface="Courier New"/>
                        <a:cs typeface="Courier New"/>
                      </a:endParaRPr>
                    </a:p>
                  </a:txBody>
                  <a:tcPr marL="0" marR="0" marB="0" marT="28575"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E5E5E5"/>
                    </a:solidFill>
                  </a:tcPr>
                </a:tc>
              </a:tr>
              <a:tr h="2787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dirty="0" sz="750">
                          <a:latin typeface="Book Antiqua"/>
                          <a:cs typeface="Book Antiqua"/>
                        </a:rPr>
                        <a:t>даст</a:t>
                      </a:r>
                      <a:r>
                        <a:rPr dirty="0" sz="750" spc="-5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750">
                          <a:latin typeface="Book Antiqua"/>
                          <a:cs typeface="Book Antiqua"/>
                        </a:rPr>
                        <a:t>примерно</a:t>
                      </a:r>
                      <a:r>
                        <a:rPr dirty="0" sz="750" spc="2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750">
                          <a:latin typeface="Book Antiqua"/>
                          <a:cs typeface="Book Antiqua"/>
                        </a:rPr>
                        <a:t>следующий</a:t>
                      </a:r>
                      <a:r>
                        <a:rPr dirty="0" sz="750" spc="2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dirty="0" sz="750" spc="-10">
                          <a:latin typeface="Book Antiqua"/>
                          <a:cs typeface="Book Antiqua"/>
                        </a:rPr>
                        <a:t>результат:</a:t>
                      </a:r>
                      <a:endParaRPr sz="750">
                        <a:latin typeface="Book Antiqua"/>
                        <a:cs typeface="Book Antiqua"/>
                      </a:endParaRPr>
                    </a:p>
                  </a:txBody>
                  <a:tcPr marL="0" marR="0" marB="0" marT="7366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127000">
                <a:tc>
                  <a:txBody>
                    <a:bodyPr/>
                    <a:lstStyle/>
                    <a:p>
                      <a:pPr marL="50165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400" spc="-50">
                          <a:latin typeface="Book Antiqua"/>
                          <a:cs typeface="Book Antiqua"/>
                        </a:rPr>
                        <a:t>1</a:t>
                      </a:r>
                      <a:endParaRPr sz="400">
                        <a:latin typeface="Book Antiqua"/>
                        <a:cs typeface="Book Antiqua"/>
                      </a:endParaRPr>
                    </a:p>
                  </a:txBody>
                  <a:tcPr marL="0" marR="0" marB="0" marT="52069"/>
                </a:tc>
                <a:tc>
                  <a:txBody>
                    <a:bodyPr/>
                    <a:lstStyle/>
                    <a:p>
                      <a:pPr marL="37465">
                        <a:lnSpc>
                          <a:spcPts val="690"/>
                        </a:lnSpc>
                        <a:spcBef>
                          <a:spcPts val="210"/>
                        </a:spcBef>
                      </a:pPr>
                      <a:r>
                        <a:rPr dirty="0" sz="600">
                          <a:latin typeface="Courier New"/>
                          <a:cs typeface="Courier New"/>
                        </a:rPr>
                        <a:t>drwxr-xr-x</a:t>
                      </a:r>
                      <a:r>
                        <a:rPr dirty="0" sz="600" spc="80">
                          <a:latin typeface="Courier New"/>
                          <a:cs typeface="Courier New"/>
                        </a:rPr>
                        <a:t>  </a:t>
                      </a:r>
                      <a:r>
                        <a:rPr dirty="0" sz="60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21</a:t>
                      </a:r>
                      <a:r>
                        <a:rPr dirty="0" sz="600" spc="85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>
                          <a:latin typeface="Courier New"/>
                          <a:cs typeface="Courier New"/>
                        </a:rPr>
                        <a:t>root</a:t>
                      </a:r>
                      <a:r>
                        <a:rPr dirty="0" sz="600" spc="85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>
                          <a:latin typeface="Courier New"/>
                          <a:cs typeface="Courier New"/>
                        </a:rPr>
                        <a:t>root</a:t>
                      </a:r>
                      <a:r>
                        <a:rPr dirty="0" sz="600" spc="80">
                          <a:latin typeface="Courier New"/>
                          <a:cs typeface="Courier New"/>
                        </a:rPr>
                        <a:t>  </a:t>
                      </a:r>
                      <a:r>
                        <a:rPr dirty="0" sz="60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4096</a:t>
                      </a:r>
                      <a:r>
                        <a:rPr dirty="0" sz="600" spc="9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 spc="-20">
                          <a:latin typeface="Courier New"/>
                          <a:cs typeface="Courier New"/>
                        </a:rPr>
                        <a:t>Jan.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26670"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45720">
                        <a:lnSpc>
                          <a:spcPts val="690"/>
                        </a:lnSpc>
                        <a:spcBef>
                          <a:spcPts val="210"/>
                        </a:spcBef>
                      </a:pPr>
                      <a:r>
                        <a:rPr dirty="0" sz="60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17</a:t>
                      </a:r>
                      <a:r>
                        <a:rPr dirty="0" sz="600" spc="8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09</a:t>
                      </a:r>
                      <a:r>
                        <a:rPr dirty="0" sz="600">
                          <a:latin typeface="Courier New"/>
                          <a:cs typeface="Courier New"/>
                        </a:rPr>
                        <a:t>:00</a:t>
                      </a:r>
                      <a:r>
                        <a:rPr dirty="0" sz="600" spc="85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 spc="-25">
                          <a:latin typeface="Courier New"/>
                          <a:cs typeface="Courier New"/>
                        </a:rPr>
                        <a:t>./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26670">
                    <a:solidFill>
                      <a:srgbClr val="E5E5E5"/>
                    </a:solidFill>
                  </a:tcPr>
                </a:tc>
              </a:tr>
              <a:tr h="93345">
                <a:tc>
                  <a:txBody>
                    <a:bodyPr/>
                    <a:lstStyle/>
                    <a:p>
                      <a:pPr marL="5016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dirty="0" sz="400" spc="-50">
                          <a:latin typeface="Book Antiqua"/>
                          <a:cs typeface="Book Antiqua"/>
                        </a:rPr>
                        <a:t>2</a:t>
                      </a:r>
                      <a:endParaRPr sz="400">
                        <a:latin typeface="Book Antiqua"/>
                        <a:cs typeface="Book Antiqua"/>
                      </a:endParaRPr>
                    </a:p>
                  </a:txBody>
                  <a:tcPr marL="0" marR="0" marB="0" marT="18415"/>
                </a:tc>
                <a:tc>
                  <a:txBody>
                    <a:bodyPr/>
                    <a:lstStyle/>
                    <a:p>
                      <a:pPr marL="37465">
                        <a:lnSpc>
                          <a:spcPts val="635"/>
                        </a:lnSpc>
                      </a:pPr>
                      <a:r>
                        <a:rPr dirty="0" sz="600">
                          <a:latin typeface="Courier New"/>
                          <a:cs typeface="Courier New"/>
                        </a:rPr>
                        <a:t>drwxr-xr-x</a:t>
                      </a:r>
                      <a:r>
                        <a:rPr dirty="0" sz="600" spc="80">
                          <a:latin typeface="Courier New"/>
                          <a:cs typeface="Courier New"/>
                        </a:rPr>
                        <a:t>  </a:t>
                      </a:r>
                      <a:r>
                        <a:rPr dirty="0" sz="60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21</a:t>
                      </a:r>
                      <a:r>
                        <a:rPr dirty="0" sz="600" spc="85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>
                          <a:latin typeface="Courier New"/>
                          <a:cs typeface="Courier New"/>
                        </a:rPr>
                        <a:t>root</a:t>
                      </a:r>
                      <a:r>
                        <a:rPr dirty="0" sz="600" spc="85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>
                          <a:latin typeface="Courier New"/>
                          <a:cs typeface="Courier New"/>
                        </a:rPr>
                        <a:t>root</a:t>
                      </a:r>
                      <a:r>
                        <a:rPr dirty="0" sz="600" spc="80">
                          <a:latin typeface="Courier New"/>
                          <a:cs typeface="Courier New"/>
                        </a:rPr>
                        <a:t>  </a:t>
                      </a:r>
                      <a:r>
                        <a:rPr dirty="0" sz="60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4096</a:t>
                      </a:r>
                      <a:r>
                        <a:rPr dirty="0" sz="600" spc="9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 spc="-20">
                          <a:latin typeface="Courier New"/>
                          <a:cs typeface="Courier New"/>
                        </a:rPr>
                        <a:t>Jan.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45720">
                        <a:lnSpc>
                          <a:spcPts val="635"/>
                        </a:lnSpc>
                      </a:pPr>
                      <a:r>
                        <a:rPr dirty="0" sz="60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17</a:t>
                      </a:r>
                      <a:r>
                        <a:rPr dirty="0" sz="600" spc="8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09</a:t>
                      </a:r>
                      <a:r>
                        <a:rPr dirty="0" sz="600">
                          <a:latin typeface="Courier New"/>
                          <a:cs typeface="Courier New"/>
                        </a:rPr>
                        <a:t>:00</a:t>
                      </a:r>
                      <a:r>
                        <a:rPr dirty="0" sz="600" spc="85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 spc="-25">
                          <a:latin typeface="Courier New"/>
                          <a:cs typeface="Courier New"/>
                        </a:rPr>
                        <a:t>../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5E5E5"/>
                    </a:solidFill>
                  </a:tcPr>
                </a:tc>
              </a:tr>
              <a:tr h="93345">
                <a:tc>
                  <a:txBody>
                    <a:bodyPr/>
                    <a:lstStyle/>
                    <a:p>
                      <a:pPr marL="5016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dirty="0" sz="400" spc="-50">
                          <a:latin typeface="Book Antiqua"/>
                          <a:cs typeface="Book Antiqua"/>
                        </a:rPr>
                        <a:t>3</a:t>
                      </a:r>
                      <a:endParaRPr sz="400">
                        <a:latin typeface="Book Antiqua"/>
                        <a:cs typeface="Book Antiqua"/>
                      </a:endParaRPr>
                    </a:p>
                  </a:txBody>
                  <a:tcPr marL="0" marR="0" marB="0" marT="18415"/>
                </a:tc>
                <a:tc>
                  <a:txBody>
                    <a:bodyPr/>
                    <a:lstStyle/>
                    <a:p>
                      <a:pPr marL="37465">
                        <a:lnSpc>
                          <a:spcPts val="635"/>
                        </a:lnSpc>
                        <a:tabLst>
                          <a:tab pos="669290" algn="l"/>
                        </a:tabLst>
                      </a:pPr>
                      <a:r>
                        <a:rPr dirty="0" sz="600">
                          <a:latin typeface="Courier New"/>
                          <a:cs typeface="Courier New"/>
                        </a:rPr>
                        <a:t>drwxr-xr-</a:t>
                      </a:r>
                      <a:r>
                        <a:rPr dirty="0" sz="600" spc="-50">
                          <a:latin typeface="Courier New"/>
                          <a:cs typeface="Courier New"/>
                        </a:rPr>
                        <a:t>x</a:t>
                      </a:r>
                      <a:r>
                        <a:rPr dirty="0" sz="600">
                          <a:latin typeface="Courier New"/>
                          <a:cs typeface="Courier New"/>
                        </a:rPr>
                        <a:t>	</a:t>
                      </a:r>
                      <a:r>
                        <a:rPr dirty="0" sz="60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2</a:t>
                      </a:r>
                      <a:r>
                        <a:rPr dirty="0" sz="600" spc="65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>
                          <a:latin typeface="Courier New"/>
                          <a:cs typeface="Courier New"/>
                        </a:rPr>
                        <a:t>root</a:t>
                      </a:r>
                      <a:r>
                        <a:rPr dirty="0" sz="600" spc="65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>
                          <a:latin typeface="Courier New"/>
                          <a:cs typeface="Courier New"/>
                        </a:rPr>
                        <a:t>root</a:t>
                      </a:r>
                      <a:r>
                        <a:rPr dirty="0" sz="600" spc="70">
                          <a:latin typeface="Courier New"/>
                          <a:cs typeface="Courier New"/>
                        </a:rPr>
                        <a:t>  </a:t>
                      </a:r>
                      <a:r>
                        <a:rPr dirty="0" sz="60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4096</a:t>
                      </a:r>
                      <a:r>
                        <a:rPr dirty="0" sz="600" spc="65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 spc="-20">
                          <a:latin typeface="Courier New"/>
                          <a:cs typeface="Courier New"/>
                        </a:rPr>
                        <a:t>Jan.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45720">
                        <a:lnSpc>
                          <a:spcPts val="635"/>
                        </a:lnSpc>
                      </a:pPr>
                      <a:r>
                        <a:rPr dirty="0" sz="60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18</a:t>
                      </a:r>
                      <a:r>
                        <a:rPr dirty="0" sz="600" spc="8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15</a:t>
                      </a:r>
                      <a:r>
                        <a:rPr dirty="0" sz="600">
                          <a:latin typeface="Courier New"/>
                          <a:cs typeface="Courier New"/>
                        </a:rPr>
                        <a:t>:57</a:t>
                      </a:r>
                      <a:r>
                        <a:rPr dirty="0" sz="600" spc="85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 spc="-20">
                          <a:latin typeface="Courier New"/>
                          <a:cs typeface="Courier New"/>
                        </a:rPr>
                        <a:t>bin/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5E5E5"/>
                    </a:solidFill>
                  </a:tcPr>
                </a:tc>
              </a:tr>
              <a:tr h="93345">
                <a:tc>
                  <a:txBody>
                    <a:bodyPr/>
                    <a:lstStyle/>
                    <a:p>
                      <a:pPr marL="5016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dirty="0" sz="400" spc="-50">
                          <a:latin typeface="Book Antiqua"/>
                          <a:cs typeface="Book Antiqua"/>
                        </a:rPr>
                        <a:t>4</a:t>
                      </a:r>
                      <a:endParaRPr sz="400">
                        <a:latin typeface="Book Antiqua"/>
                        <a:cs typeface="Book Antiqua"/>
                      </a:endParaRPr>
                    </a:p>
                  </a:txBody>
                  <a:tcPr marL="0" marR="0" marB="0" marT="18415"/>
                </a:tc>
                <a:tc>
                  <a:txBody>
                    <a:bodyPr/>
                    <a:lstStyle/>
                    <a:p>
                      <a:pPr marL="37465">
                        <a:lnSpc>
                          <a:spcPts val="635"/>
                        </a:lnSpc>
                        <a:tabLst>
                          <a:tab pos="669290" algn="l"/>
                        </a:tabLst>
                      </a:pPr>
                      <a:r>
                        <a:rPr dirty="0" sz="600">
                          <a:latin typeface="Courier New"/>
                          <a:cs typeface="Courier New"/>
                        </a:rPr>
                        <a:t>drwxr-xr-</a:t>
                      </a:r>
                      <a:r>
                        <a:rPr dirty="0" sz="600" spc="-50">
                          <a:latin typeface="Courier New"/>
                          <a:cs typeface="Courier New"/>
                        </a:rPr>
                        <a:t>x</a:t>
                      </a:r>
                      <a:r>
                        <a:rPr dirty="0" sz="600">
                          <a:latin typeface="Courier New"/>
                          <a:cs typeface="Courier New"/>
                        </a:rPr>
                        <a:t>	</a:t>
                      </a:r>
                      <a:r>
                        <a:rPr dirty="0" sz="60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2</a:t>
                      </a:r>
                      <a:r>
                        <a:rPr dirty="0" sz="600" spc="65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>
                          <a:latin typeface="Courier New"/>
                          <a:cs typeface="Courier New"/>
                        </a:rPr>
                        <a:t>root</a:t>
                      </a:r>
                      <a:r>
                        <a:rPr dirty="0" sz="600" spc="65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>
                          <a:latin typeface="Courier New"/>
                          <a:cs typeface="Courier New"/>
                        </a:rPr>
                        <a:t>root</a:t>
                      </a:r>
                      <a:r>
                        <a:rPr dirty="0" sz="600" spc="70">
                          <a:latin typeface="Courier New"/>
                          <a:cs typeface="Courier New"/>
                        </a:rPr>
                        <a:t>  </a:t>
                      </a:r>
                      <a:r>
                        <a:rPr dirty="0" sz="60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4096</a:t>
                      </a:r>
                      <a:r>
                        <a:rPr dirty="0" sz="600" spc="65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 spc="-20">
                          <a:latin typeface="Courier New"/>
                          <a:cs typeface="Courier New"/>
                        </a:rPr>
                        <a:t>Apr.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45720">
                        <a:lnSpc>
                          <a:spcPts val="635"/>
                        </a:lnSpc>
                      </a:pPr>
                      <a:r>
                        <a:rPr dirty="0" sz="60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14</a:t>
                      </a:r>
                      <a:r>
                        <a:rPr dirty="0" sz="600" spc="475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2008</a:t>
                      </a:r>
                      <a:r>
                        <a:rPr dirty="0" sz="600" spc="55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 spc="-10">
                          <a:latin typeface="Courier New"/>
                          <a:cs typeface="Courier New"/>
                        </a:rPr>
                        <a:t>boot/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5E5E5"/>
                    </a:solidFill>
                  </a:tcPr>
                </a:tc>
              </a:tr>
              <a:tr h="93345">
                <a:tc>
                  <a:txBody>
                    <a:bodyPr/>
                    <a:lstStyle/>
                    <a:p>
                      <a:pPr marL="5016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dirty="0" sz="400" spc="-50">
                          <a:latin typeface="Book Antiqua"/>
                          <a:cs typeface="Book Antiqua"/>
                        </a:rPr>
                        <a:t>5</a:t>
                      </a:r>
                      <a:endParaRPr sz="400">
                        <a:latin typeface="Book Antiqua"/>
                        <a:cs typeface="Book Antiqua"/>
                      </a:endParaRPr>
                    </a:p>
                  </a:txBody>
                  <a:tcPr marL="0" marR="0" marB="0" marT="18415"/>
                </a:tc>
                <a:tc>
                  <a:txBody>
                    <a:bodyPr/>
                    <a:lstStyle/>
                    <a:p>
                      <a:pPr marL="37465">
                        <a:lnSpc>
                          <a:spcPts val="635"/>
                        </a:lnSpc>
                      </a:pPr>
                      <a:r>
                        <a:rPr dirty="0" sz="600">
                          <a:latin typeface="Courier New"/>
                          <a:cs typeface="Courier New"/>
                        </a:rPr>
                        <a:t>drwxr-xr-x</a:t>
                      </a:r>
                      <a:r>
                        <a:rPr dirty="0" sz="600" spc="95">
                          <a:latin typeface="Courier New"/>
                          <a:cs typeface="Courier New"/>
                        </a:rPr>
                        <a:t>  </a:t>
                      </a:r>
                      <a:r>
                        <a:rPr dirty="0" sz="60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20</a:t>
                      </a:r>
                      <a:r>
                        <a:rPr dirty="0" sz="600" spc="95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>
                          <a:latin typeface="Courier New"/>
                          <a:cs typeface="Courier New"/>
                        </a:rPr>
                        <a:t>root</a:t>
                      </a:r>
                      <a:r>
                        <a:rPr dirty="0" sz="600" spc="95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>
                          <a:latin typeface="Courier New"/>
                          <a:cs typeface="Courier New"/>
                        </a:rPr>
                        <a:t>root</a:t>
                      </a:r>
                      <a:r>
                        <a:rPr dirty="0" sz="600" spc="100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14120</a:t>
                      </a:r>
                      <a:r>
                        <a:rPr dirty="0" sz="600" spc="95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 spc="-20">
                          <a:latin typeface="Courier New"/>
                          <a:cs typeface="Courier New"/>
                        </a:rPr>
                        <a:t>Feb.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45720">
                        <a:lnSpc>
                          <a:spcPts val="635"/>
                        </a:lnSpc>
                      </a:pPr>
                      <a:r>
                        <a:rPr dirty="0" sz="60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17</a:t>
                      </a:r>
                      <a:r>
                        <a:rPr dirty="0" sz="600" spc="8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10</a:t>
                      </a:r>
                      <a:r>
                        <a:rPr dirty="0" sz="600">
                          <a:latin typeface="Courier New"/>
                          <a:cs typeface="Courier New"/>
                        </a:rPr>
                        <a:t>:48</a:t>
                      </a:r>
                      <a:r>
                        <a:rPr dirty="0" sz="600" spc="85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 spc="-20">
                          <a:latin typeface="Courier New"/>
                          <a:cs typeface="Courier New"/>
                        </a:rPr>
                        <a:t>dev/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5E5E5"/>
                    </a:solidFill>
                  </a:tcPr>
                </a:tc>
              </a:tr>
              <a:tr h="93345">
                <a:tc>
                  <a:txBody>
                    <a:bodyPr/>
                    <a:lstStyle/>
                    <a:p>
                      <a:pPr marL="5016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dirty="0" sz="400" spc="-50">
                          <a:latin typeface="Book Antiqua"/>
                          <a:cs typeface="Book Antiqua"/>
                        </a:rPr>
                        <a:t>6</a:t>
                      </a:r>
                      <a:endParaRPr sz="400">
                        <a:latin typeface="Book Antiqua"/>
                        <a:cs typeface="Book Antiqua"/>
                      </a:endParaRPr>
                    </a:p>
                  </a:txBody>
                  <a:tcPr marL="0" marR="0" marB="0" marT="18415"/>
                </a:tc>
                <a:tc>
                  <a:txBody>
                    <a:bodyPr/>
                    <a:lstStyle/>
                    <a:p>
                      <a:pPr marL="37465">
                        <a:lnSpc>
                          <a:spcPts val="635"/>
                        </a:lnSpc>
                      </a:pPr>
                      <a:r>
                        <a:rPr dirty="0" sz="600">
                          <a:latin typeface="Courier New"/>
                          <a:cs typeface="Courier New"/>
                        </a:rPr>
                        <a:t>drwxr-xr-x</a:t>
                      </a:r>
                      <a:r>
                        <a:rPr dirty="0" sz="600" spc="110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170</a:t>
                      </a:r>
                      <a:r>
                        <a:rPr dirty="0" sz="600" spc="114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>
                          <a:latin typeface="Courier New"/>
                          <a:cs typeface="Courier New"/>
                        </a:rPr>
                        <a:t>root</a:t>
                      </a:r>
                      <a:r>
                        <a:rPr dirty="0" sz="600" spc="114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>
                          <a:latin typeface="Courier New"/>
                          <a:cs typeface="Courier New"/>
                        </a:rPr>
                        <a:t>root</a:t>
                      </a:r>
                      <a:r>
                        <a:rPr dirty="0" sz="600" spc="114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12288</a:t>
                      </a:r>
                      <a:r>
                        <a:rPr dirty="0" sz="600" spc="114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 spc="-20">
                          <a:latin typeface="Courier New"/>
                          <a:cs typeface="Courier New"/>
                        </a:rPr>
                        <a:t>Feb.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45720">
                        <a:lnSpc>
                          <a:spcPts val="635"/>
                        </a:lnSpc>
                      </a:pPr>
                      <a:r>
                        <a:rPr dirty="0" sz="60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17</a:t>
                      </a:r>
                      <a:r>
                        <a:rPr dirty="0" sz="600" spc="8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09</a:t>
                      </a:r>
                      <a:r>
                        <a:rPr dirty="0" sz="600">
                          <a:latin typeface="Courier New"/>
                          <a:cs typeface="Courier New"/>
                        </a:rPr>
                        <a:t>:19</a:t>
                      </a:r>
                      <a:r>
                        <a:rPr dirty="0" sz="600" spc="85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 spc="-20">
                          <a:latin typeface="Courier New"/>
                          <a:cs typeface="Courier New"/>
                        </a:rPr>
                        <a:t>etc/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5E5E5"/>
                    </a:solidFill>
                  </a:tcPr>
                </a:tc>
              </a:tr>
              <a:tr h="93345">
                <a:tc>
                  <a:txBody>
                    <a:bodyPr/>
                    <a:lstStyle/>
                    <a:p>
                      <a:pPr marL="5016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dirty="0" sz="400" spc="-50">
                          <a:latin typeface="Book Antiqua"/>
                          <a:cs typeface="Book Antiqua"/>
                        </a:rPr>
                        <a:t>7</a:t>
                      </a:r>
                      <a:endParaRPr sz="400">
                        <a:latin typeface="Book Antiqua"/>
                        <a:cs typeface="Book Antiqua"/>
                      </a:endParaRPr>
                    </a:p>
                  </a:txBody>
                  <a:tcPr marL="0" marR="0" marB="0" marT="18415"/>
                </a:tc>
                <a:tc>
                  <a:txBody>
                    <a:bodyPr/>
                    <a:lstStyle/>
                    <a:p>
                      <a:pPr marL="37465">
                        <a:lnSpc>
                          <a:spcPts val="635"/>
                        </a:lnSpc>
                        <a:tabLst>
                          <a:tab pos="669290" algn="l"/>
                        </a:tabLst>
                      </a:pPr>
                      <a:r>
                        <a:rPr dirty="0" sz="600">
                          <a:latin typeface="Courier New"/>
                          <a:cs typeface="Courier New"/>
                        </a:rPr>
                        <a:t>drwxr-xr-</a:t>
                      </a:r>
                      <a:r>
                        <a:rPr dirty="0" sz="600" spc="-50">
                          <a:latin typeface="Courier New"/>
                          <a:cs typeface="Courier New"/>
                        </a:rPr>
                        <a:t>x</a:t>
                      </a:r>
                      <a:r>
                        <a:rPr dirty="0" sz="600">
                          <a:latin typeface="Courier New"/>
                          <a:cs typeface="Courier New"/>
                        </a:rPr>
                        <a:t>	</a:t>
                      </a:r>
                      <a:r>
                        <a:rPr dirty="0" sz="60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6</a:t>
                      </a:r>
                      <a:r>
                        <a:rPr dirty="0" sz="600" spc="65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>
                          <a:latin typeface="Courier New"/>
                          <a:cs typeface="Courier New"/>
                        </a:rPr>
                        <a:t>root</a:t>
                      </a:r>
                      <a:r>
                        <a:rPr dirty="0" sz="600" spc="65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>
                          <a:latin typeface="Courier New"/>
                          <a:cs typeface="Courier New"/>
                        </a:rPr>
                        <a:t>root</a:t>
                      </a:r>
                      <a:r>
                        <a:rPr dirty="0" sz="600" spc="70">
                          <a:latin typeface="Courier New"/>
                          <a:cs typeface="Courier New"/>
                        </a:rPr>
                        <a:t>  </a:t>
                      </a:r>
                      <a:r>
                        <a:rPr dirty="0" sz="60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4096</a:t>
                      </a:r>
                      <a:r>
                        <a:rPr dirty="0" sz="600" spc="65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 spc="-20">
                          <a:latin typeface="Courier New"/>
                          <a:cs typeface="Courier New"/>
                        </a:rPr>
                        <a:t>Aug.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45720">
                        <a:lnSpc>
                          <a:spcPts val="635"/>
                        </a:lnSpc>
                      </a:pPr>
                      <a:r>
                        <a:rPr dirty="0" sz="60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5</a:t>
                      </a:r>
                      <a:r>
                        <a:rPr dirty="0" sz="600" spc="465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2009</a:t>
                      </a:r>
                      <a:r>
                        <a:rPr dirty="0" sz="600" spc="5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 spc="-10">
                          <a:latin typeface="Courier New"/>
                          <a:cs typeface="Courier New"/>
                        </a:rPr>
                        <a:t>home/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5E5E5"/>
                    </a:solidFill>
                  </a:tcPr>
                </a:tc>
              </a:tr>
              <a:tr h="93345">
                <a:tc>
                  <a:txBody>
                    <a:bodyPr/>
                    <a:lstStyle/>
                    <a:p>
                      <a:pPr marL="5016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dirty="0" sz="400" spc="-50">
                          <a:latin typeface="Book Antiqua"/>
                          <a:cs typeface="Book Antiqua"/>
                        </a:rPr>
                        <a:t>8</a:t>
                      </a:r>
                      <a:endParaRPr sz="400">
                        <a:latin typeface="Book Antiqua"/>
                        <a:cs typeface="Book Antiqua"/>
                      </a:endParaRPr>
                    </a:p>
                  </a:txBody>
                  <a:tcPr marL="0" marR="0" marB="0" marT="18415"/>
                </a:tc>
                <a:tc>
                  <a:txBody>
                    <a:bodyPr/>
                    <a:lstStyle/>
                    <a:p>
                      <a:pPr marL="37465">
                        <a:lnSpc>
                          <a:spcPts val="635"/>
                        </a:lnSpc>
                        <a:tabLst>
                          <a:tab pos="669290" algn="l"/>
                          <a:tab pos="1446530" algn="l"/>
                        </a:tabLst>
                      </a:pPr>
                      <a:r>
                        <a:rPr dirty="0" sz="600" spc="-10">
                          <a:latin typeface="Courier New"/>
                          <a:cs typeface="Courier New"/>
                        </a:rPr>
                        <a:t>lrwxrwxrwx</a:t>
                      </a:r>
                      <a:r>
                        <a:rPr dirty="0" sz="600">
                          <a:latin typeface="Courier New"/>
                          <a:cs typeface="Courier New"/>
                        </a:rPr>
                        <a:t>	</a:t>
                      </a:r>
                      <a:r>
                        <a:rPr dirty="0" sz="60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1</a:t>
                      </a:r>
                      <a:r>
                        <a:rPr dirty="0" sz="600" spc="65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>
                          <a:latin typeface="Courier New"/>
                          <a:cs typeface="Courier New"/>
                        </a:rPr>
                        <a:t>root</a:t>
                      </a:r>
                      <a:r>
                        <a:rPr dirty="0" sz="600" spc="65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 spc="-20">
                          <a:latin typeface="Courier New"/>
                          <a:cs typeface="Courier New"/>
                        </a:rPr>
                        <a:t>root</a:t>
                      </a:r>
                      <a:r>
                        <a:rPr dirty="0" sz="600">
                          <a:latin typeface="Courier New"/>
                          <a:cs typeface="Courier New"/>
                        </a:rPr>
                        <a:t>	</a:t>
                      </a:r>
                      <a:r>
                        <a:rPr dirty="0" sz="60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5</a:t>
                      </a:r>
                      <a:r>
                        <a:rPr dirty="0" sz="600" spc="35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 spc="-20">
                          <a:latin typeface="Courier New"/>
                          <a:cs typeface="Courier New"/>
                        </a:rPr>
                        <a:t>Jan.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45720">
                        <a:lnSpc>
                          <a:spcPts val="635"/>
                        </a:lnSpc>
                      </a:pPr>
                      <a:r>
                        <a:rPr dirty="0" sz="60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12</a:t>
                      </a:r>
                      <a:r>
                        <a:rPr dirty="0" sz="600" spc="7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22</a:t>
                      </a:r>
                      <a:r>
                        <a:rPr dirty="0" sz="600">
                          <a:latin typeface="Courier New"/>
                          <a:cs typeface="Courier New"/>
                        </a:rPr>
                        <a:t>:01</a:t>
                      </a:r>
                      <a:r>
                        <a:rPr dirty="0" sz="600" spc="75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>
                          <a:latin typeface="Courier New"/>
                          <a:cs typeface="Courier New"/>
                        </a:rPr>
                        <a:t>lib</a:t>
                      </a:r>
                      <a:r>
                        <a:rPr dirty="0" sz="600" spc="75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>
                          <a:latin typeface="Courier New"/>
                          <a:cs typeface="Courier New"/>
                        </a:rPr>
                        <a:t>-&gt;</a:t>
                      </a:r>
                      <a:r>
                        <a:rPr dirty="0" sz="600" spc="75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 spc="-10">
                          <a:latin typeface="Courier New"/>
                          <a:cs typeface="Courier New"/>
                        </a:rPr>
                        <a:t>lib64/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5E5E5"/>
                    </a:solidFill>
                  </a:tcPr>
                </a:tc>
              </a:tr>
              <a:tr h="93345">
                <a:tc>
                  <a:txBody>
                    <a:bodyPr/>
                    <a:lstStyle/>
                    <a:p>
                      <a:pPr marL="5016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dirty="0" sz="400" spc="-50">
                          <a:latin typeface="Book Antiqua"/>
                          <a:cs typeface="Book Antiqua"/>
                        </a:rPr>
                        <a:t>9</a:t>
                      </a:r>
                      <a:endParaRPr sz="400">
                        <a:latin typeface="Book Antiqua"/>
                        <a:cs typeface="Book Antiqua"/>
                      </a:endParaRPr>
                    </a:p>
                  </a:txBody>
                  <a:tcPr marL="0" marR="0" marB="0" marT="18415"/>
                </a:tc>
                <a:tc>
                  <a:txBody>
                    <a:bodyPr/>
                    <a:lstStyle/>
                    <a:p>
                      <a:pPr marL="37465">
                        <a:lnSpc>
                          <a:spcPts val="635"/>
                        </a:lnSpc>
                        <a:tabLst>
                          <a:tab pos="669290" algn="l"/>
                        </a:tabLst>
                      </a:pPr>
                      <a:r>
                        <a:rPr dirty="0" sz="600">
                          <a:latin typeface="Courier New"/>
                          <a:cs typeface="Courier New"/>
                        </a:rPr>
                        <a:t>drwxr-xr-</a:t>
                      </a:r>
                      <a:r>
                        <a:rPr dirty="0" sz="600" spc="-50">
                          <a:latin typeface="Courier New"/>
                          <a:cs typeface="Courier New"/>
                        </a:rPr>
                        <a:t>x</a:t>
                      </a:r>
                      <a:r>
                        <a:rPr dirty="0" sz="600">
                          <a:latin typeface="Courier New"/>
                          <a:cs typeface="Courier New"/>
                        </a:rPr>
                        <a:t>	</a:t>
                      </a:r>
                      <a:r>
                        <a:rPr dirty="0" sz="60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8</a:t>
                      </a:r>
                      <a:r>
                        <a:rPr dirty="0" sz="600" spc="65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>
                          <a:latin typeface="Courier New"/>
                          <a:cs typeface="Courier New"/>
                        </a:rPr>
                        <a:t>root</a:t>
                      </a:r>
                      <a:r>
                        <a:rPr dirty="0" sz="600" spc="65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>
                          <a:latin typeface="Courier New"/>
                          <a:cs typeface="Courier New"/>
                        </a:rPr>
                        <a:t>root</a:t>
                      </a:r>
                      <a:r>
                        <a:rPr dirty="0" sz="600" spc="70">
                          <a:latin typeface="Courier New"/>
                          <a:cs typeface="Courier New"/>
                        </a:rPr>
                        <a:t>  </a:t>
                      </a:r>
                      <a:r>
                        <a:rPr dirty="0" sz="60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4096</a:t>
                      </a:r>
                      <a:r>
                        <a:rPr dirty="0" sz="600" spc="65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 spc="-20">
                          <a:latin typeface="Courier New"/>
                          <a:cs typeface="Courier New"/>
                        </a:rPr>
                        <a:t>Jan.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45720">
                        <a:lnSpc>
                          <a:spcPts val="635"/>
                        </a:lnSpc>
                      </a:pPr>
                      <a:r>
                        <a:rPr dirty="0" sz="60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30</a:t>
                      </a:r>
                      <a:r>
                        <a:rPr dirty="0" sz="600" spc="8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21</a:t>
                      </a:r>
                      <a:r>
                        <a:rPr dirty="0" sz="600">
                          <a:latin typeface="Courier New"/>
                          <a:cs typeface="Courier New"/>
                        </a:rPr>
                        <a:t>:41</a:t>
                      </a:r>
                      <a:r>
                        <a:rPr dirty="0" sz="600" spc="85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 spc="-10">
                          <a:latin typeface="Courier New"/>
                          <a:cs typeface="Courier New"/>
                        </a:rPr>
                        <a:t>media/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5E5E5"/>
                    </a:solidFill>
                  </a:tcPr>
                </a:tc>
              </a:tr>
              <a:tr h="93345">
                <a:tc>
                  <a:txBody>
                    <a:bodyPr/>
                    <a:lstStyle/>
                    <a:p>
                      <a:pPr marL="21590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dirty="0" sz="400" spc="-25">
                          <a:latin typeface="Book Antiqua"/>
                          <a:cs typeface="Book Antiqua"/>
                        </a:rPr>
                        <a:t>10</a:t>
                      </a:r>
                      <a:endParaRPr sz="400">
                        <a:latin typeface="Book Antiqua"/>
                        <a:cs typeface="Book Antiqua"/>
                      </a:endParaRPr>
                    </a:p>
                  </a:txBody>
                  <a:tcPr marL="0" marR="0" marB="0" marT="18415"/>
                </a:tc>
                <a:tc>
                  <a:txBody>
                    <a:bodyPr/>
                    <a:lstStyle/>
                    <a:p>
                      <a:pPr marL="37465">
                        <a:lnSpc>
                          <a:spcPts val="635"/>
                        </a:lnSpc>
                        <a:tabLst>
                          <a:tab pos="669290" algn="l"/>
                        </a:tabLst>
                      </a:pPr>
                      <a:r>
                        <a:rPr dirty="0" sz="600">
                          <a:latin typeface="Courier New"/>
                          <a:cs typeface="Courier New"/>
                        </a:rPr>
                        <a:t>drwxr-xr-</a:t>
                      </a:r>
                      <a:r>
                        <a:rPr dirty="0" sz="600" spc="-50">
                          <a:latin typeface="Courier New"/>
                          <a:cs typeface="Courier New"/>
                        </a:rPr>
                        <a:t>x</a:t>
                      </a:r>
                      <a:r>
                        <a:rPr dirty="0" sz="600">
                          <a:latin typeface="Courier New"/>
                          <a:cs typeface="Courier New"/>
                        </a:rPr>
                        <a:t>	</a:t>
                      </a:r>
                      <a:r>
                        <a:rPr dirty="0" sz="60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5</a:t>
                      </a:r>
                      <a:r>
                        <a:rPr dirty="0" sz="600" spc="65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>
                          <a:latin typeface="Courier New"/>
                          <a:cs typeface="Courier New"/>
                        </a:rPr>
                        <a:t>root</a:t>
                      </a:r>
                      <a:r>
                        <a:rPr dirty="0" sz="600" spc="65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>
                          <a:latin typeface="Courier New"/>
                          <a:cs typeface="Courier New"/>
                        </a:rPr>
                        <a:t>root</a:t>
                      </a:r>
                      <a:r>
                        <a:rPr dirty="0" sz="600" spc="70">
                          <a:latin typeface="Courier New"/>
                          <a:cs typeface="Courier New"/>
                        </a:rPr>
                        <a:t>  </a:t>
                      </a:r>
                      <a:r>
                        <a:rPr dirty="0" sz="60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4096</a:t>
                      </a:r>
                      <a:r>
                        <a:rPr dirty="0" sz="600" spc="65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 spc="-20">
                          <a:latin typeface="Courier New"/>
                          <a:cs typeface="Courier New"/>
                        </a:rPr>
                        <a:t>Jan.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45720">
                        <a:lnSpc>
                          <a:spcPts val="635"/>
                        </a:lnSpc>
                      </a:pPr>
                      <a:r>
                        <a:rPr dirty="0" sz="60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17</a:t>
                      </a:r>
                      <a:r>
                        <a:rPr dirty="0" sz="600" spc="475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2010</a:t>
                      </a:r>
                      <a:r>
                        <a:rPr dirty="0" sz="600" spc="55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 spc="-20">
                          <a:latin typeface="Courier New"/>
                          <a:cs typeface="Courier New"/>
                        </a:rPr>
                        <a:t>mnt/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5E5E5"/>
                    </a:solidFill>
                  </a:tcPr>
                </a:tc>
              </a:tr>
              <a:tr h="93345">
                <a:tc>
                  <a:txBody>
                    <a:bodyPr/>
                    <a:lstStyle/>
                    <a:p>
                      <a:pPr marL="21590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dirty="0" sz="400" spc="-25">
                          <a:latin typeface="Book Antiqua"/>
                          <a:cs typeface="Book Antiqua"/>
                        </a:rPr>
                        <a:t>11</a:t>
                      </a:r>
                      <a:endParaRPr sz="400">
                        <a:latin typeface="Book Antiqua"/>
                        <a:cs typeface="Book Antiqua"/>
                      </a:endParaRPr>
                    </a:p>
                  </a:txBody>
                  <a:tcPr marL="0" marR="0" marB="0" marT="18415"/>
                </a:tc>
                <a:tc>
                  <a:txBody>
                    <a:bodyPr/>
                    <a:lstStyle/>
                    <a:p>
                      <a:pPr marL="37465">
                        <a:lnSpc>
                          <a:spcPts val="635"/>
                        </a:lnSpc>
                      </a:pPr>
                      <a:r>
                        <a:rPr dirty="0" sz="600">
                          <a:latin typeface="Courier New"/>
                          <a:cs typeface="Courier New"/>
                        </a:rPr>
                        <a:t>drwxr-xr-x</a:t>
                      </a:r>
                      <a:r>
                        <a:rPr dirty="0" sz="600" spc="80">
                          <a:latin typeface="Courier New"/>
                          <a:cs typeface="Courier New"/>
                        </a:rPr>
                        <a:t>  </a:t>
                      </a:r>
                      <a:r>
                        <a:rPr dirty="0" sz="60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25</a:t>
                      </a:r>
                      <a:r>
                        <a:rPr dirty="0" sz="600" spc="85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>
                          <a:latin typeface="Courier New"/>
                          <a:cs typeface="Courier New"/>
                        </a:rPr>
                        <a:t>root</a:t>
                      </a:r>
                      <a:r>
                        <a:rPr dirty="0" sz="600" spc="85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>
                          <a:latin typeface="Courier New"/>
                          <a:cs typeface="Courier New"/>
                        </a:rPr>
                        <a:t>root</a:t>
                      </a:r>
                      <a:r>
                        <a:rPr dirty="0" sz="600" spc="80">
                          <a:latin typeface="Courier New"/>
                          <a:cs typeface="Courier New"/>
                        </a:rPr>
                        <a:t>  </a:t>
                      </a:r>
                      <a:r>
                        <a:rPr dirty="0" sz="60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4096</a:t>
                      </a:r>
                      <a:r>
                        <a:rPr dirty="0" sz="600" spc="9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 spc="-20">
                          <a:latin typeface="Courier New"/>
                          <a:cs typeface="Courier New"/>
                        </a:rPr>
                        <a:t>Jan.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45720">
                        <a:lnSpc>
                          <a:spcPts val="635"/>
                        </a:lnSpc>
                      </a:pPr>
                      <a:r>
                        <a:rPr dirty="0" sz="60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16</a:t>
                      </a:r>
                      <a:r>
                        <a:rPr dirty="0" sz="600" spc="8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09</a:t>
                      </a:r>
                      <a:r>
                        <a:rPr dirty="0" sz="600">
                          <a:latin typeface="Courier New"/>
                          <a:cs typeface="Courier New"/>
                        </a:rPr>
                        <a:t>:55</a:t>
                      </a:r>
                      <a:r>
                        <a:rPr dirty="0" sz="600" spc="85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 spc="-20">
                          <a:latin typeface="Courier New"/>
                          <a:cs typeface="Courier New"/>
                        </a:rPr>
                        <a:t>opt/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5E5E5"/>
                    </a:solidFill>
                  </a:tcPr>
                </a:tc>
              </a:tr>
              <a:tr h="93345">
                <a:tc>
                  <a:txBody>
                    <a:bodyPr/>
                    <a:lstStyle/>
                    <a:p>
                      <a:pPr marL="21590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dirty="0" sz="400" spc="-25">
                          <a:latin typeface="Book Antiqua"/>
                          <a:cs typeface="Book Antiqua"/>
                        </a:rPr>
                        <a:t>12</a:t>
                      </a:r>
                      <a:endParaRPr sz="400">
                        <a:latin typeface="Book Antiqua"/>
                        <a:cs typeface="Book Antiqua"/>
                      </a:endParaRPr>
                    </a:p>
                  </a:txBody>
                  <a:tcPr marL="0" marR="0" marB="0" marT="18415"/>
                </a:tc>
                <a:tc>
                  <a:txBody>
                    <a:bodyPr/>
                    <a:lstStyle/>
                    <a:p>
                      <a:pPr marL="37465">
                        <a:lnSpc>
                          <a:spcPts val="635"/>
                        </a:lnSpc>
                        <a:tabLst>
                          <a:tab pos="1446530" algn="l"/>
                        </a:tabLst>
                      </a:pPr>
                      <a:r>
                        <a:rPr dirty="0" sz="600">
                          <a:latin typeface="Courier New"/>
                          <a:cs typeface="Courier New"/>
                        </a:rPr>
                        <a:t>dr-xr-xr-x</a:t>
                      </a:r>
                      <a:r>
                        <a:rPr dirty="0" sz="600" spc="120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163</a:t>
                      </a:r>
                      <a:r>
                        <a:rPr dirty="0" sz="600" spc="125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>
                          <a:latin typeface="Courier New"/>
                          <a:cs typeface="Courier New"/>
                        </a:rPr>
                        <a:t>root</a:t>
                      </a:r>
                      <a:r>
                        <a:rPr dirty="0" sz="600" spc="120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 spc="-20">
                          <a:latin typeface="Courier New"/>
                          <a:cs typeface="Courier New"/>
                        </a:rPr>
                        <a:t>root</a:t>
                      </a:r>
                      <a:r>
                        <a:rPr dirty="0" sz="600">
                          <a:latin typeface="Courier New"/>
                          <a:cs typeface="Courier New"/>
                        </a:rPr>
                        <a:t>	</a:t>
                      </a:r>
                      <a:r>
                        <a:rPr dirty="0" sz="60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0</a:t>
                      </a:r>
                      <a:r>
                        <a:rPr dirty="0" sz="600" spc="35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 spc="-20">
                          <a:latin typeface="Courier New"/>
                          <a:cs typeface="Courier New"/>
                        </a:rPr>
                        <a:t>Feb.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45720">
                        <a:lnSpc>
                          <a:spcPts val="635"/>
                        </a:lnSpc>
                      </a:pPr>
                      <a:r>
                        <a:rPr dirty="0" sz="60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17</a:t>
                      </a:r>
                      <a:r>
                        <a:rPr dirty="0" sz="600" spc="8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13</a:t>
                      </a:r>
                      <a:r>
                        <a:rPr dirty="0" sz="600">
                          <a:latin typeface="Courier New"/>
                          <a:cs typeface="Courier New"/>
                        </a:rPr>
                        <a:t>:17</a:t>
                      </a:r>
                      <a:r>
                        <a:rPr dirty="0" sz="600" spc="85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 spc="-10">
                          <a:latin typeface="Courier New"/>
                          <a:cs typeface="Courier New"/>
                        </a:rPr>
                        <a:t>proc/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5E5E5"/>
                    </a:solidFill>
                  </a:tcPr>
                </a:tc>
              </a:tr>
              <a:tr h="93345">
                <a:tc>
                  <a:txBody>
                    <a:bodyPr/>
                    <a:lstStyle/>
                    <a:p>
                      <a:pPr marL="21590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dirty="0" sz="400" spc="-25">
                          <a:latin typeface="Book Antiqua"/>
                          <a:cs typeface="Book Antiqua"/>
                        </a:rPr>
                        <a:t>13</a:t>
                      </a:r>
                      <a:endParaRPr sz="400">
                        <a:latin typeface="Book Antiqua"/>
                        <a:cs typeface="Book Antiqua"/>
                      </a:endParaRPr>
                    </a:p>
                  </a:txBody>
                  <a:tcPr marL="0" marR="0" marB="0" marT="18415"/>
                </a:tc>
                <a:tc>
                  <a:txBody>
                    <a:bodyPr/>
                    <a:lstStyle/>
                    <a:p>
                      <a:pPr marL="37465">
                        <a:lnSpc>
                          <a:spcPts val="635"/>
                        </a:lnSpc>
                      </a:pPr>
                      <a:r>
                        <a:rPr dirty="0" sz="600">
                          <a:latin typeface="Courier New"/>
                          <a:cs typeface="Courier New"/>
                        </a:rPr>
                        <a:t>drwxr-xr-x</a:t>
                      </a:r>
                      <a:r>
                        <a:rPr dirty="0" sz="600" spc="80">
                          <a:latin typeface="Courier New"/>
                          <a:cs typeface="Courier New"/>
                        </a:rPr>
                        <a:t>  </a:t>
                      </a:r>
                      <a:r>
                        <a:rPr dirty="0" sz="60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31</a:t>
                      </a:r>
                      <a:r>
                        <a:rPr dirty="0" sz="600" spc="85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>
                          <a:latin typeface="Courier New"/>
                          <a:cs typeface="Courier New"/>
                        </a:rPr>
                        <a:t>root</a:t>
                      </a:r>
                      <a:r>
                        <a:rPr dirty="0" sz="600" spc="85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>
                          <a:latin typeface="Courier New"/>
                          <a:cs typeface="Courier New"/>
                        </a:rPr>
                        <a:t>root</a:t>
                      </a:r>
                      <a:r>
                        <a:rPr dirty="0" sz="600" spc="80">
                          <a:latin typeface="Courier New"/>
                          <a:cs typeface="Courier New"/>
                        </a:rPr>
                        <a:t>  </a:t>
                      </a:r>
                      <a:r>
                        <a:rPr dirty="0" sz="60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4096</a:t>
                      </a:r>
                      <a:r>
                        <a:rPr dirty="0" sz="600" spc="9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 spc="-20">
                          <a:latin typeface="Courier New"/>
                          <a:cs typeface="Courier New"/>
                        </a:rPr>
                        <a:t>Feb.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45720">
                        <a:lnSpc>
                          <a:spcPts val="635"/>
                        </a:lnSpc>
                      </a:pPr>
                      <a:r>
                        <a:rPr dirty="0" sz="60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15</a:t>
                      </a:r>
                      <a:r>
                        <a:rPr dirty="0" sz="600" spc="8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23</a:t>
                      </a:r>
                      <a:r>
                        <a:rPr dirty="0" sz="600">
                          <a:latin typeface="Courier New"/>
                          <a:cs typeface="Courier New"/>
                        </a:rPr>
                        <a:t>:57</a:t>
                      </a:r>
                      <a:r>
                        <a:rPr dirty="0" sz="600" spc="85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 spc="-10">
                          <a:latin typeface="Courier New"/>
                          <a:cs typeface="Courier New"/>
                        </a:rPr>
                        <a:t>root/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5E5E5"/>
                    </a:solidFill>
                  </a:tcPr>
                </a:tc>
              </a:tr>
              <a:tr h="93345">
                <a:tc>
                  <a:txBody>
                    <a:bodyPr/>
                    <a:lstStyle/>
                    <a:p>
                      <a:pPr marL="21590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dirty="0" sz="400" spc="-25">
                          <a:latin typeface="Book Antiqua"/>
                          <a:cs typeface="Book Antiqua"/>
                        </a:rPr>
                        <a:t>14</a:t>
                      </a:r>
                      <a:endParaRPr sz="400">
                        <a:latin typeface="Book Antiqua"/>
                        <a:cs typeface="Book Antiqua"/>
                      </a:endParaRPr>
                    </a:p>
                  </a:txBody>
                  <a:tcPr marL="0" marR="0" marB="0" marT="18415"/>
                </a:tc>
                <a:tc>
                  <a:txBody>
                    <a:bodyPr/>
                    <a:lstStyle/>
                    <a:p>
                      <a:pPr marL="37465">
                        <a:lnSpc>
                          <a:spcPts val="635"/>
                        </a:lnSpc>
                        <a:tabLst>
                          <a:tab pos="669290" algn="l"/>
                        </a:tabLst>
                      </a:pPr>
                      <a:r>
                        <a:rPr dirty="0" sz="600">
                          <a:latin typeface="Courier New"/>
                          <a:cs typeface="Courier New"/>
                        </a:rPr>
                        <a:t>drwxr-xr-</a:t>
                      </a:r>
                      <a:r>
                        <a:rPr dirty="0" sz="600" spc="-50">
                          <a:latin typeface="Courier New"/>
                          <a:cs typeface="Courier New"/>
                        </a:rPr>
                        <a:t>x</a:t>
                      </a:r>
                      <a:r>
                        <a:rPr dirty="0" sz="600">
                          <a:latin typeface="Courier New"/>
                          <a:cs typeface="Courier New"/>
                        </a:rPr>
                        <a:t>	</a:t>
                      </a:r>
                      <a:r>
                        <a:rPr dirty="0" sz="60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2</a:t>
                      </a:r>
                      <a:r>
                        <a:rPr dirty="0" sz="600" spc="8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>
                          <a:latin typeface="Courier New"/>
                          <a:cs typeface="Courier New"/>
                        </a:rPr>
                        <a:t>root</a:t>
                      </a:r>
                      <a:r>
                        <a:rPr dirty="0" sz="600" spc="85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>
                          <a:latin typeface="Courier New"/>
                          <a:cs typeface="Courier New"/>
                        </a:rPr>
                        <a:t>root</a:t>
                      </a:r>
                      <a:r>
                        <a:rPr dirty="0" sz="600" spc="85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12288</a:t>
                      </a:r>
                      <a:r>
                        <a:rPr dirty="0" sz="600" spc="8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 spc="-20">
                          <a:latin typeface="Courier New"/>
                          <a:cs typeface="Courier New"/>
                        </a:rPr>
                        <a:t>Jan.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45720">
                        <a:lnSpc>
                          <a:spcPts val="635"/>
                        </a:lnSpc>
                      </a:pPr>
                      <a:r>
                        <a:rPr dirty="0" sz="60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18</a:t>
                      </a:r>
                      <a:r>
                        <a:rPr dirty="0" sz="600" spc="8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15</a:t>
                      </a:r>
                      <a:r>
                        <a:rPr dirty="0" sz="600">
                          <a:latin typeface="Courier New"/>
                          <a:cs typeface="Courier New"/>
                        </a:rPr>
                        <a:t>:57</a:t>
                      </a:r>
                      <a:r>
                        <a:rPr dirty="0" sz="600" spc="85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 spc="-10">
                          <a:latin typeface="Courier New"/>
                          <a:cs typeface="Courier New"/>
                        </a:rPr>
                        <a:t>sbin/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5E5E5"/>
                    </a:solidFill>
                  </a:tcPr>
                </a:tc>
              </a:tr>
              <a:tr h="93345">
                <a:tc>
                  <a:txBody>
                    <a:bodyPr/>
                    <a:lstStyle/>
                    <a:p>
                      <a:pPr marL="21590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dirty="0" sz="400" spc="-25">
                          <a:latin typeface="Book Antiqua"/>
                          <a:cs typeface="Book Antiqua"/>
                        </a:rPr>
                        <a:t>15</a:t>
                      </a:r>
                      <a:endParaRPr sz="400">
                        <a:latin typeface="Book Antiqua"/>
                        <a:cs typeface="Book Antiqua"/>
                      </a:endParaRPr>
                    </a:p>
                  </a:txBody>
                  <a:tcPr marL="0" marR="0" marB="0" marT="18415"/>
                </a:tc>
                <a:tc>
                  <a:txBody>
                    <a:bodyPr/>
                    <a:lstStyle/>
                    <a:p>
                      <a:pPr marL="37465">
                        <a:lnSpc>
                          <a:spcPts val="635"/>
                        </a:lnSpc>
                        <a:tabLst>
                          <a:tab pos="1446530" algn="l"/>
                        </a:tabLst>
                      </a:pPr>
                      <a:r>
                        <a:rPr dirty="0" sz="600">
                          <a:latin typeface="Courier New"/>
                          <a:cs typeface="Courier New"/>
                        </a:rPr>
                        <a:t>drwxr-xr-x</a:t>
                      </a:r>
                      <a:r>
                        <a:rPr dirty="0" sz="600" spc="90">
                          <a:latin typeface="Courier New"/>
                          <a:cs typeface="Courier New"/>
                        </a:rPr>
                        <a:t>  </a:t>
                      </a:r>
                      <a:r>
                        <a:rPr dirty="0" sz="60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12</a:t>
                      </a:r>
                      <a:r>
                        <a:rPr dirty="0" sz="600" spc="10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>
                          <a:latin typeface="Courier New"/>
                          <a:cs typeface="Courier New"/>
                        </a:rPr>
                        <a:t>root</a:t>
                      </a:r>
                      <a:r>
                        <a:rPr dirty="0" sz="600" spc="90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 spc="-20">
                          <a:latin typeface="Courier New"/>
                          <a:cs typeface="Courier New"/>
                        </a:rPr>
                        <a:t>root</a:t>
                      </a:r>
                      <a:r>
                        <a:rPr dirty="0" sz="600">
                          <a:latin typeface="Courier New"/>
                          <a:cs typeface="Courier New"/>
                        </a:rPr>
                        <a:t>	</a:t>
                      </a:r>
                      <a:r>
                        <a:rPr dirty="0" sz="60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0</a:t>
                      </a:r>
                      <a:r>
                        <a:rPr dirty="0" sz="600" spc="35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 spc="-20">
                          <a:latin typeface="Courier New"/>
                          <a:cs typeface="Courier New"/>
                        </a:rPr>
                        <a:t>Feb.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45720">
                        <a:lnSpc>
                          <a:spcPts val="635"/>
                        </a:lnSpc>
                      </a:pPr>
                      <a:r>
                        <a:rPr dirty="0" sz="60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17</a:t>
                      </a:r>
                      <a:r>
                        <a:rPr dirty="0" sz="600" spc="8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13</a:t>
                      </a:r>
                      <a:r>
                        <a:rPr dirty="0" sz="600">
                          <a:latin typeface="Courier New"/>
                          <a:cs typeface="Courier New"/>
                        </a:rPr>
                        <a:t>:17</a:t>
                      </a:r>
                      <a:r>
                        <a:rPr dirty="0" sz="600" spc="85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 spc="-20">
                          <a:latin typeface="Courier New"/>
                          <a:cs typeface="Courier New"/>
                        </a:rPr>
                        <a:t>sys/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5E5E5"/>
                    </a:solidFill>
                  </a:tcPr>
                </a:tc>
              </a:tr>
              <a:tr h="93345">
                <a:tc>
                  <a:txBody>
                    <a:bodyPr/>
                    <a:lstStyle/>
                    <a:p>
                      <a:pPr marL="21590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dirty="0" sz="400" spc="-25">
                          <a:latin typeface="Book Antiqua"/>
                          <a:cs typeface="Book Antiqua"/>
                        </a:rPr>
                        <a:t>16</a:t>
                      </a:r>
                      <a:endParaRPr sz="400">
                        <a:latin typeface="Book Antiqua"/>
                        <a:cs typeface="Book Antiqua"/>
                      </a:endParaRPr>
                    </a:p>
                  </a:txBody>
                  <a:tcPr marL="0" marR="0" marB="0" marT="18415"/>
                </a:tc>
                <a:tc>
                  <a:txBody>
                    <a:bodyPr/>
                    <a:lstStyle/>
                    <a:p>
                      <a:pPr marL="37465">
                        <a:lnSpc>
                          <a:spcPts val="635"/>
                        </a:lnSpc>
                        <a:tabLst>
                          <a:tab pos="1349375" algn="l"/>
                        </a:tabLst>
                      </a:pPr>
                      <a:r>
                        <a:rPr dirty="0" sz="600">
                          <a:latin typeface="Courier New"/>
                          <a:cs typeface="Courier New"/>
                        </a:rPr>
                        <a:t>drwxrwxrwt</a:t>
                      </a:r>
                      <a:r>
                        <a:rPr dirty="0" sz="600" spc="90">
                          <a:latin typeface="Courier New"/>
                          <a:cs typeface="Courier New"/>
                        </a:rPr>
                        <a:t>  </a:t>
                      </a:r>
                      <a:r>
                        <a:rPr dirty="0" sz="60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12</a:t>
                      </a:r>
                      <a:r>
                        <a:rPr dirty="0" sz="600" spc="10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>
                          <a:latin typeface="Courier New"/>
                          <a:cs typeface="Courier New"/>
                        </a:rPr>
                        <a:t>root</a:t>
                      </a:r>
                      <a:r>
                        <a:rPr dirty="0" sz="600" spc="90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 spc="-20">
                          <a:latin typeface="Courier New"/>
                          <a:cs typeface="Courier New"/>
                        </a:rPr>
                        <a:t>root</a:t>
                      </a:r>
                      <a:r>
                        <a:rPr dirty="0" sz="600">
                          <a:latin typeface="Courier New"/>
                          <a:cs typeface="Courier New"/>
                        </a:rPr>
                        <a:t>	</a:t>
                      </a:r>
                      <a:r>
                        <a:rPr dirty="0" sz="60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500</a:t>
                      </a:r>
                      <a:r>
                        <a:rPr dirty="0" sz="600" spc="7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 spc="-20">
                          <a:latin typeface="Courier New"/>
                          <a:cs typeface="Courier New"/>
                        </a:rPr>
                        <a:t>Feb.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45720">
                        <a:lnSpc>
                          <a:spcPts val="635"/>
                        </a:lnSpc>
                      </a:pPr>
                      <a:r>
                        <a:rPr dirty="0" sz="60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17</a:t>
                      </a:r>
                      <a:r>
                        <a:rPr dirty="0" sz="600" spc="8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16</a:t>
                      </a:r>
                      <a:r>
                        <a:rPr dirty="0" sz="600">
                          <a:latin typeface="Courier New"/>
                          <a:cs typeface="Courier New"/>
                        </a:rPr>
                        <a:t>:35</a:t>
                      </a:r>
                      <a:r>
                        <a:rPr dirty="0" sz="600" spc="85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 spc="-20">
                          <a:latin typeface="Courier New"/>
                          <a:cs typeface="Courier New"/>
                        </a:rPr>
                        <a:t>tmp/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5E5E5"/>
                    </a:solidFill>
                  </a:tcPr>
                </a:tc>
              </a:tr>
              <a:tr h="93345">
                <a:tc>
                  <a:txBody>
                    <a:bodyPr/>
                    <a:lstStyle/>
                    <a:p>
                      <a:pPr marL="21590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dirty="0" sz="400" spc="-25">
                          <a:latin typeface="Book Antiqua"/>
                          <a:cs typeface="Book Antiqua"/>
                        </a:rPr>
                        <a:t>17</a:t>
                      </a:r>
                      <a:endParaRPr sz="400">
                        <a:latin typeface="Book Antiqua"/>
                        <a:cs typeface="Book Antiqua"/>
                      </a:endParaRPr>
                    </a:p>
                  </a:txBody>
                  <a:tcPr marL="0" marR="0" marB="0" marT="18415"/>
                </a:tc>
                <a:tc>
                  <a:txBody>
                    <a:bodyPr/>
                    <a:lstStyle/>
                    <a:p>
                      <a:pPr marL="37465">
                        <a:lnSpc>
                          <a:spcPts val="635"/>
                        </a:lnSpc>
                      </a:pPr>
                      <a:r>
                        <a:rPr dirty="0" sz="600">
                          <a:latin typeface="Courier New"/>
                          <a:cs typeface="Courier New"/>
                        </a:rPr>
                        <a:t>drwxr-xr-x</a:t>
                      </a:r>
                      <a:r>
                        <a:rPr dirty="0" sz="600" spc="80">
                          <a:latin typeface="Courier New"/>
                          <a:cs typeface="Courier New"/>
                        </a:rPr>
                        <a:t>  </a:t>
                      </a:r>
                      <a:r>
                        <a:rPr dirty="0" sz="60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22</a:t>
                      </a:r>
                      <a:r>
                        <a:rPr dirty="0" sz="600" spc="85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>
                          <a:latin typeface="Courier New"/>
                          <a:cs typeface="Courier New"/>
                        </a:rPr>
                        <a:t>root</a:t>
                      </a:r>
                      <a:r>
                        <a:rPr dirty="0" sz="600" spc="85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>
                          <a:latin typeface="Courier New"/>
                          <a:cs typeface="Courier New"/>
                        </a:rPr>
                        <a:t>root</a:t>
                      </a:r>
                      <a:r>
                        <a:rPr dirty="0" sz="600" spc="80">
                          <a:latin typeface="Courier New"/>
                          <a:cs typeface="Courier New"/>
                        </a:rPr>
                        <a:t>  </a:t>
                      </a:r>
                      <a:r>
                        <a:rPr dirty="0" sz="60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4096</a:t>
                      </a:r>
                      <a:r>
                        <a:rPr dirty="0" sz="600" spc="9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 spc="-20">
                          <a:latin typeface="Courier New"/>
                          <a:cs typeface="Courier New"/>
                        </a:rPr>
                        <a:t>Jan.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45720">
                        <a:lnSpc>
                          <a:spcPts val="635"/>
                        </a:lnSpc>
                      </a:pPr>
                      <a:r>
                        <a:rPr dirty="0" sz="60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18</a:t>
                      </a:r>
                      <a:r>
                        <a:rPr dirty="0" sz="600" spc="8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09</a:t>
                      </a:r>
                      <a:r>
                        <a:rPr dirty="0" sz="600">
                          <a:latin typeface="Courier New"/>
                          <a:cs typeface="Courier New"/>
                        </a:rPr>
                        <a:t>:26</a:t>
                      </a:r>
                      <a:r>
                        <a:rPr dirty="0" sz="600" spc="85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 spc="-20">
                          <a:latin typeface="Courier New"/>
                          <a:cs typeface="Courier New"/>
                        </a:rPr>
                        <a:t>usr/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5E5E5"/>
                    </a:solidFill>
                  </a:tcPr>
                </a:tc>
              </a:tr>
              <a:tr h="135255">
                <a:tc>
                  <a:txBody>
                    <a:bodyPr/>
                    <a:lstStyle/>
                    <a:p>
                      <a:pPr marL="21590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dirty="0" sz="400" spc="-25">
                          <a:latin typeface="Book Antiqua"/>
                          <a:cs typeface="Book Antiqua"/>
                        </a:rPr>
                        <a:t>18</a:t>
                      </a:r>
                      <a:endParaRPr sz="400">
                        <a:latin typeface="Book Antiqua"/>
                        <a:cs typeface="Book Antiqua"/>
                      </a:endParaRPr>
                    </a:p>
                  </a:txBody>
                  <a:tcPr marL="0" marR="0" marB="0" marT="18415"/>
                </a:tc>
                <a:tc>
                  <a:txBody>
                    <a:bodyPr/>
                    <a:lstStyle/>
                    <a:p>
                      <a:pPr marL="37465">
                        <a:lnSpc>
                          <a:spcPts val="670"/>
                        </a:lnSpc>
                      </a:pPr>
                      <a:r>
                        <a:rPr dirty="0" sz="600">
                          <a:latin typeface="Courier New"/>
                          <a:cs typeface="Courier New"/>
                        </a:rPr>
                        <a:t>drwxr-xr-x</a:t>
                      </a:r>
                      <a:r>
                        <a:rPr dirty="0" sz="600" spc="80">
                          <a:latin typeface="Courier New"/>
                          <a:cs typeface="Courier New"/>
                        </a:rPr>
                        <a:t>  </a:t>
                      </a:r>
                      <a:r>
                        <a:rPr dirty="0" sz="60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17</a:t>
                      </a:r>
                      <a:r>
                        <a:rPr dirty="0" sz="600" spc="85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>
                          <a:latin typeface="Courier New"/>
                          <a:cs typeface="Courier New"/>
                        </a:rPr>
                        <a:t>root</a:t>
                      </a:r>
                      <a:r>
                        <a:rPr dirty="0" sz="600" spc="85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>
                          <a:latin typeface="Courier New"/>
                          <a:cs typeface="Courier New"/>
                        </a:rPr>
                        <a:t>root</a:t>
                      </a:r>
                      <a:r>
                        <a:rPr dirty="0" sz="600" spc="80">
                          <a:latin typeface="Courier New"/>
                          <a:cs typeface="Courier New"/>
                        </a:rPr>
                        <a:t>  </a:t>
                      </a:r>
                      <a:r>
                        <a:rPr dirty="0" sz="60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4096</a:t>
                      </a:r>
                      <a:r>
                        <a:rPr dirty="0" sz="600" spc="9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 spc="-20">
                          <a:latin typeface="Courier New"/>
                          <a:cs typeface="Courier New"/>
                        </a:rPr>
                        <a:t>Jan.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45720">
                        <a:lnSpc>
                          <a:spcPts val="670"/>
                        </a:lnSpc>
                      </a:pPr>
                      <a:r>
                        <a:rPr dirty="0" sz="60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14</a:t>
                      </a:r>
                      <a:r>
                        <a:rPr dirty="0" sz="600" spc="8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17</a:t>
                      </a:r>
                      <a:r>
                        <a:rPr dirty="0" sz="600">
                          <a:latin typeface="Courier New"/>
                          <a:cs typeface="Courier New"/>
                        </a:rPr>
                        <a:t>:38</a:t>
                      </a:r>
                      <a:r>
                        <a:rPr dirty="0" sz="600" spc="85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600" spc="-20">
                          <a:latin typeface="Courier New"/>
                          <a:cs typeface="Courier New"/>
                        </a:rPr>
                        <a:t>var/</a:t>
                      </a:r>
                      <a:endParaRPr sz="6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5E5E5"/>
                    </a:solidFill>
                  </a:tcPr>
                </a:tc>
              </a:tr>
            </a:tbl>
          </a:graphicData>
        </a:graphic>
      </p:graphicFrame>
      <p:sp>
        <p:nvSpPr>
          <p:cNvPr id="13" name="object 13" descr=""/>
          <p:cNvSpPr txBox="1"/>
          <p:nvPr/>
        </p:nvSpPr>
        <p:spPr>
          <a:xfrm>
            <a:off x="581304" y="5689815"/>
            <a:ext cx="3382010" cy="48450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10489" marR="5080" indent="-98425">
              <a:lnSpc>
                <a:spcPct val="100000"/>
              </a:lnSpc>
              <a:spcBef>
                <a:spcPts val="120"/>
              </a:spcBef>
            </a:pPr>
            <a:r>
              <a:rPr dirty="0" sz="750" b="1">
                <a:latin typeface="Book Antiqua"/>
                <a:cs typeface="Book Antiqua"/>
              </a:rPr>
              <a:t>Команда</a:t>
            </a:r>
            <a:r>
              <a:rPr dirty="0" sz="750" spc="70" b="1">
                <a:latin typeface="Book Antiqua"/>
                <a:cs typeface="Book Antiqua"/>
              </a:rPr>
              <a:t> </a:t>
            </a:r>
            <a:r>
              <a:rPr dirty="0" sz="750" b="1">
                <a:latin typeface="Book Antiqua"/>
                <a:cs typeface="Book Antiqua"/>
              </a:rPr>
              <a:t>mkdir.</a:t>
            </a:r>
            <a:r>
              <a:rPr dirty="0" sz="750" spc="375" b="1">
                <a:latin typeface="Book Antiqua"/>
                <a:cs typeface="Book Antiqua"/>
              </a:rPr>
              <a:t>  </a:t>
            </a:r>
            <a:r>
              <a:rPr dirty="0" sz="750">
                <a:latin typeface="Book Antiqua"/>
                <a:cs typeface="Book Antiqua"/>
              </a:rPr>
              <a:t>Команда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mkdir</a:t>
            </a:r>
            <a:r>
              <a:rPr dirty="0" sz="700" spc="-185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используется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для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создания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каталогов.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Формат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команды:</a:t>
            </a:r>
            <a:endParaRPr sz="75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 sz="700">
                <a:latin typeface="Courier New"/>
                <a:cs typeface="Courier New"/>
              </a:rPr>
              <a:t>mkdir</a:t>
            </a:r>
            <a:r>
              <a:rPr dirty="0" sz="700" spc="45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имя_каталога1</a:t>
            </a:r>
            <a:r>
              <a:rPr dirty="0" sz="700" spc="50">
                <a:latin typeface="Courier New"/>
                <a:cs typeface="Courier New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[имя_каталога2...]</a:t>
            </a:r>
            <a:endParaRPr sz="700">
              <a:latin typeface="Courier New"/>
              <a:cs typeface="Courier New"/>
            </a:endParaRPr>
          </a:p>
          <a:p>
            <a:pPr marL="110489">
              <a:lnSpc>
                <a:spcPct val="100000"/>
              </a:lnSpc>
              <a:spcBef>
                <a:spcPts val="5"/>
              </a:spcBef>
            </a:pPr>
            <a:r>
              <a:rPr dirty="0" sz="750">
                <a:latin typeface="Book Antiqua"/>
                <a:cs typeface="Book Antiqua"/>
              </a:rPr>
              <a:t>Пример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создания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каталога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текущем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каталоге:</a:t>
            </a:r>
            <a:endParaRPr sz="750">
              <a:latin typeface="Book Antiqua"/>
              <a:cs typeface="Book Antiqu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79234" y="392412"/>
            <a:ext cx="107314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latin typeface="Book Antiqua"/>
                <a:cs typeface="Book Antiqua"/>
              </a:rPr>
              <a:t>42</a:t>
            </a:r>
            <a:endParaRPr sz="600">
              <a:latin typeface="Book Antiqua"/>
              <a:cs typeface="Book Antiqua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387690" y="392412"/>
            <a:ext cx="3251200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0">
                <a:latin typeface="Book Antiqua"/>
                <a:cs typeface="Book Antiqua"/>
              </a:rPr>
              <a:t>Лабораторная</a:t>
            </a:r>
            <a:r>
              <a:rPr dirty="0" sz="600" spc="15">
                <a:latin typeface="Book Antiqua"/>
                <a:cs typeface="Book Antiqua"/>
              </a:rPr>
              <a:t> </a:t>
            </a:r>
            <a:r>
              <a:rPr dirty="0" sz="600" spc="-10">
                <a:latin typeface="Book Antiqua"/>
                <a:cs typeface="Book Antiqua"/>
              </a:rPr>
              <a:t>работа</a:t>
            </a:r>
            <a:r>
              <a:rPr dirty="0" sz="600" spc="20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№</a:t>
            </a:r>
            <a:r>
              <a:rPr dirty="0" sz="600" spc="20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4.</a:t>
            </a:r>
            <a:r>
              <a:rPr dirty="0" sz="600" spc="50">
                <a:latin typeface="Book Antiqua"/>
                <a:cs typeface="Book Antiqua"/>
              </a:rPr>
              <a:t> </a:t>
            </a:r>
            <a:r>
              <a:rPr dirty="0" sz="600" spc="-10">
                <a:latin typeface="Book Antiqua"/>
                <a:cs typeface="Book Antiqua"/>
              </a:rPr>
              <a:t>Основы</a:t>
            </a:r>
            <a:r>
              <a:rPr dirty="0" sz="600" spc="20">
                <a:latin typeface="Book Antiqua"/>
                <a:cs typeface="Book Antiqua"/>
              </a:rPr>
              <a:t> </a:t>
            </a:r>
            <a:r>
              <a:rPr dirty="0" sz="600" spc="-20">
                <a:latin typeface="Book Antiqua"/>
                <a:cs typeface="Book Antiqua"/>
              </a:rPr>
              <a:t>интерфейса</a:t>
            </a:r>
            <a:r>
              <a:rPr dirty="0" sz="600" spc="20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взаимодействия</a:t>
            </a:r>
            <a:r>
              <a:rPr dirty="0" sz="600" spc="20">
                <a:latin typeface="Book Antiqua"/>
                <a:cs typeface="Book Antiqua"/>
              </a:rPr>
              <a:t> </a:t>
            </a:r>
            <a:r>
              <a:rPr dirty="0" sz="600" spc="-10">
                <a:latin typeface="Book Antiqua"/>
                <a:cs typeface="Book Antiqua"/>
              </a:rPr>
              <a:t>пользователя</a:t>
            </a:r>
            <a:r>
              <a:rPr dirty="0" sz="600" spc="20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с</a:t>
            </a:r>
            <a:r>
              <a:rPr dirty="0" sz="600" spc="20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системой</a:t>
            </a:r>
            <a:r>
              <a:rPr dirty="0" sz="600" spc="-25">
                <a:latin typeface="Book Antiqua"/>
                <a:cs typeface="Book Antiqua"/>
              </a:rPr>
              <a:t> </a:t>
            </a:r>
            <a:r>
              <a:rPr dirty="0" sz="600" spc="-50">
                <a:latin typeface="Book Antiqua"/>
                <a:cs typeface="Book Antiqua"/>
              </a:rPr>
              <a:t>…</a:t>
            </a:r>
            <a:endParaRPr sz="600">
              <a:latin typeface="Book Antiqua"/>
              <a:cs typeface="Book Antiqua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594004" y="514540"/>
            <a:ext cx="4032250" cy="0"/>
          </a:xfrm>
          <a:custGeom>
            <a:avLst/>
            <a:gdLst/>
            <a:ahLst/>
            <a:cxnLst/>
            <a:rect l="l" t="t" r="r" b="b"/>
            <a:pathLst>
              <a:path w="4032250" h="0">
                <a:moveTo>
                  <a:pt x="0" y="0"/>
                </a:moveTo>
                <a:lnTo>
                  <a:pt x="4031996" y="0"/>
                </a:lnTo>
              </a:path>
            </a:pathLst>
          </a:custGeom>
          <a:ln w="541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594004" y="688340"/>
            <a:ext cx="4032250" cy="1780539"/>
          </a:xfrm>
          <a:custGeom>
            <a:avLst/>
            <a:gdLst/>
            <a:ahLst/>
            <a:cxnLst/>
            <a:rect l="l" t="t" r="r" b="b"/>
            <a:pathLst>
              <a:path w="4032250" h="1780539">
                <a:moveTo>
                  <a:pt x="4031996" y="0"/>
                </a:moveTo>
                <a:lnTo>
                  <a:pt x="0" y="0"/>
                </a:lnTo>
                <a:lnTo>
                  <a:pt x="0" y="1780032"/>
                </a:lnTo>
                <a:lnTo>
                  <a:pt x="4031996" y="1780032"/>
                </a:lnTo>
                <a:lnTo>
                  <a:pt x="4031996" y="0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371335" y="738582"/>
            <a:ext cx="83820" cy="16814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41275">
              <a:lnSpc>
                <a:spcPct val="100000"/>
              </a:lnSpc>
              <a:spcBef>
                <a:spcPts val="130"/>
              </a:spcBef>
            </a:pPr>
            <a:r>
              <a:rPr dirty="0" sz="400" spc="-50">
                <a:latin typeface="Book Antiqua"/>
                <a:cs typeface="Book Antiqua"/>
              </a:rPr>
              <a:t>1</a:t>
            </a:r>
            <a:endParaRPr sz="400">
              <a:latin typeface="Book Antiqua"/>
              <a:cs typeface="Book Antiqua"/>
            </a:endParaRPr>
          </a:p>
          <a:p>
            <a:pPr marL="41275">
              <a:lnSpc>
                <a:spcPct val="100000"/>
              </a:lnSpc>
              <a:spcBef>
                <a:spcPts val="409"/>
              </a:spcBef>
            </a:pPr>
            <a:r>
              <a:rPr dirty="0" sz="400" spc="-50">
                <a:latin typeface="Book Antiqua"/>
                <a:cs typeface="Book Antiqua"/>
              </a:rPr>
              <a:t>2</a:t>
            </a:r>
            <a:endParaRPr sz="400">
              <a:latin typeface="Book Antiqua"/>
              <a:cs typeface="Book Antiqua"/>
            </a:endParaRPr>
          </a:p>
          <a:p>
            <a:pPr marL="41275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3</a:t>
            </a:r>
            <a:endParaRPr sz="400">
              <a:latin typeface="Book Antiqua"/>
              <a:cs typeface="Book Antiqua"/>
            </a:endParaRPr>
          </a:p>
          <a:p>
            <a:pPr marL="41275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4</a:t>
            </a:r>
            <a:endParaRPr sz="400">
              <a:latin typeface="Book Antiqua"/>
              <a:cs typeface="Book Antiqua"/>
            </a:endParaRPr>
          </a:p>
          <a:p>
            <a:pPr marL="41275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5</a:t>
            </a:r>
            <a:endParaRPr sz="400">
              <a:latin typeface="Book Antiqua"/>
              <a:cs typeface="Book Antiqua"/>
            </a:endParaRPr>
          </a:p>
          <a:p>
            <a:pPr marL="41275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6</a:t>
            </a:r>
            <a:endParaRPr sz="400">
              <a:latin typeface="Book Antiqua"/>
              <a:cs typeface="Book Antiqua"/>
            </a:endParaRPr>
          </a:p>
          <a:p>
            <a:pPr marL="41275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7</a:t>
            </a:r>
            <a:endParaRPr sz="400">
              <a:latin typeface="Book Antiqua"/>
              <a:cs typeface="Book Antiqua"/>
            </a:endParaRPr>
          </a:p>
          <a:p>
            <a:pPr marL="41275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8</a:t>
            </a:r>
            <a:endParaRPr sz="400">
              <a:latin typeface="Book Antiqua"/>
              <a:cs typeface="Book Antiqua"/>
            </a:endParaRPr>
          </a:p>
          <a:p>
            <a:pPr marL="41275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9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dirty="0" sz="400" spc="-25">
                <a:latin typeface="Book Antiqua"/>
                <a:cs typeface="Book Antiqua"/>
              </a:rPr>
              <a:t>10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14"/>
              </a:spcBef>
            </a:pPr>
            <a:r>
              <a:rPr dirty="0" sz="400" spc="-25">
                <a:latin typeface="Book Antiqua"/>
                <a:cs typeface="Book Antiqua"/>
              </a:rPr>
              <a:t>11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14"/>
              </a:spcBef>
            </a:pPr>
            <a:r>
              <a:rPr dirty="0" sz="400" spc="-25">
                <a:latin typeface="Book Antiqua"/>
                <a:cs typeface="Book Antiqua"/>
              </a:rPr>
              <a:t>12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dirty="0" sz="400" spc="-25">
                <a:latin typeface="Book Antiqua"/>
                <a:cs typeface="Book Antiqua"/>
              </a:rPr>
              <a:t>13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dirty="0" sz="400" spc="-25">
                <a:latin typeface="Book Antiqua"/>
                <a:cs typeface="Book Antiqua"/>
              </a:rPr>
              <a:t>14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dirty="0" sz="400" spc="-25">
                <a:latin typeface="Book Antiqua"/>
                <a:cs typeface="Book Antiqua"/>
              </a:rPr>
              <a:t>15</a:t>
            </a:r>
            <a:endParaRPr sz="400">
              <a:latin typeface="Book Antiqua"/>
              <a:cs typeface="Book Antiqua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631951" y="702016"/>
            <a:ext cx="2089785" cy="1725295"/>
          </a:xfrm>
          <a:prstGeom prst="rect">
            <a:avLst/>
          </a:prstGeom>
        </p:spPr>
        <p:txBody>
          <a:bodyPr wrap="square" lIns="0" tIns="7620" rIns="0" bIns="0" rtlCol="0" vert="horz">
            <a:spAutoFit/>
          </a:bodyPr>
          <a:lstStyle/>
          <a:p>
            <a:pPr marR="1917700">
              <a:lnSpc>
                <a:spcPct val="106500"/>
              </a:lnSpc>
              <a:spcBef>
                <a:spcPts val="60"/>
              </a:spcBef>
            </a:pPr>
            <a:r>
              <a:rPr dirty="0" sz="700" spc="-25">
                <a:solidFill>
                  <a:srgbClr val="007F00"/>
                </a:solidFill>
                <a:latin typeface="Courier New"/>
                <a:cs typeface="Courier New"/>
              </a:rPr>
              <a:t>cd pwd</a:t>
            </a:r>
            <a:endParaRPr sz="700">
              <a:latin typeface="Courier New"/>
              <a:cs typeface="Courier New"/>
            </a:endParaRPr>
          </a:p>
          <a:p>
            <a:pPr marR="5080">
              <a:lnSpc>
                <a:spcPct val="213000"/>
              </a:lnSpc>
            </a:pPr>
            <a:r>
              <a:rPr dirty="0" sz="700" spc="-10">
                <a:latin typeface="Courier New"/>
                <a:cs typeface="Courier New"/>
              </a:rPr>
              <a:t>/afs/dk.sci.pfu.edu.ru/home/d/h/dharma </a:t>
            </a:r>
            <a:r>
              <a:rPr dirty="0" sz="700" spc="-25">
                <a:latin typeface="Courier New"/>
                <a:cs typeface="Courier New"/>
              </a:rPr>
              <a:t>ls</a:t>
            </a:r>
            <a:endParaRPr sz="7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700">
              <a:latin typeface="Courier New"/>
              <a:cs typeface="Courier New"/>
            </a:endParaRPr>
          </a:p>
          <a:p>
            <a:pPr marR="660400">
              <a:lnSpc>
                <a:spcPct val="106500"/>
              </a:lnSpc>
              <a:spcBef>
                <a:spcPts val="5"/>
              </a:spcBef>
              <a:tabLst>
                <a:tab pos="1202055" algn="l"/>
              </a:tabLst>
            </a:pPr>
            <a:r>
              <a:rPr dirty="0" sz="700">
                <a:latin typeface="Courier New"/>
                <a:cs typeface="Courier New"/>
              </a:rPr>
              <a:t>Desktop</a:t>
            </a:r>
            <a:r>
              <a:rPr dirty="0" sz="700" spc="470">
                <a:latin typeface="Courier New"/>
                <a:cs typeface="Courier New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public</a:t>
            </a:r>
            <a:r>
              <a:rPr dirty="0" sz="700">
                <a:latin typeface="Courier New"/>
                <a:cs typeface="Courier New"/>
              </a:rPr>
              <a:t>	</a:t>
            </a:r>
            <a:r>
              <a:rPr dirty="0" sz="700" spc="-25">
                <a:latin typeface="Courier New"/>
                <a:cs typeface="Courier New"/>
              </a:rPr>
              <a:t>tmp </a:t>
            </a:r>
            <a:r>
              <a:rPr dirty="0" sz="700">
                <a:latin typeface="Courier New"/>
                <a:cs typeface="Courier New"/>
              </a:rPr>
              <a:t>GNUstep</a:t>
            </a:r>
            <a:r>
              <a:rPr dirty="0" sz="700" spc="480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public_html</a:t>
            </a:r>
            <a:r>
              <a:rPr dirty="0" sz="700" spc="484">
                <a:latin typeface="Courier New"/>
                <a:cs typeface="Courier New"/>
              </a:rPr>
              <a:t> </a:t>
            </a:r>
            <a:r>
              <a:rPr dirty="0" sz="700" spc="-20">
                <a:latin typeface="Courier New"/>
                <a:cs typeface="Courier New"/>
              </a:rPr>
              <a:t>work</a:t>
            </a:r>
            <a:endParaRPr sz="7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700">
              <a:latin typeface="Courier New"/>
              <a:cs typeface="Courier New"/>
            </a:endParaRPr>
          </a:p>
          <a:p>
            <a:pPr marR="1590040">
              <a:lnSpc>
                <a:spcPct val="106500"/>
              </a:lnSpc>
            </a:pPr>
            <a:r>
              <a:rPr dirty="0" sz="700">
                <a:latin typeface="Courier New"/>
                <a:cs typeface="Courier New"/>
              </a:rPr>
              <a:t>mkdir</a:t>
            </a:r>
            <a:r>
              <a:rPr dirty="0" sz="700" spc="30">
                <a:latin typeface="Courier New"/>
                <a:cs typeface="Courier New"/>
              </a:rPr>
              <a:t> </a:t>
            </a:r>
            <a:r>
              <a:rPr dirty="0" sz="700" spc="-25">
                <a:latin typeface="Courier New"/>
                <a:cs typeface="Courier New"/>
              </a:rPr>
              <a:t>abc ls</a:t>
            </a:r>
            <a:endParaRPr sz="7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700">
              <a:latin typeface="Courier New"/>
              <a:cs typeface="Courier New"/>
            </a:endParaRPr>
          </a:p>
          <a:p>
            <a:pPr marR="168910">
              <a:lnSpc>
                <a:spcPct val="106500"/>
              </a:lnSpc>
              <a:tabLst>
                <a:tab pos="491490" algn="l"/>
                <a:tab pos="983615" algn="l"/>
              </a:tabLst>
            </a:pPr>
            <a:r>
              <a:rPr dirty="0" sz="700" spc="-25">
                <a:latin typeface="Courier New"/>
                <a:cs typeface="Courier New"/>
              </a:rPr>
              <a:t>abc</a:t>
            </a:r>
            <a:r>
              <a:rPr dirty="0" sz="700">
                <a:latin typeface="Courier New"/>
                <a:cs typeface="Courier New"/>
              </a:rPr>
              <a:t>	GNUstep</a:t>
            </a:r>
            <a:r>
              <a:rPr dirty="0" sz="700" spc="480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public_html</a:t>
            </a:r>
            <a:r>
              <a:rPr dirty="0" sz="700" spc="484">
                <a:latin typeface="Courier New"/>
                <a:cs typeface="Courier New"/>
              </a:rPr>
              <a:t> </a:t>
            </a:r>
            <a:r>
              <a:rPr dirty="0" sz="700" spc="-20">
                <a:latin typeface="Courier New"/>
                <a:cs typeface="Courier New"/>
              </a:rPr>
              <a:t>work </a:t>
            </a:r>
            <a:r>
              <a:rPr dirty="0" sz="700">
                <a:latin typeface="Courier New"/>
                <a:cs typeface="Courier New"/>
              </a:rPr>
              <a:t>Desktop</a:t>
            </a:r>
            <a:r>
              <a:rPr dirty="0" sz="700" spc="470">
                <a:latin typeface="Courier New"/>
                <a:cs typeface="Courier New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public</a:t>
            </a:r>
            <a:r>
              <a:rPr dirty="0" sz="700">
                <a:latin typeface="Courier New"/>
                <a:cs typeface="Courier New"/>
              </a:rPr>
              <a:t>	</a:t>
            </a:r>
            <a:r>
              <a:rPr dirty="0" sz="700" spc="-25">
                <a:latin typeface="Courier New"/>
                <a:cs typeface="Courier New"/>
              </a:rPr>
              <a:t>tmp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581304" y="2622943"/>
            <a:ext cx="4071620" cy="47180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20"/>
              </a:spcBef>
            </a:pPr>
            <a:r>
              <a:rPr dirty="0" sz="750" b="1">
                <a:latin typeface="Book Antiqua"/>
                <a:cs typeface="Book Antiqua"/>
              </a:rPr>
              <a:t>Замечание</a:t>
            </a:r>
            <a:r>
              <a:rPr dirty="0" sz="750" spc="65" b="1">
                <a:latin typeface="Book Antiqua"/>
                <a:cs typeface="Book Antiqua"/>
              </a:rPr>
              <a:t> </a:t>
            </a:r>
            <a:r>
              <a:rPr dirty="0" sz="750" spc="50" b="1">
                <a:latin typeface="Book Antiqua"/>
                <a:cs typeface="Book Antiqua"/>
              </a:rPr>
              <a:t>2.</a:t>
            </a:r>
            <a:r>
              <a:rPr dirty="0" sz="750" spc="355" b="1">
                <a:latin typeface="Book Antiqua"/>
                <a:cs typeface="Book Antiqua"/>
              </a:rPr>
              <a:t> </a:t>
            </a:r>
            <a:r>
              <a:rPr dirty="0" sz="750" spc="-25">
                <a:latin typeface="Book Antiqua"/>
                <a:cs typeface="Book Antiqua"/>
              </a:rPr>
              <a:t>Для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того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чтобы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создать каталог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определённом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месте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файловой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системы,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должны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быть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правильно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установлены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права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доступа.</a:t>
            </a:r>
            <a:endParaRPr sz="750">
              <a:latin typeface="Book Antiqua"/>
              <a:cs typeface="Book Antiqua"/>
            </a:endParaRPr>
          </a:p>
          <a:p>
            <a:pPr marL="110489">
              <a:lnSpc>
                <a:spcPct val="100000"/>
              </a:lnSpc>
              <a:spcBef>
                <a:spcPts val="790"/>
              </a:spcBef>
            </a:pPr>
            <a:r>
              <a:rPr dirty="0" sz="750">
                <a:latin typeface="Book Antiqua"/>
                <a:cs typeface="Book Antiqua"/>
              </a:rPr>
              <a:t>Можно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создать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также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подкаталог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существующем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подкаталоге: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400405" y="3226093"/>
            <a:ext cx="54610" cy="20447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50">
                <a:latin typeface="Book Antiqua"/>
                <a:cs typeface="Book Antiqua"/>
              </a:rPr>
              <a:t>1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dirty="0" sz="400" spc="-50">
                <a:latin typeface="Book Antiqua"/>
                <a:cs typeface="Book Antiqua"/>
              </a:rPr>
              <a:t>2</a:t>
            </a:r>
            <a:endParaRPr sz="400">
              <a:latin typeface="Book Antiqua"/>
              <a:cs typeface="Book Antiqua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594004" y="3175838"/>
            <a:ext cx="4032250" cy="303530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1590" rIns="0" bIns="0" rtlCol="0" vert="horz">
            <a:spAutoFit/>
          </a:bodyPr>
          <a:lstStyle/>
          <a:p>
            <a:pPr marL="37465" marR="2947670">
              <a:lnSpc>
                <a:spcPct val="106500"/>
              </a:lnSpc>
              <a:spcBef>
                <a:spcPts val="170"/>
              </a:spcBef>
            </a:pPr>
            <a:r>
              <a:rPr dirty="0" sz="700">
                <a:latin typeface="Courier New"/>
                <a:cs typeface="Courier New"/>
              </a:rPr>
              <a:t>mkdir</a:t>
            </a:r>
            <a:r>
              <a:rPr dirty="0" sz="700" spc="30">
                <a:latin typeface="Courier New"/>
                <a:cs typeface="Courier New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parentdir </a:t>
            </a:r>
            <a:r>
              <a:rPr dirty="0" sz="700">
                <a:latin typeface="Courier New"/>
                <a:cs typeface="Courier New"/>
              </a:rPr>
              <a:t>mkdir</a:t>
            </a:r>
            <a:r>
              <a:rPr dirty="0" sz="700" spc="30">
                <a:latin typeface="Courier New"/>
                <a:cs typeface="Courier New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parentdir/dir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679462" y="3557651"/>
            <a:ext cx="3200400" cy="1435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 spc="-20">
                <a:latin typeface="Book Antiqua"/>
                <a:cs typeface="Book Antiqua"/>
              </a:rPr>
              <a:t>При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задании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нескольких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аргументов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создаётся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несколько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каталогов: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400405" y="3832366"/>
            <a:ext cx="54610" cy="20447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50">
                <a:latin typeface="Book Antiqua"/>
                <a:cs typeface="Book Antiqua"/>
              </a:rPr>
              <a:t>1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dirty="0" sz="400" spc="-50">
                <a:latin typeface="Book Antiqua"/>
                <a:cs typeface="Book Antiqua"/>
              </a:rPr>
              <a:t>2</a:t>
            </a:r>
            <a:endParaRPr sz="400">
              <a:latin typeface="Book Antiqua"/>
              <a:cs typeface="Book Antiqua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594004" y="3782111"/>
            <a:ext cx="4032250" cy="303530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857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225"/>
              </a:spcBef>
            </a:pPr>
            <a:r>
              <a:rPr dirty="0" sz="700">
                <a:solidFill>
                  <a:srgbClr val="007F00"/>
                </a:solidFill>
                <a:latin typeface="Courier New"/>
                <a:cs typeface="Courier New"/>
              </a:rPr>
              <a:t>cd</a:t>
            </a:r>
            <a:r>
              <a:rPr dirty="0" sz="700" spc="15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parentdir</a:t>
            </a:r>
            <a:endParaRPr sz="700">
              <a:latin typeface="Courier New"/>
              <a:cs typeface="Courier New"/>
            </a:endParaRPr>
          </a:p>
          <a:p>
            <a:pPr marL="37465">
              <a:lnSpc>
                <a:spcPct val="100000"/>
              </a:lnSpc>
              <a:spcBef>
                <a:spcPts val="55"/>
              </a:spcBef>
            </a:pPr>
            <a:r>
              <a:rPr dirty="0" sz="700">
                <a:latin typeface="Courier New"/>
                <a:cs typeface="Courier New"/>
              </a:rPr>
              <a:t>mkdir</a:t>
            </a:r>
            <a:r>
              <a:rPr dirty="0" sz="700" spc="25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dir1</a:t>
            </a:r>
            <a:r>
              <a:rPr dirty="0" sz="700" spc="30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dir2</a:t>
            </a:r>
            <a:r>
              <a:rPr dirty="0" sz="700" spc="30">
                <a:latin typeface="Courier New"/>
                <a:cs typeface="Courier New"/>
              </a:rPr>
              <a:t> </a:t>
            </a:r>
            <a:r>
              <a:rPr dirty="0" sz="700" spc="-20">
                <a:latin typeface="Courier New"/>
                <a:cs typeface="Courier New"/>
              </a:rPr>
              <a:t>dir3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679462" y="4163910"/>
            <a:ext cx="1639570" cy="1435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>
                <a:latin typeface="Book Antiqua"/>
                <a:cs typeface="Book Antiqua"/>
              </a:rPr>
              <a:t>Можно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использовать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группировку: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400405" y="4438625"/>
            <a:ext cx="54610" cy="914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50">
                <a:latin typeface="Book Antiqua"/>
                <a:cs typeface="Book Antiqua"/>
              </a:rPr>
              <a:t>1</a:t>
            </a:r>
            <a:endParaRPr sz="400">
              <a:latin typeface="Book Antiqua"/>
              <a:cs typeface="Book Antiqua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594004" y="4388370"/>
            <a:ext cx="4032250" cy="189865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857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225"/>
              </a:spcBef>
            </a:pPr>
            <a:r>
              <a:rPr dirty="0" sz="700">
                <a:latin typeface="Courier New"/>
                <a:cs typeface="Courier New"/>
              </a:rPr>
              <a:t>mkdir</a:t>
            </a:r>
            <a:r>
              <a:rPr dirty="0" sz="700" spc="30">
                <a:latin typeface="Courier New"/>
                <a:cs typeface="Courier New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parentdir/</a:t>
            </a:r>
            <a:r>
              <a:rPr dirty="0" sz="700" spc="-10">
                <a:solidFill>
                  <a:srgbClr val="666666"/>
                </a:solidFill>
                <a:latin typeface="Courier New"/>
                <a:cs typeface="Courier New"/>
              </a:rPr>
              <a:t>{</a:t>
            </a:r>
            <a:r>
              <a:rPr dirty="0" sz="700" spc="-10">
                <a:latin typeface="Courier New"/>
                <a:cs typeface="Courier New"/>
              </a:rPr>
              <a:t>dir1,dir2,dir3</a:t>
            </a:r>
            <a:r>
              <a:rPr dirty="0" sz="700" spc="-10">
                <a:solidFill>
                  <a:srgbClr val="666666"/>
                </a:solidFill>
                <a:latin typeface="Courier New"/>
                <a:cs typeface="Courier New"/>
              </a:rPr>
              <a:t>}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581304" y="4656556"/>
            <a:ext cx="4057650" cy="2571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 marR="5080" indent="97790">
              <a:lnSpc>
                <a:spcPct val="100000"/>
              </a:lnSpc>
              <a:spcBef>
                <a:spcPts val="120"/>
              </a:spcBef>
            </a:pPr>
            <a:r>
              <a:rPr dirty="0" sz="750" spc="-10">
                <a:latin typeface="Book Antiqua"/>
                <a:cs typeface="Book Antiqua"/>
              </a:rPr>
              <a:t>Если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же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требуется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создать </a:t>
            </a:r>
            <a:r>
              <a:rPr dirty="0" sz="750" spc="-10">
                <a:latin typeface="Book Antiqua"/>
                <a:cs typeface="Book Antiqua"/>
              </a:rPr>
              <a:t>подкаталог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каталоге,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отличном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от</a:t>
            </a:r>
            <a:r>
              <a:rPr dirty="0" sz="750" spc="-3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текущего,</a:t>
            </a:r>
            <a:r>
              <a:rPr dirty="0" sz="750" spc="-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то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путь к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нему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требуется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указать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явном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виде: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400405" y="5044885"/>
            <a:ext cx="54610" cy="914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50">
                <a:latin typeface="Book Antiqua"/>
                <a:cs typeface="Book Antiqua"/>
              </a:rPr>
              <a:t>1</a:t>
            </a:r>
            <a:endParaRPr sz="400">
              <a:latin typeface="Book Antiqua"/>
              <a:cs typeface="Book Antiqua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594004" y="4994643"/>
            <a:ext cx="4032250" cy="189865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857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225"/>
              </a:spcBef>
            </a:pPr>
            <a:r>
              <a:rPr dirty="0" sz="700">
                <a:latin typeface="Courier New"/>
                <a:cs typeface="Courier New"/>
              </a:rPr>
              <a:t>mkdir</a:t>
            </a:r>
            <a:r>
              <a:rPr dirty="0" sz="700" spc="30">
                <a:latin typeface="Courier New"/>
                <a:cs typeface="Courier New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../dir1/dir2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581304" y="5262829"/>
            <a:ext cx="199390" cy="1435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 spc="-25">
                <a:latin typeface="Book Antiqua"/>
                <a:cs typeface="Book Antiqua"/>
              </a:rPr>
              <a:t>или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400405" y="5537544"/>
            <a:ext cx="54610" cy="914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50">
                <a:latin typeface="Book Antiqua"/>
                <a:cs typeface="Book Antiqua"/>
              </a:rPr>
              <a:t>1</a:t>
            </a:r>
            <a:endParaRPr sz="400">
              <a:latin typeface="Book Antiqua"/>
              <a:cs typeface="Book Antiqua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594004" y="5487289"/>
            <a:ext cx="4032250" cy="189865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857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225"/>
              </a:spcBef>
            </a:pPr>
            <a:r>
              <a:rPr dirty="0" sz="700">
                <a:latin typeface="Courier New"/>
                <a:cs typeface="Courier New"/>
              </a:rPr>
              <a:t>mkdir</a:t>
            </a:r>
            <a:r>
              <a:rPr dirty="0" sz="700" spc="30">
                <a:latin typeface="Courier New"/>
                <a:cs typeface="Courier New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~/dir1/dir2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679462" y="5755475"/>
            <a:ext cx="3959225" cy="59817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ts val="894"/>
              </a:lnSpc>
              <a:spcBef>
                <a:spcPts val="120"/>
              </a:spcBef>
            </a:pPr>
            <a:r>
              <a:rPr dirty="0" sz="750">
                <a:latin typeface="Book Antiqua"/>
                <a:cs typeface="Book Antiqua"/>
              </a:rPr>
              <a:t>Интересны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следующие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опции:</a:t>
            </a:r>
            <a:endParaRPr sz="750">
              <a:latin typeface="Book Antiqua"/>
              <a:cs typeface="Book Antiqua"/>
            </a:endParaRPr>
          </a:p>
          <a:p>
            <a:pPr marL="46990">
              <a:lnSpc>
                <a:spcPts val="894"/>
              </a:lnSpc>
            </a:pPr>
            <a:r>
              <a:rPr dirty="0" sz="700">
                <a:latin typeface="Courier New"/>
                <a:cs typeface="Courier New"/>
              </a:rPr>
              <a:t>--mode</a:t>
            </a:r>
            <a:r>
              <a:rPr dirty="0" sz="700" spc="-204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(или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-m</a:t>
            </a:r>
            <a:r>
              <a:rPr dirty="0" sz="750">
                <a:latin typeface="Book Antiqua"/>
                <a:cs typeface="Book Antiqua"/>
              </a:rPr>
              <a:t>)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установка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атрибутов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доступа;</a:t>
            </a:r>
            <a:endParaRPr sz="750">
              <a:latin typeface="Book Antiqua"/>
              <a:cs typeface="Book Antiqua"/>
            </a:endParaRPr>
          </a:p>
          <a:p>
            <a:pPr marL="46990" marR="5080">
              <a:lnSpc>
                <a:spcPts val="890"/>
              </a:lnSpc>
              <a:spcBef>
                <a:spcPts val="35"/>
              </a:spcBef>
            </a:pPr>
            <a:r>
              <a:rPr dirty="0" sz="700">
                <a:latin typeface="Courier New"/>
                <a:cs typeface="Courier New"/>
              </a:rPr>
              <a:t>--parents</a:t>
            </a:r>
            <a:r>
              <a:rPr dirty="0" sz="700" spc="-260">
                <a:latin typeface="Courier New"/>
                <a:cs typeface="Courier New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(или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-p</a:t>
            </a:r>
            <a:r>
              <a:rPr dirty="0" sz="750">
                <a:latin typeface="Book Antiqua"/>
                <a:cs typeface="Book Antiqua"/>
              </a:rPr>
              <a:t>)</a:t>
            </a:r>
            <a:r>
              <a:rPr dirty="0" sz="750" spc="-60">
                <a:latin typeface="Book Antiqua"/>
                <a:cs typeface="Book Antiqua"/>
              </a:rPr>
              <a:t> </a:t>
            </a:r>
            <a:r>
              <a:rPr dirty="0" sz="750" spc="-90">
                <a:latin typeface="Book Antiqua"/>
                <a:cs typeface="Book Antiqua"/>
              </a:rPr>
              <a:t>—</a:t>
            </a:r>
            <a:r>
              <a:rPr dirty="0" sz="750" spc="-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создание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каталога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вместе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родительскими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отношению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нему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каталогами.</a:t>
            </a:r>
            <a:endParaRPr sz="750">
              <a:latin typeface="Book Antiqua"/>
              <a:cs typeface="Book Antiqua"/>
            </a:endParaRPr>
          </a:p>
          <a:p>
            <a:pPr marL="12700">
              <a:lnSpc>
                <a:spcPts val="869"/>
              </a:lnSpc>
            </a:pPr>
            <a:r>
              <a:rPr dirty="0" sz="750" spc="-10">
                <a:latin typeface="Book Antiqua"/>
                <a:cs typeface="Book Antiqua"/>
              </a:rPr>
              <a:t>Атрибуты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задаются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численной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или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символьной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нотации: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400405" y="6484634"/>
            <a:ext cx="54610" cy="914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50">
                <a:latin typeface="Book Antiqua"/>
                <a:cs typeface="Book Antiqua"/>
              </a:rPr>
              <a:t>1</a:t>
            </a:r>
            <a:endParaRPr sz="400">
              <a:latin typeface="Book Antiqua"/>
              <a:cs typeface="Book Antiqua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594004" y="6434378"/>
            <a:ext cx="4032250" cy="189865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857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225"/>
              </a:spcBef>
            </a:pPr>
            <a:r>
              <a:rPr dirty="0" sz="700">
                <a:latin typeface="Courier New"/>
                <a:cs typeface="Courier New"/>
              </a:rPr>
              <a:t>mkdir</a:t>
            </a:r>
            <a:r>
              <a:rPr dirty="0" sz="700" spc="40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--mode</a:t>
            </a:r>
            <a:r>
              <a:rPr dirty="0" sz="700">
                <a:solidFill>
                  <a:srgbClr val="666666"/>
                </a:solidFill>
                <a:latin typeface="Courier New"/>
                <a:cs typeface="Courier New"/>
              </a:rPr>
              <a:t>=777</a:t>
            </a:r>
            <a:r>
              <a:rPr dirty="0" sz="700" spc="4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dirty="0" sz="700" spc="-25">
                <a:latin typeface="Courier New"/>
                <a:cs typeface="Courier New"/>
              </a:rPr>
              <a:t>dir</a:t>
            </a:r>
            <a:endParaRPr sz="7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81304" y="392412"/>
            <a:ext cx="1534795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40" i="1">
                <a:latin typeface="Georgia"/>
                <a:cs typeface="Georgia"/>
              </a:rPr>
              <a:t>Кулябов</a:t>
            </a:r>
            <a:r>
              <a:rPr dirty="0" sz="600" spc="-5" i="1">
                <a:latin typeface="Georgia"/>
                <a:cs typeface="Georgia"/>
              </a:rPr>
              <a:t> </a:t>
            </a:r>
            <a:r>
              <a:rPr dirty="0" sz="600" spc="-30" i="1">
                <a:latin typeface="Georgia"/>
                <a:cs typeface="Georgia"/>
              </a:rPr>
              <a:t>Д.</a:t>
            </a:r>
            <a:r>
              <a:rPr dirty="0" sz="600" spc="-50" i="1">
                <a:latin typeface="Georgia"/>
                <a:cs typeface="Georgia"/>
              </a:rPr>
              <a:t> </a:t>
            </a:r>
            <a:r>
              <a:rPr dirty="0" sz="600" spc="-10" i="1">
                <a:latin typeface="Georgia"/>
                <a:cs typeface="Georgia"/>
              </a:rPr>
              <a:t>С.</a:t>
            </a:r>
            <a:r>
              <a:rPr dirty="0" sz="600" spc="-25" i="1">
                <a:latin typeface="Georgia"/>
                <a:cs typeface="Georgia"/>
              </a:rPr>
              <a:t> </a:t>
            </a:r>
            <a:r>
              <a:rPr dirty="0" sz="600" i="1">
                <a:latin typeface="Georgia"/>
                <a:cs typeface="Georgia"/>
              </a:rPr>
              <a:t>и</a:t>
            </a:r>
            <a:r>
              <a:rPr dirty="0" sz="600" spc="-5" i="1">
                <a:latin typeface="Georgia"/>
                <a:cs typeface="Georgia"/>
              </a:rPr>
              <a:t> </a:t>
            </a:r>
            <a:r>
              <a:rPr dirty="0" sz="600" i="1">
                <a:latin typeface="Georgia"/>
                <a:cs typeface="Georgia"/>
              </a:rPr>
              <a:t>др.</a:t>
            </a:r>
            <a:r>
              <a:rPr dirty="0" sz="600" spc="55" i="1">
                <a:latin typeface="Georgia"/>
                <a:cs typeface="Georgia"/>
              </a:rPr>
              <a:t> </a:t>
            </a:r>
            <a:r>
              <a:rPr dirty="0" sz="600" spc="-10">
                <a:latin typeface="Book Antiqua"/>
                <a:cs typeface="Book Antiqua"/>
              </a:rPr>
              <a:t>Операционные</a:t>
            </a:r>
            <a:r>
              <a:rPr dirty="0" sz="600" spc="-5">
                <a:latin typeface="Book Antiqua"/>
                <a:cs typeface="Book Antiqua"/>
              </a:rPr>
              <a:t> </a:t>
            </a:r>
            <a:r>
              <a:rPr dirty="0" sz="600" spc="-10">
                <a:latin typeface="Book Antiqua"/>
                <a:cs typeface="Book Antiqua"/>
              </a:rPr>
              <a:t>системы</a:t>
            </a:r>
            <a:endParaRPr sz="600">
              <a:latin typeface="Book Antiqua"/>
              <a:cs typeface="Book Antiqua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4531906" y="392412"/>
            <a:ext cx="107314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latin typeface="Book Antiqua"/>
                <a:cs typeface="Book Antiqua"/>
              </a:rPr>
              <a:t>43</a:t>
            </a:r>
            <a:endParaRPr sz="600">
              <a:latin typeface="Book Antiqua"/>
              <a:cs typeface="Book Antiqua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594004" y="514540"/>
            <a:ext cx="4032250" cy="0"/>
          </a:xfrm>
          <a:custGeom>
            <a:avLst/>
            <a:gdLst/>
            <a:ahLst/>
            <a:cxnLst/>
            <a:rect l="l" t="t" r="r" b="b"/>
            <a:pathLst>
              <a:path w="4032250" h="0">
                <a:moveTo>
                  <a:pt x="0" y="0"/>
                </a:moveTo>
                <a:lnTo>
                  <a:pt x="4031996" y="0"/>
                </a:lnTo>
              </a:path>
            </a:pathLst>
          </a:custGeom>
          <a:ln w="541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581304" y="653389"/>
            <a:ext cx="199390" cy="1435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 spc="-25">
                <a:latin typeface="Book Antiqua"/>
                <a:cs typeface="Book Antiqua"/>
              </a:rPr>
              <a:t>или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400405" y="928104"/>
            <a:ext cx="54610" cy="914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50">
                <a:latin typeface="Book Antiqua"/>
                <a:cs typeface="Book Antiqua"/>
              </a:rPr>
              <a:t>1</a:t>
            </a:r>
            <a:endParaRPr sz="400">
              <a:latin typeface="Book Antiqua"/>
              <a:cs typeface="Book Antiqua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594004" y="877862"/>
            <a:ext cx="4032250" cy="189865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857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225"/>
              </a:spcBef>
            </a:pPr>
            <a:r>
              <a:rPr dirty="0" sz="700">
                <a:latin typeface="Courier New"/>
                <a:cs typeface="Courier New"/>
              </a:rPr>
              <a:t>mkdir</a:t>
            </a:r>
            <a:r>
              <a:rPr dirty="0" sz="700" spc="25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-m</a:t>
            </a:r>
            <a:r>
              <a:rPr dirty="0" sz="700" spc="25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a+rwx</a:t>
            </a:r>
            <a:r>
              <a:rPr dirty="0" sz="700" spc="30">
                <a:latin typeface="Courier New"/>
                <a:cs typeface="Courier New"/>
              </a:rPr>
              <a:t> </a:t>
            </a:r>
            <a:r>
              <a:rPr dirty="0" sz="700" spc="-25">
                <a:latin typeface="Courier New"/>
                <a:cs typeface="Courier New"/>
              </a:rPr>
              <a:t>dir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581304" y="1146048"/>
            <a:ext cx="4057650" cy="2571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 marR="5080" indent="97790">
              <a:lnSpc>
                <a:spcPct val="100000"/>
              </a:lnSpc>
              <a:spcBef>
                <a:spcPts val="120"/>
              </a:spcBef>
            </a:pPr>
            <a:r>
              <a:rPr dirty="0" sz="750" spc="10">
                <a:latin typeface="Book Antiqua"/>
                <a:cs typeface="Book Antiqua"/>
              </a:rPr>
              <a:t>Опция</a:t>
            </a:r>
            <a:r>
              <a:rPr dirty="0" sz="750" spc="8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--parents</a:t>
            </a:r>
            <a:r>
              <a:rPr dirty="0" sz="700" spc="-150">
                <a:latin typeface="Courier New"/>
                <a:cs typeface="Courier New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(краткая</a:t>
            </a:r>
            <a:r>
              <a:rPr dirty="0" sz="750" spc="8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форма</a:t>
            </a:r>
            <a:r>
              <a:rPr dirty="0" sz="750" spc="9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-</a:t>
            </a:r>
            <a:r>
              <a:rPr dirty="0" sz="700" spc="10">
                <a:latin typeface="Courier New"/>
                <a:cs typeface="Courier New"/>
              </a:rPr>
              <a:t>p</a:t>
            </a:r>
            <a:r>
              <a:rPr dirty="0" sz="750" spc="10">
                <a:latin typeface="Book Antiqua"/>
                <a:cs typeface="Book Antiqua"/>
              </a:rPr>
              <a:t>)</a:t>
            </a:r>
            <a:r>
              <a:rPr dirty="0" sz="750" spc="8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позволяет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создавать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иерархическую</a:t>
            </a:r>
            <a:r>
              <a:rPr dirty="0" sz="750" spc="8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цепочку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подкаталогов,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создавая</a:t>
            </a:r>
            <a:r>
              <a:rPr dirty="0" sz="750" spc="1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все</a:t>
            </a:r>
            <a:r>
              <a:rPr dirty="0" sz="750" spc="1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промежуточные</a:t>
            </a:r>
            <a:r>
              <a:rPr dirty="0" sz="750" spc="12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каталоги: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400405" y="1534364"/>
            <a:ext cx="54610" cy="914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50">
                <a:latin typeface="Book Antiqua"/>
                <a:cs typeface="Book Antiqua"/>
              </a:rPr>
              <a:t>1</a:t>
            </a:r>
            <a:endParaRPr sz="400">
              <a:latin typeface="Book Antiqua"/>
              <a:cs typeface="Book Antiqua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594004" y="1484122"/>
            <a:ext cx="4032250" cy="189865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857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225"/>
              </a:spcBef>
            </a:pPr>
            <a:r>
              <a:rPr dirty="0" sz="700">
                <a:latin typeface="Courier New"/>
                <a:cs typeface="Courier New"/>
              </a:rPr>
              <a:t>mkdir</a:t>
            </a:r>
            <a:r>
              <a:rPr dirty="0" sz="700" spc="20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-p</a:t>
            </a:r>
            <a:r>
              <a:rPr dirty="0" sz="700" spc="25">
                <a:latin typeface="Courier New"/>
                <a:cs typeface="Courier New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~/dir1/dir2/dir3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581304" y="1911820"/>
            <a:ext cx="4078604" cy="9385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10489" marR="349885" indent="-98425">
              <a:lnSpc>
                <a:spcPct val="100000"/>
              </a:lnSpc>
              <a:spcBef>
                <a:spcPts val="120"/>
              </a:spcBef>
            </a:pPr>
            <a:r>
              <a:rPr dirty="0" sz="750" b="1">
                <a:latin typeface="Book Antiqua"/>
                <a:cs typeface="Book Antiqua"/>
              </a:rPr>
              <a:t>Команда</a:t>
            </a:r>
            <a:r>
              <a:rPr dirty="0" sz="750" spc="65" b="1">
                <a:latin typeface="Book Antiqua"/>
                <a:cs typeface="Book Antiqua"/>
              </a:rPr>
              <a:t> </a:t>
            </a:r>
            <a:r>
              <a:rPr dirty="0" sz="750" b="1">
                <a:latin typeface="Book Antiqua"/>
                <a:cs typeface="Book Antiqua"/>
              </a:rPr>
              <a:t>rm.</a:t>
            </a:r>
            <a:r>
              <a:rPr dirty="0" sz="750" spc="355" b="1">
                <a:latin typeface="Book Antiqua"/>
                <a:cs typeface="Book Antiqua"/>
              </a:rPr>
              <a:t>  </a:t>
            </a:r>
            <a:r>
              <a:rPr dirty="0" sz="750">
                <a:latin typeface="Book Antiqua"/>
                <a:cs typeface="Book Antiqua"/>
              </a:rPr>
              <a:t>Команда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rm</a:t>
            </a:r>
            <a:r>
              <a:rPr dirty="0" sz="700" spc="-190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используется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для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удаления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файлов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-50">
                <a:latin typeface="Book Antiqua"/>
                <a:cs typeface="Book Antiqua"/>
              </a:rPr>
              <a:t>и/или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каталогов.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Формат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команды:</a:t>
            </a:r>
            <a:endParaRPr sz="75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 sz="700">
                <a:latin typeface="Courier New"/>
                <a:cs typeface="Courier New"/>
              </a:rPr>
              <a:t>rm</a:t>
            </a:r>
            <a:r>
              <a:rPr dirty="0" sz="700" spc="30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[-опции]</a:t>
            </a:r>
            <a:r>
              <a:rPr dirty="0" sz="700" spc="30">
                <a:latin typeface="Courier New"/>
                <a:cs typeface="Courier New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[файл]</a:t>
            </a:r>
            <a:endParaRPr sz="700">
              <a:latin typeface="Courier New"/>
              <a:cs typeface="Courier New"/>
            </a:endParaRPr>
          </a:p>
          <a:p>
            <a:pPr marL="12700" marR="5080" indent="97790">
              <a:lnSpc>
                <a:spcPct val="100000"/>
              </a:lnSpc>
              <a:spcBef>
                <a:spcPts val="5"/>
              </a:spcBef>
            </a:pPr>
            <a:r>
              <a:rPr dirty="0" sz="750" spc="-20">
                <a:latin typeface="Book Antiqua"/>
                <a:cs typeface="Book Antiqua"/>
              </a:rPr>
              <a:t>Если</a:t>
            </a:r>
            <a:r>
              <a:rPr dirty="0" sz="750">
                <a:latin typeface="Book Antiqua"/>
                <a:cs typeface="Book Antiqua"/>
              </a:rPr>
              <a:t> требуется,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чтобы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выдавался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запрос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подтверждения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удаление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файла,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то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необхо-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димо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использовать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опцию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00" spc="-25">
                <a:latin typeface="Courier New"/>
                <a:cs typeface="Courier New"/>
              </a:rPr>
              <a:t>i</a:t>
            </a:r>
            <a:r>
              <a:rPr dirty="0" sz="750" spc="-25">
                <a:latin typeface="Book Antiqua"/>
                <a:cs typeface="Book Antiqua"/>
              </a:rPr>
              <a:t>.</a:t>
            </a:r>
            <a:endParaRPr sz="750">
              <a:latin typeface="Book Antiqua"/>
              <a:cs typeface="Book Antiqua"/>
            </a:endParaRPr>
          </a:p>
          <a:p>
            <a:pPr marL="12700" marR="26670" indent="97790">
              <a:lnSpc>
                <a:spcPts val="890"/>
              </a:lnSpc>
              <a:spcBef>
                <a:spcPts val="25"/>
              </a:spcBef>
            </a:pPr>
            <a:r>
              <a:rPr dirty="0" sz="750" spc="-20">
                <a:latin typeface="Book Antiqua"/>
                <a:cs typeface="Book Antiqua"/>
              </a:rPr>
              <a:t>Чтобы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удалить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каталог,</a:t>
            </a:r>
            <a:r>
              <a:rPr dirty="0" sz="750" spc="-4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содержащий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файлы,</a:t>
            </a:r>
            <a:r>
              <a:rPr dirty="0" sz="750" spc="-30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нужно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использовать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опцию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r</a:t>
            </a:r>
            <a:r>
              <a:rPr dirty="0" sz="750">
                <a:latin typeface="Book Antiqua"/>
                <a:cs typeface="Book Antiqua"/>
              </a:rPr>
              <a:t>.</a:t>
            </a:r>
            <a:r>
              <a:rPr dirty="0" sz="750" spc="-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Без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указания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этой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опции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команда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не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будет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выполняться.</a:t>
            </a:r>
            <a:endParaRPr sz="750">
              <a:latin typeface="Book Antiqua"/>
              <a:cs typeface="Book Antiqua"/>
            </a:endParaRPr>
          </a:p>
          <a:p>
            <a:pPr marL="110489">
              <a:lnSpc>
                <a:spcPts val="869"/>
              </a:lnSpc>
            </a:pPr>
            <a:r>
              <a:rPr dirty="0" sz="750" spc="-10">
                <a:latin typeface="Book Antiqua"/>
                <a:cs typeface="Book Antiqua"/>
              </a:rPr>
              <a:t>Пример: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400405" y="2981783"/>
            <a:ext cx="54610" cy="77279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50">
                <a:latin typeface="Book Antiqua"/>
                <a:cs typeface="Book Antiqua"/>
              </a:rPr>
              <a:t>1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dirty="0" sz="400" spc="-50">
                <a:latin typeface="Book Antiqua"/>
                <a:cs typeface="Book Antiqua"/>
              </a:rPr>
              <a:t>2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3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4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5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6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7</a:t>
            </a:r>
            <a:endParaRPr sz="400">
              <a:latin typeface="Book Antiqua"/>
              <a:cs typeface="Book Antiqua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594004" y="2931541"/>
            <a:ext cx="4032250" cy="871219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857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225"/>
              </a:spcBef>
            </a:pPr>
            <a:r>
              <a:rPr dirty="0" sz="700" spc="-25">
                <a:solidFill>
                  <a:srgbClr val="007F00"/>
                </a:solidFill>
                <a:latin typeface="Courier New"/>
                <a:cs typeface="Courier New"/>
              </a:rPr>
              <a:t>cd</a:t>
            </a:r>
            <a:endParaRPr sz="700">
              <a:latin typeface="Courier New"/>
              <a:cs typeface="Courier New"/>
            </a:endParaRPr>
          </a:p>
          <a:p>
            <a:pPr marL="37465" marR="3494404">
              <a:lnSpc>
                <a:spcPct val="106500"/>
              </a:lnSpc>
            </a:pPr>
            <a:r>
              <a:rPr dirty="0" sz="700">
                <a:latin typeface="Courier New"/>
                <a:cs typeface="Courier New"/>
              </a:rPr>
              <a:t>mkdir</a:t>
            </a:r>
            <a:r>
              <a:rPr dirty="0" sz="700" spc="30">
                <a:latin typeface="Courier New"/>
                <a:cs typeface="Courier New"/>
              </a:rPr>
              <a:t> </a:t>
            </a:r>
            <a:r>
              <a:rPr dirty="0" sz="700" spc="-25">
                <a:latin typeface="Courier New"/>
                <a:cs typeface="Courier New"/>
              </a:rPr>
              <a:t>abs </a:t>
            </a:r>
            <a:r>
              <a:rPr dirty="0" sz="700">
                <a:latin typeface="Courier New"/>
                <a:cs typeface="Courier New"/>
              </a:rPr>
              <a:t>rm</a:t>
            </a:r>
            <a:r>
              <a:rPr dirty="0" sz="700" spc="15">
                <a:latin typeface="Courier New"/>
                <a:cs typeface="Courier New"/>
              </a:rPr>
              <a:t> </a:t>
            </a:r>
            <a:r>
              <a:rPr dirty="0" sz="700" spc="-25">
                <a:latin typeface="Courier New"/>
                <a:cs typeface="Courier New"/>
              </a:rPr>
              <a:t>abc</a:t>
            </a:r>
            <a:endParaRPr sz="700">
              <a:latin typeface="Courier New"/>
              <a:cs typeface="Courier New"/>
            </a:endParaRPr>
          </a:p>
          <a:p>
            <a:pPr marL="37465" marR="2783840">
              <a:lnSpc>
                <a:spcPct val="213000"/>
              </a:lnSpc>
            </a:pPr>
            <a:r>
              <a:rPr dirty="0" sz="700">
                <a:latin typeface="Courier New"/>
                <a:cs typeface="Courier New"/>
              </a:rPr>
              <a:t>rm:</a:t>
            </a:r>
            <a:r>
              <a:rPr dirty="0" sz="700" spc="15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abc</a:t>
            </a:r>
            <a:r>
              <a:rPr dirty="0" sz="700" spc="20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is</a:t>
            </a:r>
            <a:r>
              <a:rPr dirty="0" sz="700" spc="20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a</a:t>
            </a:r>
            <a:r>
              <a:rPr dirty="0" sz="700" spc="20">
                <a:latin typeface="Courier New"/>
                <a:cs typeface="Courier New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directory </a:t>
            </a:r>
            <a:r>
              <a:rPr dirty="0" sz="700">
                <a:latin typeface="Courier New"/>
                <a:cs typeface="Courier New"/>
              </a:rPr>
              <a:t>rm</a:t>
            </a:r>
            <a:r>
              <a:rPr dirty="0" sz="700" spc="15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-r</a:t>
            </a:r>
            <a:r>
              <a:rPr dirty="0" sz="700" spc="20">
                <a:latin typeface="Courier New"/>
                <a:cs typeface="Courier New"/>
              </a:rPr>
              <a:t> </a:t>
            </a:r>
            <a:r>
              <a:rPr dirty="0" sz="700" spc="-25">
                <a:latin typeface="Courier New"/>
                <a:cs typeface="Courier New"/>
              </a:rPr>
              <a:t>abc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581304" y="3881373"/>
            <a:ext cx="4084954" cy="10985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just" marL="12700" marR="5080" indent="97790">
              <a:lnSpc>
                <a:spcPct val="100000"/>
              </a:lnSpc>
              <a:spcBef>
                <a:spcPts val="120"/>
              </a:spcBef>
            </a:pPr>
            <a:r>
              <a:rPr dirty="0" sz="750">
                <a:latin typeface="Book Antiqua"/>
                <a:cs typeface="Book Antiqua"/>
              </a:rPr>
              <a:t>Если  </a:t>
            </a:r>
            <a:r>
              <a:rPr dirty="0" sz="750" spc="15">
                <a:latin typeface="Book Antiqua"/>
                <a:cs typeface="Book Antiqua"/>
              </a:rPr>
              <a:t>каталог</a:t>
            </a:r>
            <a:r>
              <a:rPr dirty="0" sz="750" spc="1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пуст,</a:t>
            </a:r>
            <a:r>
              <a:rPr dirty="0" sz="750" spc="130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то</a:t>
            </a:r>
            <a:r>
              <a:rPr dirty="0" sz="750">
                <a:latin typeface="Book Antiqua"/>
                <a:cs typeface="Book Antiqua"/>
              </a:rPr>
              <a:t>  </a:t>
            </a:r>
            <a:r>
              <a:rPr dirty="0" sz="750" spc="20">
                <a:latin typeface="Book Antiqua"/>
                <a:cs typeface="Book Antiqua"/>
              </a:rPr>
              <a:t>можно</a:t>
            </a:r>
            <a:r>
              <a:rPr dirty="0" sz="750">
                <a:latin typeface="Book Antiqua"/>
                <a:cs typeface="Book Antiqua"/>
              </a:rPr>
              <a:t>  </a:t>
            </a:r>
            <a:r>
              <a:rPr dirty="0" sz="750" spc="25">
                <a:latin typeface="Book Antiqua"/>
                <a:cs typeface="Book Antiqua"/>
              </a:rPr>
              <a:t>воспользоваться</a:t>
            </a:r>
            <a:r>
              <a:rPr dirty="0" sz="750">
                <a:latin typeface="Book Antiqua"/>
                <a:cs typeface="Book Antiqua"/>
              </a:rPr>
              <a:t>  </a:t>
            </a:r>
            <a:r>
              <a:rPr dirty="0" sz="750" spc="15">
                <a:latin typeface="Book Antiqua"/>
                <a:cs typeface="Book Antiqua"/>
              </a:rPr>
              <a:t>командой</a:t>
            </a:r>
            <a:r>
              <a:rPr dirty="0" sz="750">
                <a:latin typeface="Book Antiqua"/>
                <a:cs typeface="Book Antiqua"/>
              </a:rPr>
              <a:t>  </a:t>
            </a:r>
            <a:r>
              <a:rPr dirty="0" sz="700" spc="5">
                <a:latin typeface="Courier New"/>
                <a:cs typeface="Courier New"/>
              </a:rPr>
              <a:t>rmdir</a:t>
            </a:r>
            <a:r>
              <a:rPr dirty="0" sz="750" spc="5">
                <a:latin typeface="Book Antiqua"/>
                <a:cs typeface="Book Antiqua"/>
              </a:rPr>
              <a:t>.</a:t>
            </a:r>
            <a:r>
              <a:rPr dirty="0" sz="750" spc="1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Если  </a:t>
            </a:r>
            <a:r>
              <a:rPr dirty="0" sz="750" spc="15">
                <a:latin typeface="Book Antiqua"/>
                <a:cs typeface="Book Antiqua"/>
              </a:rPr>
              <a:t>удаляемый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каталог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содержит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файлы,</a:t>
            </a:r>
            <a:r>
              <a:rPr dirty="0" sz="750" spc="-30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то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команда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не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будет </a:t>
            </a:r>
            <a:r>
              <a:rPr dirty="0" sz="750" spc="15">
                <a:latin typeface="Book Antiqua"/>
                <a:cs typeface="Book Antiqua"/>
              </a:rPr>
              <a:t>выполнена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-55">
                <a:latin typeface="Book Antiqua"/>
                <a:cs typeface="Book Antiqua"/>
              </a:rPr>
              <a:t>—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нужно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использовать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rm</a:t>
            </a:r>
            <a:r>
              <a:rPr dirty="0" sz="700" spc="10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- r</a:t>
            </a:r>
            <a:r>
              <a:rPr dirty="0" sz="700" spc="10">
                <a:latin typeface="Courier New"/>
                <a:cs typeface="Courier New"/>
              </a:rPr>
              <a:t> </a:t>
            </a:r>
            <a:r>
              <a:rPr dirty="0" sz="700" spc="5">
                <a:latin typeface="Courier New"/>
                <a:cs typeface="Courier New"/>
              </a:rPr>
              <a:t>имя_каталога</a:t>
            </a:r>
            <a:r>
              <a:rPr dirty="0" sz="750" spc="5">
                <a:latin typeface="Book Antiqua"/>
                <a:cs typeface="Book Antiqua"/>
              </a:rPr>
              <a:t>.</a:t>
            </a:r>
            <a:endParaRPr sz="75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310"/>
              </a:spcBef>
            </a:pPr>
            <a:endParaRPr sz="750">
              <a:latin typeface="Book Antiqua"/>
              <a:cs typeface="Book Antiqua"/>
            </a:endParaRPr>
          </a:p>
          <a:p>
            <a:pPr algn="just" marL="12700" marR="10795">
              <a:lnSpc>
                <a:spcPct val="100000"/>
              </a:lnSpc>
            </a:pPr>
            <a:r>
              <a:rPr dirty="0" sz="750" spc="35" b="1">
                <a:latin typeface="Book Antiqua"/>
                <a:cs typeface="Book Antiqua"/>
              </a:rPr>
              <a:t>Команда</a:t>
            </a:r>
            <a:r>
              <a:rPr dirty="0" sz="750" spc="60" b="1">
                <a:latin typeface="Book Antiqua"/>
                <a:cs typeface="Book Antiqua"/>
              </a:rPr>
              <a:t> </a:t>
            </a:r>
            <a:r>
              <a:rPr dirty="0" sz="750" spc="30" b="1">
                <a:latin typeface="Book Antiqua"/>
                <a:cs typeface="Book Antiqua"/>
              </a:rPr>
              <a:t>history.</a:t>
            </a:r>
            <a:r>
              <a:rPr dirty="0" sz="750" spc="705" b="1">
                <a:latin typeface="Book Antiqua"/>
                <a:cs typeface="Book Antiqua"/>
              </a:rPr>
              <a:t> </a:t>
            </a:r>
            <a:r>
              <a:rPr dirty="0" sz="750" spc="-5">
                <a:latin typeface="Book Antiqua"/>
                <a:cs typeface="Book Antiqua"/>
              </a:rPr>
              <a:t>Для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30">
                <a:latin typeface="Book Antiqua"/>
                <a:cs typeface="Book Antiqua"/>
              </a:rPr>
              <a:t>вывода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на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экран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списка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ранее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выполненных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команд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исполь-</a:t>
            </a:r>
            <a:r>
              <a:rPr dirty="0" sz="750" spc="15">
                <a:latin typeface="Book Antiqua"/>
                <a:cs typeface="Book Antiqua"/>
              </a:rPr>
              <a:t> зуется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команда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00" spc="5">
                <a:latin typeface="Courier New"/>
                <a:cs typeface="Courier New"/>
              </a:rPr>
              <a:t>history</a:t>
            </a:r>
            <a:r>
              <a:rPr dirty="0" sz="750" spc="5">
                <a:latin typeface="Book Antiqua"/>
                <a:cs typeface="Book Antiqua"/>
              </a:rPr>
              <a:t>.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Выводимые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на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экран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команды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45">
                <a:latin typeface="Book Antiqua"/>
                <a:cs typeface="Book Antiqua"/>
              </a:rPr>
              <a:t>в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списке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нумеруются.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 spc="-50">
                <a:latin typeface="Book Antiqua"/>
                <a:cs typeface="Book Antiqua"/>
              </a:rPr>
              <a:t>К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любой </a:t>
            </a:r>
            <a:r>
              <a:rPr dirty="0" sz="750" spc="20">
                <a:latin typeface="Book Antiqua"/>
                <a:cs typeface="Book Antiqua"/>
              </a:rPr>
              <a:t>команде</a:t>
            </a:r>
            <a:r>
              <a:rPr dirty="0" sz="750" spc="80">
                <a:latin typeface="Book Antiqua"/>
                <a:cs typeface="Book Antiqua"/>
              </a:rPr>
              <a:t> </a:t>
            </a:r>
            <a:r>
              <a:rPr dirty="0" sz="750" spc="30">
                <a:latin typeface="Book Antiqua"/>
                <a:cs typeface="Book Antiqua"/>
              </a:rPr>
              <a:t>из</a:t>
            </a:r>
            <a:r>
              <a:rPr dirty="0" sz="750" spc="80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выведенного</a:t>
            </a:r>
            <a:r>
              <a:rPr dirty="0" sz="750" spc="8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на</a:t>
            </a:r>
            <a:r>
              <a:rPr dirty="0" sz="750" spc="8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экран</a:t>
            </a:r>
            <a:r>
              <a:rPr dirty="0" sz="750" spc="80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списка</a:t>
            </a:r>
            <a:r>
              <a:rPr dirty="0" sz="750" spc="80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можно</a:t>
            </a:r>
            <a:r>
              <a:rPr dirty="0" sz="750" spc="80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обратиться</a:t>
            </a:r>
            <a:r>
              <a:rPr dirty="0" sz="750" spc="80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по</a:t>
            </a:r>
            <a:r>
              <a:rPr dirty="0" sz="750" spc="80">
                <a:latin typeface="Book Antiqua"/>
                <a:cs typeface="Book Antiqua"/>
              </a:rPr>
              <a:t> </a:t>
            </a:r>
            <a:r>
              <a:rPr dirty="0" sz="750" spc="30">
                <a:latin typeface="Book Antiqua"/>
                <a:cs typeface="Book Antiqua"/>
              </a:rPr>
              <a:t>её</a:t>
            </a:r>
            <a:r>
              <a:rPr dirty="0" sz="750" spc="8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номеру</a:t>
            </a:r>
            <a:r>
              <a:rPr dirty="0" sz="750" spc="80">
                <a:latin typeface="Book Antiqua"/>
                <a:cs typeface="Book Antiqua"/>
              </a:rPr>
              <a:t> </a:t>
            </a:r>
            <a:r>
              <a:rPr dirty="0" sz="750" spc="50">
                <a:latin typeface="Book Antiqua"/>
                <a:cs typeface="Book Antiqua"/>
              </a:rPr>
              <a:t>в</a:t>
            </a:r>
            <a:r>
              <a:rPr dirty="0" sz="750" spc="80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списке,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воспользовавшись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конструкцией </a:t>
            </a:r>
            <a:r>
              <a:rPr dirty="0" sz="700" spc="5">
                <a:latin typeface="Courier New"/>
                <a:cs typeface="Courier New"/>
              </a:rPr>
              <a:t>!&lt;номер_команды&gt;</a:t>
            </a:r>
            <a:r>
              <a:rPr dirty="0" sz="750" spc="5">
                <a:latin typeface="Book Antiqua"/>
                <a:cs typeface="Book Antiqua"/>
              </a:rPr>
              <a:t>.</a:t>
            </a:r>
            <a:endParaRPr sz="750">
              <a:latin typeface="Book Antiqua"/>
              <a:cs typeface="Book Antiqua"/>
            </a:endParaRPr>
          </a:p>
          <a:p>
            <a:pPr marL="110489">
              <a:lnSpc>
                <a:spcPts val="880"/>
              </a:lnSpc>
            </a:pPr>
            <a:r>
              <a:rPr dirty="0" sz="750" spc="-10">
                <a:latin typeface="Book Antiqua"/>
                <a:cs typeface="Book Antiqua"/>
              </a:rPr>
              <a:t>Пример: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371335" y="5110849"/>
            <a:ext cx="83820" cy="111379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41275">
              <a:lnSpc>
                <a:spcPct val="100000"/>
              </a:lnSpc>
              <a:spcBef>
                <a:spcPts val="130"/>
              </a:spcBef>
            </a:pPr>
            <a:r>
              <a:rPr dirty="0" sz="400" spc="-50">
                <a:latin typeface="Book Antiqua"/>
                <a:cs typeface="Book Antiqua"/>
              </a:rPr>
              <a:t>1</a:t>
            </a:r>
            <a:endParaRPr sz="400">
              <a:latin typeface="Book Antiqua"/>
              <a:cs typeface="Book Antiqua"/>
            </a:endParaRPr>
          </a:p>
          <a:p>
            <a:pPr marL="41275">
              <a:lnSpc>
                <a:spcPct val="100000"/>
              </a:lnSpc>
              <a:spcBef>
                <a:spcPts val="409"/>
              </a:spcBef>
            </a:pPr>
            <a:r>
              <a:rPr dirty="0" sz="400" spc="-50">
                <a:latin typeface="Book Antiqua"/>
                <a:cs typeface="Book Antiqua"/>
              </a:rPr>
              <a:t>2</a:t>
            </a:r>
            <a:endParaRPr sz="400">
              <a:latin typeface="Book Antiqua"/>
              <a:cs typeface="Book Antiqua"/>
            </a:endParaRPr>
          </a:p>
          <a:p>
            <a:pPr marL="41275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3</a:t>
            </a:r>
            <a:endParaRPr sz="400">
              <a:latin typeface="Book Antiqua"/>
              <a:cs typeface="Book Antiqua"/>
            </a:endParaRPr>
          </a:p>
          <a:p>
            <a:pPr marL="41275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4</a:t>
            </a:r>
            <a:endParaRPr sz="400">
              <a:latin typeface="Book Antiqua"/>
              <a:cs typeface="Book Antiqua"/>
            </a:endParaRPr>
          </a:p>
          <a:p>
            <a:pPr marL="41275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5</a:t>
            </a:r>
            <a:endParaRPr sz="400">
              <a:latin typeface="Book Antiqua"/>
              <a:cs typeface="Book Antiqua"/>
            </a:endParaRPr>
          </a:p>
          <a:p>
            <a:pPr marL="41275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6</a:t>
            </a:r>
            <a:endParaRPr sz="400">
              <a:latin typeface="Book Antiqua"/>
              <a:cs typeface="Book Antiqua"/>
            </a:endParaRPr>
          </a:p>
          <a:p>
            <a:pPr marL="41275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7</a:t>
            </a:r>
            <a:endParaRPr sz="400">
              <a:latin typeface="Book Antiqua"/>
              <a:cs typeface="Book Antiqua"/>
            </a:endParaRPr>
          </a:p>
          <a:p>
            <a:pPr marL="41275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8</a:t>
            </a:r>
            <a:endParaRPr sz="400">
              <a:latin typeface="Book Antiqua"/>
              <a:cs typeface="Book Antiqua"/>
            </a:endParaRPr>
          </a:p>
          <a:p>
            <a:pPr marL="41275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9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dirty="0" sz="400" spc="-25">
                <a:latin typeface="Book Antiqua"/>
                <a:cs typeface="Book Antiqua"/>
              </a:rPr>
              <a:t>10</a:t>
            </a:r>
            <a:endParaRPr sz="400">
              <a:latin typeface="Book Antiqua"/>
              <a:cs typeface="Book Antiqua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594004" y="5060594"/>
            <a:ext cx="4032250" cy="1212215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857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225"/>
              </a:spcBef>
            </a:pPr>
            <a:r>
              <a:rPr dirty="0" sz="700" spc="-10">
                <a:solidFill>
                  <a:srgbClr val="007F00"/>
                </a:solidFill>
                <a:latin typeface="Courier New"/>
                <a:cs typeface="Courier New"/>
              </a:rPr>
              <a:t>history</a:t>
            </a:r>
            <a:endParaRPr sz="700">
              <a:latin typeface="Courier New"/>
              <a:cs typeface="Courier New"/>
            </a:endParaRPr>
          </a:p>
          <a:p>
            <a:pPr marL="147320" indent="-109855">
              <a:lnSpc>
                <a:spcPct val="100000"/>
              </a:lnSpc>
              <a:spcBef>
                <a:spcPts val="55"/>
              </a:spcBef>
              <a:buClr>
                <a:srgbClr val="666666"/>
              </a:buClr>
              <a:buAutoNum type="arabicPlain"/>
              <a:tabLst>
                <a:tab pos="147320" algn="l"/>
              </a:tabLst>
            </a:pPr>
            <a:r>
              <a:rPr dirty="0" sz="700" spc="-25">
                <a:solidFill>
                  <a:srgbClr val="007F00"/>
                </a:solidFill>
                <a:latin typeface="Courier New"/>
                <a:cs typeface="Courier New"/>
              </a:rPr>
              <a:t>pwd</a:t>
            </a:r>
            <a:endParaRPr sz="700">
              <a:latin typeface="Courier New"/>
              <a:cs typeface="Courier New"/>
            </a:endParaRPr>
          </a:p>
          <a:p>
            <a:pPr marL="147320" indent="-109855">
              <a:lnSpc>
                <a:spcPct val="100000"/>
              </a:lnSpc>
              <a:spcBef>
                <a:spcPts val="55"/>
              </a:spcBef>
              <a:buClr>
                <a:srgbClr val="666666"/>
              </a:buClr>
              <a:buAutoNum type="arabicPlain"/>
              <a:tabLst>
                <a:tab pos="147320" algn="l"/>
              </a:tabLst>
            </a:pPr>
            <a:r>
              <a:rPr dirty="0" sz="700" spc="-25">
                <a:latin typeface="Courier New"/>
                <a:cs typeface="Courier New"/>
              </a:rPr>
              <a:t>ls</a:t>
            </a:r>
            <a:endParaRPr sz="700">
              <a:latin typeface="Courier New"/>
              <a:cs typeface="Courier New"/>
            </a:endParaRPr>
          </a:p>
          <a:p>
            <a:pPr marL="147320" indent="-109855">
              <a:lnSpc>
                <a:spcPct val="100000"/>
              </a:lnSpc>
              <a:spcBef>
                <a:spcPts val="50"/>
              </a:spcBef>
              <a:buClr>
                <a:srgbClr val="666666"/>
              </a:buClr>
              <a:buAutoNum type="arabicPlain"/>
              <a:tabLst>
                <a:tab pos="147320" algn="l"/>
              </a:tabLst>
            </a:pPr>
            <a:r>
              <a:rPr dirty="0" sz="700">
                <a:latin typeface="Courier New"/>
                <a:cs typeface="Courier New"/>
              </a:rPr>
              <a:t>ls</a:t>
            </a:r>
            <a:r>
              <a:rPr dirty="0" sz="700" spc="20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-</a:t>
            </a:r>
            <a:r>
              <a:rPr dirty="0" sz="700" spc="-50">
                <a:latin typeface="Courier New"/>
                <a:cs typeface="Courier New"/>
              </a:rPr>
              <a:t>a</a:t>
            </a:r>
            <a:endParaRPr sz="700">
              <a:latin typeface="Courier New"/>
              <a:cs typeface="Courier New"/>
            </a:endParaRPr>
          </a:p>
          <a:p>
            <a:pPr marL="147320" indent="-109855">
              <a:lnSpc>
                <a:spcPct val="100000"/>
              </a:lnSpc>
              <a:spcBef>
                <a:spcPts val="55"/>
              </a:spcBef>
              <a:buClr>
                <a:srgbClr val="666666"/>
              </a:buClr>
              <a:buAutoNum type="arabicPlain"/>
              <a:tabLst>
                <a:tab pos="147320" algn="l"/>
              </a:tabLst>
            </a:pPr>
            <a:r>
              <a:rPr dirty="0" sz="700">
                <a:latin typeface="Courier New"/>
                <a:cs typeface="Courier New"/>
              </a:rPr>
              <a:t>ls</a:t>
            </a:r>
            <a:r>
              <a:rPr dirty="0" sz="700" spc="20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-</a:t>
            </a:r>
            <a:r>
              <a:rPr dirty="0" sz="700" spc="-50">
                <a:latin typeface="Courier New"/>
                <a:cs typeface="Courier New"/>
              </a:rPr>
              <a:t>l</a:t>
            </a:r>
            <a:endParaRPr sz="700">
              <a:latin typeface="Courier New"/>
              <a:cs typeface="Courier New"/>
            </a:endParaRPr>
          </a:p>
          <a:p>
            <a:pPr marL="147320" indent="-109855">
              <a:lnSpc>
                <a:spcPct val="100000"/>
              </a:lnSpc>
              <a:spcBef>
                <a:spcPts val="55"/>
              </a:spcBef>
              <a:buClr>
                <a:srgbClr val="666666"/>
              </a:buClr>
              <a:buAutoNum type="arabicPlain"/>
              <a:tabLst>
                <a:tab pos="147320" algn="l"/>
              </a:tabLst>
            </a:pPr>
            <a:r>
              <a:rPr dirty="0" sz="700">
                <a:solidFill>
                  <a:srgbClr val="007F00"/>
                </a:solidFill>
                <a:latin typeface="Courier New"/>
                <a:cs typeface="Courier New"/>
              </a:rPr>
              <a:t>cd</a:t>
            </a:r>
            <a:r>
              <a:rPr dirty="0" sz="700" spc="15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700" spc="-50">
                <a:latin typeface="Courier New"/>
                <a:cs typeface="Courier New"/>
              </a:rPr>
              <a:t>/</a:t>
            </a:r>
            <a:endParaRPr sz="700">
              <a:latin typeface="Courier New"/>
              <a:cs typeface="Courier New"/>
            </a:endParaRPr>
          </a:p>
          <a:p>
            <a:pPr marL="147320" indent="-109855">
              <a:lnSpc>
                <a:spcPct val="100000"/>
              </a:lnSpc>
              <a:spcBef>
                <a:spcPts val="55"/>
              </a:spcBef>
              <a:buClr>
                <a:srgbClr val="666666"/>
              </a:buClr>
              <a:buAutoNum type="arabicPlain"/>
              <a:tabLst>
                <a:tab pos="147320" algn="l"/>
              </a:tabLst>
            </a:pPr>
            <a:r>
              <a:rPr dirty="0" sz="700" spc="-10">
                <a:solidFill>
                  <a:srgbClr val="007F00"/>
                </a:solidFill>
                <a:latin typeface="Courier New"/>
                <a:cs typeface="Courier New"/>
              </a:rPr>
              <a:t>history</a:t>
            </a:r>
            <a:endParaRPr sz="7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endParaRPr sz="700">
              <a:latin typeface="Courier New"/>
              <a:cs typeface="Courier New"/>
            </a:endParaRPr>
          </a:p>
          <a:p>
            <a:pPr marL="37465">
              <a:lnSpc>
                <a:spcPct val="100000"/>
              </a:lnSpc>
            </a:pPr>
            <a:r>
              <a:rPr dirty="0" sz="700" spc="-25">
                <a:latin typeface="Courier New"/>
                <a:cs typeface="Courier New"/>
              </a:rPr>
              <a:t>!5</a:t>
            </a:r>
            <a:endParaRPr sz="700">
              <a:latin typeface="Courier New"/>
              <a:cs typeface="Courier New"/>
            </a:endParaRPr>
          </a:p>
          <a:p>
            <a:pPr marL="37465">
              <a:lnSpc>
                <a:spcPct val="100000"/>
              </a:lnSpc>
              <a:spcBef>
                <a:spcPts val="55"/>
              </a:spcBef>
            </a:pPr>
            <a:r>
              <a:rPr dirty="0" sz="700">
                <a:solidFill>
                  <a:srgbClr val="007F00"/>
                </a:solidFill>
                <a:latin typeface="Courier New"/>
                <a:cs typeface="Courier New"/>
              </a:rPr>
              <a:t>cd</a:t>
            </a:r>
            <a:r>
              <a:rPr dirty="0" sz="700" spc="15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700" spc="-50">
                <a:latin typeface="Courier New"/>
                <a:cs typeface="Courier New"/>
              </a:rPr>
              <a:t>/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581304" y="6351257"/>
            <a:ext cx="4078604" cy="2571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 marR="5080" indent="97790">
              <a:lnSpc>
                <a:spcPct val="100000"/>
              </a:lnSpc>
              <a:spcBef>
                <a:spcPts val="120"/>
              </a:spcBef>
            </a:pPr>
            <a:r>
              <a:rPr dirty="0" sz="750" spc="-10">
                <a:latin typeface="Book Antiqua"/>
                <a:cs typeface="Book Antiqua"/>
              </a:rPr>
              <a:t>Можно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модифицировать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команду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из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выведенного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экран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списка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при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помощи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следу-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ющей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конструкции:</a:t>
            </a:r>
            <a:endParaRPr sz="750">
              <a:latin typeface="Book Antiqua"/>
              <a:cs typeface="Book Antiqu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79234" y="392412"/>
            <a:ext cx="107314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latin typeface="Book Antiqua"/>
                <a:cs typeface="Book Antiqua"/>
              </a:rPr>
              <a:t>44</a:t>
            </a:r>
            <a:endParaRPr sz="600">
              <a:latin typeface="Book Antiqua"/>
              <a:cs typeface="Book Antiqua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387690" y="392412"/>
            <a:ext cx="3251200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0">
                <a:latin typeface="Book Antiqua"/>
                <a:cs typeface="Book Antiqua"/>
              </a:rPr>
              <a:t>Лабораторная</a:t>
            </a:r>
            <a:r>
              <a:rPr dirty="0" sz="600" spc="15">
                <a:latin typeface="Book Antiqua"/>
                <a:cs typeface="Book Antiqua"/>
              </a:rPr>
              <a:t> </a:t>
            </a:r>
            <a:r>
              <a:rPr dirty="0" sz="600" spc="-10">
                <a:latin typeface="Book Antiqua"/>
                <a:cs typeface="Book Antiqua"/>
              </a:rPr>
              <a:t>работа</a:t>
            </a:r>
            <a:r>
              <a:rPr dirty="0" sz="600" spc="20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№</a:t>
            </a:r>
            <a:r>
              <a:rPr dirty="0" sz="600" spc="20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4.</a:t>
            </a:r>
            <a:r>
              <a:rPr dirty="0" sz="600" spc="50">
                <a:latin typeface="Book Antiqua"/>
                <a:cs typeface="Book Antiqua"/>
              </a:rPr>
              <a:t> </a:t>
            </a:r>
            <a:r>
              <a:rPr dirty="0" sz="600" spc="-10">
                <a:latin typeface="Book Antiqua"/>
                <a:cs typeface="Book Antiqua"/>
              </a:rPr>
              <a:t>Основы</a:t>
            </a:r>
            <a:r>
              <a:rPr dirty="0" sz="600" spc="20">
                <a:latin typeface="Book Antiqua"/>
                <a:cs typeface="Book Antiqua"/>
              </a:rPr>
              <a:t> </a:t>
            </a:r>
            <a:r>
              <a:rPr dirty="0" sz="600" spc="-20">
                <a:latin typeface="Book Antiqua"/>
                <a:cs typeface="Book Antiqua"/>
              </a:rPr>
              <a:t>интерфейса</a:t>
            </a:r>
            <a:r>
              <a:rPr dirty="0" sz="600" spc="20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взаимодействия</a:t>
            </a:r>
            <a:r>
              <a:rPr dirty="0" sz="600" spc="20">
                <a:latin typeface="Book Antiqua"/>
                <a:cs typeface="Book Antiqua"/>
              </a:rPr>
              <a:t> </a:t>
            </a:r>
            <a:r>
              <a:rPr dirty="0" sz="600" spc="-10">
                <a:latin typeface="Book Antiqua"/>
                <a:cs typeface="Book Antiqua"/>
              </a:rPr>
              <a:t>пользователя</a:t>
            </a:r>
            <a:r>
              <a:rPr dirty="0" sz="600" spc="20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с</a:t>
            </a:r>
            <a:r>
              <a:rPr dirty="0" sz="600" spc="20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системой</a:t>
            </a:r>
            <a:r>
              <a:rPr dirty="0" sz="600" spc="-25">
                <a:latin typeface="Book Antiqua"/>
                <a:cs typeface="Book Antiqua"/>
              </a:rPr>
              <a:t> </a:t>
            </a:r>
            <a:r>
              <a:rPr dirty="0" sz="600" spc="-50">
                <a:latin typeface="Book Antiqua"/>
                <a:cs typeface="Book Antiqua"/>
              </a:rPr>
              <a:t>…</a:t>
            </a:r>
            <a:endParaRPr sz="600">
              <a:latin typeface="Book Antiqua"/>
              <a:cs typeface="Book Antiqua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594004" y="514540"/>
            <a:ext cx="4032250" cy="0"/>
          </a:xfrm>
          <a:custGeom>
            <a:avLst/>
            <a:gdLst/>
            <a:ahLst/>
            <a:cxnLst/>
            <a:rect l="l" t="t" r="r" b="b"/>
            <a:pathLst>
              <a:path w="4032250" h="0">
                <a:moveTo>
                  <a:pt x="0" y="0"/>
                </a:moveTo>
                <a:lnTo>
                  <a:pt x="4031996" y="0"/>
                </a:lnTo>
              </a:path>
            </a:pathLst>
          </a:custGeom>
          <a:ln w="541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581304" y="660449"/>
            <a:ext cx="2594610" cy="36385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700" spc="-10">
                <a:latin typeface="Courier New"/>
                <a:cs typeface="Courier New"/>
              </a:rPr>
              <a:t>!&lt;номер_команды&gt;:s/&lt;что_меняем&gt;/&lt;на_что_меняем&gt;</a:t>
            </a:r>
            <a:endParaRPr sz="7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700">
              <a:latin typeface="Courier New"/>
              <a:cs typeface="Courier New"/>
            </a:endParaRPr>
          </a:p>
          <a:p>
            <a:pPr marL="110489">
              <a:lnSpc>
                <a:spcPct val="100000"/>
              </a:lnSpc>
            </a:pPr>
            <a:r>
              <a:rPr dirty="0" sz="750" spc="-10">
                <a:latin typeface="Book Antiqua"/>
                <a:cs typeface="Book Antiqua"/>
              </a:rPr>
              <a:t>Пример: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400405" y="1155320"/>
            <a:ext cx="54610" cy="20447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50">
                <a:latin typeface="Book Antiqua"/>
                <a:cs typeface="Book Antiqua"/>
              </a:rPr>
              <a:t>1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dirty="0" sz="400" spc="-50">
                <a:latin typeface="Book Antiqua"/>
                <a:cs typeface="Book Antiqua"/>
              </a:rPr>
              <a:t>2</a:t>
            </a:r>
            <a:endParaRPr sz="400">
              <a:latin typeface="Book Antiqua"/>
              <a:cs typeface="Book Antiqua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594004" y="1105065"/>
            <a:ext cx="4032250" cy="303530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1590" rIns="0" bIns="0" rtlCol="0" vert="horz">
            <a:spAutoFit/>
          </a:bodyPr>
          <a:lstStyle/>
          <a:p>
            <a:pPr marL="37465" marR="3549015">
              <a:lnSpc>
                <a:spcPct val="106500"/>
              </a:lnSpc>
              <a:spcBef>
                <a:spcPts val="170"/>
              </a:spcBef>
            </a:pPr>
            <a:r>
              <a:rPr dirty="0" sz="700" spc="-10">
                <a:latin typeface="Courier New"/>
                <a:cs typeface="Courier New"/>
              </a:rPr>
              <a:t>!3:s/a/F </a:t>
            </a:r>
            <a:r>
              <a:rPr dirty="0" sz="700">
                <a:latin typeface="Courier New"/>
                <a:cs typeface="Courier New"/>
              </a:rPr>
              <a:t>ls</a:t>
            </a:r>
            <a:r>
              <a:rPr dirty="0" sz="700" spc="20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-</a:t>
            </a:r>
            <a:r>
              <a:rPr dirty="0" sz="700" spc="-50">
                <a:latin typeface="Courier New"/>
                <a:cs typeface="Courier New"/>
              </a:rPr>
              <a:t>F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572071" y="1562785"/>
            <a:ext cx="4080510" cy="75755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21590">
              <a:lnSpc>
                <a:spcPts val="894"/>
              </a:lnSpc>
              <a:spcBef>
                <a:spcPts val="120"/>
              </a:spcBef>
            </a:pPr>
            <a:r>
              <a:rPr dirty="0" sz="750" b="1">
                <a:latin typeface="Book Antiqua"/>
                <a:cs typeface="Book Antiqua"/>
              </a:rPr>
              <a:t>Замечание</a:t>
            </a:r>
            <a:r>
              <a:rPr dirty="0" sz="750" spc="75" b="1">
                <a:latin typeface="Book Antiqua"/>
                <a:cs typeface="Book Antiqua"/>
              </a:rPr>
              <a:t> </a:t>
            </a:r>
            <a:r>
              <a:rPr dirty="0" sz="750" spc="50" b="1">
                <a:latin typeface="Book Antiqua"/>
                <a:cs typeface="Book Antiqua"/>
              </a:rPr>
              <a:t>3.</a:t>
            </a:r>
            <a:r>
              <a:rPr dirty="0" sz="750" spc="375" b="1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Если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заданном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контексте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встречаются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специальные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символы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(типа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«</a:t>
            </a:r>
            <a:r>
              <a:rPr dirty="0" sz="700" spc="-20">
                <a:latin typeface="Courier New"/>
                <a:cs typeface="Courier New"/>
              </a:rPr>
              <a:t>.</a:t>
            </a:r>
            <a:r>
              <a:rPr dirty="0" sz="750" spc="-20">
                <a:latin typeface="Book Antiqua"/>
                <a:cs typeface="Book Antiqua"/>
              </a:rPr>
              <a:t>»,</a:t>
            </a:r>
            <a:endParaRPr sz="750">
              <a:latin typeface="Book Antiqua"/>
              <a:cs typeface="Book Antiqua"/>
            </a:endParaRPr>
          </a:p>
          <a:p>
            <a:pPr marL="12700">
              <a:lnSpc>
                <a:spcPts val="894"/>
              </a:lnSpc>
            </a:pPr>
            <a:r>
              <a:rPr dirty="0" sz="750">
                <a:latin typeface="Book Antiqua"/>
                <a:cs typeface="Book Antiqua"/>
              </a:rPr>
              <a:t>«</a:t>
            </a:r>
            <a:r>
              <a:rPr dirty="0" sz="700">
                <a:latin typeface="Courier New"/>
                <a:cs typeface="Courier New"/>
              </a:rPr>
              <a:t>/</a:t>
            </a:r>
            <a:r>
              <a:rPr dirty="0" sz="750">
                <a:latin typeface="Book Antiqua"/>
                <a:cs typeface="Book Antiqua"/>
              </a:rPr>
              <a:t>»,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«</a:t>
            </a:r>
            <a:r>
              <a:rPr dirty="0" sz="700">
                <a:latin typeface="Courier New"/>
                <a:cs typeface="Courier New"/>
              </a:rPr>
              <a:t>*</a:t>
            </a:r>
            <a:r>
              <a:rPr dirty="0" sz="750">
                <a:latin typeface="Book Antiqua"/>
                <a:cs typeface="Book Antiqua"/>
              </a:rPr>
              <a:t>»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т.д.), надо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перед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ними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поставить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символ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экранирования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\</a:t>
            </a:r>
            <a:r>
              <a:rPr dirty="0" sz="700" spc="-195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(обратный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слэш).</a:t>
            </a:r>
            <a:endParaRPr sz="75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endParaRPr sz="750">
              <a:latin typeface="Book Antiqua"/>
              <a:cs typeface="Book Antiqua"/>
            </a:endParaRPr>
          </a:p>
          <a:p>
            <a:pPr marL="21590" marR="18415">
              <a:lnSpc>
                <a:spcPct val="100000"/>
              </a:lnSpc>
            </a:pPr>
            <a:r>
              <a:rPr dirty="0" sz="750" spc="10" b="1">
                <a:latin typeface="Book Antiqua"/>
                <a:cs typeface="Book Antiqua"/>
              </a:rPr>
              <a:t>Использование</a:t>
            </a:r>
            <a:r>
              <a:rPr dirty="0" sz="750" spc="60" b="1">
                <a:latin typeface="Book Antiqua"/>
                <a:cs typeface="Book Antiqua"/>
              </a:rPr>
              <a:t> </a:t>
            </a:r>
            <a:r>
              <a:rPr dirty="0" sz="750" spc="10" b="1">
                <a:latin typeface="Book Antiqua"/>
                <a:cs typeface="Book Antiqua"/>
              </a:rPr>
              <a:t>символа</a:t>
            </a:r>
            <a:r>
              <a:rPr dirty="0" sz="750" spc="60" b="1">
                <a:latin typeface="Book Antiqua"/>
                <a:cs typeface="Book Antiqua"/>
              </a:rPr>
              <a:t> </a:t>
            </a:r>
            <a:r>
              <a:rPr dirty="0" sz="750" spc="10" b="1">
                <a:latin typeface="Book Antiqua"/>
                <a:cs typeface="Book Antiqua"/>
              </a:rPr>
              <a:t>«;».</a:t>
            </a:r>
            <a:r>
              <a:rPr dirty="0" sz="750" spc="345" b="1">
                <a:latin typeface="Book Antiqua"/>
                <a:cs typeface="Book Antiqua"/>
              </a:rPr>
              <a:t>  </a:t>
            </a:r>
            <a:r>
              <a:rPr dirty="0" sz="750">
                <a:latin typeface="Book Antiqua"/>
                <a:cs typeface="Book Antiqua"/>
              </a:rPr>
              <a:t>Если</a:t>
            </a:r>
            <a:r>
              <a:rPr dirty="0" sz="750" spc="10">
                <a:latin typeface="Book Antiqua"/>
                <a:cs typeface="Book Antiqua"/>
              </a:rPr>
              <a:t> требуется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выполнить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последовательно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несколько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команд,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записанный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одной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строке,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то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для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этого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используется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символ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точка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запятой</a:t>
            </a:r>
            <a:endParaRPr sz="750">
              <a:latin typeface="Book Antiqua"/>
              <a:cs typeface="Book Antiqua"/>
            </a:endParaRPr>
          </a:p>
          <a:p>
            <a:pPr marL="120014">
              <a:lnSpc>
                <a:spcPts val="890"/>
              </a:lnSpc>
            </a:pPr>
            <a:r>
              <a:rPr dirty="0" sz="750" spc="-10">
                <a:latin typeface="Book Antiqua"/>
                <a:cs typeface="Book Antiqua"/>
              </a:rPr>
              <a:t>Пример: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400405" y="2451444"/>
            <a:ext cx="54610" cy="914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50">
                <a:latin typeface="Book Antiqua"/>
                <a:cs typeface="Book Antiqua"/>
              </a:rPr>
              <a:t>1</a:t>
            </a:r>
            <a:endParaRPr sz="400">
              <a:latin typeface="Book Antiqua"/>
              <a:cs typeface="Book Antiqua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594004" y="2401189"/>
            <a:ext cx="4032250" cy="189865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857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225"/>
              </a:spcBef>
            </a:pPr>
            <a:r>
              <a:rPr dirty="0" sz="700">
                <a:latin typeface="Courier New"/>
                <a:cs typeface="Courier New"/>
              </a:rPr>
              <a:t>cd;</a:t>
            </a:r>
            <a:r>
              <a:rPr dirty="0" sz="700" spc="20">
                <a:latin typeface="Courier New"/>
                <a:cs typeface="Courier New"/>
              </a:rPr>
              <a:t> </a:t>
            </a:r>
            <a:r>
              <a:rPr dirty="0" sz="700" spc="-25">
                <a:latin typeface="Courier New"/>
                <a:cs typeface="Courier New"/>
              </a:rPr>
              <a:t>ls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577367" y="2841145"/>
            <a:ext cx="4082415" cy="34480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6510">
              <a:lnSpc>
                <a:spcPct val="100000"/>
              </a:lnSpc>
              <a:spcBef>
                <a:spcPts val="105"/>
              </a:spcBef>
            </a:pPr>
            <a:r>
              <a:rPr dirty="0" sz="850" spc="10" b="1">
                <a:latin typeface="Book Antiqua"/>
                <a:cs typeface="Book Antiqua"/>
              </a:rPr>
              <a:t>4.3.</a:t>
            </a:r>
            <a:r>
              <a:rPr dirty="0" sz="850" spc="254" b="1">
                <a:latin typeface="Book Antiqua"/>
                <a:cs typeface="Book Antiqua"/>
              </a:rPr>
              <a:t>  </a:t>
            </a:r>
            <a:r>
              <a:rPr dirty="0" sz="850" spc="10" b="1">
                <a:latin typeface="Book Antiqua"/>
                <a:cs typeface="Book Antiqua"/>
              </a:rPr>
              <a:t>Последовательность</a:t>
            </a:r>
            <a:r>
              <a:rPr dirty="0" sz="850" spc="45" b="1">
                <a:latin typeface="Book Antiqua"/>
                <a:cs typeface="Book Antiqua"/>
              </a:rPr>
              <a:t> </a:t>
            </a:r>
            <a:r>
              <a:rPr dirty="0" sz="850" spc="10" b="1">
                <a:latin typeface="Book Antiqua"/>
                <a:cs typeface="Book Antiqua"/>
              </a:rPr>
              <a:t>выполнения</a:t>
            </a:r>
            <a:r>
              <a:rPr dirty="0" sz="850" spc="45" b="1">
                <a:latin typeface="Book Antiqua"/>
                <a:cs typeface="Book Antiqua"/>
              </a:rPr>
              <a:t> </a:t>
            </a:r>
            <a:r>
              <a:rPr dirty="0" sz="850" spc="-10" b="1">
                <a:latin typeface="Book Antiqua"/>
                <a:cs typeface="Book Antiqua"/>
              </a:rPr>
              <a:t>работы</a:t>
            </a:r>
            <a:endParaRPr sz="850">
              <a:latin typeface="Book Antiqua"/>
              <a:cs typeface="Book Antiqua"/>
            </a:endParaRPr>
          </a:p>
          <a:p>
            <a:pPr marL="147955" marR="5080" indent="-135890">
              <a:lnSpc>
                <a:spcPct val="100000"/>
              </a:lnSpc>
              <a:spcBef>
                <a:spcPts val="865"/>
              </a:spcBef>
              <a:buAutoNum type="arabicPeriod"/>
              <a:tabLst>
                <a:tab pos="149225" algn="l"/>
              </a:tabLst>
            </a:pPr>
            <a:r>
              <a:rPr dirty="0" sz="750">
                <a:latin typeface="Book Antiqua"/>
                <a:cs typeface="Book Antiqua"/>
              </a:rPr>
              <a:t>Определите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полное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имя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вашего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домашнего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каталога. Далее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относительно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этого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ката-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500">
                <a:latin typeface="Book Antiqua"/>
                <a:cs typeface="Book Antiqua"/>
              </a:rPr>
              <a:t>	</a:t>
            </a:r>
            <a:r>
              <a:rPr dirty="0" sz="750">
                <a:latin typeface="Book Antiqua"/>
                <a:cs typeface="Book Antiqua"/>
              </a:rPr>
              <a:t>лога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будут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выполняться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последующие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упражнения.</a:t>
            </a:r>
            <a:endParaRPr sz="750">
              <a:latin typeface="Book Antiqua"/>
              <a:cs typeface="Book Antiqua"/>
            </a:endParaRPr>
          </a:p>
          <a:p>
            <a:pPr marL="148590" indent="-135890">
              <a:lnSpc>
                <a:spcPts val="885"/>
              </a:lnSpc>
              <a:buAutoNum type="arabicPeriod"/>
              <a:tabLst>
                <a:tab pos="148590" algn="l"/>
              </a:tabLst>
            </a:pPr>
            <a:r>
              <a:rPr dirty="0" sz="750">
                <a:latin typeface="Book Antiqua"/>
                <a:cs typeface="Book Antiqua"/>
              </a:rPr>
              <a:t>Выполните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следующие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действия:</a:t>
            </a:r>
            <a:endParaRPr sz="750">
              <a:latin typeface="Book Antiqua"/>
              <a:cs typeface="Book Antiqua"/>
            </a:endParaRPr>
          </a:p>
          <a:p>
            <a:pPr lvl="1" marL="361315" indent="-215900">
              <a:lnSpc>
                <a:spcPts val="894"/>
              </a:lnSpc>
              <a:buAutoNum type="arabicPeriod"/>
              <a:tabLst>
                <a:tab pos="361315" algn="l"/>
              </a:tabLst>
            </a:pPr>
            <a:r>
              <a:rPr dirty="0" sz="750">
                <a:latin typeface="Book Antiqua"/>
                <a:cs typeface="Book Antiqua"/>
              </a:rPr>
              <a:t>Перейдите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каталог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00" spc="-20">
                <a:latin typeface="Courier New"/>
                <a:cs typeface="Courier New"/>
              </a:rPr>
              <a:t>/tmp</a:t>
            </a:r>
            <a:r>
              <a:rPr dirty="0" sz="750" spc="-20">
                <a:latin typeface="Book Antiqua"/>
                <a:cs typeface="Book Antiqua"/>
              </a:rPr>
              <a:t>.</a:t>
            </a:r>
            <a:endParaRPr sz="750">
              <a:latin typeface="Book Antiqua"/>
              <a:cs typeface="Book Antiqua"/>
            </a:endParaRPr>
          </a:p>
          <a:p>
            <a:pPr lvl="1" marL="361315" indent="-215900">
              <a:lnSpc>
                <a:spcPts val="894"/>
              </a:lnSpc>
              <a:buAutoNum type="arabicPeriod"/>
              <a:tabLst>
                <a:tab pos="361315" algn="l"/>
              </a:tabLst>
            </a:pPr>
            <a:r>
              <a:rPr dirty="0" sz="750">
                <a:latin typeface="Book Antiqua"/>
                <a:cs typeface="Book Antiqua"/>
              </a:rPr>
              <a:t>Выведите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экран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содержимое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каталога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/tmp</a:t>
            </a:r>
            <a:r>
              <a:rPr dirty="0" sz="750">
                <a:latin typeface="Book Antiqua"/>
                <a:cs typeface="Book Antiqua"/>
              </a:rPr>
              <a:t>.</a:t>
            </a:r>
            <a:r>
              <a:rPr dirty="0" sz="750" spc="-40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Для</a:t>
            </a:r>
            <a:r>
              <a:rPr dirty="0" sz="750">
                <a:latin typeface="Book Antiqua"/>
                <a:cs typeface="Book Antiqua"/>
              </a:rPr>
              <a:t> этого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используйте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команду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00" spc="-25">
                <a:latin typeface="Courier New"/>
                <a:cs typeface="Courier New"/>
              </a:rPr>
              <a:t>ls</a:t>
            </a:r>
            <a:endParaRPr sz="700">
              <a:latin typeface="Courier New"/>
              <a:cs typeface="Courier New"/>
            </a:endParaRPr>
          </a:p>
          <a:p>
            <a:pPr marL="361315">
              <a:lnSpc>
                <a:spcPts val="894"/>
              </a:lnSpc>
            </a:pPr>
            <a:r>
              <a:rPr dirty="0" sz="750">
                <a:latin typeface="Book Antiqua"/>
                <a:cs typeface="Book Antiqua"/>
              </a:rPr>
              <a:t>с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различными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опциями.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Поясните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разницу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выводимой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экран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информации.</a:t>
            </a:r>
            <a:endParaRPr sz="750">
              <a:latin typeface="Book Antiqua"/>
              <a:cs typeface="Book Antiqua"/>
            </a:endParaRPr>
          </a:p>
          <a:p>
            <a:pPr lvl="1" marL="360680" indent="-215900">
              <a:lnSpc>
                <a:spcPts val="894"/>
              </a:lnSpc>
              <a:buAutoNum type="arabicPeriod" startAt="3"/>
              <a:tabLst>
                <a:tab pos="360680" algn="l"/>
              </a:tabLst>
            </a:pPr>
            <a:r>
              <a:rPr dirty="0" sz="750">
                <a:latin typeface="Book Antiqua"/>
                <a:cs typeface="Book Antiqua"/>
              </a:rPr>
              <a:t>Определите,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есть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ли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каталоге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/var/spool</a:t>
            </a:r>
            <a:r>
              <a:rPr dirty="0" sz="700" spc="-175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подкаталог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именем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00" spc="-20">
                <a:latin typeface="Courier New"/>
                <a:cs typeface="Courier New"/>
              </a:rPr>
              <a:t>cron</a:t>
            </a:r>
            <a:r>
              <a:rPr dirty="0" sz="750" spc="-20">
                <a:latin typeface="Book Antiqua"/>
                <a:cs typeface="Book Antiqua"/>
              </a:rPr>
              <a:t>?</a:t>
            </a:r>
            <a:endParaRPr sz="750">
              <a:latin typeface="Book Antiqua"/>
              <a:cs typeface="Book Antiqua"/>
            </a:endParaRPr>
          </a:p>
          <a:p>
            <a:pPr lvl="1" marL="361315" marR="5080" indent="-216535">
              <a:lnSpc>
                <a:spcPts val="890"/>
              </a:lnSpc>
              <a:spcBef>
                <a:spcPts val="35"/>
              </a:spcBef>
              <a:buAutoNum type="arabicPeriod" startAt="3"/>
              <a:tabLst>
                <a:tab pos="361315" algn="l"/>
              </a:tabLst>
            </a:pPr>
            <a:r>
              <a:rPr dirty="0" sz="750">
                <a:latin typeface="Book Antiqua"/>
                <a:cs typeface="Book Antiqua"/>
              </a:rPr>
              <a:t>Перейдите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Ваш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домашний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каталог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выведите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экран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его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содержимое.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Опре-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делите,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кто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является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владельцем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файлов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подкаталогов?</a:t>
            </a:r>
            <a:endParaRPr sz="750">
              <a:latin typeface="Book Antiqua"/>
              <a:cs typeface="Book Antiqua"/>
            </a:endParaRPr>
          </a:p>
          <a:p>
            <a:pPr marL="148590" indent="-135890">
              <a:lnSpc>
                <a:spcPts val="869"/>
              </a:lnSpc>
              <a:buAutoNum type="arabicPeriod"/>
              <a:tabLst>
                <a:tab pos="148590" algn="l"/>
              </a:tabLst>
            </a:pPr>
            <a:r>
              <a:rPr dirty="0" sz="750">
                <a:latin typeface="Book Antiqua"/>
                <a:cs typeface="Book Antiqua"/>
              </a:rPr>
              <a:t>Выполните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следующие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действия:</a:t>
            </a:r>
            <a:endParaRPr sz="750">
              <a:latin typeface="Book Antiqua"/>
              <a:cs typeface="Book Antiqua"/>
            </a:endParaRPr>
          </a:p>
          <a:p>
            <a:pPr lvl="1" marL="360680" indent="-215900">
              <a:lnSpc>
                <a:spcPts val="894"/>
              </a:lnSpc>
              <a:buAutoNum type="arabicPeriod"/>
              <a:tabLst>
                <a:tab pos="360680" algn="l"/>
              </a:tabLst>
            </a:pP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домашнем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каталоге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создайте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новый</a:t>
            </a:r>
            <a:r>
              <a:rPr dirty="0" sz="750" spc="8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каталог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именем</a:t>
            </a:r>
            <a:r>
              <a:rPr dirty="0" sz="750" spc="80">
                <a:latin typeface="Book Antiqua"/>
                <a:cs typeface="Book Antiqua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newdir</a:t>
            </a:r>
            <a:r>
              <a:rPr dirty="0" sz="750" spc="-10">
                <a:latin typeface="Book Antiqua"/>
                <a:cs typeface="Book Antiqua"/>
              </a:rPr>
              <a:t>.</a:t>
            </a:r>
            <a:endParaRPr sz="750">
              <a:latin typeface="Book Antiqua"/>
              <a:cs typeface="Book Antiqua"/>
            </a:endParaRPr>
          </a:p>
          <a:p>
            <a:pPr lvl="1" marL="360680" indent="-215900">
              <a:lnSpc>
                <a:spcPts val="894"/>
              </a:lnSpc>
              <a:buAutoNum type="arabicPeriod"/>
              <a:tabLst>
                <a:tab pos="360680" algn="l"/>
              </a:tabLst>
            </a:pP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каталоге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~/newdir</a:t>
            </a:r>
            <a:r>
              <a:rPr dirty="0" sz="700" spc="-165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создайте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новый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каталог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именем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morefun</a:t>
            </a:r>
            <a:r>
              <a:rPr dirty="0" sz="750" spc="-10">
                <a:latin typeface="Book Antiqua"/>
                <a:cs typeface="Book Antiqua"/>
              </a:rPr>
              <a:t>.</a:t>
            </a:r>
            <a:endParaRPr sz="750">
              <a:latin typeface="Book Antiqua"/>
              <a:cs typeface="Book Antiqua"/>
            </a:endParaRPr>
          </a:p>
          <a:p>
            <a:pPr lvl="1" marL="360680" indent="-215900">
              <a:lnSpc>
                <a:spcPts val="894"/>
              </a:lnSpc>
              <a:buAutoNum type="arabicPeriod"/>
              <a:tabLst>
                <a:tab pos="360680" algn="l"/>
              </a:tabLst>
            </a:pP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домашнем</a:t>
            </a:r>
            <a:r>
              <a:rPr dirty="0" sz="750" spc="8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каталоге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создайте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одной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командой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три</a:t>
            </a:r>
            <a:r>
              <a:rPr dirty="0" sz="750" spc="8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новых</a:t>
            </a:r>
            <a:r>
              <a:rPr dirty="0" sz="750" spc="8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каталога</a:t>
            </a:r>
            <a:r>
              <a:rPr dirty="0" sz="750" spc="8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</a:t>
            </a:r>
            <a:r>
              <a:rPr dirty="0" sz="750" spc="8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именами</a:t>
            </a:r>
            <a:endParaRPr sz="750">
              <a:latin typeface="Book Antiqua"/>
              <a:cs typeface="Book Antiqua"/>
            </a:endParaRPr>
          </a:p>
          <a:p>
            <a:pPr marL="361315">
              <a:lnSpc>
                <a:spcPts val="894"/>
              </a:lnSpc>
            </a:pPr>
            <a:r>
              <a:rPr dirty="0" sz="700">
                <a:latin typeface="Courier New"/>
                <a:cs typeface="Courier New"/>
              </a:rPr>
              <a:t>letters</a:t>
            </a:r>
            <a:r>
              <a:rPr dirty="0" sz="750">
                <a:latin typeface="Book Antiqua"/>
                <a:cs typeface="Book Antiqua"/>
              </a:rPr>
              <a:t>, </a:t>
            </a:r>
            <a:r>
              <a:rPr dirty="0" sz="700">
                <a:latin typeface="Courier New"/>
                <a:cs typeface="Courier New"/>
              </a:rPr>
              <a:t>memos</a:t>
            </a:r>
            <a:r>
              <a:rPr dirty="0" sz="750">
                <a:latin typeface="Book Antiqua"/>
                <a:cs typeface="Book Antiqua"/>
              </a:rPr>
              <a:t>,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misk</a:t>
            </a:r>
            <a:r>
              <a:rPr dirty="0" sz="750">
                <a:latin typeface="Book Antiqua"/>
                <a:cs typeface="Book Antiqua"/>
              </a:rPr>
              <a:t>.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Затем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удалите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эти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каталоги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одной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командой.</a:t>
            </a:r>
            <a:endParaRPr sz="750">
              <a:latin typeface="Book Antiqua"/>
              <a:cs typeface="Book Antiqua"/>
            </a:endParaRPr>
          </a:p>
          <a:p>
            <a:pPr lvl="1" marL="361315" marR="12065" indent="-216535">
              <a:lnSpc>
                <a:spcPts val="890"/>
              </a:lnSpc>
              <a:spcBef>
                <a:spcPts val="35"/>
              </a:spcBef>
              <a:buAutoNum type="arabicPeriod" startAt="4"/>
              <a:tabLst>
                <a:tab pos="361315" algn="l"/>
              </a:tabLst>
            </a:pPr>
            <a:r>
              <a:rPr dirty="0" sz="750" spc="-20">
                <a:latin typeface="Book Antiqua"/>
                <a:cs typeface="Book Antiqua"/>
              </a:rPr>
              <a:t>Попробуйте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удалить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ранее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созданный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каталог </a:t>
            </a:r>
            <a:r>
              <a:rPr dirty="0" sz="700">
                <a:latin typeface="Courier New"/>
                <a:cs typeface="Courier New"/>
              </a:rPr>
              <a:t>~/newdir</a:t>
            </a:r>
            <a:r>
              <a:rPr dirty="0" sz="700" spc="-210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командой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rm</a:t>
            </a:r>
            <a:r>
              <a:rPr dirty="0" sz="750">
                <a:latin typeface="Book Antiqua"/>
                <a:cs typeface="Book Antiqua"/>
              </a:rPr>
              <a:t>.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Проверьте,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был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ли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каталог </a:t>
            </a:r>
            <a:r>
              <a:rPr dirty="0" sz="750" spc="-10">
                <a:latin typeface="Book Antiqua"/>
                <a:cs typeface="Book Antiqua"/>
              </a:rPr>
              <a:t>удалён.</a:t>
            </a:r>
            <a:endParaRPr sz="750">
              <a:latin typeface="Book Antiqua"/>
              <a:cs typeface="Book Antiqua"/>
            </a:endParaRPr>
          </a:p>
          <a:p>
            <a:pPr lvl="1" marL="361315" marR="26034" indent="-216535">
              <a:lnSpc>
                <a:spcPts val="890"/>
              </a:lnSpc>
              <a:spcBef>
                <a:spcPts val="10"/>
              </a:spcBef>
              <a:buAutoNum type="arabicPeriod" startAt="4"/>
              <a:tabLst>
                <a:tab pos="361315" algn="l"/>
              </a:tabLst>
            </a:pPr>
            <a:r>
              <a:rPr dirty="0" sz="750">
                <a:latin typeface="Book Antiqua"/>
                <a:cs typeface="Book Antiqua"/>
              </a:rPr>
              <a:t>Удалите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каталог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~/newdir/morefun</a:t>
            </a:r>
            <a:r>
              <a:rPr dirty="0" sz="700" spc="-180">
                <a:latin typeface="Courier New"/>
                <a:cs typeface="Courier New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из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домашнего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каталога. Проверьте,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был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-25">
                <a:latin typeface="Book Antiqua"/>
                <a:cs typeface="Book Antiqua"/>
              </a:rPr>
              <a:t>ли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каталог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удалён.</a:t>
            </a:r>
            <a:endParaRPr sz="750">
              <a:latin typeface="Book Antiqua"/>
              <a:cs typeface="Book Antiqua"/>
            </a:endParaRPr>
          </a:p>
          <a:p>
            <a:pPr algn="just" marL="147955" marR="5080" indent="-135890">
              <a:lnSpc>
                <a:spcPts val="890"/>
              </a:lnSpc>
              <a:spcBef>
                <a:spcPts val="10"/>
              </a:spcBef>
              <a:buAutoNum type="arabicPeriod"/>
              <a:tabLst>
                <a:tab pos="149225" algn="l"/>
              </a:tabLst>
            </a:pPr>
            <a:r>
              <a:rPr dirty="0" sz="750">
                <a:latin typeface="Book Antiqua"/>
                <a:cs typeface="Book Antiqua"/>
              </a:rPr>
              <a:t>С</a:t>
            </a:r>
            <a:r>
              <a:rPr dirty="0" sz="750" spc="1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помощью</a:t>
            </a:r>
            <a:r>
              <a:rPr dirty="0" sz="750" spc="1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команды</a:t>
            </a:r>
            <a:r>
              <a:rPr dirty="0" sz="750" spc="165">
                <a:latin typeface="Book Antiqua"/>
                <a:cs typeface="Book Antiqua"/>
              </a:rPr>
              <a:t> </a:t>
            </a:r>
            <a:r>
              <a:rPr dirty="0" sz="700" spc="-25">
                <a:latin typeface="Courier New"/>
                <a:cs typeface="Courier New"/>
              </a:rPr>
              <a:t>man</a:t>
            </a:r>
            <a:r>
              <a:rPr dirty="0" sz="700" spc="-65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определите,</a:t>
            </a:r>
            <a:r>
              <a:rPr dirty="0" sz="750" spc="1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какую</a:t>
            </a:r>
            <a:r>
              <a:rPr dirty="0" sz="750" spc="1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опцию</a:t>
            </a:r>
            <a:r>
              <a:rPr dirty="0" sz="750" spc="1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команды</a:t>
            </a:r>
            <a:r>
              <a:rPr dirty="0" sz="750" spc="165">
                <a:latin typeface="Book Antiqua"/>
                <a:cs typeface="Book Antiqua"/>
              </a:rPr>
              <a:t> </a:t>
            </a:r>
            <a:r>
              <a:rPr dirty="0" sz="700" spc="-55">
                <a:latin typeface="Courier New"/>
                <a:cs typeface="Courier New"/>
              </a:rPr>
              <a:t>ls</a:t>
            </a:r>
            <a:r>
              <a:rPr dirty="0" sz="700" spc="-50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нужно</a:t>
            </a:r>
            <a:r>
              <a:rPr dirty="0" sz="750" spc="16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использо-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500">
                <a:latin typeface="Book Antiqua"/>
                <a:cs typeface="Book Antiqua"/>
              </a:rPr>
              <a:t>	</a:t>
            </a:r>
            <a:r>
              <a:rPr dirty="0" sz="750" spc="10">
                <a:latin typeface="Book Antiqua"/>
                <a:cs typeface="Book Antiqua"/>
              </a:rPr>
              <a:t>вать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для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просмотра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содержимое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не только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указанного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каталога,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но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и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подкаталогов,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500">
                <a:latin typeface="Book Antiqua"/>
                <a:cs typeface="Book Antiqua"/>
              </a:rPr>
              <a:t>	</a:t>
            </a:r>
            <a:r>
              <a:rPr dirty="0" sz="750">
                <a:latin typeface="Book Antiqua"/>
                <a:cs typeface="Book Antiqua"/>
              </a:rPr>
              <a:t>входящих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него.</a:t>
            </a:r>
            <a:endParaRPr sz="750">
              <a:latin typeface="Book Antiqua"/>
              <a:cs typeface="Book Antiqua"/>
            </a:endParaRPr>
          </a:p>
          <a:p>
            <a:pPr algn="just" marL="147955" marR="5080" indent="-135890">
              <a:lnSpc>
                <a:spcPts val="890"/>
              </a:lnSpc>
              <a:spcBef>
                <a:spcPts val="15"/>
              </a:spcBef>
              <a:buAutoNum type="arabicPeriod"/>
              <a:tabLst>
                <a:tab pos="149225" algn="l"/>
              </a:tabLst>
            </a:pPr>
            <a:r>
              <a:rPr dirty="0" sz="750" spc="-55">
                <a:latin typeface="Book Antiqua"/>
                <a:cs typeface="Book Antiqua"/>
              </a:rPr>
              <a:t>С</a:t>
            </a:r>
            <a:r>
              <a:rPr dirty="0" sz="750" spc="-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помощью</a:t>
            </a:r>
            <a:r>
              <a:rPr dirty="0" sz="750" spc="-40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команды</a:t>
            </a:r>
            <a:r>
              <a:rPr dirty="0" sz="750" spc="-4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man</a:t>
            </a:r>
            <a:r>
              <a:rPr dirty="0" sz="700" spc="-270">
                <a:latin typeface="Courier New"/>
                <a:cs typeface="Courier New"/>
              </a:rPr>
              <a:t> </a:t>
            </a:r>
            <a:r>
              <a:rPr dirty="0" sz="750" spc="-5">
                <a:latin typeface="Book Antiqua"/>
                <a:cs typeface="Book Antiqua"/>
              </a:rPr>
              <a:t>определите</a:t>
            </a:r>
            <a:r>
              <a:rPr dirty="0" sz="750" spc="-4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набор</a:t>
            </a:r>
            <a:r>
              <a:rPr dirty="0" sz="750" spc="-40">
                <a:latin typeface="Book Antiqua"/>
                <a:cs typeface="Book Antiqua"/>
              </a:rPr>
              <a:t> </a:t>
            </a:r>
            <a:r>
              <a:rPr dirty="0" sz="750" spc="-5">
                <a:latin typeface="Book Antiqua"/>
                <a:cs typeface="Book Antiqua"/>
              </a:rPr>
              <a:t>опций</a:t>
            </a:r>
            <a:r>
              <a:rPr dirty="0" sz="750" spc="-40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команды</a:t>
            </a:r>
            <a:r>
              <a:rPr dirty="0" sz="750" spc="-40">
                <a:latin typeface="Book Antiqua"/>
                <a:cs typeface="Book Antiqua"/>
              </a:rPr>
              <a:t> </a:t>
            </a:r>
            <a:r>
              <a:rPr dirty="0" sz="700" spc="10">
                <a:latin typeface="Courier New"/>
                <a:cs typeface="Courier New"/>
              </a:rPr>
              <a:t>ls</a:t>
            </a:r>
            <a:r>
              <a:rPr dirty="0" sz="750" spc="10">
                <a:latin typeface="Book Antiqua"/>
                <a:cs typeface="Book Antiqua"/>
              </a:rPr>
              <a:t>,</a:t>
            </a:r>
            <a:r>
              <a:rPr dirty="0" sz="750" spc="-70">
                <a:latin typeface="Book Antiqua"/>
                <a:cs typeface="Book Antiqua"/>
              </a:rPr>
              <a:t> </a:t>
            </a:r>
            <a:r>
              <a:rPr dirty="0" sz="750" spc="-5">
                <a:latin typeface="Book Antiqua"/>
                <a:cs typeface="Book Antiqua"/>
              </a:rPr>
              <a:t>позволяющий</a:t>
            </a:r>
            <a:r>
              <a:rPr dirty="0" sz="750" spc="-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отсорти-</a:t>
            </a:r>
            <a:r>
              <a:rPr dirty="0" sz="750" spc="10">
                <a:latin typeface="Book Antiqua"/>
                <a:cs typeface="Book Antiqua"/>
              </a:rPr>
              <a:t> 	ровать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по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времени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последнего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изменения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выводимый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список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содержимого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каталога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	</a:t>
            </a:r>
            <a:r>
              <a:rPr dirty="0" sz="750" spc="20">
                <a:latin typeface="Book Antiqua"/>
                <a:cs typeface="Book Antiqua"/>
              </a:rPr>
              <a:t>с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развёрнутым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описанием</a:t>
            </a:r>
            <a:r>
              <a:rPr dirty="0" sz="750">
                <a:latin typeface="Book Antiqua"/>
                <a:cs typeface="Book Antiqua"/>
              </a:rPr>
              <a:t> файлов.</a:t>
            </a:r>
            <a:endParaRPr sz="750">
              <a:latin typeface="Book Antiqua"/>
              <a:cs typeface="Book Antiqua"/>
            </a:endParaRPr>
          </a:p>
          <a:p>
            <a:pPr algn="just" marL="147955" marR="12065" indent="-135890">
              <a:lnSpc>
                <a:spcPts val="890"/>
              </a:lnSpc>
              <a:spcBef>
                <a:spcPts val="10"/>
              </a:spcBef>
              <a:buAutoNum type="arabicPeriod"/>
              <a:tabLst>
                <a:tab pos="149225" algn="l"/>
              </a:tabLst>
            </a:pPr>
            <a:r>
              <a:rPr dirty="0" sz="750" spc="-10">
                <a:latin typeface="Book Antiqua"/>
                <a:cs typeface="Book Antiqua"/>
              </a:rPr>
              <a:t>Используйте</a:t>
            </a:r>
            <a:r>
              <a:rPr dirty="0" sz="750" spc="-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команду</a:t>
            </a:r>
            <a:r>
              <a:rPr dirty="0" sz="750" spc="-45">
                <a:latin typeface="Book Antiqua"/>
                <a:cs typeface="Book Antiqua"/>
              </a:rPr>
              <a:t> </a:t>
            </a:r>
            <a:r>
              <a:rPr dirty="0" sz="700" spc="-85">
                <a:latin typeface="Courier New"/>
                <a:cs typeface="Courier New"/>
              </a:rPr>
              <a:t>man</a:t>
            </a:r>
            <a:r>
              <a:rPr dirty="0" sz="700" spc="-20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для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просмотра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описания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следующих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команд: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cd</a:t>
            </a:r>
            <a:r>
              <a:rPr dirty="0" sz="750">
                <a:latin typeface="Book Antiqua"/>
                <a:cs typeface="Book Antiqua"/>
              </a:rPr>
              <a:t>,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pwd</a:t>
            </a:r>
            <a:r>
              <a:rPr dirty="0" sz="750">
                <a:latin typeface="Book Antiqua"/>
                <a:cs typeface="Book Antiqua"/>
              </a:rPr>
              <a:t>,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mkdir</a:t>
            </a:r>
            <a:r>
              <a:rPr dirty="0" sz="750" spc="-10">
                <a:latin typeface="Book Antiqua"/>
                <a:cs typeface="Book Antiqua"/>
              </a:rPr>
              <a:t>,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500">
                <a:latin typeface="Book Antiqua"/>
                <a:cs typeface="Book Antiqua"/>
              </a:rPr>
              <a:t>	</a:t>
            </a:r>
            <a:r>
              <a:rPr dirty="0" sz="700">
                <a:latin typeface="Courier New"/>
                <a:cs typeface="Courier New"/>
              </a:rPr>
              <a:t>rmdir</a:t>
            </a:r>
            <a:r>
              <a:rPr dirty="0" sz="750">
                <a:latin typeface="Book Antiqua"/>
                <a:cs typeface="Book Antiqua"/>
              </a:rPr>
              <a:t>,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rm</a:t>
            </a:r>
            <a:r>
              <a:rPr dirty="0" sz="750">
                <a:latin typeface="Book Antiqua"/>
                <a:cs typeface="Book Antiqua"/>
              </a:rPr>
              <a:t>.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Поясните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основные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опции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этих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команд.</a:t>
            </a:r>
            <a:endParaRPr sz="750">
              <a:latin typeface="Book Antiqua"/>
              <a:cs typeface="Book Antiqua"/>
            </a:endParaRPr>
          </a:p>
          <a:p>
            <a:pPr algn="just" marL="147955" marR="5080" indent="-125730">
              <a:lnSpc>
                <a:spcPts val="890"/>
              </a:lnSpc>
              <a:spcBef>
                <a:spcPts val="10"/>
              </a:spcBef>
              <a:buAutoNum type="arabicPeriod"/>
              <a:tabLst>
                <a:tab pos="149225" algn="l"/>
              </a:tabLst>
            </a:pPr>
            <a:r>
              <a:rPr dirty="0" sz="750">
                <a:latin typeface="Book Antiqua"/>
                <a:cs typeface="Book Antiqua"/>
              </a:rPr>
              <a:t>Используя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информацию,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полученную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при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помощи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команды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history</a:t>
            </a:r>
            <a:r>
              <a:rPr dirty="0" sz="750">
                <a:latin typeface="Book Antiqua"/>
                <a:cs typeface="Book Antiqua"/>
              </a:rPr>
              <a:t>,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выполните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-25">
                <a:latin typeface="Book Antiqua"/>
                <a:cs typeface="Book Antiqua"/>
              </a:rPr>
              <a:t>мо-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500">
                <a:latin typeface="Book Antiqua"/>
                <a:cs typeface="Book Antiqua"/>
              </a:rPr>
              <a:t>	</a:t>
            </a:r>
            <a:r>
              <a:rPr dirty="0" sz="750">
                <a:latin typeface="Book Antiqua"/>
                <a:cs typeface="Book Antiqua"/>
              </a:rPr>
              <a:t>дификацию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исполнение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нескольких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из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буфера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команд.</a:t>
            </a:r>
            <a:endParaRPr sz="750">
              <a:latin typeface="Book Antiqua"/>
              <a:cs typeface="Book Antiqu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81304" y="392412"/>
            <a:ext cx="1534795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40" i="1">
                <a:latin typeface="Georgia"/>
                <a:cs typeface="Georgia"/>
              </a:rPr>
              <a:t>Кулябов</a:t>
            </a:r>
            <a:r>
              <a:rPr dirty="0" sz="600" spc="-5" i="1">
                <a:latin typeface="Georgia"/>
                <a:cs typeface="Georgia"/>
              </a:rPr>
              <a:t> </a:t>
            </a:r>
            <a:r>
              <a:rPr dirty="0" sz="600" spc="-30" i="1">
                <a:latin typeface="Georgia"/>
                <a:cs typeface="Georgia"/>
              </a:rPr>
              <a:t>Д.</a:t>
            </a:r>
            <a:r>
              <a:rPr dirty="0" sz="600" spc="-50" i="1">
                <a:latin typeface="Georgia"/>
                <a:cs typeface="Georgia"/>
              </a:rPr>
              <a:t> </a:t>
            </a:r>
            <a:r>
              <a:rPr dirty="0" sz="600" spc="-10" i="1">
                <a:latin typeface="Georgia"/>
                <a:cs typeface="Georgia"/>
              </a:rPr>
              <a:t>С.</a:t>
            </a:r>
            <a:r>
              <a:rPr dirty="0" sz="600" spc="-25" i="1">
                <a:latin typeface="Georgia"/>
                <a:cs typeface="Georgia"/>
              </a:rPr>
              <a:t> </a:t>
            </a:r>
            <a:r>
              <a:rPr dirty="0" sz="600" i="1">
                <a:latin typeface="Georgia"/>
                <a:cs typeface="Georgia"/>
              </a:rPr>
              <a:t>и</a:t>
            </a:r>
            <a:r>
              <a:rPr dirty="0" sz="600" spc="-5" i="1">
                <a:latin typeface="Georgia"/>
                <a:cs typeface="Georgia"/>
              </a:rPr>
              <a:t> </a:t>
            </a:r>
            <a:r>
              <a:rPr dirty="0" sz="600" i="1">
                <a:latin typeface="Georgia"/>
                <a:cs typeface="Georgia"/>
              </a:rPr>
              <a:t>др.</a:t>
            </a:r>
            <a:r>
              <a:rPr dirty="0" sz="600" spc="55" i="1">
                <a:latin typeface="Georgia"/>
                <a:cs typeface="Georgia"/>
              </a:rPr>
              <a:t> </a:t>
            </a:r>
            <a:r>
              <a:rPr dirty="0" sz="600" spc="-10">
                <a:latin typeface="Book Antiqua"/>
                <a:cs typeface="Book Antiqua"/>
              </a:rPr>
              <a:t>Операционные</a:t>
            </a:r>
            <a:r>
              <a:rPr dirty="0" sz="600" spc="-5">
                <a:latin typeface="Book Antiqua"/>
                <a:cs typeface="Book Antiqua"/>
              </a:rPr>
              <a:t> </a:t>
            </a:r>
            <a:r>
              <a:rPr dirty="0" sz="600" spc="-10">
                <a:latin typeface="Book Antiqua"/>
                <a:cs typeface="Book Antiqua"/>
              </a:rPr>
              <a:t>системы</a:t>
            </a:r>
            <a:endParaRPr sz="600">
              <a:latin typeface="Book Antiqua"/>
              <a:cs typeface="Book Antiqua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4531906" y="392412"/>
            <a:ext cx="107314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latin typeface="Book Antiqua"/>
                <a:cs typeface="Book Antiqua"/>
              </a:rPr>
              <a:t>45</a:t>
            </a:r>
            <a:endParaRPr sz="600">
              <a:latin typeface="Book Antiqua"/>
              <a:cs typeface="Book Antiqua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594004" y="514540"/>
            <a:ext cx="4032250" cy="0"/>
          </a:xfrm>
          <a:custGeom>
            <a:avLst/>
            <a:gdLst/>
            <a:ahLst/>
            <a:cxnLst/>
            <a:rect l="l" t="t" r="r" b="b"/>
            <a:pathLst>
              <a:path w="4032250" h="0">
                <a:moveTo>
                  <a:pt x="0" y="0"/>
                </a:moveTo>
                <a:lnTo>
                  <a:pt x="4031996" y="0"/>
                </a:lnTo>
              </a:path>
            </a:pathLst>
          </a:custGeom>
          <a:ln w="541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525056" y="642482"/>
            <a:ext cx="4135120" cy="4084954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68580">
              <a:lnSpc>
                <a:spcPct val="100000"/>
              </a:lnSpc>
              <a:spcBef>
                <a:spcPts val="105"/>
              </a:spcBef>
            </a:pPr>
            <a:r>
              <a:rPr dirty="0" sz="850" b="1">
                <a:latin typeface="Book Antiqua"/>
                <a:cs typeface="Book Antiqua"/>
              </a:rPr>
              <a:t>4.4.</a:t>
            </a:r>
            <a:r>
              <a:rPr dirty="0" sz="850" spc="280" b="1">
                <a:latin typeface="Book Antiqua"/>
                <a:cs typeface="Book Antiqua"/>
              </a:rPr>
              <a:t>  </a:t>
            </a:r>
            <a:r>
              <a:rPr dirty="0" sz="850" b="1">
                <a:latin typeface="Book Antiqua"/>
                <a:cs typeface="Book Antiqua"/>
              </a:rPr>
              <a:t>Содержание</a:t>
            </a:r>
            <a:r>
              <a:rPr dirty="0" sz="850" spc="60" b="1">
                <a:latin typeface="Book Antiqua"/>
                <a:cs typeface="Book Antiqua"/>
              </a:rPr>
              <a:t> </a:t>
            </a:r>
            <a:r>
              <a:rPr dirty="0" sz="850" spc="-10" b="1">
                <a:latin typeface="Book Antiqua"/>
                <a:cs typeface="Book Antiqua"/>
              </a:rPr>
              <a:t>отчёта</a:t>
            </a:r>
            <a:endParaRPr sz="850">
              <a:latin typeface="Book Antiqua"/>
              <a:cs typeface="Book Antiqua"/>
            </a:endParaRPr>
          </a:p>
          <a:p>
            <a:pPr marL="200660" indent="-135890">
              <a:lnSpc>
                <a:spcPts val="894"/>
              </a:lnSpc>
              <a:spcBef>
                <a:spcPts val="865"/>
              </a:spcBef>
              <a:buAutoNum type="arabicPeriod"/>
              <a:tabLst>
                <a:tab pos="200660" algn="l"/>
              </a:tabLst>
            </a:pPr>
            <a:r>
              <a:rPr dirty="0" sz="750">
                <a:latin typeface="Book Antiqua"/>
                <a:cs typeface="Book Antiqua"/>
              </a:rPr>
              <a:t>Титульный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лист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указанием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номера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лабораторной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работы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-40">
                <a:latin typeface="Book Antiqua"/>
                <a:cs typeface="Book Antiqua"/>
              </a:rPr>
              <a:t>ФИО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студента.</a:t>
            </a:r>
            <a:endParaRPr sz="750">
              <a:latin typeface="Book Antiqua"/>
              <a:cs typeface="Book Antiqua"/>
            </a:endParaRPr>
          </a:p>
          <a:p>
            <a:pPr marL="200660" indent="-135890">
              <a:lnSpc>
                <a:spcPts val="894"/>
              </a:lnSpc>
              <a:buAutoNum type="arabicPeriod"/>
              <a:tabLst>
                <a:tab pos="200660" algn="l"/>
              </a:tabLst>
            </a:pPr>
            <a:r>
              <a:rPr dirty="0" sz="750">
                <a:latin typeface="Book Antiqua"/>
                <a:cs typeface="Book Antiqua"/>
              </a:rPr>
              <a:t>Формулировка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цели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работы.</a:t>
            </a:r>
            <a:endParaRPr sz="750">
              <a:latin typeface="Book Antiqua"/>
              <a:cs typeface="Book Antiqua"/>
            </a:endParaRPr>
          </a:p>
          <a:p>
            <a:pPr marL="200660" indent="-135890">
              <a:lnSpc>
                <a:spcPts val="894"/>
              </a:lnSpc>
              <a:buAutoNum type="arabicPeriod"/>
              <a:tabLst>
                <a:tab pos="200660" algn="l"/>
              </a:tabLst>
            </a:pPr>
            <a:r>
              <a:rPr dirty="0" sz="750">
                <a:latin typeface="Book Antiqua"/>
                <a:cs typeface="Book Antiqua"/>
              </a:rPr>
              <a:t>Описание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результатов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выполнения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задания:</a:t>
            </a:r>
            <a:endParaRPr sz="750">
              <a:latin typeface="Book Antiqua"/>
              <a:cs typeface="Book Antiqua"/>
            </a:endParaRPr>
          </a:p>
          <a:p>
            <a:pPr lvl="1" marL="412750" indent="-117475">
              <a:lnSpc>
                <a:spcPts val="894"/>
              </a:lnSpc>
              <a:buFont typeface="Book Antiqua"/>
              <a:buChar char="–"/>
              <a:tabLst>
                <a:tab pos="412750" algn="l"/>
              </a:tabLst>
            </a:pPr>
            <a:r>
              <a:rPr dirty="0" sz="750">
                <a:latin typeface="Book Antiqua"/>
                <a:cs typeface="Book Antiqua"/>
              </a:rPr>
              <a:t>скриншоты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(снимки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экрана),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фиксирующие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выполнение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лабораторной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работы;</a:t>
            </a:r>
            <a:endParaRPr sz="750">
              <a:latin typeface="Book Antiqua"/>
              <a:cs typeface="Book Antiqua"/>
            </a:endParaRPr>
          </a:p>
          <a:p>
            <a:pPr lvl="1" marL="412750" indent="-117475">
              <a:lnSpc>
                <a:spcPts val="894"/>
              </a:lnSpc>
              <a:buFont typeface="Book Antiqua"/>
              <a:buChar char="–"/>
              <a:tabLst>
                <a:tab pos="412750" algn="l"/>
              </a:tabLst>
            </a:pPr>
            <a:r>
              <a:rPr dirty="0" sz="750">
                <a:latin typeface="Book Antiqua"/>
                <a:cs typeface="Book Antiqua"/>
              </a:rPr>
              <a:t>листинги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(исходный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код)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программ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(если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они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есть);</a:t>
            </a:r>
            <a:endParaRPr sz="750">
              <a:latin typeface="Book Antiqua"/>
              <a:cs typeface="Book Antiqua"/>
            </a:endParaRPr>
          </a:p>
          <a:p>
            <a:pPr lvl="1" marL="412750" marR="26034" indent="-117475">
              <a:lnSpc>
                <a:spcPts val="890"/>
              </a:lnSpc>
              <a:spcBef>
                <a:spcPts val="35"/>
              </a:spcBef>
              <a:buFont typeface="Book Antiqua"/>
              <a:buChar char="–"/>
              <a:tabLst>
                <a:tab pos="414020" algn="l"/>
              </a:tabLst>
            </a:pPr>
            <a:r>
              <a:rPr dirty="0" sz="750" spc="10">
                <a:latin typeface="Book Antiqua"/>
                <a:cs typeface="Book Antiqua"/>
              </a:rPr>
              <a:t>результаты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выполнения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программ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(текст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или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снимок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экрана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50">
                <a:latin typeface="Book Antiqua"/>
                <a:cs typeface="Book Antiqua"/>
              </a:rPr>
              <a:t>в </a:t>
            </a:r>
            <a:r>
              <a:rPr dirty="0" sz="750" spc="10">
                <a:latin typeface="Book Antiqua"/>
                <a:cs typeface="Book Antiqua"/>
              </a:rPr>
              <a:t>зависимости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-25">
                <a:latin typeface="Book Antiqua"/>
                <a:cs typeface="Book Antiqua"/>
              </a:rPr>
              <a:t>от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500">
                <a:latin typeface="Book Antiqua"/>
                <a:cs typeface="Book Antiqua"/>
              </a:rPr>
              <a:t>	</a:t>
            </a:r>
            <a:r>
              <a:rPr dirty="0" sz="750" spc="-10">
                <a:latin typeface="Book Antiqua"/>
                <a:cs typeface="Book Antiqua"/>
              </a:rPr>
              <a:t>задания).</a:t>
            </a:r>
            <a:endParaRPr sz="750">
              <a:latin typeface="Book Antiqua"/>
              <a:cs typeface="Book Antiqua"/>
            </a:endParaRPr>
          </a:p>
          <a:p>
            <a:pPr marL="200660" indent="-135890">
              <a:lnSpc>
                <a:spcPts val="869"/>
              </a:lnSpc>
              <a:buAutoNum type="arabicPeriod"/>
              <a:tabLst>
                <a:tab pos="200660" algn="l"/>
              </a:tabLst>
            </a:pPr>
            <a:r>
              <a:rPr dirty="0" sz="750">
                <a:latin typeface="Book Antiqua"/>
                <a:cs typeface="Book Antiqua"/>
              </a:rPr>
              <a:t>Выводы,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согласованные</a:t>
            </a:r>
            <a:r>
              <a:rPr dirty="0" sz="750" spc="8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</a:t>
            </a:r>
            <a:r>
              <a:rPr dirty="0" sz="750" spc="8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целью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работы.</a:t>
            </a:r>
            <a:endParaRPr sz="750">
              <a:latin typeface="Book Antiqua"/>
              <a:cs typeface="Book Antiqua"/>
            </a:endParaRPr>
          </a:p>
          <a:p>
            <a:pPr marL="200660" indent="-135890">
              <a:lnSpc>
                <a:spcPts val="894"/>
              </a:lnSpc>
              <a:buAutoNum type="arabicPeriod"/>
              <a:tabLst>
                <a:tab pos="200660" algn="l"/>
              </a:tabLst>
            </a:pPr>
            <a:r>
              <a:rPr dirty="0" sz="750">
                <a:latin typeface="Book Antiqua"/>
                <a:cs typeface="Book Antiqua"/>
              </a:rPr>
              <a:t>Ответы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контрольные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вопросы.</a:t>
            </a:r>
            <a:endParaRPr sz="75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sz="750">
              <a:latin typeface="Book Antiqua"/>
              <a:cs typeface="Book Antiqua"/>
            </a:endParaRPr>
          </a:p>
          <a:p>
            <a:pPr marL="68580">
              <a:lnSpc>
                <a:spcPct val="100000"/>
              </a:lnSpc>
            </a:pPr>
            <a:r>
              <a:rPr dirty="0" sz="850" b="1">
                <a:latin typeface="Book Antiqua"/>
                <a:cs typeface="Book Antiqua"/>
              </a:rPr>
              <a:t>4.5.</a:t>
            </a:r>
            <a:r>
              <a:rPr dirty="0" sz="850" spc="280" b="1">
                <a:latin typeface="Book Antiqua"/>
                <a:cs typeface="Book Antiqua"/>
              </a:rPr>
              <a:t>  </a:t>
            </a:r>
            <a:r>
              <a:rPr dirty="0" sz="850" b="1">
                <a:latin typeface="Book Antiqua"/>
                <a:cs typeface="Book Antiqua"/>
              </a:rPr>
              <a:t>Контрольные</a:t>
            </a:r>
            <a:r>
              <a:rPr dirty="0" sz="850" spc="60" b="1">
                <a:latin typeface="Book Antiqua"/>
                <a:cs typeface="Book Antiqua"/>
              </a:rPr>
              <a:t> </a:t>
            </a:r>
            <a:r>
              <a:rPr dirty="0" sz="850" spc="-10" b="1">
                <a:latin typeface="Book Antiqua"/>
                <a:cs typeface="Book Antiqua"/>
              </a:rPr>
              <a:t>вопросы</a:t>
            </a:r>
            <a:endParaRPr sz="850">
              <a:latin typeface="Book Antiqua"/>
              <a:cs typeface="Book Antiqua"/>
            </a:endParaRPr>
          </a:p>
          <a:p>
            <a:pPr marL="200660" indent="-135890">
              <a:lnSpc>
                <a:spcPts val="894"/>
              </a:lnSpc>
              <a:spcBef>
                <a:spcPts val="865"/>
              </a:spcBef>
              <a:buAutoNum type="arabicPeriod"/>
              <a:tabLst>
                <a:tab pos="200660" algn="l"/>
              </a:tabLst>
            </a:pPr>
            <a:r>
              <a:rPr dirty="0" sz="750" spc="-20">
                <a:latin typeface="Book Antiqua"/>
                <a:cs typeface="Book Antiqua"/>
              </a:rPr>
              <a:t>Что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такое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командная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строка?</a:t>
            </a:r>
            <a:endParaRPr sz="750">
              <a:latin typeface="Book Antiqua"/>
              <a:cs typeface="Book Antiqua"/>
            </a:endParaRPr>
          </a:p>
          <a:p>
            <a:pPr marL="200025" marR="20955" indent="-135890">
              <a:lnSpc>
                <a:spcPts val="890"/>
              </a:lnSpc>
              <a:spcBef>
                <a:spcPts val="35"/>
              </a:spcBef>
              <a:buAutoNum type="arabicPeriod"/>
              <a:tabLst>
                <a:tab pos="201295" algn="l"/>
              </a:tabLst>
            </a:pPr>
            <a:r>
              <a:rPr dirty="0" sz="750" spc="-40">
                <a:latin typeface="Book Antiqua"/>
                <a:cs typeface="Book Antiqua"/>
              </a:rPr>
              <a:t>При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помощи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какой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команды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можно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определить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абсолютный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путь</a:t>
            </a:r>
            <a:r>
              <a:rPr dirty="0" sz="750" spc="-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текущего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каталога?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500">
                <a:latin typeface="Book Antiqua"/>
                <a:cs typeface="Book Antiqua"/>
              </a:rPr>
              <a:t>	</a:t>
            </a:r>
            <a:r>
              <a:rPr dirty="0" sz="750">
                <a:latin typeface="Book Antiqua"/>
                <a:cs typeface="Book Antiqua"/>
              </a:rPr>
              <a:t>Приведите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пример.</a:t>
            </a:r>
            <a:endParaRPr sz="750">
              <a:latin typeface="Book Antiqua"/>
              <a:cs typeface="Book Antiqua"/>
            </a:endParaRPr>
          </a:p>
          <a:p>
            <a:pPr marL="200025" marR="26034" indent="-135890">
              <a:lnSpc>
                <a:spcPts val="890"/>
              </a:lnSpc>
              <a:spcBef>
                <a:spcPts val="10"/>
              </a:spcBef>
              <a:buAutoNum type="arabicPeriod"/>
              <a:tabLst>
                <a:tab pos="201295" algn="l"/>
              </a:tabLst>
            </a:pPr>
            <a:r>
              <a:rPr dirty="0" sz="750">
                <a:latin typeface="Book Antiqua"/>
                <a:cs typeface="Book Antiqua"/>
              </a:rPr>
              <a:t>При</a:t>
            </a:r>
            <a:r>
              <a:rPr dirty="0" sz="750" spc="9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помощи</a:t>
            </a:r>
            <a:r>
              <a:rPr dirty="0" sz="750" spc="9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какой</a:t>
            </a:r>
            <a:r>
              <a:rPr dirty="0" sz="750" spc="9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команды</a:t>
            </a:r>
            <a:r>
              <a:rPr dirty="0" sz="750" spc="9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9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каких</a:t>
            </a:r>
            <a:r>
              <a:rPr dirty="0" sz="750" spc="1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опций</a:t>
            </a:r>
            <a:r>
              <a:rPr dirty="0" sz="750" spc="9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можно</a:t>
            </a:r>
            <a:r>
              <a:rPr dirty="0" sz="750" spc="9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определить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только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тип</a:t>
            </a:r>
            <a:r>
              <a:rPr dirty="0" sz="750" spc="10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файлов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500">
                <a:latin typeface="Book Antiqua"/>
                <a:cs typeface="Book Antiqua"/>
              </a:rPr>
              <a:t>	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их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имена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текущем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каталоге?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Приведите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примеры.</a:t>
            </a:r>
            <a:endParaRPr sz="750">
              <a:latin typeface="Book Antiqua"/>
              <a:cs typeface="Book Antiqua"/>
            </a:endParaRPr>
          </a:p>
          <a:p>
            <a:pPr marL="200660" indent="-135890">
              <a:lnSpc>
                <a:spcPts val="869"/>
              </a:lnSpc>
              <a:buAutoNum type="arabicPeriod"/>
              <a:tabLst>
                <a:tab pos="200660" algn="l"/>
              </a:tabLst>
            </a:pPr>
            <a:r>
              <a:rPr dirty="0" sz="750">
                <a:latin typeface="Book Antiqua"/>
                <a:cs typeface="Book Antiqua"/>
              </a:rPr>
              <a:t>Каким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образом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отобразить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информацию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скрытых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файлах?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Приведите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примеры.</a:t>
            </a:r>
            <a:endParaRPr sz="750">
              <a:latin typeface="Book Antiqua"/>
              <a:cs typeface="Book Antiqua"/>
            </a:endParaRPr>
          </a:p>
          <a:p>
            <a:pPr marL="200025" marR="25400" indent="-135890">
              <a:lnSpc>
                <a:spcPts val="890"/>
              </a:lnSpc>
              <a:spcBef>
                <a:spcPts val="35"/>
              </a:spcBef>
              <a:buAutoNum type="arabicPeriod"/>
              <a:tabLst>
                <a:tab pos="201295" algn="l"/>
              </a:tabLst>
            </a:pPr>
            <a:r>
              <a:rPr dirty="0" sz="750">
                <a:latin typeface="Book Antiqua"/>
                <a:cs typeface="Book Antiqua"/>
              </a:rPr>
              <a:t>При</a:t>
            </a:r>
            <a:r>
              <a:rPr dirty="0" sz="750" spc="9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помощи</a:t>
            </a:r>
            <a:r>
              <a:rPr dirty="0" sz="750" spc="9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каких</a:t>
            </a:r>
            <a:r>
              <a:rPr dirty="0" sz="750" spc="9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</a:t>
            </a:r>
            <a:r>
              <a:rPr dirty="0" sz="750" spc="9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можно</a:t>
            </a:r>
            <a:r>
              <a:rPr dirty="0" sz="750" spc="9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удалить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файл</a:t>
            </a:r>
            <a:r>
              <a:rPr dirty="0" sz="750" spc="9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9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каталог?</a:t>
            </a:r>
            <a:r>
              <a:rPr dirty="0" sz="750" spc="9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Можно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ли</a:t>
            </a:r>
            <a:r>
              <a:rPr dirty="0" sz="750" spc="9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это</a:t>
            </a:r>
            <a:r>
              <a:rPr dirty="0" sz="750" spc="9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сделать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500">
                <a:latin typeface="Book Antiqua"/>
                <a:cs typeface="Book Antiqua"/>
              </a:rPr>
              <a:t>	</a:t>
            </a:r>
            <a:r>
              <a:rPr dirty="0" sz="750">
                <a:latin typeface="Book Antiqua"/>
                <a:cs typeface="Book Antiqua"/>
              </a:rPr>
              <a:t>одной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 той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же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командой?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Приведите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примеры.</a:t>
            </a:r>
            <a:endParaRPr sz="750">
              <a:latin typeface="Book Antiqua"/>
              <a:cs typeface="Book Antiqua"/>
            </a:endParaRPr>
          </a:p>
          <a:p>
            <a:pPr marL="200025" marR="5080" indent="-135890">
              <a:lnSpc>
                <a:spcPts val="890"/>
              </a:lnSpc>
              <a:spcBef>
                <a:spcPts val="10"/>
              </a:spcBef>
              <a:buAutoNum type="arabicPeriod"/>
              <a:tabLst>
                <a:tab pos="201295" algn="l"/>
              </a:tabLst>
            </a:pPr>
            <a:r>
              <a:rPr dirty="0" sz="750">
                <a:latin typeface="Book Antiqua"/>
                <a:cs typeface="Book Antiqua"/>
              </a:rPr>
              <a:t>Каким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образом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можно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вывести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информацию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последних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выполненных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пользовате-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500">
                <a:latin typeface="Book Antiqua"/>
                <a:cs typeface="Book Antiqua"/>
              </a:rPr>
              <a:t>	</a:t>
            </a:r>
            <a:r>
              <a:rPr dirty="0" sz="750">
                <a:latin typeface="Book Antiqua"/>
                <a:cs typeface="Book Antiqua"/>
              </a:rPr>
              <a:t>лем</a:t>
            </a:r>
            <a:r>
              <a:rPr dirty="0" sz="750" spc="8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командах?</a:t>
            </a:r>
            <a:r>
              <a:rPr dirty="0" sz="750" spc="9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работы?</a:t>
            </a:r>
            <a:endParaRPr sz="750">
              <a:latin typeface="Book Antiqua"/>
              <a:cs typeface="Book Antiqua"/>
            </a:endParaRPr>
          </a:p>
          <a:p>
            <a:pPr marL="200025" marR="5080" indent="-125730">
              <a:lnSpc>
                <a:spcPts val="890"/>
              </a:lnSpc>
              <a:spcBef>
                <a:spcPts val="10"/>
              </a:spcBef>
              <a:buAutoNum type="arabicPeriod"/>
              <a:tabLst>
                <a:tab pos="201295" algn="l"/>
              </a:tabLst>
            </a:pPr>
            <a:r>
              <a:rPr dirty="0" sz="750" spc="-10">
                <a:latin typeface="Book Antiqua"/>
                <a:cs typeface="Book Antiqua"/>
              </a:rPr>
              <a:t>Как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воспользоваться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историей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для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их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модифицированного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выполнения?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При-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500">
                <a:latin typeface="Book Antiqua"/>
                <a:cs typeface="Book Antiqua"/>
              </a:rPr>
              <a:t>	</a:t>
            </a:r>
            <a:r>
              <a:rPr dirty="0" sz="750">
                <a:latin typeface="Book Antiqua"/>
                <a:cs typeface="Book Antiqua"/>
              </a:rPr>
              <a:t>ведите</a:t>
            </a:r>
            <a:r>
              <a:rPr dirty="0" sz="750" spc="9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примеры.</a:t>
            </a:r>
            <a:endParaRPr sz="750">
              <a:latin typeface="Book Antiqua"/>
              <a:cs typeface="Book Antiqua"/>
            </a:endParaRPr>
          </a:p>
          <a:p>
            <a:pPr marL="200660" indent="-135890">
              <a:lnSpc>
                <a:spcPts val="869"/>
              </a:lnSpc>
              <a:buAutoNum type="arabicPeriod"/>
              <a:tabLst>
                <a:tab pos="200660" algn="l"/>
              </a:tabLst>
            </a:pPr>
            <a:r>
              <a:rPr dirty="0" sz="750">
                <a:latin typeface="Book Antiqua"/>
                <a:cs typeface="Book Antiqua"/>
              </a:rPr>
              <a:t>Приведите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примеры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запуска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нескольких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одной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строке.</a:t>
            </a:r>
            <a:endParaRPr sz="750">
              <a:latin typeface="Book Antiqua"/>
              <a:cs typeface="Book Antiqua"/>
            </a:endParaRPr>
          </a:p>
          <a:p>
            <a:pPr marL="200660" indent="-135890">
              <a:lnSpc>
                <a:spcPts val="894"/>
              </a:lnSpc>
              <a:buAutoNum type="arabicPeriod"/>
              <a:tabLst>
                <a:tab pos="200660" algn="l"/>
              </a:tabLst>
            </a:pPr>
            <a:r>
              <a:rPr dirty="0" sz="750">
                <a:latin typeface="Book Antiqua"/>
                <a:cs typeface="Book Antiqua"/>
              </a:rPr>
              <a:t>Дайте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определение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приведите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примера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символов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экранирования.</a:t>
            </a:r>
            <a:endParaRPr sz="750">
              <a:latin typeface="Book Antiqua"/>
              <a:cs typeface="Book Antiqua"/>
            </a:endParaRPr>
          </a:p>
          <a:p>
            <a:pPr marL="200660" indent="-187960">
              <a:lnSpc>
                <a:spcPts val="894"/>
              </a:lnSpc>
              <a:buAutoNum type="arabicPeriod"/>
              <a:tabLst>
                <a:tab pos="200660" algn="l"/>
              </a:tabLst>
            </a:pPr>
            <a:r>
              <a:rPr dirty="0" sz="750" spc="-10">
                <a:latin typeface="Book Antiqua"/>
                <a:cs typeface="Book Antiqua"/>
              </a:rPr>
              <a:t>Охарактеризуйте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вывод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информации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на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экран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после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выполнения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команды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ls</a:t>
            </a:r>
            <a:r>
              <a:rPr dirty="0" sz="700" spc="-250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с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опцией</a:t>
            </a:r>
            <a:endParaRPr sz="750">
              <a:latin typeface="Book Antiqua"/>
              <a:cs typeface="Book Antiqua"/>
            </a:endParaRPr>
          </a:p>
          <a:p>
            <a:pPr marL="201295">
              <a:lnSpc>
                <a:spcPts val="894"/>
              </a:lnSpc>
            </a:pPr>
            <a:r>
              <a:rPr dirty="0" sz="700" spc="-25">
                <a:latin typeface="Courier New"/>
                <a:cs typeface="Courier New"/>
              </a:rPr>
              <a:t>l</a:t>
            </a:r>
            <a:r>
              <a:rPr dirty="0" sz="750" spc="-25">
                <a:latin typeface="Book Antiqua"/>
                <a:cs typeface="Book Antiqua"/>
              </a:rPr>
              <a:t>.</a:t>
            </a:r>
            <a:endParaRPr sz="750">
              <a:latin typeface="Book Antiqua"/>
              <a:cs typeface="Book Antiqua"/>
            </a:endParaRPr>
          </a:p>
          <a:p>
            <a:pPr marL="200025" marR="5080" indent="-187960">
              <a:lnSpc>
                <a:spcPts val="890"/>
              </a:lnSpc>
              <a:spcBef>
                <a:spcPts val="35"/>
              </a:spcBef>
              <a:buAutoNum type="arabicPeriod" startAt="11"/>
              <a:tabLst>
                <a:tab pos="201295" algn="l"/>
              </a:tabLst>
            </a:pPr>
            <a:r>
              <a:rPr dirty="0" sz="750" spc="-20">
                <a:latin typeface="Book Antiqua"/>
                <a:cs typeface="Book Antiqua"/>
              </a:rPr>
              <a:t>Что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такое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относительный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путь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файлу?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Приведите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примеры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использования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относи-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500">
                <a:latin typeface="Book Antiqua"/>
                <a:cs typeface="Book Antiqua"/>
              </a:rPr>
              <a:t>	</a:t>
            </a:r>
            <a:r>
              <a:rPr dirty="0" sz="750">
                <a:latin typeface="Book Antiqua"/>
                <a:cs typeface="Book Antiqua"/>
              </a:rPr>
              <a:t>тельного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абсолютного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пути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при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выполнении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какой-либо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команды.</a:t>
            </a:r>
            <a:endParaRPr sz="750">
              <a:latin typeface="Book Antiqua"/>
              <a:cs typeface="Book Antiqua"/>
            </a:endParaRPr>
          </a:p>
          <a:p>
            <a:pPr marL="200660" indent="-187960">
              <a:lnSpc>
                <a:spcPts val="869"/>
              </a:lnSpc>
              <a:buAutoNum type="arabicPeriod" startAt="11"/>
              <a:tabLst>
                <a:tab pos="200660" algn="l"/>
              </a:tabLst>
            </a:pPr>
            <a:r>
              <a:rPr dirty="0" sz="750">
                <a:latin typeface="Book Antiqua"/>
                <a:cs typeface="Book Antiqua"/>
              </a:rPr>
              <a:t>Как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получить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информацию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об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интересующей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вас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команде?</a:t>
            </a:r>
            <a:endParaRPr sz="750">
              <a:latin typeface="Book Antiqua"/>
              <a:cs typeface="Book Antiqua"/>
            </a:endParaRPr>
          </a:p>
          <a:p>
            <a:pPr marL="200025" marR="25400" indent="-187960">
              <a:lnSpc>
                <a:spcPts val="890"/>
              </a:lnSpc>
              <a:spcBef>
                <a:spcPts val="35"/>
              </a:spcBef>
              <a:buAutoNum type="arabicPeriod" startAt="11"/>
              <a:tabLst>
                <a:tab pos="201295" algn="l"/>
              </a:tabLst>
            </a:pPr>
            <a:r>
              <a:rPr dirty="0" sz="750" spc="10">
                <a:latin typeface="Book Antiqua"/>
                <a:cs typeface="Book Antiqua"/>
              </a:rPr>
              <a:t>Какая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клавиша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или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комбинация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клавиш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служит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для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автоматического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дополнения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500">
                <a:latin typeface="Book Antiqua"/>
                <a:cs typeface="Book Antiqua"/>
              </a:rPr>
              <a:t>	</a:t>
            </a:r>
            <a:r>
              <a:rPr dirty="0" sz="750">
                <a:latin typeface="Book Antiqua"/>
                <a:cs typeface="Book Antiqua"/>
              </a:rPr>
              <a:t>вводимых</a:t>
            </a:r>
            <a:r>
              <a:rPr dirty="0" sz="750" spc="17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команд?</a:t>
            </a:r>
            <a:endParaRPr sz="750">
              <a:latin typeface="Book Antiqua"/>
              <a:cs typeface="Book Antiqu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2026-03-20T16:13:07Z</dcterms:created>
  <dcterms:modified xsi:type="dcterms:W3CDTF">2026-03-20T16:13:07Z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2026-03-20T00:00:00Z</vt:filetime>
  </property>
  <property fmtid="{D5CDD505-2E9C-101B-9397-08002B2CF9AE}" pid="3" name="LastSaved">
    <vt:filetime>2026-03-20T00:00:00Z</vt:filetime>
  </property>
  <property fmtid="{D5CDD505-2E9C-101B-9397-08002B2CF9AE}" pid="4" name="Producer">
    <vt:lpwstr>3-Heights(TM) PDF Security Shell 4.8.25.2 (http://www.pdf-tools.com)</vt:lpwstr>
  </property>
</Properties>
</file>