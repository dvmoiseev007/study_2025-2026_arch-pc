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5219700" cy="7200900"/>
  <p:notesSz cx="5219700" cy="72009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1952" y="2232279"/>
            <a:ext cx="4328795" cy="15121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763905" y="4032504"/>
            <a:ext cx="3564890" cy="1800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254635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2622740" y="1656207"/>
            <a:ext cx="2215324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635" y="288036"/>
            <a:ext cx="4583430" cy="11521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4635" y="1656207"/>
            <a:ext cx="4583430" cy="4752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731518" y="6696837"/>
            <a:ext cx="1629664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54635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3666744" y="6696837"/>
            <a:ext cx="1171321" cy="3600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" Target="slide6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59228" y="391949"/>
            <a:ext cx="3491865" cy="698500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050" b="1">
                <a:latin typeface="Times New Roman"/>
                <a:cs typeface="Times New Roman"/>
              </a:rPr>
              <a:t>РОССИЙСКИЙ</a:t>
            </a:r>
            <a:r>
              <a:rPr dirty="0" sz="1050" spc="7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УНИВЕРСИТЕТ</a:t>
            </a:r>
            <a:r>
              <a:rPr dirty="0" sz="1050" spc="7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ДРУЖБЫ</a:t>
            </a:r>
            <a:r>
              <a:rPr dirty="0" sz="1050" spc="90" b="1">
                <a:latin typeface="Times New Roman"/>
                <a:cs typeface="Times New Roman"/>
              </a:rPr>
              <a:t> </a:t>
            </a:r>
            <a:r>
              <a:rPr dirty="0" sz="1050" spc="-10" b="1">
                <a:latin typeface="Times New Roman"/>
                <a:cs typeface="Times New Roman"/>
              </a:rPr>
              <a:t>НАРОДОВ</a:t>
            </a:r>
            <a:endParaRPr sz="1050">
              <a:latin typeface="Times New Roman"/>
              <a:cs typeface="Times New Roman"/>
            </a:endParaRPr>
          </a:p>
          <a:p>
            <a:pPr marL="303530" marR="219710" indent="46990">
              <a:lnSpc>
                <a:spcPct val="160800"/>
              </a:lnSpc>
            </a:pPr>
            <a:r>
              <a:rPr dirty="0" sz="850" b="1">
                <a:latin typeface="Times New Roman"/>
                <a:cs typeface="Times New Roman"/>
              </a:rPr>
              <a:t>Факультет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физико-математических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естественных</a:t>
            </a:r>
            <a:r>
              <a:rPr dirty="0" sz="850" spc="125" b="1">
                <a:latin typeface="Times New Roman"/>
                <a:cs typeface="Times New Roman"/>
              </a:rPr>
              <a:t> </a:t>
            </a:r>
            <a:r>
              <a:rPr dirty="0" sz="850" spc="-20" b="1">
                <a:latin typeface="Times New Roman"/>
                <a:cs typeface="Times New Roman"/>
              </a:rPr>
              <a:t>наук</a:t>
            </a:r>
            <a:r>
              <a:rPr dirty="0" sz="850" b="1">
                <a:latin typeface="Times New Roman"/>
                <a:cs typeface="Times New Roman"/>
              </a:rPr>
              <a:t> Кафедра</a:t>
            </a:r>
            <a:r>
              <a:rPr dirty="0" sz="850" spc="55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прикладной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информатики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и</a:t>
            </a:r>
            <a:r>
              <a:rPr dirty="0" sz="850" spc="50" b="1">
                <a:latin typeface="Times New Roman"/>
                <a:cs typeface="Times New Roman"/>
              </a:rPr>
              <a:t> </a:t>
            </a:r>
            <a:r>
              <a:rPr dirty="0" sz="850" b="1">
                <a:latin typeface="Times New Roman"/>
                <a:cs typeface="Times New Roman"/>
              </a:rPr>
              <a:t>теории</a:t>
            </a:r>
            <a:r>
              <a:rPr dirty="0" sz="850" spc="45" b="1">
                <a:latin typeface="Times New Roman"/>
                <a:cs typeface="Times New Roman"/>
              </a:rPr>
              <a:t> </a:t>
            </a:r>
            <a:r>
              <a:rPr dirty="0" sz="850" spc="-10" b="1">
                <a:latin typeface="Times New Roman"/>
                <a:cs typeface="Times New Roman"/>
              </a:rPr>
              <a:t>вероятностей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230899" y="1970606"/>
            <a:ext cx="2562860" cy="819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ctr" marR="1905">
              <a:lnSpc>
                <a:spcPct val="100000"/>
              </a:lnSpc>
              <a:spcBef>
                <a:spcPts val="125"/>
              </a:spcBef>
            </a:pPr>
            <a:r>
              <a:rPr dirty="0" sz="1050" spc="-10" b="1">
                <a:latin typeface="Times New Roman"/>
                <a:cs typeface="Times New Roman"/>
              </a:rPr>
              <a:t>ОТЧЕТ</a:t>
            </a:r>
            <a:endParaRPr sz="1050">
              <a:latin typeface="Times New Roman"/>
              <a:cs typeface="Times New Roman"/>
            </a:endParaRPr>
          </a:p>
          <a:p>
            <a:pPr algn="ctr" marL="41910">
              <a:lnSpc>
                <a:spcPct val="100000"/>
              </a:lnSpc>
              <a:spcBef>
                <a:spcPts val="819"/>
              </a:spcBef>
            </a:pPr>
            <a:r>
              <a:rPr dirty="0" sz="1050" b="1">
                <a:latin typeface="Times New Roman"/>
                <a:cs typeface="Times New Roman"/>
              </a:rPr>
              <a:t>ПО</a:t>
            </a:r>
            <a:r>
              <a:rPr dirty="0" sz="1050" spc="5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ЛАБОРАТОРНОЙ</a:t>
            </a:r>
            <a:r>
              <a:rPr dirty="0" sz="1050" spc="50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РАБОТЕ</a:t>
            </a:r>
            <a:r>
              <a:rPr dirty="0" sz="1050" spc="65" b="1">
                <a:latin typeface="Times New Roman"/>
                <a:cs typeface="Times New Roman"/>
              </a:rPr>
              <a:t> </a:t>
            </a:r>
            <a:r>
              <a:rPr dirty="0" sz="1050" b="1">
                <a:latin typeface="Times New Roman"/>
                <a:cs typeface="Times New Roman"/>
              </a:rPr>
              <a:t>№</a:t>
            </a:r>
            <a:r>
              <a:rPr dirty="0" sz="1050" spc="55" b="1">
                <a:latin typeface="Times New Roman"/>
                <a:cs typeface="Times New Roman"/>
              </a:rPr>
              <a:t> </a:t>
            </a:r>
            <a:r>
              <a:rPr dirty="0" sz="1050" spc="-50" b="1">
                <a:latin typeface="Times New Roman"/>
                <a:cs typeface="Times New Roman"/>
              </a:rPr>
              <a:t>7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tabLst>
                <a:tab pos="974725" algn="l"/>
              </a:tabLst>
            </a:pP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u="sng" sz="10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u="sng" sz="1050" spc="5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05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89817" y="4260396"/>
            <a:ext cx="2061845" cy="5232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53340">
              <a:lnSpc>
                <a:spcPct val="100000"/>
              </a:lnSpc>
              <a:spcBef>
                <a:spcPts val="125"/>
              </a:spcBef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85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Моисеев</a:t>
            </a:r>
            <a:r>
              <a:rPr dirty="0" u="sng" sz="850" spc="4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Дмитрий</a:t>
            </a:r>
            <a:r>
              <a:rPr dirty="0" u="sng" sz="850" spc="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Вячеславович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85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850" spc="7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85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</a:t>
            </a:r>
            <a:r>
              <a:rPr dirty="0" u="sng" sz="85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02-</a:t>
            </a:r>
            <a:r>
              <a:rPr dirty="0" u="sng" sz="85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286023" y="6262062"/>
            <a:ext cx="528320" cy="44450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dirty="0" sz="850" spc="-10" b="1">
                <a:latin typeface="Times New Roman"/>
                <a:cs typeface="Times New Roman"/>
              </a:rPr>
              <a:t>МОСКВА</a:t>
            </a:r>
            <a:endParaRPr sz="850">
              <a:latin typeface="Times New Roman"/>
              <a:cs typeface="Times New Roman"/>
            </a:endParaRPr>
          </a:p>
          <a:p>
            <a:pPr algn="ctr" marL="4445">
              <a:lnSpc>
                <a:spcPct val="100000"/>
              </a:lnSpc>
              <a:spcBef>
                <a:spcPts val="625"/>
              </a:spcBef>
            </a:pPr>
            <a:r>
              <a:rPr dirty="0" sz="850">
                <a:latin typeface="Times New Roman"/>
                <a:cs typeface="Times New Roman"/>
              </a:rPr>
              <a:t>2026</a:t>
            </a:r>
            <a:r>
              <a:rPr dirty="0" sz="850" spc="10">
                <a:latin typeface="Times New Roman"/>
                <a:cs typeface="Times New Roman"/>
              </a:rPr>
              <a:t> </a:t>
            </a:r>
            <a:r>
              <a:rPr dirty="0" sz="850" spc="-25">
                <a:latin typeface="Times New Roman"/>
                <a:cs typeface="Times New Roman"/>
              </a:rPr>
              <a:t>г.</a:t>
            </a:r>
            <a:endParaRPr sz="8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46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581304" y="766996"/>
            <a:ext cx="4078604" cy="196850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12700" marR="329565">
              <a:lnSpc>
                <a:spcPts val="1060"/>
              </a:lnSpc>
              <a:spcBef>
                <a:spcPts val="190"/>
              </a:spcBef>
            </a:pPr>
            <a:r>
              <a:rPr dirty="0" sz="950" b="1">
                <a:latin typeface="Book Antiqua"/>
                <a:cs typeface="Book Antiqua"/>
              </a:rPr>
              <a:t>Лабораторная</a:t>
            </a:r>
            <a:r>
              <a:rPr dirty="0" sz="950" spc="7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работа</a:t>
            </a:r>
            <a:r>
              <a:rPr dirty="0" sz="950" spc="7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№</a:t>
            </a:r>
            <a:r>
              <a:rPr dirty="0" sz="950" spc="7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5.</a:t>
            </a:r>
            <a:r>
              <a:rPr dirty="0" sz="950" spc="250" b="1">
                <a:latin typeface="Book Antiqua"/>
                <a:cs typeface="Book Antiqua"/>
              </a:rPr>
              <a:t>  </a:t>
            </a:r>
            <a:r>
              <a:rPr dirty="0" sz="950" b="1">
                <a:latin typeface="Book Antiqua"/>
                <a:cs typeface="Book Antiqua"/>
              </a:rPr>
              <a:t>Анализ</a:t>
            </a:r>
            <a:r>
              <a:rPr dirty="0" sz="950" spc="8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файловой</a:t>
            </a:r>
            <a:r>
              <a:rPr dirty="0" sz="950" spc="7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системы</a:t>
            </a:r>
            <a:r>
              <a:rPr dirty="0" sz="950" spc="75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Linux. </a:t>
            </a:r>
            <a:r>
              <a:rPr dirty="0" sz="950" b="1">
                <a:latin typeface="Book Antiqua"/>
                <a:cs typeface="Book Antiqua"/>
              </a:rPr>
              <a:t>Команды</a:t>
            </a:r>
            <a:r>
              <a:rPr dirty="0" sz="950" spc="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для</a:t>
            </a:r>
            <a:r>
              <a:rPr dirty="0" sz="950" spc="3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работы</a:t>
            </a:r>
            <a:r>
              <a:rPr dirty="0" sz="950" spc="40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с</a:t>
            </a:r>
            <a:r>
              <a:rPr dirty="0" sz="950" spc="3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файлами</a:t>
            </a:r>
            <a:r>
              <a:rPr dirty="0" sz="950" spc="35" b="1">
                <a:latin typeface="Book Antiqua"/>
                <a:cs typeface="Book Antiqua"/>
              </a:rPr>
              <a:t> </a:t>
            </a:r>
            <a:r>
              <a:rPr dirty="0" sz="950" b="1">
                <a:latin typeface="Book Antiqua"/>
                <a:cs typeface="Book Antiqua"/>
              </a:rPr>
              <a:t>и</a:t>
            </a:r>
            <a:r>
              <a:rPr dirty="0" sz="950" spc="35" b="1">
                <a:latin typeface="Book Antiqua"/>
                <a:cs typeface="Book Antiqua"/>
              </a:rPr>
              <a:t> </a:t>
            </a:r>
            <a:r>
              <a:rPr dirty="0" sz="950" spc="-10" b="1">
                <a:latin typeface="Book Antiqua"/>
                <a:cs typeface="Book Antiqua"/>
              </a:rPr>
              <a:t>каталогами</a:t>
            </a:r>
            <a:endParaRPr sz="950">
              <a:latin typeface="Book Antiqua"/>
              <a:cs typeface="Book Antiqua"/>
            </a:endParaRPr>
          </a:p>
          <a:p>
            <a:pPr lvl="1" marL="304800" indent="-292100">
              <a:lnSpc>
                <a:spcPct val="100000"/>
              </a:lnSpc>
              <a:spcBef>
                <a:spcPts val="1040"/>
              </a:spcBef>
              <a:buAutoNum type="arabicPeriod"/>
              <a:tabLst>
                <a:tab pos="304800" algn="l"/>
              </a:tabLst>
            </a:pPr>
            <a:r>
              <a:rPr dirty="0" sz="850" b="1">
                <a:latin typeface="Book Antiqua"/>
                <a:cs typeface="Book Antiqua"/>
              </a:rPr>
              <a:t>Цель</a:t>
            </a:r>
            <a:r>
              <a:rPr dirty="0" sz="850" spc="-3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865"/>
              </a:spcBef>
            </a:pPr>
            <a:r>
              <a:rPr dirty="0" sz="750" spc="10">
                <a:latin typeface="Book Antiqua"/>
                <a:cs typeface="Book Antiqua"/>
              </a:rPr>
              <a:t>Ознакомление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файловой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системой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Linux,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её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структурой,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именами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содержанием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каталогов.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Приобретение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практических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навыков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применению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файлами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каталогами, по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управлению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процессами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работами), по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проверке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зования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диска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обслуживанию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750">
              <a:latin typeface="Book Antiqua"/>
              <a:cs typeface="Book Antiqua"/>
            </a:endParaRPr>
          </a:p>
          <a:p>
            <a:pPr lvl="1" marL="303530" indent="-290830">
              <a:lnSpc>
                <a:spcPct val="100000"/>
              </a:lnSpc>
              <a:buAutoNum type="arabicPeriod" startAt="2"/>
              <a:tabLst>
                <a:tab pos="303530" algn="l"/>
              </a:tabLst>
            </a:pPr>
            <a:r>
              <a:rPr dirty="0" sz="850" b="1">
                <a:latin typeface="Book Antiqua"/>
                <a:cs typeface="Book Antiqua"/>
              </a:rPr>
              <a:t>Указания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к</a:t>
            </a:r>
            <a:r>
              <a:rPr dirty="0" sz="850" spc="1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работе</a:t>
            </a:r>
            <a:endParaRPr sz="850">
              <a:latin typeface="Book Antiqua"/>
              <a:cs typeface="Book Antiqua"/>
            </a:endParaRPr>
          </a:p>
          <a:p>
            <a:pPr lvl="2" marL="398780" indent="-386080">
              <a:lnSpc>
                <a:spcPct val="100000"/>
              </a:lnSpc>
              <a:spcBef>
                <a:spcPts val="850"/>
              </a:spcBef>
              <a:buAutoNum type="arabicPeriod"/>
              <a:tabLst>
                <a:tab pos="398780" algn="l"/>
              </a:tabLst>
            </a:pPr>
            <a:r>
              <a:rPr dirty="0" sz="850" b="1">
                <a:latin typeface="Book Antiqua"/>
                <a:cs typeface="Book Antiqua"/>
              </a:rPr>
              <a:t>Команды</a:t>
            </a:r>
            <a:r>
              <a:rPr dirty="0" sz="850" spc="5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для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работы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с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файлами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и</a:t>
            </a:r>
            <a:r>
              <a:rPr dirty="0" sz="850" spc="8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каталогами</a:t>
            </a:r>
            <a:endParaRPr sz="850">
              <a:latin typeface="Book Antiqua"/>
              <a:cs typeface="Book Antiqua"/>
            </a:endParaRPr>
          </a:p>
          <a:p>
            <a:pPr marL="110489" marR="79248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Для </a:t>
            </a:r>
            <a:r>
              <a:rPr dirty="0" sz="750" spc="10">
                <a:latin typeface="Book Antiqua"/>
                <a:cs typeface="Book Antiqua"/>
              </a:rPr>
              <a:t>создания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текстового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команду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touch</a:t>
            </a:r>
            <a:r>
              <a:rPr dirty="0" sz="750" spc="-10">
                <a:latin typeface="Book Antiqua"/>
                <a:cs typeface="Book Antiqua"/>
              </a:rPr>
              <a:t>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00405" y="2866467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4004" y="2816212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touch</a:t>
            </a:r>
            <a:r>
              <a:rPr dirty="0" sz="700" spc="4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имя-</a:t>
            </a:r>
            <a:r>
              <a:rPr dirty="0" sz="700" spc="-10">
                <a:latin typeface="Courier New"/>
                <a:cs typeface="Courier New"/>
              </a:rPr>
              <a:t>файла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79462" y="3084410"/>
            <a:ext cx="3667125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просмотра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небольшого</a:t>
            </a:r>
            <a:r>
              <a:rPr dirty="0" sz="750" spc="10">
                <a:latin typeface="Book Antiqua"/>
                <a:cs typeface="Book Antiqua"/>
              </a:rPr>
              <a:t> размера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 использовать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команду </a:t>
            </a:r>
            <a:r>
              <a:rPr dirty="0" sz="700" spc="-20">
                <a:latin typeface="Courier New"/>
                <a:cs typeface="Courier New"/>
              </a:rPr>
              <a:t>cat</a:t>
            </a:r>
            <a:r>
              <a:rPr dirty="0" sz="750" spc="-20">
                <a:latin typeface="Book Antiqua"/>
                <a:cs typeface="Book Antiqua"/>
              </a:rPr>
              <a:t>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00405" y="3472727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4004" y="3422485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cat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имя-</a:t>
            </a:r>
            <a:r>
              <a:rPr dirty="0" sz="700" spc="-10">
                <a:latin typeface="Courier New"/>
                <a:cs typeface="Courier New"/>
              </a:rPr>
              <a:t>файла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79462" y="3690670"/>
            <a:ext cx="343027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Для </a:t>
            </a:r>
            <a:r>
              <a:rPr dirty="0" sz="750" spc="10">
                <a:latin typeface="Book Antiqua"/>
                <a:cs typeface="Book Antiqua"/>
              </a:rPr>
              <a:t>просмотра</a:t>
            </a:r>
            <a:r>
              <a:rPr dirty="0" sz="750">
                <a:latin typeface="Book Antiqua"/>
                <a:cs typeface="Book Antiqua"/>
              </a:rPr>
              <a:t> файлов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постранично </a:t>
            </a:r>
            <a:r>
              <a:rPr dirty="0" sz="750" spc="10">
                <a:latin typeface="Book Antiqua"/>
                <a:cs typeface="Book Antiqua"/>
              </a:rPr>
              <a:t>удобнее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команду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less</a:t>
            </a:r>
            <a:r>
              <a:rPr dirty="0" sz="750" spc="-10">
                <a:latin typeface="Book Antiqua"/>
                <a:cs typeface="Book Antiqua"/>
              </a:rPr>
              <a:t>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00405" y="4078987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94004" y="4028745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less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имя-</a:t>
            </a:r>
            <a:r>
              <a:rPr dirty="0" sz="700" spc="-10">
                <a:latin typeface="Courier New"/>
                <a:cs typeface="Courier New"/>
              </a:rPr>
              <a:t>файла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79462" y="4296930"/>
            <a:ext cx="3475354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Следующие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клавиши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используются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управления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процессом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просмотра: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26699" y="4441533"/>
            <a:ext cx="260985" cy="129539"/>
            <a:chOff x="726699" y="4441533"/>
            <a:chExt cx="260985" cy="129539"/>
          </a:xfrm>
        </p:grpSpPr>
        <p:sp>
          <p:nvSpPr>
            <p:cNvPr id="15" name="object 15" descr=""/>
            <p:cNvSpPr/>
            <p:nvPr/>
          </p:nvSpPr>
          <p:spPr>
            <a:xfrm>
              <a:off x="729239" y="4444073"/>
              <a:ext cx="255904" cy="124460"/>
            </a:xfrm>
            <a:custGeom>
              <a:avLst/>
              <a:gdLst/>
              <a:ahLst/>
              <a:cxnLst/>
              <a:rect l="l" t="t" r="r" b="b"/>
              <a:pathLst>
                <a:path w="255905" h="124460">
                  <a:moveTo>
                    <a:pt x="248845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248845" y="123926"/>
                  </a:lnTo>
                  <a:lnTo>
                    <a:pt x="255437" y="117333"/>
                  </a:lnTo>
                  <a:lnTo>
                    <a:pt x="255437" y="6592"/>
                  </a:lnTo>
                  <a:lnTo>
                    <a:pt x="248845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29239" y="4444073"/>
              <a:ext cx="255904" cy="124460"/>
            </a:xfrm>
            <a:custGeom>
              <a:avLst/>
              <a:gdLst/>
              <a:ahLst/>
              <a:cxnLst/>
              <a:rect l="l" t="t" r="r" b="b"/>
              <a:pathLst>
                <a:path w="255905" h="124460">
                  <a:moveTo>
                    <a:pt x="240713" y="0"/>
                  </a:moveTo>
                  <a:lnTo>
                    <a:pt x="14724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4" y="123926"/>
                  </a:lnTo>
                  <a:lnTo>
                    <a:pt x="240713" y="123926"/>
                  </a:lnTo>
                  <a:lnTo>
                    <a:pt x="248845" y="123926"/>
                  </a:lnTo>
                  <a:lnTo>
                    <a:pt x="255437" y="117333"/>
                  </a:lnTo>
                  <a:lnTo>
                    <a:pt x="255437" y="109202"/>
                  </a:lnTo>
                  <a:lnTo>
                    <a:pt x="255437" y="14723"/>
                  </a:lnTo>
                  <a:lnTo>
                    <a:pt x="255437" y="6592"/>
                  </a:lnTo>
                  <a:lnTo>
                    <a:pt x="248845" y="0"/>
                  </a:lnTo>
                  <a:lnTo>
                    <a:pt x="240713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994435" y="4432605"/>
            <a:ext cx="160274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переход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следующей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странице,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729249" y="4585716"/>
            <a:ext cx="287655" cy="124460"/>
          </a:xfrm>
          <a:custGeom>
            <a:avLst/>
            <a:gdLst/>
            <a:ahLst/>
            <a:cxnLst/>
            <a:rect l="l" t="t" r="r" b="b"/>
            <a:pathLst>
              <a:path w="287655" h="124460">
                <a:moveTo>
                  <a:pt x="272696" y="0"/>
                </a:moveTo>
                <a:lnTo>
                  <a:pt x="14724" y="0"/>
                </a:lnTo>
                <a:lnTo>
                  <a:pt x="6592" y="0"/>
                </a:lnTo>
                <a:lnTo>
                  <a:pt x="0" y="6592"/>
                </a:lnTo>
                <a:lnTo>
                  <a:pt x="0" y="14723"/>
                </a:lnTo>
                <a:lnTo>
                  <a:pt x="0" y="109202"/>
                </a:lnTo>
                <a:lnTo>
                  <a:pt x="0" y="117333"/>
                </a:lnTo>
                <a:lnTo>
                  <a:pt x="6592" y="123926"/>
                </a:lnTo>
                <a:lnTo>
                  <a:pt x="14724" y="123926"/>
                </a:lnTo>
                <a:lnTo>
                  <a:pt x="272696" y="123926"/>
                </a:lnTo>
                <a:lnTo>
                  <a:pt x="280828" y="123926"/>
                </a:lnTo>
                <a:lnTo>
                  <a:pt x="287421" y="117333"/>
                </a:lnTo>
                <a:lnTo>
                  <a:pt x="287421" y="109202"/>
                </a:lnTo>
                <a:lnTo>
                  <a:pt x="287421" y="14723"/>
                </a:lnTo>
                <a:lnTo>
                  <a:pt x="287421" y="6592"/>
                </a:lnTo>
                <a:lnTo>
                  <a:pt x="280828" y="0"/>
                </a:lnTo>
                <a:lnTo>
                  <a:pt x="272696" y="0"/>
                </a:lnTo>
                <a:close/>
              </a:path>
            </a:pathLst>
          </a:custGeom>
          <a:ln w="5060">
            <a:solidFill>
              <a:srgbClr val="4C4C4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026413" y="4574235"/>
            <a:ext cx="145669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сдвиг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вперёд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одну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строку,</a:t>
            </a:r>
            <a:endParaRPr sz="750">
              <a:latin typeface="Book Antiqua"/>
              <a:cs typeface="Book Antiqu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726718" y="4724816"/>
            <a:ext cx="152400" cy="412750"/>
            <a:chOff x="726718" y="4724816"/>
            <a:chExt cx="152400" cy="412750"/>
          </a:xfrm>
        </p:grpSpPr>
        <p:sp>
          <p:nvSpPr>
            <p:cNvPr id="21" name="object 21" descr=""/>
            <p:cNvSpPr/>
            <p:nvPr/>
          </p:nvSpPr>
          <p:spPr>
            <a:xfrm>
              <a:off x="729248" y="472734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29248" y="4727346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29248" y="486898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729248" y="4868989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729248" y="50106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40647" y="0"/>
                  </a:moveTo>
                  <a:lnTo>
                    <a:pt x="6592" y="0"/>
                  </a:lnTo>
                  <a:lnTo>
                    <a:pt x="0" y="659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6592"/>
                  </a:lnTo>
                  <a:lnTo>
                    <a:pt x="140647" y="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729248" y="5010632"/>
              <a:ext cx="147320" cy="124460"/>
            </a:xfrm>
            <a:custGeom>
              <a:avLst/>
              <a:gdLst/>
              <a:ahLst/>
              <a:cxnLst/>
              <a:rect l="l" t="t" r="r" b="b"/>
              <a:pathLst>
                <a:path w="147319" h="124460">
                  <a:moveTo>
                    <a:pt x="132515" y="0"/>
                  </a:moveTo>
                  <a:lnTo>
                    <a:pt x="14723" y="0"/>
                  </a:lnTo>
                  <a:lnTo>
                    <a:pt x="6592" y="0"/>
                  </a:lnTo>
                  <a:lnTo>
                    <a:pt x="0" y="6592"/>
                  </a:lnTo>
                  <a:lnTo>
                    <a:pt x="0" y="14723"/>
                  </a:lnTo>
                  <a:lnTo>
                    <a:pt x="0" y="109202"/>
                  </a:lnTo>
                  <a:lnTo>
                    <a:pt x="0" y="117333"/>
                  </a:lnTo>
                  <a:lnTo>
                    <a:pt x="6592" y="123926"/>
                  </a:lnTo>
                  <a:lnTo>
                    <a:pt x="14723" y="123926"/>
                  </a:lnTo>
                  <a:lnTo>
                    <a:pt x="132515" y="123926"/>
                  </a:lnTo>
                  <a:lnTo>
                    <a:pt x="140647" y="123926"/>
                  </a:lnTo>
                  <a:lnTo>
                    <a:pt x="147239" y="117333"/>
                  </a:lnTo>
                  <a:lnTo>
                    <a:pt x="147239" y="109202"/>
                  </a:lnTo>
                  <a:lnTo>
                    <a:pt x="147239" y="14723"/>
                  </a:lnTo>
                  <a:lnTo>
                    <a:pt x="147239" y="6592"/>
                  </a:lnTo>
                  <a:lnTo>
                    <a:pt x="140647" y="0"/>
                  </a:lnTo>
                  <a:lnTo>
                    <a:pt x="132515" y="0"/>
                  </a:lnTo>
                  <a:close/>
                </a:path>
              </a:pathLst>
            </a:custGeom>
            <a:ln w="5060">
              <a:solidFill>
                <a:srgbClr val="4C4C4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993138" y="4692025"/>
            <a:ext cx="1622425" cy="3092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3900"/>
              </a:lnSpc>
              <a:spcBef>
                <a:spcPts val="95"/>
              </a:spcBef>
            </a:pPr>
            <a:r>
              <a:rPr dirty="0" sz="750">
                <a:latin typeface="Book Antiqua"/>
                <a:cs typeface="Book Antiqua"/>
              </a:rPr>
              <a:t>возврат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предыдущую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страницу,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обращение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подсказкой,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95630" y="4408764"/>
            <a:ext cx="86995" cy="73406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750" spc="55" b="1">
                <a:latin typeface="Book Antiqua"/>
                <a:cs typeface="Book Antiqua"/>
              </a:rPr>
              <a:t>–</a:t>
            </a:r>
            <a:endParaRPr sz="750">
              <a:latin typeface="Book Antiqua"/>
              <a:cs typeface="Book Antiqua"/>
            </a:endParaRPr>
          </a:p>
        </p:txBody>
      </p:sp>
      <p:graphicFrame>
        <p:nvGraphicFramePr>
          <p:cNvPr id="29" name="object 29" descr=""/>
          <p:cNvGraphicFramePr>
            <a:graphicFrameLocks noGrp="1"/>
          </p:cNvGraphicFramePr>
          <p:nvPr/>
        </p:nvGraphicFramePr>
        <p:xfrm>
          <a:off x="729248" y="4444073"/>
          <a:ext cx="347980" cy="690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320"/>
                <a:gridCol w="124459"/>
              </a:tblGrid>
              <a:tr h="132715">
                <a:tc gridSpan="2"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dirty="0" sz="650" spc="-10">
                          <a:latin typeface="Calibri"/>
                          <a:cs typeface="Calibri"/>
                        </a:rPr>
                        <a:t>Space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6985"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1605">
                <a:tc gridSpan="2">
                  <a:txBody>
                    <a:bodyPr/>
                    <a:lstStyle/>
                    <a:p>
                      <a:pPr marL="2476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650" spc="-10">
                          <a:latin typeface="Calibri"/>
                          <a:cs typeface="Calibri"/>
                        </a:rPr>
                        <a:t>ENTER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41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650" spc="-50">
                          <a:latin typeface="Calibri"/>
                          <a:cs typeface="Calibri"/>
                        </a:rPr>
                        <a:t>b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—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1270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4160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650" spc="-50">
                          <a:latin typeface="Calibri"/>
                          <a:cs typeface="Calibri"/>
                        </a:rPr>
                        <a:t>h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—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12700"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1327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650" spc="-50">
                          <a:latin typeface="Calibri"/>
                          <a:cs typeface="Calibri"/>
                        </a:rPr>
                        <a:t>q</a:t>
                      </a:r>
                      <a:endParaRPr sz="650">
                        <a:latin typeface="Calibri"/>
                        <a:cs typeface="Calibri"/>
                      </a:endParaRPr>
                    </a:p>
                  </a:txBody>
                  <a:tcPr marL="0" marR="0" marB="0" marT="15875"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844"/>
                        </a:lnSpc>
                        <a:spcBef>
                          <a:spcPts val="100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—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12700">
                    <a:lnT w="19050">
                      <a:solidFill>
                        <a:srgbClr val="FFFFF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30" name="object 30" descr=""/>
          <p:cNvSpPr txBox="1"/>
          <p:nvPr/>
        </p:nvSpPr>
        <p:spPr>
          <a:xfrm>
            <a:off x="993138" y="4999151"/>
            <a:ext cx="167132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выход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режима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просмотра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файла.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679462" y="5112766"/>
            <a:ext cx="288163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head</a:t>
            </a:r>
            <a:r>
              <a:rPr dirty="0" sz="700" spc="-1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первые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10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400405" y="550108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94004" y="5450840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head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-n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r>
              <a:rPr dirty="0" sz="700" spc="48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имя-</a:t>
            </a:r>
            <a:r>
              <a:rPr dirty="0" sz="700" spc="-10">
                <a:latin typeface="Courier New"/>
                <a:cs typeface="Courier New"/>
              </a:rPr>
              <a:t>файла,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581304" y="5719026"/>
            <a:ext cx="2988310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где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n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количество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выводимых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строк.</a:t>
            </a:r>
            <a:endParaRPr sz="750">
              <a:latin typeface="Book Antiqua"/>
              <a:cs typeface="Book Antiqua"/>
            </a:endParaRPr>
          </a:p>
          <a:p>
            <a:pPr marL="110489" marR="5080">
              <a:lnSpc>
                <a:spcPts val="890"/>
              </a:lnSpc>
              <a:spcBef>
                <a:spcPts val="35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tail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умолчанию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10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последних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400405" y="6220956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594004" y="6170714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tail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-n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r>
              <a:rPr dirty="0" sz="700" spc="3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имя-</a:t>
            </a:r>
            <a:r>
              <a:rPr dirty="0" sz="700" spc="-10">
                <a:latin typeface="Courier New"/>
                <a:cs typeface="Courier New"/>
              </a:rPr>
              <a:t>файла,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81304" y="6438900"/>
            <a:ext cx="177165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где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n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количество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выводимых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строк.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 i="1">
                <a:latin typeface="Georgia"/>
                <a:cs typeface="Georgia"/>
              </a:rPr>
              <a:t>Кулябов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spc="-30" i="1">
                <a:latin typeface="Georgia"/>
                <a:cs typeface="Georgia"/>
              </a:rPr>
              <a:t>Д.</a:t>
            </a:r>
            <a:r>
              <a:rPr dirty="0" sz="600" spc="-50" i="1">
                <a:latin typeface="Georgia"/>
                <a:cs typeface="Georgia"/>
              </a:rPr>
              <a:t> </a:t>
            </a:r>
            <a:r>
              <a:rPr dirty="0" sz="600" spc="-10" i="1">
                <a:latin typeface="Georgia"/>
                <a:cs typeface="Georgia"/>
              </a:rPr>
              <a:t>С.</a:t>
            </a:r>
            <a:r>
              <a:rPr dirty="0" sz="600" spc="-2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и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др.</a:t>
            </a:r>
            <a:r>
              <a:rPr dirty="0" sz="600" spc="55" i="1">
                <a:latin typeface="Georgia"/>
                <a:cs typeface="Georgi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47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567758"/>
            <a:ext cx="3067050" cy="53022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850" b="1">
                <a:latin typeface="Book Antiqua"/>
                <a:cs typeface="Book Antiqua"/>
              </a:rPr>
              <a:t>5.2.2.</a:t>
            </a:r>
            <a:r>
              <a:rPr dirty="0" sz="850" spc="325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Копирование</a:t>
            </a:r>
            <a:r>
              <a:rPr dirty="0" sz="850" spc="9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файлов</a:t>
            </a:r>
            <a:r>
              <a:rPr dirty="0" sz="850" spc="9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и</a:t>
            </a:r>
            <a:r>
              <a:rPr dirty="0" sz="850" spc="8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каталогов</a:t>
            </a:r>
            <a:endParaRPr sz="850">
              <a:latin typeface="Book Antiqua"/>
              <a:cs typeface="Book Antiqua"/>
            </a:endParaRPr>
          </a:p>
          <a:p>
            <a:pPr marL="110489" marR="508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Команда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копирования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каталогов.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400405" y="122894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94004" y="117868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-опции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r>
              <a:rPr dirty="0" sz="700" spc="4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исходный_файл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целевой_файл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77367" y="1446872"/>
            <a:ext cx="4061460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4300">
              <a:lnSpc>
                <a:spcPts val="894"/>
              </a:lnSpc>
              <a:spcBef>
                <a:spcPts val="120"/>
              </a:spcBef>
            </a:pPr>
            <a:r>
              <a:rPr dirty="0" sz="750" spc="-10" b="1">
                <a:latin typeface="Book Antiqua"/>
                <a:cs typeface="Book Antiqua"/>
              </a:rPr>
              <a:t>Примеры: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1.</a:t>
            </a:r>
            <a:r>
              <a:rPr dirty="0" sz="750" spc="3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Копирование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текущем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каталоге.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Скопировать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~/abc1</a:t>
            </a:r>
            <a:r>
              <a:rPr dirty="0" sz="700" spc="-95">
                <a:latin typeface="Courier New"/>
                <a:cs typeface="Courier New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april</a:t>
            </a:r>
            <a:endParaRPr sz="700">
              <a:latin typeface="Courier New"/>
              <a:cs typeface="Courier New"/>
            </a:endParaRPr>
          </a:p>
          <a:p>
            <a:pPr marL="149225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и в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may</a:t>
            </a:r>
            <a:r>
              <a:rPr dirty="0" sz="750" spc="-2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33120" y="1948816"/>
            <a:ext cx="54610" cy="431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726719" y="1898561"/>
            <a:ext cx="3899535" cy="53086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touch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abc1</a:t>
            </a:r>
            <a:endParaRPr sz="700">
              <a:latin typeface="Courier New"/>
              <a:cs typeface="Courier New"/>
            </a:endParaRPr>
          </a:p>
          <a:p>
            <a:pPr marL="37465" marR="3142615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abc1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april </a:t>
            </a: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abc1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77367" y="2507577"/>
            <a:ext cx="406146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2.</a:t>
            </a:r>
            <a:r>
              <a:rPr dirty="0" sz="750" spc="30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Копирование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нескольких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каталог.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Скопировать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файлы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april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may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</a:t>
            </a:r>
            <a:endParaRPr sz="750">
              <a:latin typeface="Book Antiqua"/>
              <a:cs typeface="Book Antiqua"/>
            </a:endParaRPr>
          </a:p>
          <a:p>
            <a:pPr marL="149225">
              <a:lnSpc>
                <a:spcPts val="894"/>
              </a:lnSpc>
            </a:pPr>
            <a:r>
              <a:rPr dirty="0" sz="700" spc="-10">
                <a:latin typeface="Courier New"/>
                <a:cs typeface="Courier New"/>
              </a:rPr>
              <a:t>monthly</a:t>
            </a:r>
            <a:r>
              <a:rPr dirty="0" sz="750" spc="-1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33120" y="2895893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26719" y="2845638"/>
            <a:ext cx="3899535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april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may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77367" y="3227438"/>
            <a:ext cx="406146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9225" marR="5080" indent="-13716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3.</a:t>
            </a:r>
            <a:r>
              <a:rPr dirty="0" sz="750" spc="3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Копирование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произвольном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каталоге.</a:t>
            </a:r>
            <a:r>
              <a:rPr dirty="0" sz="750" spc="-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Скопировать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-35">
                <a:latin typeface="Book Antiqua"/>
                <a:cs typeface="Book Antiqua"/>
              </a:rPr>
              <a:t>файл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monthly/may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june</a:t>
            </a:r>
            <a:r>
              <a:rPr dirty="0" sz="750" spc="-1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33120" y="3615767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726719" y="3565512"/>
            <a:ext cx="3899535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2377440">
              <a:lnSpc>
                <a:spcPct val="106500"/>
              </a:lnSpc>
              <a:spcBef>
                <a:spcPts val="170"/>
              </a:spcBef>
            </a:pP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monthly/may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monthly/june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77367" y="3947312"/>
            <a:ext cx="4061460" cy="7118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55244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Опция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выведет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запрос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подтверждения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перезаписи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файла.</a:t>
            </a:r>
            <a:endParaRPr sz="750">
              <a:latin typeface="Book Antiqua"/>
              <a:cs typeface="Book Antiqua"/>
            </a:endParaRPr>
          </a:p>
          <a:p>
            <a:pPr algn="ctr" marL="101600">
              <a:lnSpc>
                <a:spcPts val="894"/>
              </a:lnSpc>
            </a:pPr>
            <a:r>
              <a:rPr dirty="0" sz="750" spc="-10">
                <a:latin typeface="Book Antiqua"/>
                <a:cs typeface="Book Antiqua"/>
              </a:rPr>
              <a:t>Для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рекурсивного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копирования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каталогов,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содержащих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файлы, </a:t>
            </a:r>
            <a:r>
              <a:rPr dirty="0" sz="750">
                <a:latin typeface="Book Antiqua"/>
                <a:cs typeface="Book Antiqua"/>
              </a:rPr>
              <a:t>используется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команда</a:t>
            </a:r>
            <a:endParaRPr sz="750">
              <a:latin typeface="Book Antiqua"/>
              <a:cs typeface="Book Antiqua"/>
            </a:endParaRPr>
          </a:p>
          <a:p>
            <a:pPr algn="ctr" marR="3367404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опцией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r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ctr" marR="3317875">
              <a:lnSpc>
                <a:spcPts val="894"/>
              </a:lnSpc>
            </a:pPr>
            <a:r>
              <a:rPr dirty="0" sz="750" spc="-10" b="1">
                <a:latin typeface="Book Antiqua"/>
                <a:cs typeface="Book Antiqua"/>
              </a:rPr>
              <a:t>Примеры:</a:t>
            </a:r>
            <a:endParaRPr sz="750">
              <a:latin typeface="Book Antiqua"/>
              <a:cs typeface="Book Antiqua"/>
            </a:endParaRPr>
          </a:p>
          <a:p>
            <a:pPr algn="ctr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1.</a:t>
            </a:r>
            <a:r>
              <a:rPr dirty="0" sz="750" spc="3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Копирование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каталоге.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Скопировать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monthly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</a:t>
            </a:r>
            <a:endParaRPr sz="750">
              <a:latin typeface="Book Antiqua"/>
              <a:cs typeface="Book Antiqua"/>
            </a:endParaRPr>
          </a:p>
          <a:p>
            <a:pPr marL="149225">
              <a:lnSpc>
                <a:spcPts val="894"/>
              </a:lnSpc>
            </a:pPr>
            <a:r>
              <a:rPr dirty="0" sz="700" spc="-10">
                <a:latin typeface="Courier New"/>
                <a:cs typeface="Courier New"/>
              </a:rPr>
              <a:t>monthly.00</a:t>
            </a:r>
            <a:r>
              <a:rPr dirty="0" sz="750" spc="-1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33120" y="4790073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26719" y="4739818"/>
            <a:ext cx="3899535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monthly.00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-r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monthly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monthly.00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77367" y="5121618"/>
            <a:ext cx="406146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2.</a:t>
            </a:r>
            <a:r>
              <a:rPr dirty="0" sz="750" spc="3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Копирование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каталогов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произвольном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каталоге.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Скопировать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 </a:t>
            </a:r>
            <a:r>
              <a:rPr dirty="0" sz="700" spc="-10">
                <a:latin typeface="Courier New"/>
                <a:cs typeface="Courier New"/>
              </a:rPr>
              <a:t>monthly.00</a:t>
            </a:r>
            <a:endParaRPr sz="700">
              <a:latin typeface="Courier New"/>
              <a:cs typeface="Courier New"/>
            </a:endParaRPr>
          </a:p>
          <a:p>
            <a:pPr marL="149225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/tmp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533120" y="5509947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26719" y="5459691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-r</a:t>
            </a:r>
            <a:r>
              <a:rPr dirty="0" sz="700" spc="47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monthly.00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/tmp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81304" y="5812655"/>
            <a:ext cx="4057650" cy="643255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850" spc="10" b="1">
                <a:latin typeface="Book Antiqua"/>
                <a:cs typeface="Book Antiqua"/>
              </a:rPr>
              <a:t>5.2.3.</a:t>
            </a:r>
            <a:r>
              <a:rPr dirty="0" sz="850" spc="305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Перемещение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и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переименование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файлов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и</a:t>
            </a:r>
            <a:r>
              <a:rPr dirty="0" sz="850" spc="7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каталогов</a:t>
            </a:r>
            <a:endParaRPr sz="850">
              <a:latin typeface="Book Antiqua"/>
              <a:cs typeface="Book Antiqua"/>
            </a:endParaRPr>
          </a:p>
          <a:p>
            <a:pPr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-12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mvdir</a:t>
            </a:r>
            <a:r>
              <a:rPr dirty="0" sz="700" spc="-12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предназначены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перемещения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переименования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каталогов.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ts val="890"/>
              </a:lnSpc>
            </a:pP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mv</a:t>
            </a:r>
            <a:r>
              <a:rPr dirty="0" sz="750" spc="-25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7923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48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601423" y="392412"/>
            <a:ext cx="303784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5.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Анализ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файловой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системы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Linux.</a:t>
            </a:r>
            <a:r>
              <a:rPr dirty="0" sz="600" spc="4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Команды</a:t>
            </a:r>
            <a:r>
              <a:rPr dirty="0" sz="600">
                <a:latin typeface="Book Antiqua"/>
                <a:cs typeface="Book Antiqua"/>
              </a:rPr>
              <a:t> для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работы</a:t>
            </a:r>
            <a:r>
              <a:rPr dirty="0" sz="600" spc="-40">
                <a:latin typeface="Book Antiqua"/>
                <a:cs typeface="Book Antiqua"/>
              </a:rPr>
              <a:t>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00405" y="738582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94004" y="68832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[</a:t>
            </a:r>
            <a:r>
              <a:rPr dirty="0" sz="700">
                <a:latin typeface="Courier New"/>
                <a:cs typeface="Courier New"/>
              </a:rPr>
              <a:t>-опции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]</a:t>
            </a:r>
            <a:r>
              <a:rPr dirty="0" sz="700" spc="4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старый_файл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новый_файл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577367" y="956526"/>
            <a:ext cx="4061460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4300">
              <a:lnSpc>
                <a:spcPts val="894"/>
              </a:lnSpc>
              <a:spcBef>
                <a:spcPts val="120"/>
              </a:spcBef>
            </a:pPr>
            <a:r>
              <a:rPr dirty="0" sz="750" spc="-10" b="1">
                <a:latin typeface="Book Antiqua"/>
                <a:cs typeface="Book Antiqua"/>
              </a:rPr>
              <a:t>Примеры: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 spc="10">
                <a:latin typeface="Book Antiqua"/>
                <a:cs typeface="Book Antiqua"/>
              </a:rPr>
              <a:t>1.</a:t>
            </a:r>
            <a:r>
              <a:rPr dirty="0" sz="750" spc="3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Переименование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текущем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каталоге.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Изменить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название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файла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april</a:t>
            </a:r>
            <a:r>
              <a:rPr dirty="0" sz="700" spc="-145">
                <a:latin typeface="Courier New"/>
                <a:cs typeface="Courier New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на</a:t>
            </a:r>
            <a:endParaRPr sz="750">
              <a:latin typeface="Book Antiqua"/>
              <a:cs typeface="Book Antiqua"/>
            </a:endParaRPr>
          </a:p>
          <a:p>
            <a:pPr marL="149225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july</a:t>
            </a:r>
            <a:r>
              <a:rPr dirty="0" sz="700" spc="-1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3120" y="1458456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26719" y="1408201"/>
            <a:ext cx="3899535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april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july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7367" y="1790001"/>
            <a:ext cx="407797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2.</a:t>
            </a:r>
            <a:r>
              <a:rPr dirty="0" sz="750" spc="3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Перемещение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-10">
                <a:latin typeface="Book Antiqua"/>
                <a:cs typeface="Book Antiqua"/>
              </a:rPr>
              <a:t> другой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каталог.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файл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july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monthly.00</a:t>
            </a:r>
            <a:r>
              <a:rPr dirty="0" sz="750" spc="-1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33120" y="2178318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26719" y="2128062"/>
            <a:ext cx="3899535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2869565">
              <a:lnSpc>
                <a:spcPct val="106500"/>
              </a:lnSpc>
              <a:spcBef>
                <a:spcPts val="170"/>
              </a:spcBef>
            </a:pP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july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monthly.00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monthly.00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14019" y="2509875"/>
            <a:ext cx="5035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Результат: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33120" y="278459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26719" y="2734335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april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july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june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77367" y="3002521"/>
            <a:ext cx="4061460" cy="4845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9225" marR="508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запрос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подтверждения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перезаписи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нужно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использовать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опцию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i</a:t>
            </a:r>
            <a:r>
              <a:rPr dirty="0" sz="750" spc="-25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85"/>
              </a:lnSpc>
            </a:pPr>
            <a:r>
              <a:rPr dirty="0" sz="750">
                <a:latin typeface="Book Antiqua"/>
                <a:cs typeface="Book Antiqua"/>
              </a:rPr>
              <a:t>3.</a:t>
            </a:r>
            <a:r>
              <a:rPr dirty="0" sz="750" spc="4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Переименование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текущем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каталоге.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Переименовать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monthly.00</a:t>
            </a:r>
            <a:endParaRPr sz="700">
              <a:latin typeface="Courier New"/>
              <a:cs typeface="Courier New"/>
            </a:endParaRPr>
          </a:p>
          <a:p>
            <a:pPr marL="149225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monthly.01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33120" y="3618066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26719" y="3567811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47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monthly.00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monthly.01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77367" y="3836009"/>
            <a:ext cx="406146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4.</a:t>
            </a:r>
            <a:r>
              <a:rPr dirty="0" sz="750" spc="4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Перемещение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другой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Переместить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monthly.01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</a:t>
            </a:r>
            <a:endParaRPr sz="750">
              <a:latin typeface="Book Antiqua"/>
              <a:cs typeface="Book Antiqua"/>
            </a:endParaRPr>
          </a:p>
          <a:p>
            <a:pPr marL="149225">
              <a:lnSpc>
                <a:spcPts val="894"/>
              </a:lnSpc>
            </a:pPr>
            <a:r>
              <a:rPr dirty="0" sz="700" spc="-10">
                <a:latin typeface="Courier New"/>
                <a:cs typeface="Courier New"/>
              </a:rPr>
              <a:t>reports</a:t>
            </a:r>
            <a:r>
              <a:rPr dirty="0" sz="750" spc="-1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33120" y="4224326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726719" y="4174071"/>
            <a:ext cx="3899535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reports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monthly.01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reports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577367" y="4555871"/>
            <a:ext cx="406146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5.</a:t>
            </a:r>
            <a:r>
              <a:rPr dirty="0" sz="750" spc="3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Переименование</a:t>
            </a:r>
            <a:r>
              <a:rPr dirty="0" sz="750" spc="4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каталога,</a:t>
            </a:r>
            <a:r>
              <a:rPr dirty="0" sz="750" spc="43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</a:t>
            </a:r>
            <a:r>
              <a:rPr dirty="0" sz="750" spc="4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являющегося</a:t>
            </a:r>
            <a:r>
              <a:rPr dirty="0" sz="750" spc="4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текущим.</a:t>
            </a:r>
            <a:r>
              <a:rPr dirty="0" sz="750" spc="4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Переименовать</a:t>
            </a:r>
            <a:r>
              <a:rPr dirty="0" sz="750" spc="4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</a:t>
            </a:r>
            <a:endParaRPr sz="750">
              <a:latin typeface="Book Antiqua"/>
              <a:cs typeface="Book Antiqua"/>
            </a:endParaRPr>
          </a:p>
          <a:p>
            <a:pPr marL="149225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reports/monthly.01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reports/monthly</a:t>
            </a:r>
            <a:r>
              <a:rPr dirty="0" sz="750" spc="-10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533120" y="494420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726719" y="4893945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reports/monthly.01</a:t>
            </a:r>
            <a:r>
              <a:rPr dirty="0" sz="700" spc="40">
                <a:latin typeface="Courier New"/>
                <a:cs typeface="Courier New"/>
              </a:rPr>
              <a:t>  </a:t>
            </a:r>
            <a:r>
              <a:rPr dirty="0" sz="700" spc="-10">
                <a:latin typeface="Courier New"/>
                <a:cs typeface="Courier New"/>
              </a:rPr>
              <a:t>reports/monthly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581304" y="5246908"/>
            <a:ext cx="4078604" cy="143891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lvl="2" marL="398780" indent="-386080">
              <a:lnSpc>
                <a:spcPct val="100000"/>
              </a:lnSpc>
              <a:spcBef>
                <a:spcPts val="695"/>
              </a:spcBef>
              <a:buAutoNum type="arabicPeriod" startAt="4"/>
              <a:tabLst>
                <a:tab pos="398780" algn="l"/>
              </a:tabLst>
            </a:pPr>
            <a:r>
              <a:rPr dirty="0" sz="850" b="1">
                <a:latin typeface="Book Antiqua"/>
                <a:cs typeface="Book Antiqua"/>
              </a:rPr>
              <a:t>Права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доступа</a:t>
            </a:r>
            <a:endParaRPr sz="850">
              <a:latin typeface="Book Antiqua"/>
              <a:cs typeface="Book Antiqua"/>
            </a:endParaRPr>
          </a:p>
          <a:p>
            <a:pPr marL="110489" marR="1278255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Каждый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(табл.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  <a:hlinkClick r:id="rId2" action="ppaction://hlinksldjump"/>
              </a:rPr>
              <a:t>5.1).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сведениях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указываются: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85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 spc="-35" i="1">
                <a:latin typeface="Georgia"/>
                <a:cs typeface="Georgia"/>
              </a:rPr>
              <a:t>тип</a:t>
            </a:r>
            <a:r>
              <a:rPr dirty="0" sz="750" spc="40" i="1">
                <a:latin typeface="Georgia"/>
                <a:cs typeface="Georgi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(символ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обозначает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файл,</a:t>
            </a:r>
            <a:r>
              <a:rPr dirty="0" sz="750">
                <a:latin typeface="Book Antiqua"/>
                <a:cs typeface="Book Antiqua"/>
              </a:rPr>
              <a:t> 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d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каталог);</a:t>
            </a:r>
            <a:endParaRPr sz="750">
              <a:latin typeface="Book Antiqua"/>
              <a:cs typeface="Book Antiqua"/>
            </a:endParaRPr>
          </a:p>
          <a:p>
            <a:pPr lvl="3" marL="144145" marR="5080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145415" algn="l"/>
              </a:tabLst>
            </a:pP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25" i="1">
                <a:latin typeface="Georgia"/>
                <a:cs typeface="Georgia"/>
              </a:rPr>
              <a:t>владельца</a:t>
            </a:r>
            <a:r>
              <a:rPr dirty="0" sz="750" spc="55" i="1">
                <a:latin typeface="Georgia"/>
                <a:cs typeface="Georgi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r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разрешено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чтение,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разрешена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запись,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x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разре-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шено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отсутствует);</a:t>
            </a:r>
            <a:endParaRPr sz="750">
              <a:latin typeface="Book Antiqua"/>
              <a:cs typeface="Book Antiqua"/>
            </a:endParaRPr>
          </a:p>
          <a:p>
            <a:pPr lvl="3" marL="144145" marR="25400" indent="-117475">
              <a:lnSpc>
                <a:spcPts val="890"/>
              </a:lnSpc>
              <a:spcBef>
                <a:spcPts val="10"/>
              </a:spcBef>
              <a:buFont typeface="Book Antiqua"/>
              <a:buChar char="–"/>
              <a:tabLst>
                <a:tab pos="145415" algn="l"/>
              </a:tabLst>
            </a:pP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35" i="1">
                <a:latin typeface="Georgia"/>
                <a:cs typeface="Georgia"/>
              </a:rPr>
              <a:t>членов</a:t>
            </a:r>
            <a:r>
              <a:rPr dirty="0" sz="750" spc="15" i="1">
                <a:latin typeface="Georgia"/>
                <a:cs typeface="Georgia"/>
              </a:rPr>
              <a:t> </a:t>
            </a:r>
            <a:r>
              <a:rPr dirty="0" sz="750" spc="-50" i="1">
                <a:latin typeface="Georgia"/>
                <a:cs typeface="Georgia"/>
              </a:rPr>
              <a:t>группы</a:t>
            </a:r>
            <a:r>
              <a:rPr dirty="0" sz="750" spc="15" i="1">
                <a:latin typeface="Georgia"/>
                <a:cs typeface="Georgi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r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разрешено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чтение,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разрешена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запись,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x</a:t>
            </a:r>
            <a:r>
              <a:rPr dirty="0" sz="700" spc="-260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разрешено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выполнение,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отсутствует);</a:t>
            </a:r>
            <a:endParaRPr sz="750">
              <a:latin typeface="Book Antiqua"/>
              <a:cs typeface="Book Antiqua"/>
            </a:endParaRPr>
          </a:p>
          <a:p>
            <a:pPr lvl="3" marL="144145" marR="25400" indent="-117475">
              <a:lnSpc>
                <a:spcPts val="890"/>
              </a:lnSpc>
              <a:spcBef>
                <a:spcPts val="10"/>
              </a:spcBef>
              <a:buFont typeface="Book Antiqua"/>
              <a:buChar char="–"/>
              <a:tabLst>
                <a:tab pos="145415" algn="l"/>
              </a:tabLst>
            </a:pP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-30" i="1">
                <a:latin typeface="Georgia"/>
                <a:cs typeface="Georgia"/>
              </a:rPr>
              <a:t>всех</a:t>
            </a:r>
            <a:r>
              <a:rPr dirty="0" sz="750" spc="-15" i="1">
                <a:latin typeface="Georgia"/>
                <a:cs typeface="Georgia"/>
              </a:rPr>
              <a:t> </a:t>
            </a:r>
            <a:r>
              <a:rPr dirty="0" sz="750" spc="-40" i="1">
                <a:latin typeface="Georgia"/>
                <a:cs typeface="Georgia"/>
              </a:rPr>
              <a:t>остальных</a:t>
            </a:r>
            <a:r>
              <a:rPr dirty="0" sz="750" spc="15" i="1">
                <a:latin typeface="Georgia"/>
                <a:cs typeface="Georgi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r</a:t>
            </a:r>
            <a:r>
              <a:rPr dirty="0" sz="700" spc="-285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разрешено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чтение,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w</a:t>
            </a:r>
            <a:r>
              <a:rPr dirty="0" sz="700" spc="-285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разрешена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запись,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x</a:t>
            </a:r>
            <a:r>
              <a:rPr dirty="0" sz="700" spc="-285">
                <a:latin typeface="Courier New"/>
                <a:cs typeface="Courier New"/>
              </a:rPr>
              <a:t> </a:t>
            </a:r>
            <a:r>
              <a:rPr dirty="0" sz="750" spc="-90">
                <a:latin typeface="Book Antiqua"/>
                <a:cs typeface="Book Antiqua"/>
              </a:rPr>
              <a:t>—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разрешено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выполнение,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220">
                <a:latin typeface="Courier New"/>
                <a:cs typeface="Courier New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отсутствует).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ts val="869"/>
              </a:lnSpc>
            </a:pPr>
            <a:r>
              <a:rPr dirty="0" sz="750" spc="-10" b="1">
                <a:latin typeface="Book Antiqua"/>
                <a:cs typeface="Book Antiqua"/>
              </a:rPr>
              <a:t>Примеры: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 i="1">
                <a:latin typeface="Georgia"/>
                <a:cs typeface="Georgia"/>
              </a:rPr>
              <a:t>Кулябов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spc="-30" i="1">
                <a:latin typeface="Georgia"/>
                <a:cs typeface="Georgia"/>
              </a:rPr>
              <a:t>Д.</a:t>
            </a:r>
            <a:r>
              <a:rPr dirty="0" sz="600" spc="-50" i="1">
                <a:latin typeface="Georgia"/>
                <a:cs typeface="Georgia"/>
              </a:rPr>
              <a:t> </a:t>
            </a:r>
            <a:r>
              <a:rPr dirty="0" sz="600" spc="-10" i="1">
                <a:latin typeface="Georgia"/>
                <a:cs typeface="Georgia"/>
              </a:rPr>
              <a:t>С.</a:t>
            </a:r>
            <a:r>
              <a:rPr dirty="0" sz="600" spc="-2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и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др.</a:t>
            </a:r>
            <a:r>
              <a:rPr dirty="0" sz="600" spc="55" i="1">
                <a:latin typeface="Georgia"/>
                <a:cs typeface="Georgi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49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4095457" y="616912"/>
            <a:ext cx="54356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25" b="1">
                <a:latin typeface="Book Antiqua"/>
                <a:cs typeface="Book Antiqua"/>
              </a:rPr>
              <a:t>5.1</a:t>
            </a:r>
            <a:endParaRPr sz="6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279395" y="730780"/>
            <a:ext cx="661670" cy="1301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50" b="1">
                <a:latin typeface="Book Antiqua"/>
                <a:cs typeface="Book Antiqua"/>
              </a:rPr>
              <a:t>Права</a:t>
            </a:r>
            <a:r>
              <a:rPr dirty="0" sz="650" spc="140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доступа</a:t>
            </a:r>
            <a:endParaRPr sz="6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93559" y="993952"/>
            <a:ext cx="3833495" cy="0"/>
          </a:xfrm>
          <a:custGeom>
            <a:avLst/>
            <a:gdLst/>
            <a:ahLst/>
            <a:cxnLst/>
            <a:rect l="l" t="t" r="r" b="b"/>
            <a:pathLst>
              <a:path w="3833495" h="0">
                <a:moveTo>
                  <a:pt x="0" y="0"/>
                </a:moveTo>
                <a:lnTo>
                  <a:pt x="383287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756780" y="982599"/>
            <a:ext cx="30734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Право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13382" y="982599"/>
            <a:ext cx="6305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Обозначение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269985" y="982599"/>
            <a:ext cx="26606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20">
                <a:latin typeface="Book Antiqua"/>
                <a:cs typeface="Book Antiqua"/>
              </a:rPr>
              <a:t>Файл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429825" y="982599"/>
            <a:ext cx="38671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Каталог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693559" y="1137551"/>
            <a:ext cx="3833495" cy="0"/>
          </a:xfrm>
          <a:custGeom>
            <a:avLst/>
            <a:gdLst/>
            <a:ahLst/>
            <a:cxnLst/>
            <a:rect l="l" t="t" r="r" b="b"/>
            <a:pathLst>
              <a:path w="3833495" h="0">
                <a:moveTo>
                  <a:pt x="0" y="0"/>
                </a:moveTo>
                <a:lnTo>
                  <a:pt x="383287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756780" y="1126210"/>
            <a:ext cx="35560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Чтение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513385" y="1126210"/>
            <a:ext cx="6350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50">
                <a:latin typeface="Book Antiqua"/>
                <a:cs typeface="Book Antiqua"/>
              </a:rPr>
              <a:t>r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2269985" y="1105456"/>
            <a:ext cx="1033780" cy="302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95"/>
              </a:spcBef>
            </a:pPr>
            <a:r>
              <a:rPr dirty="0" sz="750">
                <a:latin typeface="Book Antiqua"/>
                <a:cs typeface="Book Antiqua"/>
              </a:rPr>
              <a:t>Разрешены</a:t>
            </a:r>
            <a:r>
              <a:rPr dirty="0" sz="750" spc="1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просмотр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копирование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3429825" y="1126210"/>
            <a:ext cx="103378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Разрешён</a:t>
            </a:r>
            <a:r>
              <a:rPr dirty="0" sz="750" spc="250">
                <a:latin typeface="Book Antiqua"/>
                <a:cs typeface="Book Antiqua"/>
              </a:rPr>
              <a:t>  </a:t>
            </a:r>
            <a:r>
              <a:rPr dirty="0" sz="750" spc="-10">
                <a:latin typeface="Book Antiqua"/>
                <a:cs typeface="Book Antiqua"/>
              </a:rPr>
              <a:t>просмотр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3429825" y="1244000"/>
            <a:ext cx="1033780" cy="302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95"/>
              </a:spcBef>
              <a:tabLst>
                <a:tab pos="555625" algn="l"/>
              </a:tabLst>
            </a:pPr>
            <a:r>
              <a:rPr dirty="0" sz="750" spc="-10">
                <a:latin typeface="Book Antiqua"/>
                <a:cs typeface="Book Antiqua"/>
              </a:rPr>
              <a:t>списка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входящих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56780" y="1541843"/>
            <a:ext cx="34544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Запись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509851" y="1541843"/>
            <a:ext cx="9715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50">
                <a:latin typeface="Book Antiqua"/>
                <a:cs typeface="Book Antiqua"/>
              </a:rPr>
              <a:t>w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2269985" y="1521088"/>
            <a:ext cx="752475" cy="441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1200"/>
              </a:lnSpc>
              <a:spcBef>
                <a:spcPts val="95"/>
              </a:spcBef>
              <a:tabLst>
                <a:tab pos="677545" algn="l"/>
              </a:tabLst>
            </a:pPr>
            <a:r>
              <a:rPr dirty="0" sz="750" spc="-10">
                <a:latin typeface="Book Antiqua"/>
                <a:cs typeface="Book Antiqua"/>
              </a:rPr>
              <a:t>Разрешены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изменение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50">
                <a:latin typeface="Book Antiqua"/>
                <a:cs typeface="Book Antiqua"/>
              </a:rPr>
              <a:t>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реименование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3144747" y="1521088"/>
            <a:ext cx="1318895" cy="302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284480">
              <a:lnSpc>
                <a:spcPct val="121200"/>
              </a:lnSpc>
              <a:spcBef>
                <a:spcPts val="95"/>
              </a:spcBef>
              <a:tabLst>
                <a:tab pos="297180" algn="l"/>
              </a:tabLst>
            </a:pPr>
            <a:r>
              <a:rPr dirty="0" sz="750">
                <a:latin typeface="Book Antiqua"/>
                <a:cs typeface="Book Antiqua"/>
              </a:rPr>
              <a:t>Разрешены</a:t>
            </a:r>
            <a:r>
              <a:rPr dirty="0" sz="750" spc="3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создание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пе-</a:t>
            </a:r>
            <a:r>
              <a:rPr dirty="0" sz="750">
                <a:latin typeface="Book Antiqua"/>
                <a:cs typeface="Book Antiqua"/>
              </a:rPr>
              <a:t>	и удаление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56780" y="1957489"/>
            <a:ext cx="83058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766445" algn="l"/>
              </a:tabLst>
            </a:pPr>
            <a:r>
              <a:rPr dirty="0" sz="750" spc="-10">
                <a:latin typeface="Book Antiqua"/>
                <a:cs typeface="Book Antiqua"/>
              </a:rPr>
              <a:t>Выполнение</a:t>
            </a:r>
            <a:r>
              <a:rPr dirty="0" sz="750">
                <a:latin typeface="Book Antiqua"/>
                <a:cs typeface="Book Antiqua"/>
              </a:rPr>
              <a:t>	</a:t>
            </a:r>
            <a:r>
              <a:rPr dirty="0" sz="750" spc="-50">
                <a:latin typeface="Book Antiqua"/>
                <a:cs typeface="Book Antiqua"/>
              </a:rPr>
              <a:t>x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269985" y="1936735"/>
            <a:ext cx="1054735" cy="441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21200"/>
              </a:lnSpc>
              <a:spcBef>
                <a:spcPts val="95"/>
              </a:spcBef>
            </a:pPr>
            <a:r>
              <a:rPr dirty="0" sz="750">
                <a:latin typeface="Book Antiqua"/>
                <a:cs typeface="Book Antiqua"/>
              </a:rPr>
              <a:t>Разрешено</a:t>
            </a:r>
            <a:r>
              <a:rPr dirty="0" sz="750" spc="459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ние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(скриптов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50">
                <a:latin typeface="Book Antiqua"/>
                <a:cs typeface="Book Antiqua"/>
              </a:rPr>
              <a:t>и/или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программ)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3429825" y="1936735"/>
            <a:ext cx="1054735" cy="5797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21200"/>
              </a:lnSpc>
              <a:spcBef>
                <a:spcPts val="95"/>
              </a:spcBef>
            </a:pPr>
            <a:r>
              <a:rPr dirty="0" sz="750">
                <a:latin typeface="Book Antiqua"/>
                <a:cs typeface="Book Antiqua"/>
              </a:rPr>
              <a:t>Разрешён</a:t>
            </a:r>
            <a:r>
              <a:rPr dirty="0" sz="750" spc="455">
                <a:latin typeface="Book Antiqua"/>
                <a:cs typeface="Book Antiqua"/>
              </a:rPr>
              <a:t>   </a:t>
            </a:r>
            <a:r>
              <a:rPr dirty="0" sz="750" spc="-10">
                <a:latin typeface="Book Antiqua"/>
                <a:cs typeface="Book Antiqua"/>
              </a:rPr>
              <a:t>доступ</a:t>
            </a:r>
            <a:r>
              <a:rPr dirty="0" sz="750" spc="50">
                <a:latin typeface="Book Antiqua"/>
                <a:cs typeface="Book Antiqua"/>
              </a:rPr>
              <a:t> в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есть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воз- </a:t>
            </a:r>
            <a:r>
              <a:rPr dirty="0" sz="750">
                <a:latin typeface="Book Antiqua"/>
                <a:cs typeface="Book Antiqua"/>
              </a:rPr>
              <a:t>можность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сделать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его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текущим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693559" y="2528074"/>
            <a:ext cx="3833495" cy="0"/>
          </a:xfrm>
          <a:custGeom>
            <a:avLst/>
            <a:gdLst/>
            <a:ahLst/>
            <a:cxnLst/>
            <a:rect l="l" t="t" r="r" b="b"/>
            <a:pathLst>
              <a:path w="3833495" h="0">
                <a:moveTo>
                  <a:pt x="0" y="0"/>
                </a:moveTo>
                <a:lnTo>
                  <a:pt x="3832872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577367" y="2760307"/>
            <a:ext cx="4061460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45415" marR="5080" indent="-13335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1.</a:t>
            </a:r>
            <a:r>
              <a:rPr dirty="0" sz="750" spc="4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(крайнее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левое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поле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владелец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на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чтение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rw-</a:t>
            </a:r>
            <a:r>
              <a:rPr dirty="0" sz="750">
                <a:latin typeface="Book Antiqua"/>
                <a:cs typeface="Book Antiqua"/>
              </a:rPr>
              <a:t>),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группа,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которую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входит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владелец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может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читать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r--</a:t>
            </a:r>
            <a:r>
              <a:rPr dirty="0" sz="750">
                <a:latin typeface="Book Antiqua"/>
                <a:cs typeface="Book Antiqua"/>
              </a:rPr>
              <a:t>),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остальные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могут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читать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</a:t>
            </a:r>
            <a:r>
              <a:rPr dirty="0" sz="700">
                <a:latin typeface="Courier New"/>
                <a:cs typeface="Courier New"/>
              </a:rPr>
              <a:t>r--</a:t>
            </a:r>
            <a:r>
              <a:rPr dirty="0" sz="750" spc="-25">
                <a:latin typeface="Book Antiqua"/>
                <a:cs typeface="Book Antiqua"/>
              </a:rPr>
              <a:t>):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533120" y="3261704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726719" y="3211461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-rw-r--r-</a:t>
            </a:r>
            <a:r>
              <a:rPr dirty="0" sz="700" spc="-50">
                <a:latin typeface="Courier New"/>
                <a:cs typeface="Courier New"/>
              </a:rPr>
              <a:t>-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577367" y="3479114"/>
            <a:ext cx="387794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2.</a:t>
            </a:r>
            <a:r>
              <a:rPr dirty="0" sz="750" spc="3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Только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владелец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чтение,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изменение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533120" y="3753295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26719" y="3703053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-rwx-----</a:t>
            </a:r>
            <a:r>
              <a:rPr dirty="0" sz="700" spc="-50">
                <a:latin typeface="Courier New"/>
                <a:cs typeface="Courier New"/>
              </a:rPr>
              <a:t>-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77367" y="3970705"/>
            <a:ext cx="4075429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49225" marR="5080" indent="-13716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3.</a:t>
            </a:r>
            <a:r>
              <a:rPr dirty="0" sz="750" spc="4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Владелец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(крайнее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левое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d</a:t>
            </a:r>
            <a:r>
              <a:rPr dirty="0" sz="750">
                <a:latin typeface="Book Antiqua"/>
                <a:cs typeface="Book Antiqua"/>
              </a:rPr>
              <a:t>)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просмотр,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изменение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каталог,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члены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группы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могут входить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просматривать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все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остальные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только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входить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33120" y="4472115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726719" y="4421860"/>
            <a:ext cx="3899535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drwxr-x--</a:t>
            </a:r>
            <a:r>
              <a:rPr dirty="0" sz="700" spc="-50">
                <a:latin typeface="Courier New"/>
                <a:cs typeface="Courier New"/>
              </a:rPr>
              <a:t>x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581304" y="4774087"/>
            <a:ext cx="4057650" cy="75692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850" b="1">
                <a:latin typeface="Book Antiqua"/>
                <a:cs typeface="Book Antiqua"/>
              </a:rPr>
              <a:t>5.2.5.</a:t>
            </a:r>
            <a:r>
              <a:rPr dirty="0" sz="850" spc="37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Изменение</a:t>
            </a:r>
            <a:r>
              <a:rPr dirty="0" sz="850" spc="114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прав</a:t>
            </a:r>
            <a:r>
              <a:rPr dirty="0" sz="850" spc="8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доступа</a:t>
            </a:r>
            <a:endParaRPr sz="8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файлу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или</a:t>
            </a:r>
            <a:r>
              <a:rPr dirty="0" sz="750" spc="11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каталогу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1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изменить,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воспользовавшись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chmod</a:t>
            </a:r>
            <a:r>
              <a:rPr dirty="0" sz="750" spc="10">
                <a:latin typeface="Book Antiqua"/>
                <a:cs typeface="Book Antiqua"/>
              </a:rPr>
              <a:t>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Сделать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может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владелец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(или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каталога)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пользователь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правами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администратора.</a:t>
            </a:r>
            <a:endParaRPr sz="750">
              <a:latin typeface="Book Antiqua"/>
              <a:cs typeface="Book Antiqua"/>
            </a:endParaRPr>
          </a:p>
          <a:p>
            <a:pPr algn="just" marL="110489">
              <a:lnSpc>
                <a:spcPts val="885"/>
              </a:lnSpc>
            </a:pP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400405" y="5661953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594004" y="5611698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chmod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режим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имя_файла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81304" y="5879363"/>
            <a:ext cx="4078604" cy="82486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Режим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формате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команды)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имеет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компоненты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структуры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способ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запи-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си: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85"/>
              </a:lnSpc>
            </a:pPr>
            <a:r>
              <a:rPr dirty="0" sz="750" b="1">
                <a:latin typeface="Book Antiqua"/>
                <a:cs typeface="Book Antiqua"/>
              </a:rPr>
              <a:t>=</a:t>
            </a:r>
            <a:r>
              <a:rPr dirty="0" sz="750" spc="315" b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установить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право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 spc="65" b="1">
                <a:latin typeface="Book Antiqua"/>
                <a:cs typeface="Book Antiqua"/>
              </a:rPr>
              <a:t>-</a:t>
            </a:r>
            <a:r>
              <a:rPr dirty="0" sz="750" spc="254" b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лишить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права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 b="1">
                <a:latin typeface="Book Antiqua"/>
                <a:cs typeface="Book Antiqua"/>
              </a:rPr>
              <a:t>+</a:t>
            </a:r>
            <a:r>
              <a:rPr dirty="0" sz="750" spc="285" b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дать </a:t>
            </a:r>
            <a:r>
              <a:rPr dirty="0" sz="750" spc="-20">
                <a:latin typeface="Book Antiqua"/>
                <a:cs typeface="Book Antiqua"/>
              </a:rPr>
              <a:t>право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 b="1">
                <a:latin typeface="Book Antiqua"/>
                <a:cs typeface="Book Antiqua"/>
              </a:rPr>
              <a:t>r</a:t>
            </a:r>
            <a:r>
              <a:rPr dirty="0" sz="750" spc="295" b="1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чтение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 b="1">
                <a:latin typeface="Book Antiqua"/>
                <a:cs typeface="Book Antiqua"/>
              </a:rPr>
              <a:t>w</a:t>
            </a:r>
            <a:r>
              <a:rPr dirty="0" sz="750" spc="220" b="1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запись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50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601431" y="392412"/>
            <a:ext cx="303784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5.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Анализ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файловой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системы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Linux.</a:t>
            </a:r>
            <a:r>
              <a:rPr dirty="0" sz="600" spc="4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Команды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для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работы</a:t>
            </a:r>
            <a:r>
              <a:rPr dirty="0" sz="600" spc="-40">
                <a:latin typeface="Book Antiqua"/>
                <a:cs typeface="Book Antiqua"/>
              </a:rPr>
              <a:t>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81304" y="653389"/>
            <a:ext cx="4057650" cy="10623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ts val="894"/>
              </a:lnSpc>
              <a:spcBef>
                <a:spcPts val="120"/>
              </a:spcBef>
            </a:pPr>
            <a:r>
              <a:rPr dirty="0" sz="750" spc="55" b="1">
                <a:latin typeface="Book Antiqua"/>
                <a:cs typeface="Book Antiqua"/>
              </a:rPr>
              <a:t>x</a:t>
            </a:r>
            <a:r>
              <a:rPr dirty="0" sz="750" spc="254" b="1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выполнение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 b="1">
                <a:latin typeface="Book Antiqua"/>
                <a:cs typeface="Book Antiqua"/>
              </a:rPr>
              <a:t>u</a:t>
            </a:r>
            <a:r>
              <a:rPr dirty="0" sz="750" spc="9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(user)</a:t>
            </a:r>
            <a:r>
              <a:rPr dirty="0" sz="750" spc="415" b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владелец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 b="1">
                <a:latin typeface="Book Antiqua"/>
                <a:cs typeface="Book Antiqua"/>
              </a:rPr>
              <a:t>g</a:t>
            </a:r>
            <a:r>
              <a:rPr dirty="0" sz="750" spc="7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(group)</a:t>
            </a:r>
            <a:r>
              <a:rPr dirty="0" sz="750" spc="365" b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группа, к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принадлежит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владелец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файла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 b="1">
                <a:latin typeface="Book Antiqua"/>
                <a:cs typeface="Book Antiqua"/>
              </a:rPr>
              <a:t>o</a:t>
            </a:r>
            <a:r>
              <a:rPr dirty="0" sz="750" spc="120" b="1">
                <a:latin typeface="Book Antiqua"/>
                <a:cs typeface="Book Antiqua"/>
              </a:rPr>
              <a:t> </a:t>
            </a:r>
            <a:r>
              <a:rPr dirty="0" sz="750" b="1">
                <a:latin typeface="Book Antiqua"/>
                <a:cs typeface="Book Antiqua"/>
              </a:rPr>
              <a:t>(others)</a:t>
            </a:r>
            <a:r>
              <a:rPr dirty="0" sz="750" spc="475" b="1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остальные</a:t>
            </a:r>
            <a:endParaRPr sz="750">
              <a:latin typeface="Book Antiqua"/>
              <a:cs typeface="Book Antiqua"/>
            </a:endParaRPr>
          </a:p>
          <a:p>
            <a:pPr marL="12700" marR="5080" indent="97790">
              <a:lnSpc>
                <a:spcPts val="890"/>
              </a:lnSpc>
              <a:spcBef>
                <a:spcPts val="35"/>
              </a:spcBef>
            </a:pP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работе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правами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доступа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использовать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их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цифровую </a:t>
            </a:r>
            <a:r>
              <a:rPr dirty="0" sz="750" spc="10">
                <a:latin typeface="Book Antiqua"/>
                <a:cs typeface="Book Antiqua"/>
              </a:rPr>
              <a:t>запись</a:t>
            </a:r>
            <a:r>
              <a:rPr dirty="0" sz="750" spc="-10">
                <a:latin typeface="Book Antiqua"/>
                <a:cs typeface="Book Antiqua"/>
              </a:rPr>
              <a:t> (восьмеричное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значение)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вместо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символьной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(табл.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  <a:hlinkClick r:id="rId2" action="ppaction://hlinksldjump"/>
              </a:rPr>
              <a:t>5.2).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750">
              <a:latin typeface="Book Antiqua"/>
              <a:cs typeface="Book Antiqua"/>
            </a:endParaRPr>
          </a:p>
          <a:p>
            <a:pPr algn="ctr" marL="3514090">
              <a:lnSpc>
                <a:spcPct val="100000"/>
              </a:lnSpc>
              <a:spcBef>
                <a:spcPts val="5"/>
              </a:spcBef>
            </a:pPr>
            <a:r>
              <a:rPr dirty="0" sz="650" b="1">
                <a:latin typeface="Book Antiqua"/>
                <a:cs typeface="Book Antiqua"/>
              </a:rPr>
              <a:t>Таблица</a:t>
            </a:r>
            <a:r>
              <a:rPr dirty="0" sz="650" spc="200" b="1">
                <a:latin typeface="Book Antiqua"/>
                <a:cs typeface="Book Antiqua"/>
              </a:rPr>
              <a:t> </a:t>
            </a:r>
            <a:r>
              <a:rPr dirty="0" sz="650" spc="25" b="1">
                <a:latin typeface="Book Antiqua"/>
                <a:cs typeface="Book Antiqua"/>
              </a:rPr>
              <a:t>5.2</a:t>
            </a:r>
            <a:endParaRPr sz="65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  <a:spcBef>
                <a:spcPts val="114"/>
              </a:spcBef>
            </a:pPr>
            <a:r>
              <a:rPr dirty="0" sz="650" spc="10" b="1">
                <a:latin typeface="Book Antiqua"/>
                <a:cs typeface="Book Antiqua"/>
              </a:rPr>
              <a:t>Формы</a:t>
            </a:r>
            <a:r>
              <a:rPr dirty="0" sz="650" spc="130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записи</a:t>
            </a:r>
            <a:r>
              <a:rPr dirty="0" sz="650" spc="135" b="1">
                <a:latin typeface="Book Antiqua"/>
                <a:cs typeface="Book Antiqua"/>
              </a:rPr>
              <a:t> </a:t>
            </a:r>
            <a:r>
              <a:rPr dirty="0" sz="650" spc="10" b="1">
                <a:latin typeface="Book Antiqua"/>
                <a:cs typeface="Book Antiqua"/>
              </a:rPr>
              <a:t>прав</a:t>
            </a:r>
            <a:r>
              <a:rPr dirty="0" sz="650" spc="110" b="1">
                <a:latin typeface="Book Antiqua"/>
                <a:cs typeface="Book Antiqua"/>
              </a:rPr>
              <a:t> </a:t>
            </a:r>
            <a:r>
              <a:rPr dirty="0" sz="650" spc="-10" b="1">
                <a:latin typeface="Book Antiqua"/>
                <a:cs typeface="Book Antiqua"/>
              </a:rPr>
              <a:t>доступа</a:t>
            </a:r>
            <a:endParaRPr sz="650">
              <a:latin typeface="Book Antiqua"/>
              <a:cs typeface="Book Antiqua"/>
            </a:endParaRPr>
          </a:p>
        </p:txBody>
      </p:sp>
      <p:graphicFrame>
        <p:nvGraphicFramePr>
          <p:cNvPr id="6" name="object 6" descr=""/>
          <p:cNvGraphicFramePr>
            <a:graphicFrameLocks noGrp="1"/>
          </p:cNvGraphicFramePr>
          <p:nvPr/>
        </p:nvGraphicFramePr>
        <p:xfrm>
          <a:off x="1543494" y="1875015"/>
          <a:ext cx="2209800" cy="1360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1345"/>
                <a:gridCol w="815340"/>
                <a:gridCol w="715644"/>
              </a:tblGrid>
              <a:tr h="1962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750" spc="-10">
                          <a:latin typeface="Book Antiqua"/>
                          <a:cs typeface="Book Antiqua"/>
                        </a:rPr>
                        <a:t>Двоичная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746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750" spc="-10">
                          <a:latin typeface="Book Antiqua"/>
                          <a:cs typeface="Book Antiqua"/>
                        </a:rPr>
                        <a:t>Восьмеричная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746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750" spc="-10">
                          <a:latin typeface="Book Antiqua"/>
                          <a:cs typeface="Book Antiqua"/>
                        </a:rPr>
                        <a:t>Символьная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7465">
                    <a:lnT w="9525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750" spc="-25">
                          <a:latin typeface="Book Antiqua"/>
                          <a:cs typeface="Book Antiqua"/>
                        </a:rPr>
                        <a:t>111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619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7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3619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700" spc="-25">
                          <a:latin typeface="Courier New"/>
                          <a:cs typeface="Courier New"/>
                        </a:rPr>
                        <a:t>rwx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42544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38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25">
                          <a:latin typeface="Book Antiqua"/>
                          <a:cs typeface="Book Antiqua"/>
                        </a:rPr>
                        <a:t>110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6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 spc="-25">
                          <a:latin typeface="Courier New"/>
                          <a:cs typeface="Courier New"/>
                        </a:rPr>
                        <a:t>rw-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/>
                </a:tc>
              </a:tr>
              <a:tr h="138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25">
                          <a:latin typeface="Book Antiqua"/>
                          <a:cs typeface="Book Antiqua"/>
                        </a:rPr>
                        <a:t>101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5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r-</a:t>
                      </a:r>
                      <a:r>
                        <a:rPr dirty="0" sz="700" spc="-50">
                          <a:latin typeface="Courier New"/>
                          <a:cs typeface="Courier New"/>
                        </a:rPr>
                        <a:t>x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/>
                </a:tc>
              </a:tr>
              <a:tr h="138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25">
                          <a:latin typeface="Book Antiqua"/>
                          <a:cs typeface="Book Antiqua"/>
                        </a:rPr>
                        <a:t>100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4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r-</a:t>
                      </a:r>
                      <a:r>
                        <a:rPr dirty="0" sz="700" spc="-50">
                          <a:latin typeface="Courier New"/>
                          <a:cs typeface="Courier New"/>
                        </a:rPr>
                        <a:t>-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/>
                </a:tc>
              </a:tr>
              <a:tr h="138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25">
                          <a:latin typeface="Book Antiqua"/>
                          <a:cs typeface="Book Antiqua"/>
                        </a:rPr>
                        <a:t>011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3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700" spc="-25">
                          <a:latin typeface="Courier New"/>
                          <a:cs typeface="Courier New"/>
                        </a:rPr>
                        <a:t>wx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/>
                </a:tc>
              </a:tr>
              <a:tr h="138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25">
                          <a:latin typeface="Book Antiqua"/>
                          <a:cs typeface="Book Antiqua"/>
                        </a:rPr>
                        <a:t>010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2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-</a:t>
                      </a:r>
                      <a:r>
                        <a:rPr dirty="0" sz="700" spc="-25">
                          <a:latin typeface="Courier New"/>
                          <a:cs typeface="Courier New"/>
                        </a:rPr>
                        <a:t>w-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/>
                </a:tc>
              </a:tr>
              <a:tr h="1384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25">
                          <a:latin typeface="Book Antiqua"/>
                          <a:cs typeface="Book Antiqua"/>
                        </a:rPr>
                        <a:t>001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1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--</a:t>
                      </a:r>
                      <a:r>
                        <a:rPr dirty="0" sz="700" spc="-50">
                          <a:latin typeface="Courier New"/>
                          <a:cs typeface="Courier New"/>
                        </a:rPr>
                        <a:t>x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/>
                </a:tc>
              </a:tr>
              <a:tr h="1644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25">
                          <a:latin typeface="Book Antiqua"/>
                          <a:cs typeface="Book Antiqua"/>
                        </a:rPr>
                        <a:t>000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dirty="0" sz="750" spc="-50">
                          <a:latin typeface="Book Antiqua"/>
                          <a:cs typeface="Book Antiqua"/>
                        </a:rPr>
                        <a:t>0</a:t>
                      </a:r>
                      <a:endParaRPr sz="750">
                        <a:latin typeface="Book Antiqua"/>
                        <a:cs typeface="Book Antiqua"/>
                      </a:endParaRPr>
                    </a:p>
                  </a:txBody>
                  <a:tcPr marL="0" marR="0" marB="0" marT="444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--</a:t>
                      </a:r>
                      <a:r>
                        <a:rPr dirty="0" sz="700" spc="-50">
                          <a:latin typeface="Courier New"/>
                          <a:cs typeface="Courier New"/>
                        </a:rPr>
                        <a:t>-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10795"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 descr=""/>
          <p:cNvSpPr txBox="1"/>
          <p:nvPr/>
        </p:nvSpPr>
        <p:spPr>
          <a:xfrm>
            <a:off x="577367" y="3400945"/>
            <a:ext cx="3291204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4300">
              <a:lnSpc>
                <a:spcPts val="894"/>
              </a:lnSpc>
              <a:spcBef>
                <a:spcPts val="120"/>
              </a:spcBef>
            </a:pPr>
            <a:r>
              <a:rPr dirty="0" sz="750" spc="-10" b="1">
                <a:latin typeface="Book Antiqua"/>
                <a:cs typeface="Book Antiqua"/>
              </a:rPr>
              <a:t>Примеры:</a:t>
            </a:r>
            <a:endParaRPr sz="750">
              <a:latin typeface="Book Antiqua"/>
              <a:cs typeface="Book Antiqua"/>
            </a:endParaRPr>
          </a:p>
          <a:p>
            <a:pPr marL="12700">
              <a:lnSpc>
                <a:spcPts val="894"/>
              </a:lnSpc>
            </a:pPr>
            <a:r>
              <a:rPr dirty="0" sz="750">
                <a:latin typeface="Book Antiqua"/>
                <a:cs typeface="Book Antiqua"/>
              </a:rPr>
              <a:t>1.</a:t>
            </a:r>
            <a:r>
              <a:rPr dirty="0" sz="750" spc="3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Требуется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создать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~/may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владельца: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33120" y="3789262"/>
            <a:ext cx="54610" cy="5454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26719" y="3739019"/>
            <a:ext cx="3899535" cy="64452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endParaRPr sz="700">
              <a:latin typeface="Courier New"/>
              <a:cs typeface="Courier New"/>
            </a:endParaRPr>
          </a:p>
          <a:p>
            <a:pPr marL="37465" marR="3361690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touch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may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-l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may</a:t>
            </a:r>
            <a:endParaRPr sz="700">
              <a:latin typeface="Courier New"/>
              <a:cs typeface="Courier New"/>
            </a:endParaRPr>
          </a:p>
          <a:p>
            <a:pPr marL="37465" marR="3142615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chmod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u+x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may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-l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577367" y="4461636"/>
            <a:ext cx="314388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2.</a:t>
            </a:r>
            <a:r>
              <a:rPr dirty="0" sz="750" spc="3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Требуется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лишить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владельца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~/may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выполнение: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33120" y="4736351"/>
            <a:ext cx="54610" cy="20447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26719" y="4686096"/>
            <a:ext cx="3899535" cy="303530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1590" rIns="0" bIns="0" rtlCol="0" vert="horz">
            <a:spAutoFit/>
          </a:bodyPr>
          <a:lstStyle/>
          <a:p>
            <a:pPr marL="37465" marR="3142615">
              <a:lnSpc>
                <a:spcPct val="106500"/>
              </a:lnSpc>
              <a:spcBef>
                <a:spcPts val="170"/>
              </a:spcBef>
            </a:pPr>
            <a:r>
              <a:rPr dirty="0" sz="700">
                <a:latin typeface="Courier New"/>
                <a:cs typeface="Courier New"/>
              </a:rPr>
              <a:t>chmod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u-x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may </a:t>
            </a:r>
            <a:r>
              <a:rPr dirty="0" sz="700">
                <a:latin typeface="Courier New"/>
                <a:cs typeface="Courier New"/>
              </a:rPr>
              <a:t>ls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-l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may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77367" y="5067896"/>
            <a:ext cx="4061460" cy="2571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9225" marR="5080" indent="-137160">
              <a:lnSpc>
                <a:spcPct val="100000"/>
              </a:lnSpc>
              <a:spcBef>
                <a:spcPts val="120"/>
              </a:spcBef>
            </a:pPr>
            <a:r>
              <a:rPr dirty="0" sz="750" spc="10">
                <a:latin typeface="Book Antiqua"/>
                <a:cs typeface="Book Antiqua"/>
              </a:rPr>
              <a:t>3.</a:t>
            </a:r>
            <a:r>
              <a:rPr dirty="0" sz="750" spc="3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Требуется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создать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monthly</a:t>
            </a:r>
            <a:r>
              <a:rPr dirty="0" sz="700" spc="-18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запретом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чтение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для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членов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группы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всех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остальных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пользователей: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33120" y="5456226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26719" y="5405971"/>
            <a:ext cx="3899535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mkdir</a:t>
            </a:r>
            <a:r>
              <a:rPr dirty="0" sz="700" spc="46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chmod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g-r,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o-r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monthly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577367" y="5901372"/>
            <a:ext cx="3310890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4.</a:t>
            </a:r>
            <a:r>
              <a:rPr dirty="0" sz="750" spc="3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Требуется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создать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~/abc1</a:t>
            </a:r>
            <a:r>
              <a:rPr dirty="0" sz="700" spc="-1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правом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членов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группы: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33120" y="6176100"/>
            <a:ext cx="54610" cy="31813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26719" y="6125845"/>
            <a:ext cx="3899535" cy="41719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25">
                <a:solidFill>
                  <a:srgbClr val="007F00"/>
                </a:solidFill>
                <a:latin typeface="Courier New"/>
                <a:cs typeface="Courier New"/>
              </a:rPr>
              <a:t>cd</a:t>
            </a:r>
            <a:endParaRPr sz="700">
              <a:latin typeface="Courier New"/>
              <a:cs typeface="Courier New"/>
            </a:endParaRPr>
          </a:p>
          <a:p>
            <a:pPr marL="37465" marR="3088005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touch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abc1 </a:t>
            </a:r>
            <a:r>
              <a:rPr dirty="0" sz="700">
                <a:latin typeface="Courier New"/>
                <a:cs typeface="Courier New"/>
              </a:rPr>
              <a:t>chmod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g+w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20">
                <a:latin typeface="Courier New"/>
                <a:cs typeface="Courier New"/>
              </a:rPr>
              <a:t>abc1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581304" y="392412"/>
            <a:ext cx="4078604" cy="2068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63035" algn="l"/>
              </a:tabLst>
            </a:pPr>
            <a:r>
              <a:rPr dirty="0" sz="600" spc="-40" i="1">
                <a:latin typeface="Georgia"/>
                <a:cs typeface="Georgia"/>
              </a:rPr>
              <a:t>Кулябов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spc="-30" i="1">
                <a:latin typeface="Georgia"/>
                <a:cs typeface="Georgia"/>
              </a:rPr>
              <a:t>Д.</a:t>
            </a:r>
            <a:r>
              <a:rPr dirty="0" sz="600" spc="-50" i="1">
                <a:latin typeface="Georgia"/>
                <a:cs typeface="Georgia"/>
              </a:rPr>
              <a:t> </a:t>
            </a:r>
            <a:r>
              <a:rPr dirty="0" sz="600" spc="-10" i="1">
                <a:latin typeface="Georgia"/>
                <a:cs typeface="Georgia"/>
              </a:rPr>
              <a:t>С.</a:t>
            </a:r>
            <a:r>
              <a:rPr dirty="0" sz="600" spc="-2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и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др.</a:t>
            </a:r>
            <a:r>
              <a:rPr dirty="0" sz="600" spc="55" i="1">
                <a:latin typeface="Georgia"/>
                <a:cs typeface="Georgi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r>
              <a:rPr dirty="0" sz="600">
                <a:latin typeface="Book Antiqua"/>
                <a:cs typeface="Book Antiqua"/>
              </a:rPr>
              <a:t>	</a:t>
            </a:r>
            <a:r>
              <a:rPr dirty="0" sz="600" spc="-25">
                <a:latin typeface="Book Antiqua"/>
                <a:cs typeface="Book Antiqua"/>
              </a:rPr>
              <a:t>51</a:t>
            </a:r>
            <a:endParaRPr sz="6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600">
              <a:latin typeface="Book Antiqua"/>
              <a:cs typeface="Book Antiqua"/>
            </a:endParaRPr>
          </a:p>
          <a:p>
            <a:pPr lvl="2" marL="398145" indent="-385445">
              <a:lnSpc>
                <a:spcPct val="100000"/>
              </a:lnSpc>
              <a:buAutoNum type="arabicPeriod" startAt="6"/>
              <a:tabLst>
                <a:tab pos="398145" algn="l"/>
              </a:tabLst>
            </a:pPr>
            <a:r>
              <a:rPr dirty="0" sz="850" b="1">
                <a:latin typeface="Book Antiqua"/>
                <a:cs typeface="Book Antiqua"/>
              </a:rPr>
              <a:t>Анализ</a:t>
            </a:r>
            <a:r>
              <a:rPr dirty="0" sz="850" spc="70" b="1">
                <a:latin typeface="Book Antiqua"/>
                <a:cs typeface="Book Antiqua"/>
              </a:rPr>
              <a:t> </a:t>
            </a:r>
            <a:r>
              <a:rPr dirty="0" sz="850" b="1">
                <a:latin typeface="Book Antiqua"/>
                <a:cs typeface="Book Antiqua"/>
              </a:rPr>
              <a:t>файловой</a:t>
            </a:r>
            <a:r>
              <a:rPr dirty="0" sz="850" spc="7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системы</a:t>
            </a:r>
            <a:endParaRPr sz="850">
              <a:latin typeface="Book Antiqua"/>
              <a:cs typeface="Book Antiqua"/>
            </a:endParaRPr>
          </a:p>
          <a:p>
            <a:pPr marL="12700" marR="5080" indent="97790">
              <a:lnSpc>
                <a:spcPct val="100000"/>
              </a:lnSpc>
              <a:spcBef>
                <a:spcPts val="555"/>
              </a:spcBef>
            </a:pPr>
            <a:r>
              <a:rPr dirty="0" sz="750">
                <a:latin typeface="Book Antiqua"/>
                <a:cs typeface="Book Antiqua"/>
              </a:rPr>
              <a:t>Файловая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Linux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состоит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из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фалов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каталогов.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Каждому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физическому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носи-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телю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соответствует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своя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файловая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система.</a:t>
            </a:r>
            <a:endParaRPr sz="750">
              <a:latin typeface="Book Antiqua"/>
              <a:cs typeface="Book Antiqua"/>
            </a:endParaRPr>
          </a:p>
          <a:p>
            <a:pPr marL="12700" marR="5080" indent="97790">
              <a:lnSpc>
                <a:spcPts val="890"/>
              </a:lnSpc>
              <a:spcBef>
                <a:spcPts val="25"/>
              </a:spcBef>
            </a:pPr>
            <a:r>
              <a:rPr dirty="0" sz="750" spc="-10">
                <a:latin typeface="Book Antiqua"/>
                <a:cs typeface="Book Antiqua"/>
              </a:rPr>
              <a:t>Существует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несколько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типов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файловых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Перечислим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наиболее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часто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встречаю-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щиеся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типы: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69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ext2fs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(second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extended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filesystem);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ext2fs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(third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extended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file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system);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ext4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(fourth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extended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file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system);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 spc="-10">
                <a:latin typeface="Book Antiqua"/>
                <a:cs typeface="Book Antiqua"/>
              </a:rPr>
              <a:t>ReiserFS;</a:t>
            </a:r>
            <a:endParaRPr sz="750">
              <a:latin typeface="Book Antiqua"/>
              <a:cs typeface="Book Antiqua"/>
            </a:endParaRPr>
          </a:p>
          <a:p>
            <a:pPr lvl="3" marL="141605" indent="-114935">
              <a:lnSpc>
                <a:spcPts val="894"/>
              </a:lnSpc>
              <a:buFont typeface="Book Antiqua"/>
              <a:buChar char="–"/>
              <a:tabLst>
                <a:tab pos="141605" algn="l"/>
              </a:tabLst>
            </a:pPr>
            <a:r>
              <a:rPr dirty="0" sz="750" spc="-20">
                <a:latin typeface="Book Antiqua"/>
                <a:cs typeface="Book Antiqua"/>
              </a:rPr>
              <a:t>xfs;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 spc="10">
                <a:latin typeface="Book Antiqua"/>
                <a:cs typeface="Book Antiqua"/>
              </a:rPr>
              <a:t>fat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(file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allocation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table);</a:t>
            </a:r>
            <a:endParaRPr sz="750">
              <a:latin typeface="Book Antiqua"/>
              <a:cs typeface="Book Antiqua"/>
            </a:endParaRPr>
          </a:p>
          <a:p>
            <a:pPr lvl="3"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ntfs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(new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technology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file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system).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35"/>
              </a:spcBef>
            </a:pP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просмотра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используемых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операционной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файловых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вос-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пользоваться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командой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mount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без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параметров.</a:t>
            </a:r>
            <a:r>
              <a:rPr dirty="0" sz="750" spc="2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результате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её</a:t>
            </a:r>
            <a:r>
              <a:rPr dirty="0" sz="750" spc="25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применения</a:t>
            </a:r>
            <a:r>
              <a:rPr dirty="0" sz="750" spc="2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можно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получить примерно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следующее: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71335" y="2592236"/>
            <a:ext cx="83820" cy="168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7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8</a:t>
            </a:r>
            <a:endParaRPr sz="400">
              <a:latin typeface="Book Antiqua"/>
              <a:cs typeface="Book Antiqua"/>
            </a:endParaRPr>
          </a:p>
          <a:p>
            <a:pPr marL="41275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9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10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400" spc="-25">
                <a:latin typeface="Book Antiqua"/>
                <a:cs typeface="Book Antiqua"/>
              </a:rPr>
              <a:t>11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4"/>
              </a:spcBef>
            </a:pPr>
            <a:r>
              <a:rPr dirty="0" sz="400" spc="-25">
                <a:latin typeface="Book Antiqua"/>
                <a:cs typeface="Book Antiqua"/>
              </a:rPr>
              <a:t>12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25">
                <a:latin typeface="Book Antiqua"/>
                <a:cs typeface="Book Antiqua"/>
              </a:rPr>
              <a:t>13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25">
                <a:latin typeface="Book Antiqua"/>
                <a:cs typeface="Book Antiqua"/>
              </a:rPr>
              <a:t>15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594004" y="2541994"/>
            <a:ext cx="4032250" cy="1780539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 spc="-10">
                <a:latin typeface="Courier New"/>
                <a:cs typeface="Courier New"/>
              </a:rPr>
              <a:t>mount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</a:pPr>
            <a:r>
              <a:rPr dirty="0" sz="700">
                <a:latin typeface="Courier New"/>
                <a:cs typeface="Courier New"/>
              </a:rPr>
              <a:t>proc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/proc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proc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20">
                <a:latin typeface="Courier New"/>
                <a:cs typeface="Courier New"/>
              </a:rPr>
              <a:t>rw</a:t>
            </a:r>
            <a:r>
              <a:rPr dirty="0" sz="700" spc="-2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 marL="37465" marR="1308100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sysfs</a:t>
            </a:r>
            <a:r>
              <a:rPr dirty="0" sz="700" spc="1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/sys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sysfs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rw,nosuid,nodev,noexec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 </a:t>
            </a:r>
            <a:r>
              <a:rPr dirty="0" sz="700">
                <a:latin typeface="Courier New"/>
                <a:cs typeface="Courier New"/>
              </a:rPr>
              <a:t>udev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/dev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tmpfs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rw,nosuid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devpts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/dev/pts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3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devpts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rw,nosuid,noexec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/dev/sda1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/mnt/a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3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ext3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rw,noatime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 marL="37465" marR="1198245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/dev/sdb2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/mnt/docs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3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reiserfs</a:t>
            </a:r>
            <a:r>
              <a:rPr dirty="0" sz="700" spc="40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rw,noatime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 </a:t>
            </a:r>
            <a:r>
              <a:rPr dirty="0" sz="700">
                <a:latin typeface="Courier New"/>
                <a:cs typeface="Courier New"/>
              </a:rPr>
              <a:t>shm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/dev/shm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2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tmpfs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rw,noexec,nosuid,nodev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 </a:t>
            </a:r>
            <a:r>
              <a:rPr dirty="0" sz="700">
                <a:latin typeface="Courier New"/>
                <a:cs typeface="Courier New"/>
              </a:rPr>
              <a:t>usbfs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/proc/bus/usb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35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usbfs</a:t>
            </a:r>
            <a:endParaRPr sz="700">
              <a:latin typeface="Courier New"/>
              <a:cs typeface="Courier New"/>
            </a:endParaRPr>
          </a:p>
          <a:p>
            <a:pPr marL="201930"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rw,noexec,nosuid,devmode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=0664</a:t>
            </a:r>
            <a:r>
              <a:rPr dirty="0" sz="700" spc="-10">
                <a:latin typeface="Courier New"/>
                <a:cs typeface="Courier New"/>
              </a:rPr>
              <a:t>,devgid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=85)</a:t>
            </a:r>
            <a:endParaRPr sz="700">
              <a:latin typeface="Courier New"/>
              <a:cs typeface="Courier New"/>
            </a:endParaRPr>
          </a:p>
          <a:p>
            <a:pPr marL="201930" marR="925194" indent="-164465">
              <a:lnSpc>
                <a:spcPct val="106500"/>
              </a:lnSpc>
            </a:pPr>
            <a:r>
              <a:rPr dirty="0" sz="700">
                <a:latin typeface="Courier New"/>
                <a:cs typeface="Courier New"/>
              </a:rPr>
              <a:t>binfmt_misc</a:t>
            </a:r>
            <a:r>
              <a:rPr dirty="0" sz="700" spc="5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55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/proc/sys/fs/binfmt_misc</a:t>
            </a:r>
            <a:r>
              <a:rPr dirty="0" sz="700" spc="5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5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binfmt_misc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rw,noexec,nosuid,nodev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  <a:p>
            <a:pPr marL="37465">
              <a:lnSpc>
                <a:spcPct val="100000"/>
              </a:lnSpc>
              <a:spcBef>
                <a:spcPts val="55"/>
              </a:spcBef>
            </a:pPr>
            <a:r>
              <a:rPr dirty="0" sz="700">
                <a:latin typeface="Courier New"/>
                <a:cs typeface="Courier New"/>
              </a:rPr>
              <a:t>nfsd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on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/proc/fs/nfs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007F00"/>
                </a:solidFill>
                <a:latin typeface="Courier New"/>
                <a:cs typeface="Courier New"/>
              </a:rPr>
              <a:t>type</a:t>
            </a:r>
            <a:r>
              <a:rPr dirty="0" sz="700" spc="3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nfsd</a:t>
            </a:r>
            <a:r>
              <a:rPr dirty="0" sz="700" spc="35">
                <a:latin typeface="Courier New"/>
                <a:cs typeface="Courier New"/>
              </a:rPr>
              <a:t>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(</a:t>
            </a:r>
            <a:r>
              <a:rPr dirty="0" sz="700" spc="-10">
                <a:latin typeface="Courier New"/>
                <a:cs typeface="Courier New"/>
              </a:rPr>
              <a:t>rw,noexec,nosuid,nodev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)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1304" y="4400689"/>
            <a:ext cx="4078604" cy="13931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данном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случае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устройств,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названия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соответствующих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точек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мон-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тирования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(путь),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тип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параметрами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монтирования.</a:t>
            </a:r>
            <a:endParaRPr sz="750">
              <a:latin typeface="Book Antiqua"/>
              <a:cs typeface="Book Antiqua"/>
            </a:endParaRPr>
          </a:p>
          <a:p>
            <a:pPr algn="just" marL="12700" marR="12065" indent="97790">
              <a:lnSpc>
                <a:spcPts val="890"/>
              </a:lnSpc>
              <a:spcBef>
                <a:spcPts val="30"/>
              </a:spcBef>
            </a:pPr>
            <a:r>
              <a:rPr dirty="0" sz="750" spc="5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контексте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mount</a:t>
            </a:r>
            <a:r>
              <a:rPr dirty="0" sz="700" spc="-235">
                <a:latin typeface="Courier New"/>
                <a:cs typeface="Courier New"/>
              </a:rPr>
              <a:t> </a:t>
            </a:r>
            <a:r>
              <a:rPr dirty="0" sz="750" spc="-35" i="1">
                <a:latin typeface="Georgia"/>
                <a:cs typeface="Georgia"/>
              </a:rPr>
              <a:t>устройство</a:t>
            </a:r>
            <a:r>
              <a:rPr dirty="0" sz="750" spc="-25" i="1">
                <a:latin typeface="Georgia"/>
                <a:cs typeface="Georgia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специальный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файл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устройства,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помощью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которого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операционная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система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получает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доступ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15">
                <a:latin typeface="Book Antiqua"/>
                <a:cs typeface="Book Antiqua"/>
              </a:rPr>
              <a:t>аппаратному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устройству.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Файлы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устройств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обычно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располагаются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35">
                <a:latin typeface="Book Antiqua"/>
                <a:cs typeface="Book Antiqua"/>
              </a:rPr>
              <a:t>в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00" spc="5">
                <a:latin typeface="Courier New"/>
                <a:cs typeface="Courier New"/>
              </a:rPr>
              <a:t>/dev</a:t>
            </a:r>
            <a:r>
              <a:rPr dirty="0" sz="750" spc="5">
                <a:latin typeface="Book Antiqua"/>
                <a:cs typeface="Book Antiqua"/>
              </a:rPr>
              <a:t>,</a:t>
            </a:r>
            <a:r>
              <a:rPr dirty="0" sz="750" spc="-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имеют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 spc="-5">
                <a:latin typeface="Book Antiqua"/>
                <a:cs typeface="Book Antiqua"/>
              </a:rPr>
              <a:t>сокращённые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имена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(например, </a:t>
            </a:r>
            <a:r>
              <a:rPr dirty="0" sz="750" spc="-15">
                <a:latin typeface="Book Antiqua"/>
                <a:cs typeface="Book Antiqua"/>
              </a:rPr>
              <a:t>sdaN,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sdbN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или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hdaN,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hdbN,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где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N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порядковый номер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устройства,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15">
                <a:latin typeface="Book Antiqua"/>
                <a:cs typeface="Book Antiqua"/>
              </a:rPr>
              <a:t>sd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75">
                <a:latin typeface="Book Antiqua"/>
                <a:cs typeface="Book Antiqua"/>
              </a:rPr>
              <a:t>—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устройства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SCSI,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hd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устройства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30">
                <a:latin typeface="Book Antiqua"/>
                <a:cs typeface="Book Antiqua"/>
              </a:rPr>
              <a:t>MFM/IDE).</a:t>
            </a:r>
            <a:endParaRPr sz="750">
              <a:latin typeface="Book Antiqua"/>
              <a:cs typeface="Book Antiqua"/>
            </a:endParaRPr>
          </a:p>
          <a:p>
            <a:pPr algn="just" marL="12700" marR="25400" indent="97790">
              <a:lnSpc>
                <a:spcPts val="890"/>
              </a:lnSpc>
              <a:spcBef>
                <a:spcPts val="20"/>
              </a:spcBef>
            </a:pPr>
            <a:r>
              <a:rPr dirty="0" sz="750" spc="-25" i="1">
                <a:latin typeface="Georgia"/>
                <a:cs typeface="Georgia"/>
              </a:rPr>
              <a:t>Точка</a:t>
            </a:r>
            <a:r>
              <a:rPr dirty="0" sz="750" i="1">
                <a:latin typeface="Georgia"/>
                <a:cs typeface="Georgia"/>
              </a:rPr>
              <a:t> </a:t>
            </a:r>
            <a:r>
              <a:rPr dirty="0" sz="750" spc="-20" i="1">
                <a:latin typeface="Georgia"/>
                <a:cs typeface="Georgia"/>
              </a:rPr>
              <a:t>монтирования</a:t>
            </a:r>
            <a:r>
              <a:rPr dirty="0" sz="750" spc="-25" i="1">
                <a:latin typeface="Georgia"/>
                <a:cs typeface="Georgia"/>
              </a:rPr>
              <a:t> </a:t>
            </a:r>
            <a:r>
              <a:rPr dirty="0" sz="750" spc="-60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</a:t>
            </a:r>
            <a:r>
              <a:rPr dirty="0" sz="750" spc="-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(путь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каталогу),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которому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присоединяются</a:t>
            </a:r>
            <a:r>
              <a:rPr dirty="0" sz="750" spc="-5">
                <a:latin typeface="Book Antiqua"/>
                <a:cs typeface="Book Antiqua"/>
              </a:rPr>
              <a:t> файлы </a:t>
            </a:r>
            <a:r>
              <a:rPr dirty="0" sz="750" spc="5">
                <a:latin typeface="Book Antiqua"/>
                <a:cs typeface="Book Antiqua"/>
              </a:rPr>
              <a:t>устройств.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10"/>
              </a:spcBef>
            </a:pPr>
            <a:r>
              <a:rPr dirty="0" sz="750" spc="-10">
                <a:latin typeface="Book Antiqua"/>
                <a:cs typeface="Book Antiqua"/>
              </a:rPr>
              <a:t>Другой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способ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определения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смонтированных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45">
                <a:latin typeface="Book Antiqua"/>
                <a:cs typeface="Book Antiqua"/>
              </a:rPr>
              <a:t>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операционной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системе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файловых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30">
                <a:latin typeface="Book Antiqua"/>
                <a:cs typeface="Book Antiqua"/>
              </a:rPr>
              <a:t>си-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стем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-70">
                <a:latin typeface="Book Antiqua"/>
                <a:cs typeface="Book Antiqua"/>
              </a:rPr>
              <a:t>—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просмотр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00">
                <a:latin typeface="Courier New"/>
                <a:cs typeface="Courier New"/>
              </a:rPr>
              <a:t>/etc/fstab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Сделать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это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например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20">
                <a:latin typeface="Book Antiqua"/>
                <a:cs typeface="Book Antiqua"/>
              </a:rPr>
              <a:t>с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5">
                <a:latin typeface="Book Antiqua"/>
                <a:cs typeface="Book Antiqua"/>
              </a:rPr>
              <a:t>помощью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 spc="15">
                <a:latin typeface="Courier New"/>
                <a:cs typeface="Courier New"/>
              </a:rPr>
              <a:t>cat</a:t>
            </a:r>
            <a:r>
              <a:rPr dirty="0" sz="750" spc="15">
                <a:latin typeface="Book Antiqua"/>
                <a:cs typeface="Book Antiqua"/>
              </a:rPr>
              <a:t>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94004" y="5874842"/>
            <a:ext cx="4032250" cy="758190"/>
          </a:xfrm>
          <a:custGeom>
            <a:avLst/>
            <a:gdLst/>
            <a:ahLst/>
            <a:cxnLst/>
            <a:rect l="l" t="t" r="r" b="b"/>
            <a:pathLst>
              <a:path w="4032250" h="758190">
                <a:moveTo>
                  <a:pt x="4031996" y="0"/>
                </a:moveTo>
                <a:lnTo>
                  <a:pt x="0" y="0"/>
                </a:lnTo>
                <a:lnTo>
                  <a:pt x="0" y="757567"/>
                </a:lnTo>
                <a:lnTo>
                  <a:pt x="4031996" y="757567"/>
                </a:lnTo>
                <a:lnTo>
                  <a:pt x="4031996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00405" y="5925097"/>
            <a:ext cx="54610" cy="65913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5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6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31951" y="5888531"/>
            <a:ext cx="778510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cat</a:t>
            </a:r>
            <a:r>
              <a:rPr dirty="0" sz="700" spc="20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/etc/fstab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943773" y="6115747"/>
            <a:ext cx="887730" cy="3619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  <a:tabLst>
                <a:tab pos="436880" algn="l"/>
              </a:tabLst>
            </a:pPr>
            <a:r>
              <a:rPr dirty="0" sz="700" spc="-20">
                <a:latin typeface="Courier New"/>
                <a:cs typeface="Courier New"/>
              </a:rPr>
              <a:t>ext2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10">
                <a:latin typeface="Courier New"/>
                <a:cs typeface="Courier New"/>
              </a:rPr>
              <a:t>defaults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tabLst>
                <a:tab pos="436880" algn="l"/>
              </a:tabLst>
            </a:pPr>
            <a:r>
              <a:rPr dirty="0" sz="700" spc="-20">
                <a:latin typeface="Courier New"/>
                <a:cs typeface="Courier New"/>
              </a:rPr>
              <a:t>ext2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10">
                <a:latin typeface="Courier New"/>
                <a:cs typeface="Courier New"/>
              </a:rPr>
              <a:t>defaults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tabLst>
                <a:tab pos="436880" algn="l"/>
              </a:tabLst>
            </a:pPr>
            <a:r>
              <a:rPr dirty="0" sz="700" spc="-20">
                <a:latin typeface="Courier New"/>
                <a:cs typeface="Courier New"/>
              </a:rPr>
              <a:t>swap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10">
                <a:latin typeface="Courier New"/>
                <a:cs typeface="Courier New"/>
              </a:rPr>
              <a:t>defaults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255606" y="6115747"/>
            <a:ext cx="177165" cy="36195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dirty="0" sz="700" spc="1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1</a:t>
            </a:r>
            <a:r>
              <a:rPr dirty="0" sz="700" spc="1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2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r>
              <a:rPr dirty="0" sz="700" spc="1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31951" y="6115747"/>
            <a:ext cx="504825" cy="4756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latin typeface="Courier New"/>
                <a:cs typeface="Courier New"/>
              </a:rPr>
              <a:t>/dev/hda1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latin typeface="Courier New"/>
                <a:cs typeface="Courier New"/>
              </a:rPr>
              <a:t>/dev/hda5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latin typeface="Courier New"/>
                <a:cs typeface="Courier New"/>
              </a:rPr>
              <a:t>/dev/hda6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latin typeface="Courier New"/>
                <a:cs typeface="Courier New"/>
              </a:rPr>
              <a:t>/dev/hdc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287863" y="6115747"/>
            <a:ext cx="559435" cy="4756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 spc="-50">
                <a:latin typeface="Courier New"/>
                <a:cs typeface="Courier New"/>
              </a:rPr>
              <a:t>/</a:t>
            </a:r>
            <a:endParaRPr sz="700">
              <a:latin typeface="Courier New"/>
              <a:cs typeface="Courier New"/>
            </a:endParaRPr>
          </a:p>
          <a:p>
            <a:pPr marR="278130">
              <a:lnSpc>
                <a:spcPct val="106500"/>
              </a:lnSpc>
            </a:pPr>
            <a:r>
              <a:rPr dirty="0" sz="700" spc="-10">
                <a:latin typeface="Courier New"/>
                <a:cs typeface="Courier New"/>
              </a:rPr>
              <a:t>/home </a:t>
            </a:r>
            <a:r>
              <a:rPr dirty="0" sz="700" spc="-20">
                <a:latin typeface="Courier New"/>
                <a:cs typeface="Courier New"/>
              </a:rPr>
              <a:t>swap</a:t>
            </a:r>
            <a:endParaRPr sz="7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r>
              <a:rPr dirty="0" sz="700" spc="-10">
                <a:latin typeface="Courier New"/>
                <a:cs typeface="Courier New"/>
              </a:rPr>
              <a:t>/mnt/cdrom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943773" y="6456564"/>
            <a:ext cx="2308860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>
                <a:latin typeface="Courier New"/>
                <a:cs typeface="Courier New"/>
              </a:rPr>
              <a:t>auto</a:t>
            </a:r>
            <a:r>
              <a:rPr dirty="0" sz="700" spc="60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19167C"/>
                </a:solidFill>
                <a:latin typeface="Courier New"/>
                <a:cs typeface="Courier New"/>
              </a:rPr>
              <a:t>umask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=0</a:t>
            </a:r>
            <a:r>
              <a:rPr dirty="0" sz="700">
                <a:latin typeface="Courier New"/>
                <a:cs typeface="Courier New"/>
              </a:rPr>
              <a:t>,user,noauto,ro,exec,users</a:t>
            </a:r>
            <a:r>
              <a:rPr dirty="0" sz="700" spc="65">
                <a:latin typeface="Courier New"/>
                <a:cs typeface="Courier New"/>
              </a:rPr>
              <a:t>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r>
              <a:rPr dirty="0" sz="700" spc="65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dirty="0" sz="700" spc="-50">
                <a:solidFill>
                  <a:srgbClr val="666666"/>
                </a:solidFill>
                <a:latin typeface="Courier New"/>
                <a:cs typeface="Courier New"/>
              </a:rPr>
              <a:t>0</a:t>
            </a:r>
            <a:endParaRPr sz="7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52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601431" y="392412"/>
            <a:ext cx="303784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5.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Анализ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файловой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системы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Linux.</a:t>
            </a:r>
            <a:r>
              <a:rPr dirty="0" sz="600" spc="4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Команды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для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работы</a:t>
            </a:r>
            <a:r>
              <a:rPr dirty="0" sz="600" spc="-40">
                <a:latin typeface="Book Antiqua"/>
                <a:cs typeface="Book Antiqua"/>
              </a:rPr>
              <a:t>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352285" y="688327"/>
          <a:ext cx="4350385" cy="528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935"/>
                <a:gridCol w="475615"/>
                <a:gridCol w="3557270"/>
              </a:tblGrid>
              <a:tr h="1479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  <a:p>
                      <a:pPr marL="60325">
                        <a:lnSpc>
                          <a:spcPct val="100000"/>
                        </a:lnSpc>
                      </a:pPr>
                      <a:r>
                        <a:rPr dirty="0" sz="400" spc="-50">
                          <a:latin typeface="Book Antiqua"/>
                          <a:cs typeface="Book Antiqua"/>
                        </a:rPr>
                        <a:t>7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700" spc="-20">
                          <a:latin typeface="Courier New"/>
                          <a:cs typeface="Courier New"/>
                        </a:rPr>
                        <a:t>none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8575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/mnt/floppy</a:t>
                      </a:r>
                      <a:r>
                        <a:rPr dirty="0" sz="700" spc="1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00">
                          <a:latin typeface="Courier New"/>
                          <a:cs typeface="Courier New"/>
                        </a:rPr>
                        <a:t>supermount</a:t>
                      </a:r>
                      <a:r>
                        <a:rPr dirty="0" sz="700" spc="11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00">
                          <a:solidFill>
                            <a:srgbClr val="19167C"/>
                          </a:solidFill>
                          <a:latin typeface="Courier New"/>
                          <a:cs typeface="Courier New"/>
                        </a:rPr>
                        <a:t>dev</a:t>
                      </a:r>
                      <a:r>
                        <a:rPr dirty="0" sz="7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00">
                          <a:latin typeface="Courier New"/>
                          <a:cs typeface="Courier New"/>
                        </a:rPr>
                        <a:t>/dev/fd0,fs</a:t>
                      </a:r>
                      <a:r>
                        <a:rPr dirty="0" sz="7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=</a:t>
                      </a:r>
                      <a:r>
                        <a:rPr dirty="0" sz="700">
                          <a:latin typeface="Courier New"/>
                          <a:cs typeface="Courier New"/>
                        </a:rPr>
                        <a:t>ext2:vfat,--</a:t>
                      </a:r>
                      <a:r>
                        <a:rPr dirty="0" sz="700" spc="-50">
                          <a:latin typeface="Courier New"/>
                          <a:cs typeface="Courier New"/>
                        </a:rPr>
                        <a:t>,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28575">
                    <a:solidFill>
                      <a:srgbClr val="E5E5E5"/>
                    </a:solidFill>
                  </a:tcPr>
                </a:tc>
              </a:tr>
              <a:tr h="113030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400" spc="-50">
                          <a:latin typeface="Book Antiqua"/>
                          <a:cs typeface="Book Antiqua"/>
                        </a:rPr>
                        <a:t>8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186305">
                        <a:lnSpc>
                          <a:spcPts val="790"/>
                        </a:lnSpc>
                      </a:pPr>
                      <a:r>
                        <a:rPr dirty="0" sz="700">
                          <a:latin typeface="Courier New"/>
                          <a:cs typeface="Courier New"/>
                        </a:rPr>
                        <a:t>sync,umask</a:t>
                      </a:r>
                      <a:r>
                        <a:rPr dirty="0" sz="7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=0</a:t>
                      </a:r>
                      <a:r>
                        <a:rPr dirty="0" sz="700" spc="35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700" spc="4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00" spc="-5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113030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400" spc="-50">
                          <a:latin typeface="Book Antiqua"/>
                          <a:cs typeface="Book Antiqua"/>
                        </a:rPr>
                        <a:t>9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790"/>
                        </a:lnSpc>
                      </a:pPr>
                      <a:r>
                        <a:rPr dirty="0" sz="700" spc="-20">
                          <a:latin typeface="Courier New"/>
                          <a:cs typeface="Courier New"/>
                        </a:rPr>
                        <a:t>none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790"/>
                        </a:lnSpc>
                        <a:tabLst>
                          <a:tab pos="874394" algn="l"/>
                          <a:tab pos="1311275" algn="l"/>
                          <a:tab pos="2186305" algn="l"/>
                        </a:tabLst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/proc</a:t>
                      </a:r>
                      <a:r>
                        <a:rPr dirty="0" sz="7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700" spc="-20">
                          <a:latin typeface="Courier New"/>
                          <a:cs typeface="Courier New"/>
                        </a:rPr>
                        <a:t>proc</a:t>
                      </a:r>
                      <a:r>
                        <a:rPr dirty="0" sz="7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700" spc="-10">
                          <a:latin typeface="Courier New"/>
                          <a:cs typeface="Courier New"/>
                        </a:rPr>
                        <a:t>defaults</a:t>
                      </a:r>
                      <a:r>
                        <a:rPr dirty="0" sz="700">
                          <a:latin typeface="Courier New"/>
                          <a:cs typeface="Courier New"/>
                        </a:rPr>
                        <a:t>	</a:t>
                      </a:r>
                      <a:r>
                        <a:rPr dirty="0" sz="7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r>
                        <a:rPr dirty="0" sz="700" spc="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00" spc="-5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  <a:tr h="1543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400" spc="-25">
                          <a:latin typeface="Book Antiqua"/>
                          <a:cs typeface="Book Antiqua"/>
                        </a:rPr>
                        <a:t>10</a:t>
                      </a:r>
                      <a:endParaRPr sz="400">
                        <a:latin typeface="Book Antiqua"/>
                        <a:cs typeface="Book Antiqua"/>
                      </a:endParaRPr>
                    </a:p>
                  </a:txBody>
                  <a:tcPr marL="0" marR="0" marB="0" marT="31750"/>
                </a:tc>
                <a:tc>
                  <a:txBody>
                    <a:bodyPr/>
                    <a:lstStyle/>
                    <a:p>
                      <a:pPr marL="37465">
                        <a:lnSpc>
                          <a:spcPts val="790"/>
                        </a:lnSpc>
                      </a:pPr>
                      <a:r>
                        <a:rPr dirty="0" sz="700" spc="-20">
                          <a:latin typeface="Courier New"/>
                          <a:cs typeface="Courier New"/>
                        </a:rPr>
                        <a:t>none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  <a:tc>
                  <a:txBody>
                    <a:bodyPr/>
                    <a:lstStyle/>
                    <a:p>
                      <a:pPr marL="218440">
                        <a:lnSpc>
                          <a:spcPts val="790"/>
                        </a:lnSpc>
                        <a:tabLst>
                          <a:tab pos="874394" algn="l"/>
                          <a:tab pos="2186305" algn="l"/>
                        </a:tabLst>
                      </a:pPr>
                      <a:r>
                        <a:rPr dirty="0" sz="700" spc="-10">
                          <a:latin typeface="Courier New"/>
                          <a:cs typeface="Courier New"/>
                        </a:rPr>
                        <a:t>/dev/pts</a:t>
                      </a:r>
                      <a:r>
                        <a:rPr dirty="0" sz="700">
                          <a:latin typeface="Courier New"/>
                          <a:cs typeface="Courier New"/>
                        </a:rPr>
                        <a:t>	devpts</a:t>
                      </a:r>
                      <a:r>
                        <a:rPr dirty="0" sz="700" spc="470"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00" spc="-10">
                          <a:solidFill>
                            <a:srgbClr val="19167C"/>
                          </a:solidFill>
                          <a:latin typeface="Courier New"/>
                          <a:cs typeface="Courier New"/>
                        </a:rPr>
                        <a:t>mode</a:t>
                      </a:r>
                      <a:r>
                        <a:rPr dirty="0" sz="700" spc="-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=0622</a:t>
                      </a:r>
                      <a:r>
                        <a:rPr dirty="0" sz="70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	0</a:t>
                      </a:r>
                      <a:r>
                        <a:rPr dirty="0" sz="700" spc="1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dirty="0" sz="700" spc="-50">
                          <a:solidFill>
                            <a:srgbClr val="666666"/>
                          </a:solidFill>
                          <a:latin typeface="Courier New"/>
                          <a:cs typeface="Courier New"/>
                        </a:rPr>
                        <a:t>0</a:t>
                      </a:r>
                      <a:endParaRPr sz="700">
                        <a:latin typeface="Courier New"/>
                        <a:cs typeface="Courier New"/>
                      </a:endParaRPr>
                    </a:p>
                  </a:txBody>
                  <a:tcPr marL="0" marR="0" marB="0" marT="0">
                    <a:solidFill>
                      <a:srgbClr val="E5E5E5"/>
                    </a:solidFill>
                  </a:tcPr>
                </a:tc>
              </a:tr>
            </a:tbl>
          </a:graphicData>
        </a:graphic>
      </p:graphicFrame>
      <p:sp>
        <p:nvSpPr>
          <p:cNvPr id="6" name="object 6" descr=""/>
          <p:cNvSpPr txBox="1"/>
          <p:nvPr/>
        </p:nvSpPr>
        <p:spPr>
          <a:xfrm>
            <a:off x="581304" y="1293050"/>
            <a:ext cx="4078604" cy="12795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10489">
              <a:lnSpc>
                <a:spcPts val="894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каждой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строке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этого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указано: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имя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устройство;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точка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монтирования;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тип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системы;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опции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монтирования;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специальные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флаги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утилиты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dump</a:t>
            </a:r>
            <a:r>
              <a:rPr dirty="0" sz="750" spc="-10">
                <a:latin typeface="Book Antiqua"/>
                <a:cs typeface="Book Antiqua"/>
              </a:rPr>
              <a:t>;</a:t>
            </a:r>
            <a:endParaRPr sz="750">
              <a:latin typeface="Book Antiqua"/>
              <a:cs typeface="Book Antiqua"/>
            </a:endParaRPr>
          </a:p>
          <a:p>
            <a:pPr marL="144145" indent="-117475">
              <a:lnSpc>
                <a:spcPts val="894"/>
              </a:lnSpc>
              <a:buFont typeface="Book Antiqua"/>
              <a:buChar char="–"/>
              <a:tabLst>
                <a:tab pos="144145" algn="l"/>
              </a:tabLst>
            </a:pPr>
            <a:r>
              <a:rPr dirty="0" sz="750">
                <a:latin typeface="Book Antiqua"/>
                <a:cs typeface="Book Antiqua"/>
              </a:rPr>
              <a:t>порядок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проверки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целостности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помощью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утилиты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fsck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algn="just" marL="12700" marR="5080" indent="97790">
              <a:lnSpc>
                <a:spcPts val="890"/>
              </a:lnSpc>
              <a:spcBef>
                <a:spcPts val="35"/>
              </a:spcBef>
            </a:pP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определения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объёма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свободного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пространства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системе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можно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вос-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пользоваться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командой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00" spc="10">
                <a:latin typeface="Courier New"/>
                <a:cs typeface="Courier New"/>
              </a:rPr>
              <a:t>df</a:t>
            </a:r>
            <a:r>
              <a:rPr dirty="0" sz="750" spc="10">
                <a:latin typeface="Book Antiqua"/>
                <a:cs typeface="Book Antiqua"/>
              </a:rPr>
              <a:t>,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которая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выведет</a:t>
            </a:r>
            <a:r>
              <a:rPr dirty="0" sz="750" spc="1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список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всех</a:t>
            </a:r>
            <a:r>
              <a:rPr dirty="0" sz="750" spc="1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файловых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соответствии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именами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устройств,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указанием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размера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точки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монтирования.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На-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594004" y="2649309"/>
            <a:ext cx="4032250" cy="530860"/>
          </a:xfrm>
          <a:custGeom>
            <a:avLst/>
            <a:gdLst/>
            <a:ahLst/>
            <a:cxnLst/>
            <a:rect l="l" t="t" r="r" b="b"/>
            <a:pathLst>
              <a:path w="4032250" h="530860">
                <a:moveTo>
                  <a:pt x="4031996" y="0"/>
                </a:moveTo>
                <a:lnTo>
                  <a:pt x="0" y="0"/>
                </a:lnTo>
                <a:lnTo>
                  <a:pt x="0" y="530351"/>
                </a:lnTo>
                <a:lnTo>
                  <a:pt x="4031996" y="530351"/>
                </a:lnTo>
                <a:lnTo>
                  <a:pt x="4031996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00405" y="2699564"/>
            <a:ext cx="54610" cy="4318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dirty="0" sz="400" spc="-50">
                <a:latin typeface="Book Antiqua"/>
                <a:cs typeface="Book Antiqua"/>
              </a:rPr>
              <a:t>2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3</a:t>
            </a:r>
            <a:endParaRPr sz="4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400" spc="-50">
                <a:latin typeface="Book Antiqua"/>
                <a:cs typeface="Book Antiqua"/>
              </a:rPr>
              <a:t>4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31951" y="2662997"/>
            <a:ext cx="12255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 spc="-25">
                <a:latin typeface="Courier New"/>
                <a:cs typeface="Courier New"/>
              </a:rPr>
              <a:t>df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31951" y="3003815"/>
            <a:ext cx="504825" cy="1352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700" spc="-10">
                <a:latin typeface="Courier New"/>
                <a:cs typeface="Courier New"/>
              </a:rPr>
              <a:t>/dev/hda3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31951" y="2890213"/>
            <a:ext cx="1652905" cy="2489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14"/>
              </a:spcBef>
              <a:tabLst>
                <a:tab pos="1420495" algn="l"/>
              </a:tabLst>
            </a:pPr>
            <a:r>
              <a:rPr dirty="0" sz="700">
                <a:latin typeface="Courier New"/>
                <a:cs typeface="Courier New"/>
              </a:rPr>
              <a:t>Filesystem</a:t>
            </a:r>
            <a:r>
              <a:rPr dirty="0" sz="700" spc="40">
                <a:latin typeface="Courier New"/>
                <a:cs typeface="Courier New"/>
              </a:rPr>
              <a:t>  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1024</a:t>
            </a:r>
            <a:r>
              <a:rPr dirty="0" sz="700">
                <a:latin typeface="Courier New"/>
                <a:cs typeface="Courier New"/>
              </a:rPr>
              <a:t>-</a:t>
            </a:r>
            <a:r>
              <a:rPr dirty="0" sz="700" spc="-10">
                <a:latin typeface="Courier New"/>
                <a:cs typeface="Courier New"/>
              </a:rPr>
              <a:t>blocks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20">
                <a:latin typeface="Courier New"/>
                <a:cs typeface="Courier New"/>
              </a:rPr>
              <a:t>Used</a:t>
            </a:r>
            <a:endParaRPr sz="700">
              <a:latin typeface="Courier New"/>
              <a:cs typeface="Courier New"/>
            </a:endParaRPr>
          </a:p>
          <a:p>
            <a:pPr algn="r" marR="5080">
              <a:lnSpc>
                <a:spcPct val="100000"/>
              </a:lnSpc>
              <a:spcBef>
                <a:spcPts val="55"/>
              </a:spcBef>
              <a:tabLst>
                <a:tab pos="655320" algn="l"/>
              </a:tabLst>
            </a:pP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297635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	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169499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2435719" y="2890213"/>
            <a:ext cx="1762125" cy="24892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63830" marR="5080" indent="-164465">
              <a:lnSpc>
                <a:spcPct val="106500"/>
              </a:lnSpc>
              <a:spcBef>
                <a:spcPts val="60"/>
              </a:spcBef>
              <a:tabLst>
                <a:tab pos="655320" algn="l"/>
                <a:tab pos="874394" algn="l"/>
                <a:tab pos="1256665" algn="l"/>
              </a:tabLst>
            </a:pPr>
            <a:r>
              <a:rPr dirty="0" sz="700" spc="-10">
                <a:latin typeface="Courier New"/>
                <a:cs typeface="Courier New"/>
              </a:rPr>
              <a:t>Available</a:t>
            </a:r>
            <a:r>
              <a:rPr dirty="0" sz="700">
                <a:latin typeface="Courier New"/>
                <a:cs typeface="Courier New"/>
              </a:rPr>
              <a:t>	Capacity</a:t>
            </a:r>
            <a:r>
              <a:rPr dirty="0" sz="700" spc="484">
                <a:latin typeface="Courier New"/>
                <a:cs typeface="Courier New"/>
              </a:rPr>
              <a:t> </a:t>
            </a:r>
            <a:r>
              <a:rPr dirty="0" sz="700">
                <a:latin typeface="Courier New"/>
                <a:cs typeface="Courier New"/>
              </a:rPr>
              <a:t>Mounted</a:t>
            </a:r>
            <a:r>
              <a:rPr dirty="0" sz="700" spc="30">
                <a:latin typeface="Courier New"/>
                <a:cs typeface="Courier New"/>
              </a:rPr>
              <a:t> </a:t>
            </a:r>
            <a:r>
              <a:rPr dirty="0" sz="700" spc="-25">
                <a:latin typeface="Courier New"/>
                <a:cs typeface="Courier New"/>
              </a:rPr>
              <a:t>on </a:t>
            </a:r>
            <a:r>
              <a:rPr dirty="0" sz="700" spc="-10">
                <a:solidFill>
                  <a:srgbClr val="666666"/>
                </a:solidFill>
                <a:latin typeface="Courier New"/>
                <a:cs typeface="Courier New"/>
              </a:rPr>
              <a:t>112764</a:t>
            </a:r>
            <a:r>
              <a:rPr dirty="0" sz="700">
                <a:solidFill>
                  <a:srgbClr val="666666"/>
                </a:solidFill>
                <a:latin typeface="Courier New"/>
                <a:cs typeface="Courier New"/>
              </a:rPr>
              <a:t>		</a:t>
            </a:r>
            <a:r>
              <a:rPr dirty="0" sz="700" spc="-25">
                <a:solidFill>
                  <a:srgbClr val="666666"/>
                </a:solidFill>
                <a:latin typeface="Courier New"/>
                <a:cs typeface="Courier New"/>
              </a:rPr>
              <a:t>60</a:t>
            </a:r>
            <a:r>
              <a:rPr dirty="0" sz="700" spc="-25">
                <a:latin typeface="Courier New"/>
                <a:cs typeface="Courier New"/>
              </a:rPr>
              <a:t>%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50">
                <a:latin typeface="Courier New"/>
                <a:cs typeface="Courier New"/>
              </a:rPr>
              <a:t>/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81304" y="3254032"/>
            <a:ext cx="4078604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 indent="9779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помощью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fsck</a:t>
            </a:r>
            <a:r>
              <a:rPr dirty="0" sz="700" spc="-20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можно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проверить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ряде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случаев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восстановить)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целост-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ность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системы:</a:t>
            </a:r>
            <a:endParaRPr sz="750">
              <a:latin typeface="Book Antiqua"/>
              <a:cs typeface="Book Antiqua"/>
            </a:endParaRPr>
          </a:p>
          <a:p>
            <a:pPr marL="110489">
              <a:lnSpc>
                <a:spcPts val="890"/>
              </a:lnSpc>
            </a:pPr>
            <a:r>
              <a:rPr dirty="0" sz="750">
                <a:latin typeface="Book Antiqua"/>
                <a:cs typeface="Book Antiqua"/>
              </a:rPr>
              <a:t>Формат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400405" y="3751670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594004" y="3701427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fsck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имя_устройства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79462" y="3965321"/>
            <a:ext cx="421005" cy="143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50" spc="-10">
                <a:latin typeface="Book Antiqua"/>
                <a:cs typeface="Book Antiqua"/>
              </a:rPr>
              <a:t>Пример: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00405" y="4235743"/>
            <a:ext cx="54610" cy="914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400" spc="-50">
                <a:latin typeface="Book Antiqua"/>
                <a:cs typeface="Book Antiqua"/>
              </a:rPr>
              <a:t>1</a:t>
            </a:r>
            <a:endParaRPr sz="400">
              <a:latin typeface="Book Antiqua"/>
              <a:cs typeface="Book Antiqu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594004" y="4185501"/>
            <a:ext cx="4032250" cy="189865"/>
          </a:xfrm>
          <a:prstGeom prst="rect">
            <a:avLst/>
          </a:prstGeom>
          <a:solidFill>
            <a:srgbClr val="E5E5E5"/>
          </a:solidFill>
        </p:spPr>
        <p:txBody>
          <a:bodyPr wrap="square" lIns="0" tIns="28575" rIns="0" bIns="0" rtlCol="0" vert="horz">
            <a:spAutoFit/>
          </a:bodyPr>
          <a:lstStyle/>
          <a:p>
            <a:pPr marL="37465">
              <a:lnSpc>
                <a:spcPct val="100000"/>
              </a:lnSpc>
              <a:spcBef>
                <a:spcPts val="225"/>
              </a:spcBef>
            </a:pPr>
            <a:r>
              <a:rPr dirty="0" sz="700">
                <a:latin typeface="Courier New"/>
                <a:cs typeface="Courier New"/>
              </a:rPr>
              <a:t>fsck</a:t>
            </a:r>
            <a:r>
              <a:rPr dirty="0" sz="700" spc="25">
                <a:latin typeface="Courier New"/>
                <a:cs typeface="Courier New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/dev/sda1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577367" y="4619488"/>
            <a:ext cx="4080510" cy="208533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5"/>
              </a:spcBef>
            </a:pPr>
            <a:r>
              <a:rPr dirty="0" sz="850" spc="10" b="1">
                <a:latin typeface="Book Antiqua"/>
                <a:cs typeface="Book Antiqua"/>
              </a:rPr>
              <a:t>5.3.</a:t>
            </a:r>
            <a:r>
              <a:rPr dirty="0" sz="850" spc="254" b="1">
                <a:latin typeface="Book Antiqua"/>
                <a:cs typeface="Book Antiqua"/>
              </a:rPr>
              <a:t>  </a:t>
            </a:r>
            <a:r>
              <a:rPr dirty="0" sz="850" spc="10" b="1">
                <a:latin typeface="Book Antiqua"/>
                <a:cs typeface="Book Antiqua"/>
              </a:rPr>
              <a:t>Последовательность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10" b="1">
                <a:latin typeface="Book Antiqua"/>
                <a:cs typeface="Book Antiqua"/>
              </a:rPr>
              <a:t>выполнения</a:t>
            </a:r>
            <a:r>
              <a:rPr dirty="0" sz="850" spc="45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работы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148590" algn="l"/>
              </a:tabLst>
            </a:pPr>
            <a:r>
              <a:rPr dirty="0" sz="750" spc="-10">
                <a:latin typeface="Book Antiqua"/>
                <a:cs typeface="Book Antiqua"/>
              </a:rPr>
              <a:t>Выполните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все примеры,</a:t>
            </a:r>
            <a:r>
              <a:rPr dirty="0" sz="750" spc="-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приведённые в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первой части </a:t>
            </a:r>
            <a:r>
              <a:rPr dirty="0" sz="750" spc="-10">
                <a:latin typeface="Book Antiqua"/>
                <a:cs typeface="Book Antiqua"/>
              </a:rPr>
              <a:t>описания</a:t>
            </a:r>
            <a:r>
              <a:rPr dirty="0" sz="750" spc="-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лабораторной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47955" marR="24130" indent="-135890">
              <a:lnSpc>
                <a:spcPts val="890"/>
              </a:lnSpc>
              <a:spcBef>
                <a:spcPts val="35"/>
              </a:spcBef>
              <a:buAutoNum type="arabicPeriod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Выполните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следующие</a:t>
            </a:r>
            <a:r>
              <a:rPr dirty="0" sz="750" spc="1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действия,</a:t>
            </a:r>
            <a:r>
              <a:rPr dirty="0" sz="750" spc="1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зафиксировав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отчёте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204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используемые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результаты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выполнения:</a:t>
            </a:r>
            <a:endParaRPr sz="750">
              <a:latin typeface="Book Antiqua"/>
              <a:cs typeface="Book Antiqua"/>
            </a:endParaRPr>
          </a:p>
          <a:p>
            <a:pPr algn="r" lvl="1" marL="215900" marR="24130" indent="-215900">
              <a:lnSpc>
                <a:spcPts val="869"/>
              </a:lnSpc>
              <a:buAutoNum type="arabicPeriod"/>
              <a:tabLst>
                <a:tab pos="215900" algn="l"/>
              </a:tabLst>
            </a:pPr>
            <a:r>
              <a:rPr dirty="0" sz="750">
                <a:latin typeface="Book Antiqua"/>
                <a:cs typeface="Book Antiqua"/>
              </a:rPr>
              <a:t>Скопируйте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/usr/include/sys/io.h</a:t>
            </a:r>
            <a:r>
              <a:rPr dirty="0" sz="700" spc="-200">
                <a:latin typeface="Courier New"/>
                <a:cs typeface="Courier New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домашний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назовите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его</a:t>
            </a:r>
            <a:endParaRPr sz="750">
              <a:latin typeface="Book Antiqua"/>
              <a:cs typeface="Book Antiqua"/>
            </a:endParaRPr>
          </a:p>
          <a:p>
            <a:pPr algn="r" marR="24130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equipment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 файла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io.h</a:t>
            </a:r>
            <a:r>
              <a:rPr dirty="0" sz="700" spc="-229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нет,</a:t>
            </a:r>
            <a:r>
              <a:rPr dirty="0" sz="750" spc="-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используйте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любой</a:t>
            </a:r>
            <a:r>
              <a:rPr dirty="0" sz="750" spc="-1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другой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каталоге</a:t>
            </a:r>
            <a:endParaRPr sz="750">
              <a:latin typeface="Book Antiqua"/>
              <a:cs typeface="Book Antiqua"/>
            </a:endParaRPr>
          </a:p>
          <a:p>
            <a:pPr marL="356235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/usr/include/sys/</a:t>
            </a:r>
            <a:r>
              <a:rPr dirty="0" sz="700" spc="-13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вместо</a:t>
            </a:r>
            <a:r>
              <a:rPr dirty="0" sz="750" spc="1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него.</a:t>
            </a:r>
            <a:endParaRPr sz="750">
              <a:latin typeface="Book Antiqua"/>
              <a:cs typeface="Book Antiqua"/>
            </a:endParaRPr>
          </a:p>
          <a:p>
            <a:pPr lvl="1" marL="360680" indent="-215900">
              <a:lnSpc>
                <a:spcPts val="894"/>
              </a:lnSpc>
              <a:buAutoNum type="arabicPeriod" startAt="2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создайте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директорию</a:t>
            </a:r>
            <a:r>
              <a:rPr dirty="0" sz="750" spc="8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~/ski.plases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0680" indent="-215900">
              <a:lnSpc>
                <a:spcPts val="894"/>
              </a:lnSpc>
              <a:buAutoNum type="arabicPeriod" startAt="2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Переместите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equipment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~/ski.plases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 startAt="2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Переименуйте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~/ski.plases/equipment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~/ski.plases/equiplist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 startAt="2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Создайте</a:t>
            </a:r>
            <a:r>
              <a:rPr dirty="0" sz="750" spc="39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38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домашнем</a:t>
            </a:r>
            <a:r>
              <a:rPr dirty="0" sz="750" spc="4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3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</a:t>
            </a:r>
            <a:r>
              <a:rPr dirty="0" sz="750" spc="40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abc1</a:t>
            </a:r>
            <a:r>
              <a:rPr dirty="0" sz="700" spc="16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скопируйте</a:t>
            </a:r>
            <a:r>
              <a:rPr dirty="0" sz="750" spc="4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39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4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каталог</a:t>
            </a:r>
            <a:endParaRPr sz="750">
              <a:latin typeface="Book Antiqua"/>
              <a:cs typeface="Book Antiqua"/>
            </a:endParaRPr>
          </a:p>
          <a:p>
            <a:pPr marL="350520">
              <a:lnSpc>
                <a:spcPts val="894"/>
              </a:lnSpc>
            </a:pPr>
            <a:r>
              <a:rPr dirty="0" sz="700">
                <a:latin typeface="Courier New"/>
                <a:cs typeface="Courier New"/>
              </a:rPr>
              <a:t>~/ski.plases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9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9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equiplist2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0680" indent="-215900">
              <a:lnSpc>
                <a:spcPts val="894"/>
              </a:lnSpc>
              <a:buAutoNum type="arabicPeriod" startAt="6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Создайте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именем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equipment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~/ski.plases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0680" indent="-205740">
              <a:lnSpc>
                <a:spcPts val="894"/>
              </a:lnSpc>
              <a:buAutoNum type="arabicPeriod" startAt="6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Переместите</a:t>
            </a:r>
            <a:r>
              <a:rPr dirty="0" sz="750" spc="190">
                <a:latin typeface="Book Antiqua"/>
                <a:cs typeface="Book Antiqua"/>
              </a:rPr>
              <a:t>  </a:t>
            </a:r>
            <a:r>
              <a:rPr dirty="0" sz="750">
                <a:latin typeface="Book Antiqua"/>
                <a:cs typeface="Book Antiqua"/>
              </a:rPr>
              <a:t>файлы</a:t>
            </a:r>
            <a:r>
              <a:rPr dirty="0" sz="750" spc="195">
                <a:latin typeface="Book Antiqua"/>
                <a:cs typeface="Book Antiqua"/>
              </a:rPr>
              <a:t>  </a:t>
            </a:r>
            <a:r>
              <a:rPr dirty="0" sz="700">
                <a:latin typeface="Courier New"/>
                <a:cs typeface="Courier New"/>
              </a:rPr>
              <a:t>~/ski.plases/equiplist</a:t>
            </a:r>
            <a:r>
              <a:rPr dirty="0" sz="700" spc="35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195">
                <a:latin typeface="Book Antiqua"/>
                <a:cs typeface="Book Antiqua"/>
              </a:rPr>
              <a:t>  </a:t>
            </a:r>
            <a:r>
              <a:rPr dirty="0" sz="700">
                <a:latin typeface="Courier New"/>
                <a:cs typeface="Courier New"/>
              </a:rPr>
              <a:t>equiplist2</a:t>
            </a:r>
            <a:r>
              <a:rPr dirty="0" sz="700" spc="350">
                <a:latin typeface="Courier New"/>
                <a:cs typeface="Courier New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190">
                <a:latin typeface="Book Antiqua"/>
                <a:cs typeface="Book Antiqua"/>
              </a:rPr>
              <a:t>  </a:t>
            </a:r>
            <a:r>
              <a:rPr dirty="0" sz="750" spc="-10">
                <a:latin typeface="Book Antiqua"/>
                <a:cs typeface="Book Antiqua"/>
              </a:rPr>
              <a:t>каталог</a:t>
            </a:r>
            <a:endParaRPr sz="750">
              <a:latin typeface="Book Antiqua"/>
              <a:cs typeface="Book Antiqua"/>
            </a:endParaRPr>
          </a:p>
          <a:p>
            <a:pPr marL="350520">
              <a:lnSpc>
                <a:spcPts val="894"/>
              </a:lnSpc>
            </a:pPr>
            <a:r>
              <a:rPr dirty="0" sz="700" spc="-10">
                <a:latin typeface="Courier New"/>
                <a:cs typeface="Courier New"/>
              </a:rPr>
              <a:t>~/ski.plases/equipment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1315" marR="23495" indent="-216535">
              <a:lnSpc>
                <a:spcPts val="890"/>
              </a:lnSpc>
              <a:spcBef>
                <a:spcPts val="35"/>
              </a:spcBef>
              <a:buAutoNum type="arabicPeriod" startAt="8"/>
              <a:tabLst>
                <a:tab pos="361315" algn="l"/>
              </a:tabLst>
            </a:pPr>
            <a:r>
              <a:rPr dirty="0" sz="750" spc="10">
                <a:latin typeface="Book Antiqua"/>
                <a:cs typeface="Book Antiqua"/>
              </a:rPr>
              <a:t>Создайте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переместите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~/newdir</a:t>
            </a:r>
            <a:r>
              <a:rPr dirty="0" sz="700" spc="-160">
                <a:latin typeface="Courier New"/>
                <a:cs typeface="Courier New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каталог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~/ski.plases</a:t>
            </a:r>
            <a:r>
              <a:rPr dirty="0" sz="700" spc="-160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назовите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plans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534795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40" i="1">
                <a:latin typeface="Georgia"/>
                <a:cs typeface="Georgia"/>
              </a:rPr>
              <a:t>Кулябов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spc="-30" i="1">
                <a:latin typeface="Georgia"/>
                <a:cs typeface="Georgia"/>
              </a:rPr>
              <a:t>Д.</a:t>
            </a:r>
            <a:r>
              <a:rPr dirty="0" sz="600" spc="-50" i="1">
                <a:latin typeface="Georgia"/>
                <a:cs typeface="Georgia"/>
              </a:rPr>
              <a:t> </a:t>
            </a:r>
            <a:r>
              <a:rPr dirty="0" sz="600" spc="-10" i="1">
                <a:latin typeface="Georgia"/>
                <a:cs typeface="Georgia"/>
              </a:rPr>
              <a:t>С.</a:t>
            </a:r>
            <a:r>
              <a:rPr dirty="0" sz="600" spc="-2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и</a:t>
            </a:r>
            <a:r>
              <a:rPr dirty="0" sz="600" spc="-5" i="1">
                <a:latin typeface="Georgia"/>
                <a:cs typeface="Georgia"/>
              </a:rPr>
              <a:t> </a:t>
            </a:r>
            <a:r>
              <a:rPr dirty="0" sz="600" i="1">
                <a:latin typeface="Georgia"/>
                <a:cs typeface="Georgia"/>
              </a:rPr>
              <a:t>др.</a:t>
            </a:r>
            <a:r>
              <a:rPr dirty="0" sz="600" spc="55" i="1">
                <a:latin typeface="Georgia"/>
                <a:cs typeface="Georgi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Операционные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системы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4531906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53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77367" y="653389"/>
            <a:ext cx="4082415" cy="37084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just" marL="149225" marR="5080" indent="-137160">
              <a:lnSpc>
                <a:spcPct val="100000"/>
              </a:lnSpc>
              <a:spcBef>
                <a:spcPts val="120"/>
              </a:spcBef>
            </a:pPr>
            <a:r>
              <a:rPr dirty="0" sz="750">
                <a:latin typeface="Book Antiqua"/>
                <a:cs typeface="Book Antiqua"/>
              </a:rPr>
              <a:t>3.</a:t>
            </a:r>
            <a:r>
              <a:rPr dirty="0" sz="750" spc="3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Определите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опции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chmod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необходимые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 того,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присвоить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перечис-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ленным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ниже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файлам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выделенные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права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доступа,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считая,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что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начале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таких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прав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20">
                <a:latin typeface="Book Antiqua"/>
                <a:cs typeface="Book Antiqua"/>
              </a:rPr>
              <a:t>нет:</a:t>
            </a:r>
            <a:endParaRPr sz="750">
              <a:latin typeface="Book Antiqua"/>
              <a:cs typeface="Book Antiqu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10082" y="1001279"/>
            <a:ext cx="788670" cy="36385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lvl="1" marL="228600" indent="-215900">
              <a:lnSpc>
                <a:spcPts val="894"/>
              </a:lnSpc>
              <a:spcBef>
                <a:spcPts val="65"/>
              </a:spcBef>
              <a:buSzPct val="107142"/>
              <a:buFont typeface="Book Antiqua"/>
              <a:buAutoNum type="arabicPeriod"/>
              <a:tabLst>
                <a:tab pos="228600" algn="l"/>
              </a:tabLst>
            </a:pPr>
            <a:r>
              <a:rPr dirty="0" sz="700">
                <a:latin typeface="Courier New"/>
                <a:cs typeface="Courier New"/>
              </a:rPr>
              <a:t>drwxr--r-</a:t>
            </a:r>
            <a:r>
              <a:rPr dirty="0" sz="700" spc="-50">
                <a:latin typeface="Courier New"/>
                <a:cs typeface="Courier New"/>
              </a:rPr>
              <a:t>-</a:t>
            </a:r>
            <a:endParaRPr sz="700">
              <a:latin typeface="Courier New"/>
              <a:cs typeface="Courier New"/>
            </a:endParaRPr>
          </a:p>
          <a:p>
            <a:pPr lvl="1" marL="228600" indent="-215900">
              <a:lnSpc>
                <a:spcPts val="894"/>
              </a:lnSpc>
              <a:buSzPct val="107142"/>
              <a:buFont typeface="Book Antiqua"/>
              <a:buAutoNum type="arabicPeriod"/>
              <a:tabLst>
                <a:tab pos="228600" algn="l"/>
              </a:tabLst>
            </a:pPr>
            <a:r>
              <a:rPr dirty="0" sz="700">
                <a:latin typeface="Courier New"/>
                <a:cs typeface="Courier New"/>
              </a:rPr>
              <a:t>drwx--x--</a:t>
            </a:r>
            <a:r>
              <a:rPr dirty="0" sz="700" spc="-50">
                <a:latin typeface="Courier New"/>
                <a:cs typeface="Courier New"/>
              </a:rPr>
              <a:t>x</a:t>
            </a:r>
            <a:endParaRPr sz="700">
              <a:latin typeface="Courier New"/>
              <a:cs typeface="Courier New"/>
            </a:endParaRPr>
          </a:p>
          <a:p>
            <a:pPr lvl="1" marL="228600" indent="-215900">
              <a:lnSpc>
                <a:spcPts val="894"/>
              </a:lnSpc>
              <a:buSzPct val="107142"/>
              <a:buFont typeface="Book Antiqua"/>
              <a:buAutoNum type="arabicPeriod"/>
              <a:tabLst>
                <a:tab pos="228600" algn="l"/>
              </a:tabLst>
            </a:pPr>
            <a:r>
              <a:rPr dirty="0" sz="700">
                <a:latin typeface="Courier New"/>
                <a:cs typeface="Courier New"/>
              </a:rPr>
              <a:t>-r-xr--r-</a:t>
            </a:r>
            <a:r>
              <a:rPr dirty="0" sz="700" spc="-50">
                <a:latin typeface="Courier New"/>
                <a:cs typeface="Courier New"/>
              </a:rPr>
              <a:t>-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10082" y="1342096"/>
            <a:ext cx="788670" cy="13525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750">
                <a:latin typeface="Book Antiqua"/>
                <a:cs typeface="Book Antiqua"/>
              </a:rPr>
              <a:t>3.4.</a:t>
            </a:r>
            <a:r>
              <a:rPr dirty="0" sz="750" spc="4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-rw-rw-r-</a:t>
            </a:r>
            <a:r>
              <a:rPr dirty="0" sz="700" spc="-50">
                <a:latin typeface="Courier New"/>
                <a:cs typeface="Courier New"/>
              </a:rPr>
              <a:t>-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36918" y="1001279"/>
            <a:ext cx="845819" cy="4756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40360" algn="l"/>
              </a:tabLst>
            </a:pPr>
            <a:r>
              <a:rPr dirty="0" sz="700" spc="-25">
                <a:latin typeface="Courier New"/>
                <a:cs typeface="Courier New"/>
              </a:rPr>
              <a:t>...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10">
                <a:latin typeface="Courier New"/>
                <a:cs typeface="Courier New"/>
              </a:rPr>
              <a:t>australia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  <a:tabLst>
                <a:tab pos="340360" algn="l"/>
              </a:tabLst>
            </a:pPr>
            <a:r>
              <a:rPr dirty="0" sz="700" spc="-25">
                <a:latin typeface="Courier New"/>
                <a:cs typeface="Courier New"/>
              </a:rPr>
              <a:t>...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20">
                <a:latin typeface="Courier New"/>
                <a:cs typeface="Courier New"/>
              </a:rPr>
              <a:t>play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  <a:tabLst>
                <a:tab pos="340360" algn="l"/>
              </a:tabLst>
            </a:pPr>
            <a:r>
              <a:rPr dirty="0" sz="700" spc="-25">
                <a:latin typeface="Courier New"/>
                <a:cs typeface="Courier New"/>
              </a:rPr>
              <a:t>...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10">
                <a:latin typeface="Courier New"/>
                <a:cs typeface="Courier New"/>
              </a:rPr>
              <a:t>my_os</a:t>
            </a:r>
            <a:endParaRPr sz="7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5"/>
              </a:spcBef>
              <a:tabLst>
                <a:tab pos="340360" algn="l"/>
              </a:tabLst>
            </a:pPr>
            <a:r>
              <a:rPr dirty="0" sz="700" spc="-25">
                <a:latin typeface="Courier New"/>
                <a:cs typeface="Courier New"/>
              </a:rPr>
              <a:t>...</a:t>
            </a:r>
            <a:r>
              <a:rPr dirty="0" sz="700">
                <a:latin typeface="Courier New"/>
                <a:cs typeface="Courier New"/>
              </a:rPr>
              <a:t>	</a:t>
            </a:r>
            <a:r>
              <a:rPr dirty="0" sz="700" spc="-10">
                <a:latin typeface="Courier New"/>
                <a:cs typeface="Courier New"/>
              </a:rPr>
              <a:t>feathers</a:t>
            </a:r>
            <a:endParaRPr sz="700">
              <a:latin typeface="Courier New"/>
              <a:cs typeface="Courier New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77367" y="1448651"/>
            <a:ext cx="4082415" cy="51650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9225">
              <a:lnSpc>
                <a:spcPts val="894"/>
              </a:lnSpc>
              <a:spcBef>
                <a:spcPts val="120"/>
              </a:spcBef>
            </a:pPr>
            <a:r>
              <a:rPr dirty="0" sz="750" spc="-20">
                <a:latin typeface="Book Antiqua"/>
                <a:cs typeface="Book Antiqua"/>
              </a:rPr>
              <a:t>При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необходимости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создайте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нужные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файлы.</a:t>
            </a:r>
            <a:endParaRPr sz="750">
              <a:latin typeface="Book Antiqua"/>
              <a:cs typeface="Book Antiqua"/>
            </a:endParaRPr>
          </a:p>
          <a:p>
            <a:pPr marL="147955" marR="25400" indent="-135890">
              <a:lnSpc>
                <a:spcPts val="890"/>
              </a:lnSpc>
              <a:spcBef>
                <a:spcPts val="35"/>
              </a:spcBef>
              <a:buAutoNum type="arabicPeriod" startAt="4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Проделайте</a:t>
            </a:r>
            <a:r>
              <a:rPr dirty="0" sz="750" spc="19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приведённые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ниже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упражнения,</a:t>
            </a:r>
            <a:r>
              <a:rPr dirty="0" sz="750" spc="1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записывая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</a:t>
            </a:r>
            <a:r>
              <a:rPr dirty="0" sz="750" spc="20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отчёт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1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лабораторной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работе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используемые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команды: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69"/>
              </a:lnSpc>
              <a:buAutoNum type="arabicPeriod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Просмотрите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содержимое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/etc/password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 spc="-10">
                <a:latin typeface="Book Antiqua"/>
                <a:cs typeface="Book Antiqua"/>
              </a:rPr>
              <a:t>Скопируйте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~/feathers</a:t>
            </a:r>
            <a:r>
              <a:rPr dirty="0" sz="700" spc="-22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~/file.old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Переместите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~/file.old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~/play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 spc="-10">
                <a:latin typeface="Book Antiqua"/>
                <a:cs typeface="Book Antiqua"/>
              </a:rPr>
              <a:t>Скопируйте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~/play</a:t>
            </a:r>
            <a:r>
              <a:rPr dirty="0" sz="700" spc="-18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~/fun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/>
              <a:tabLst>
                <a:tab pos="361315" algn="l"/>
              </a:tabLst>
            </a:pPr>
            <a:r>
              <a:rPr dirty="0" sz="750">
                <a:latin typeface="Book Antiqua"/>
                <a:cs typeface="Book Antiqua"/>
              </a:rPr>
              <a:t>Переместите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~/fun</a:t>
            </a:r>
            <a:r>
              <a:rPr dirty="0" sz="700" spc="-18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~/play</a:t>
            </a:r>
            <a:r>
              <a:rPr dirty="0" sz="700" spc="-175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его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games</a:t>
            </a:r>
            <a:r>
              <a:rPr dirty="0" sz="750" spc="-10">
                <a:latin typeface="Book Antiqua"/>
                <a:cs typeface="Book Antiqua"/>
              </a:rPr>
              <a:t>.</a:t>
            </a:r>
            <a:endParaRPr sz="750">
              <a:latin typeface="Book Antiqua"/>
              <a:cs typeface="Book Antiqua"/>
            </a:endParaRPr>
          </a:p>
          <a:p>
            <a:pPr lvl="1" marL="360680" indent="-215900">
              <a:lnSpc>
                <a:spcPts val="894"/>
              </a:lnSpc>
              <a:buAutoNum type="arabicPeriod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Лишите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владельца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~/feathers</a:t>
            </a:r>
            <a:r>
              <a:rPr dirty="0" sz="700" spc="-21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чтение.</a:t>
            </a:r>
            <a:endParaRPr sz="750">
              <a:latin typeface="Book Antiqua"/>
              <a:cs typeface="Book Antiqua"/>
            </a:endParaRPr>
          </a:p>
          <a:p>
            <a:pPr lvl="1" marL="360680" indent="-205740">
              <a:lnSpc>
                <a:spcPts val="894"/>
              </a:lnSpc>
              <a:buAutoNum type="arabicPeriod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Что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произойдёт,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попытаетесь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просмотреть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~/feathers</a:t>
            </a:r>
            <a:r>
              <a:rPr dirty="0" sz="700" spc="-150">
                <a:latin typeface="Courier New"/>
                <a:cs typeface="Courier New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командой</a:t>
            </a:r>
            <a:endParaRPr sz="750">
              <a:latin typeface="Book Antiqua"/>
              <a:cs typeface="Book Antiqua"/>
            </a:endParaRPr>
          </a:p>
          <a:p>
            <a:pPr marL="361315">
              <a:lnSpc>
                <a:spcPts val="894"/>
              </a:lnSpc>
            </a:pPr>
            <a:r>
              <a:rPr dirty="0" sz="700" spc="-20">
                <a:latin typeface="Courier New"/>
                <a:cs typeface="Courier New"/>
              </a:rPr>
              <a:t>cat</a:t>
            </a:r>
            <a:r>
              <a:rPr dirty="0" sz="750" spc="-2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lvl="1" marL="361315" indent="-215900">
              <a:lnSpc>
                <a:spcPts val="894"/>
              </a:lnSpc>
              <a:buAutoNum type="arabicPeriod" startAt="8"/>
              <a:tabLst>
                <a:tab pos="361315" algn="l"/>
              </a:tabLst>
            </a:pPr>
            <a:r>
              <a:rPr dirty="0" sz="750" spc="-10">
                <a:latin typeface="Book Antiqua"/>
                <a:cs typeface="Book Antiqua"/>
              </a:rPr>
              <a:t>Что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произойдёт,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если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попытаетесь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скопировать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 spc="-10">
                <a:latin typeface="Courier New"/>
                <a:cs typeface="Courier New"/>
              </a:rPr>
              <a:t>~/feathers</a:t>
            </a:r>
            <a:r>
              <a:rPr dirty="0" sz="750" spc="-10">
                <a:latin typeface="Book Antiqua"/>
                <a:cs typeface="Book Antiqua"/>
              </a:rPr>
              <a:t>?</a:t>
            </a:r>
            <a:endParaRPr sz="750">
              <a:latin typeface="Book Antiqua"/>
              <a:cs typeface="Book Antiqua"/>
            </a:endParaRPr>
          </a:p>
          <a:p>
            <a:pPr lvl="1" marL="360680" indent="-215900">
              <a:lnSpc>
                <a:spcPts val="894"/>
              </a:lnSpc>
              <a:buAutoNum type="arabicPeriod" startAt="8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2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владельцу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~/feathers</a:t>
            </a:r>
            <a:r>
              <a:rPr dirty="0" sz="700" spc="-204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чтение.</a:t>
            </a:r>
            <a:endParaRPr sz="750">
              <a:latin typeface="Book Antiqua"/>
              <a:cs typeface="Book Antiqua"/>
            </a:endParaRPr>
          </a:p>
          <a:p>
            <a:pPr lvl="1" marL="360680" indent="-267970">
              <a:lnSpc>
                <a:spcPts val="894"/>
              </a:lnSpc>
              <a:buAutoNum type="arabicPeriod" startAt="8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Лишите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владельца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~/play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выполнение.</a:t>
            </a:r>
            <a:endParaRPr sz="750">
              <a:latin typeface="Book Antiqua"/>
              <a:cs typeface="Book Antiqua"/>
            </a:endParaRPr>
          </a:p>
          <a:p>
            <a:pPr lvl="1" marL="360680" indent="-267970">
              <a:lnSpc>
                <a:spcPts val="894"/>
              </a:lnSpc>
              <a:buAutoNum type="arabicPeriod" startAt="8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Перейдите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~/play</a:t>
            </a:r>
            <a:r>
              <a:rPr dirty="0" sz="750">
                <a:latin typeface="Book Antiqua"/>
                <a:cs typeface="Book Antiqua"/>
              </a:rPr>
              <a:t>.</a:t>
            </a:r>
            <a:r>
              <a:rPr dirty="0" sz="750" spc="-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Что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произошло?</a:t>
            </a:r>
            <a:endParaRPr sz="750">
              <a:latin typeface="Book Antiqua"/>
              <a:cs typeface="Book Antiqua"/>
            </a:endParaRPr>
          </a:p>
          <a:p>
            <a:pPr lvl="1" marL="360680" indent="-267970">
              <a:lnSpc>
                <a:spcPts val="894"/>
              </a:lnSpc>
              <a:buAutoNum type="arabicPeriod" startAt="8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владельцу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каталога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~/play</a:t>
            </a:r>
            <a:r>
              <a:rPr dirty="0" sz="700" spc="-19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право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выполнение.</a:t>
            </a:r>
            <a:endParaRPr sz="750">
              <a:latin typeface="Book Antiqua"/>
              <a:cs typeface="Book Antiqua"/>
            </a:endParaRPr>
          </a:p>
          <a:p>
            <a:pPr marL="147955" marR="12065" indent="-135890">
              <a:lnSpc>
                <a:spcPts val="890"/>
              </a:lnSpc>
              <a:spcBef>
                <a:spcPts val="35"/>
              </a:spcBef>
              <a:buAutoNum type="arabicPeriod" startAt="4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Прочитайте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man</a:t>
            </a:r>
            <a:r>
              <a:rPr dirty="0" sz="700" spc="-17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по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командам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mount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fsck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mkfs</a:t>
            </a:r>
            <a:r>
              <a:rPr dirty="0" sz="750">
                <a:latin typeface="Book Antiqua"/>
                <a:cs typeface="Book Antiqua"/>
              </a:rPr>
              <a:t>,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kill</a:t>
            </a:r>
            <a:r>
              <a:rPr dirty="0" sz="700" spc="-170">
                <a:latin typeface="Courier New"/>
                <a:cs typeface="Courier New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кратко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их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охарактеризуйте,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приведя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примеры.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5.4.</a:t>
            </a:r>
            <a:r>
              <a:rPr dirty="0" sz="850" spc="28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Содержание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отчёта</a:t>
            </a:r>
            <a:endParaRPr sz="8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spcBef>
                <a:spcPts val="865"/>
              </a:spcBef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Титульный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лист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указанием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номера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работы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40">
                <a:latin typeface="Book Antiqua"/>
                <a:cs typeface="Book Antiqua"/>
              </a:rPr>
              <a:t>ФИО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студента.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Формулировка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цели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Описание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результатов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выполнения</a:t>
            </a:r>
            <a:r>
              <a:rPr dirty="0" sz="750" spc="6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задания: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Font typeface="Book Antiqua"/>
              <a:buChar char="–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скриншоты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(снимки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экрана),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фиксирующие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выполнение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работы;</a:t>
            </a:r>
            <a:endParaRPr sz="750">
              <a:latin typeface="Book Antiqua"/>
              <a:cs typeface="Book Antiqua"/>
            </a:endParaRPr>
          </a:p>
          <a:p>
            <a:pPr lvl="1" marL="360680" indent="-117475">
              <a:lnSpc>
                <a:spcPts val="894"/>
              </a:lnSpc>
              <a:buFont typeface="Book Antiqua"/>
              <a:buChar char="–"/>
              <a:tabLst>
                <a:tab pos="360680" algn="l"/>
              </a:tabLst>
            </a:pPr>
            <a:r>
              <a:rPr dirty="0" sz="750">
                <a:latin typeface="Book Antiqua"/>
                <a:cs typeface="Book Antiqua"/>
              </a:rPr>
              <a:t>листинги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(исходный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код)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программ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(если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есть);</a:t>
            </a:r>
            <a:endParaRPr sz="750">
              <a:latin typeface="Book Antiqua"/>
              <a:cs typeface="Book Antiqua"/>
            </a:endParaRPr>
          </a:p>
          <a:p>
            <a:pPr lvl="1" marL="360045" marR="25400" indent="-117475">
              <a:lnSpc>
                <a:spcPts val="890"/>
              </a:lnSpc>
              <a:spcBef>
                <a:spcPts val="35"/>
              </a:spcBef>
              <a:buFont typeface="Book Antiqua"/>
              <a:buChar char="–"/>
              <a:tabLst>
                <a:tab pos="361315" algn="l"/>
              </a:tabLst>
            </a:pPr>
            <a:r>
              <a:rPr dirty="0" sz="750" spc="10">
                <a:latin typeface="Book Antiqua"/>
                <a:cs typeface="Book Antiqua"/>
              </a:rPr>
              <a:t>результаты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выполнения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программ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(текст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или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снимок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экрана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50">
                <a:latin typeface="Book Antiqua"/>
                <a:cs typeface="Book Antiqua"/>
              </a:rPr>
              <a:t>в </a:t>
            </a:r>
            <a:r>
              <a:rPr dirty="0" sz="750" spc="10">
                <a:latin typeface="Book Antiqua"/>
                <a:cs typeface="Book Antiqua"/>
              </a:rPr>
              <a:t>зависимости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от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 spc="-10">
                <a:latin typeface="Book Antiqua"/>
                <a:cs typeface="Book Antiqua"/>
              </a:rPr>
              <a:t>задания).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69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Выводы,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согласованные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</a:t>
            </a:r>
            <a:r>
              <a:rPr dirty="0" sz="750" spc="8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целью</a:t>
            </a:r>
            <a:r>
              <a:rPr dirty="0" sz="750" spc="7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работы.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Ответы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контрольные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вопросы.</a:t>
            </a:r>
            <a:endParaRPr sz="75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750">
              <a:latin typeface="Book Antiqua"/>
              <a:cs typeface="Book Antiqua"/>
            </a:endParaRPr>
          </a:p>
          <a:p>
            <a:pPr marL="16510">
              <a:lnSpc>
                <a:spcPct val="100000"/>
              </a:lnSpc>
            </a:pPr>
            <a:r>
              <a:rPr dirty="0" sz="850" b="1">
                <a:latin typeface="Book Antiqua"/>
                <a:cs typeface="Book Antiqua"/>
              </a:rPr>
              <a:t>5.5.</a:t>
            </a:r>
            <a:r>
              <a:rPr dirty="0" sz="850" spc="280" b="1">
                <a:latin typeface="Book Antiqua"/>
                <a:cs typeface="Book Antiqua"/>
              </a:rPr>
              <a:t>  </a:t>
            </a:r>
            <a:r>
              <a:rPr dirty="0" sz="850" b="1">
                <a:latin typeface="Book Antiqua"/>
                <a:cs typeface="Book Antiqua"/>
              </a:rPr>
              <a:t>Контрольные</a:t>
            </a:r>
            <a:r>
              <a:rPr dirty="0" sz="850" spc="60" b="1">
                <a:latin typeface="Book Antiqua"/>
                <a:cs typeface="Book Antiqua"/>
              </a:rPr>
              <a:t> </a:t>
            </a:r>
            <a:r>
              <a:rPr dirty="0" sz="850" spc="-10" b="1">
                <a:latin typeface="Book Antiqua"/>
                <a:cs typeface="Book Antiqua"/>
              </a:rPr>
              <a:t>вопросы</a:t>
            </a:r>
            <a:endParaRPr sz="850">
              <a:latin typeface="Book Antiqua"/>
              <a:cs typeface="Book Antiqua"/>
            </a:endParaRPr>
          </a:p>
          <a:p>
            <a:pPr marL="147955" marR="25400" indent="-135890">
              <a:lnSpc>
                <a:spcPct val="100000"/>
              </a:lnSpc>
              <a:spcBef>
                <a:spcPts val="860"/>
              </a:spcBef>
              <a:buAutoNum type="arabicPeriod"/>
              <a:tabLst>
                <a:tab pos="149225" algn="l"/>
              </a:tabLst>
            </a:pPr>
            <a:r>
              <a:rPr dirty="0" sz="750" spc="10">
                <a:latin typeface="Book Antiqua"/>
                <a:cs typeface="Book Antiqua"/>
              </a:rPr>
              <a:t>Дайте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характеристику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каждой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файловой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системе,</a:t>
            </a:r>
            <a:r>
              <a:rPr dirty="0" sz="750" spc="-1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существующей</a:t>
            </a:r>
            <a:r>
              <a:rPr dirty="0" sz="750" spc="25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на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жёстком </a:t>
            </a:r>
            <a:r>
              <a:rPr dirty="0" sz="750" spc="-10">
                <a:latin typeface="Book Antiqua"/>
                <a:cs typeface="Book Antiqua"/>
              </a:rPr>
              <a:t>диске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компьютера,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котором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выполняли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лабораторную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работу.</a:t>
            </a:r>
            <a:endParaRPr sz="750">
              <a:latin typeface="Book Antiqua"/>
              <a:cs typeface="Book Antiqua"/>
            </a:endParaRPr>
          </a:p>
          <a:p>
            <a:pPr marL="147955" marR="5080" indent="-135890">
              <a:lnSpc>
                <a:spcPts val="890"/>
              </a:lnSpc>
              <a:spcBef>
                <a:spcPts val="30"/>
              </a:spcBef>
              <a:buAutoNum type="arabicPeriod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общую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структуру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5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каждой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ди-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ректории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первого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уровня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этой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структуры.</a:t>
            </a:r>
            <a:endParaRPr sz="750">
              <a:latin typeface="Book Antiqua"/>
              <a:cs typeface="Book Antiqua"/>
            </a:endParaRPr>
          </a:p>
          <a:p>
            <a:pPr marL="147955" marR="26034" indent="-135890">
              <a:lnSpc>
                <a:spcPts val="890"/>
              </a:lnSpc>
              <a:spcBef>
                <a:spcPts val="10"/>
              </a:spcBef>
              <a:buAutoNum type="arabicPeriod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Какая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операция</a:t>
            </a:r>
            <a:r>
              <a:rPr dirty="0" sz="750" spc="12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должна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быть</a:t>
            </a:r>
            <a:r>
              <a:rPr dirty="0" sz="750" spc="1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выполнена,</a:t>
            </a:r>
            <a:r>
              <a:rPr dirty="0" sz="750" spc="10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чтобы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содержимое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некоторой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файловой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системы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было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доступно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операционной</a:t>
            </a:r>
            <a:r>
              <a:rPr dirty="0" sz="750" spc="6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системе?</a:t>
            </a:r>
            <a:endParaRPr sz="750">
              <a:latin typeface="Book Antiqua"/>
              <a:cs typeface="Book Antiqua"/>
            </a:endParaRPr>
          </a:p>
          <a:p>
            <a:pPr marL="147955" marR="5080" indent="-135890">
              <a:lnSpc>
                <a:spcPts val="890"/>
              </a:lnSpc>
              <a:spcBef>
                <a:spcPts val="10"/>
              </a:spcBef>
              <a:buAutoNum type="arabicPeriod"/>
              <a:tabLst>
                <a:tab pos="149225" algn="l"/>
              </a:tabLst>
            </a:pPr>
            <a:r>
              <a:rPr dirty="0" sz="750">
                <a:latin typeface="Book Antiqua"/>
                <a:cs typeface="Book Antiqua"/>
              </a:rPr>
              <a:t>Назовите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основные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причины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нарушения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целостности</a:t>
            </a:r>
            <a:r>
              <a:rPr dirty="0" sz="750" spc="4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системы.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устра-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500">
                <a:latin typeface="Book Antiqua"/>
                <a:cs typeface="Book Antiqua"/>
              </a:rPr>
              <a:t>	</a:t>
            </a:r>
            <a:r>
              <a:rPr dirty="0" sz="750">
                <a:latin typeface="Book Antiqua"/>
                <a:cs typeface="Book Antiqua"/>
              </a:rPr>
              <a:t>нить</a:t>
            </a:r>
            <a:r>
              <a:rPr dirty="0" sz="750" spc="3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повреждения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файловой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системы?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69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создаётся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файловая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система?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Дайте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характеристику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командам</a:t>
            </a:r>
            <a:r>
              <a:rPr dirty="0" sz="750" spc="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для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просмотра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текстовых</a:t>
            </a:r>
            <a:r>
              <a:rPr dirty="0" sz="750" spc="7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файлов.</a:t>
            </a:r>
            <a:endParaRPr sz="750">
              <a:latin typeface="Book Antiqua"/>
              <a:cs typeface="Book Antiqua"/>
            </a:endParaRPr>
          </a:p>
          <a:p>
            <a:pPr marL="147955" indent="-125730">
              <a:lnSpc>
                <a:spcPts val="894"/>
              </a:lnSpc>
              <a:buAutoNum type="arabicPeriod"/>
              <a:tabLst>
                <a:tab pos="147955" algn="l"/>
              </a:tabLst>
            </a:pP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основные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возможности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cp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Linux.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581304" y="392412"/>
            <a:ext cx="107314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25">
                <a:latin typeface="Book Antiqua"/>
                <a:cs typeface="Book Antiqua"/>
              </a:rPr>
              <a:t>54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601431" y="392412"/>
            <a:ext cx="303784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 spc="-10">
                <a:latin typeface="Book Antiqua"/>
                <a:cs typeface="Book Antiqua"/>
              </a:rPr>
              <a:t>Лабораторная</a:t>
            </a:r>
            <a:r>
              <a:rPr dirty="0" sz="600" spc="10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работа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№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5.</a:t>
            </a:r>
            <a:r>
              <a:rPr dirty="0" sz="600" spc="2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Анализ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файловой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системы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Linux.</a:t>
            </a:r>
            <a:r>
              <a:rPr dirty="0" sz="600" spc="4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Команды</a:t>
            </a:r>
            <a:r>
              <a:rPr dirty="0" sz="600" spc="-5">
                <a:latin typeface="Book Antiqua"/>
                <a:cs typeface="Book Antiqua"/>
              </a:rPr>
              <a:t> </a:t>
            </a:r>
            <a:r>
              <a:rPr dirty="0" sz="600">
                <a:latin typeface="Book Antiqua"/>
                <a:cs typeface="Book Antiqua"/>
              </a:rPr>
              <a:t>для</a:t>
            </a:r>
            <a:r>
              <a:rPr dirty="0" sz="600" spc="15">
                <a:latin typeface="Book Antiqua"/>
                <a:cs typeface="Book Antiqua"/>
              </a:rPr>
              <a:t> </a:t>
            </a:r>
            <a:r>
              <a:rPr dirty="0" sz="600" spc="-10">
                <a:latin typeface="Book Antiqua"/>
                <a:cs typeface="Book Antiqua"/>
              </a:rPr>
              <a:t>работы</a:t>
            </a:r>
            <a:r>
              <a:rPr dirty="0" sz="600" spc="-40">
                <a:latin typeface="Book Antiqua"/>
                <a:cs typeface="Book Antiqua"/>
              </a:rPr>
              <a:t> </a:t>
            </a:r>
            <a:r>
              <a:rPr dirty="0" sz="600" spc="-50">
                <a:latin typeface="Book Antiqua"/>
                <a:cs typeface="Book Antiqua"/>
              </a:rPr>
              <a:t>…</a:t>
            </a:r>
            <a:endParaRPr sz="600">
              <a:latin typeface="Book Antiqua"/>
              <a:cs typeface="Book Antiqua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594004" y="514540"/>
            <a:ext cx="4032250" cy="0"/>
          </a:xfrm>
          <a:custGeom>
            <a:avLst/>
            <a:gdLst/>
            <a:ahLst/>
            <a:cxnLst/>
            <a:rect l="l" t="t" r="r" b="b"/>
            <a:pathLst>
              <a:path w="4032250" h="0">
                <a:moveTo>
                  <a:pt x="0" y="0"/>
                </a:moveTo>
                <a:lnTo>
                  <a:pt x="4031996" y="0"/>
                </a:lnTo>
              </a:path>
            </a:pathLst>
          </a:custGeom>
          <a:ln w="541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577367" y="653389"/>
            <a:ext cx="4061460" cy="50990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48590" indent="-135890">
              <a:lnSpc>
                <a:spcPts val="894"/>
              </a:lnSpc>
              <a:spcBef>
                <a:spcPts val="120"/>
              </a:spcBef>
              <a:buAutoNum type="arabicPeriod" startAt="8"/>
              <a:tabLst>
                <a:tab pos="148590" algn="l"/>
              </a:tabLst>
            </a:pPr>
            <a:r>
              <a:rPr dirty="0" sz="750">
                <a:latin typeface="Book Antiqua"/>
                <a:cs typeface="Book Antiqua"/>
              </a:rPr>
              <a:t>Приведите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основные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возможности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команды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00">
                <a:latin typeface="Courier New"/>
                <a:cs typeface="Courier New"/>
              </a:rPr>
              <a:t>mv</a:t>
            </a:r>
            <a:r>
              <a:rPr dirty="0" sz="700" spc="-195">
                <a:latin typeface="Courier New"/>
                <a:cs typeface="Courier New"/>
              </a:rPr>
              <a:t> </a:t>
            </a:r>
            <a:r>
              <a:rPr dirty="0" sz="750" spc="10">
                <a:latin typeface="Book Antiqua"/>
                <a:cs typeface="Book Antiqua"/>
              </a:rPr>
              <a:t>в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Linux.</a:t>
            </a:r>
            <a:endParaRPr sz="750">
              <a:latin typeface="Book Antiqua"/>
              <a:cs typeface="Book Antiqua"/>
            </a:endParaRPr>
          </a:p>
          <a:p>
            <a:pPr marL="148590" indent="-135890">
              <a:lnSpc>
                <a:spcPts val="894"/>
              </a:lnSpc>
              <a:buAutoNum type="arabicPeriod" startAt="8"/>
              <a:tabLst>
                <a:tab pos="148590" algn="l"/>
              </a:tabLst>
            </a:pPr>
            <a:r>
              <a:rPr dirty="0" sz="750" spc="-20">
                <a:latin typeface="Book Antiqua"/>
                <a:cs typeface="Book Antiqua"/>
              </a:rPr>
              <a:t>Что</a:t>
            </a:r>
            <a:r>
              <a:rPr dirty="0" sz="750" spc="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такое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права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доступа?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Как</a:t>
            </a:r>
            <a:r>
              <a:rPr dirty="0" sz="750" spc="3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они</a:t>
            </a:r>
            <a:r>
              <a:rPr dirty="0" sz="750" spc="4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могут</a:t>
            </a:r>
            <a:r>
              <a:rPr dirty="0" sz="750" spc="1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быть</a:t>
            </a:r>
            <a:r>
              <a:rPr dirty="0" sz="750" spc="15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изменены?</a:t>
            </a:r>
            <a:endParaRPr sz="750">
              <a:latin typeface="Book Antiqua"/>
              <a:cs typeface="Book Antiqua"/>
            </a:endParaRPr>
          </a:p>
          <a:p>
            <a:pPr marL="16510" marR="5080" indent="97790">
              <a:lnSpc>
                <a:spcPct val="100000"/>
              </a:lnSpc>
              <a:spcBef>
                <a:spcPts val="195"/>
              </a:spcBef>
            </a:pPr>
            <a:r>
              <a:rPr dirty="0" sz="750">
                <a:latin typeface="Book Antiqua"/>
                <a:cs typeface="Book Antiqua"/>
              </a:rPr>
              <a:t>При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ответах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на</a:t>
            </a:r>
            <a:r>
              <a:rPr dirty="0" sz="750" spc="1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вопросы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используйте</a:t>
            </a:r>
            <a:r>
              <a:rPr dirty="0" sz="750" spc="15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дополнительные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источники</a:t>
            </a:r>
            <a:r>
              <a:rPr dirty="0" sz="750" spc="175">
                <a:latin typeface="Book Antiqua"/>
                <a:cs typeface="Book Antiqua"/>
              </a:rPr>
              <a:t> </a:t>
            </a:r>
            <a:r>
              <a:rPr dirty="0" sz="750">
                <a:latin typeface="Book Antiqua"/>
                <a:cs typeface="Book Antiqua"/>
              </a:rPr>
              <a:t>информации</a:t>
            </a:r>
            <a:r>
              <a:rPr dirty="0" sz="750" spc="170">
                <a:latin typeface="Book Antiqua"/>
                <a:cs typeface="Book Antiqua"/>
              </a:rPr>
              <a:t> </a:t>
            </a:r>
            <a:r>
              <a:rPr dirty="0" sz="750" spc="-25">
                <a:latin typeface="Book Antiqua"/>
                <a:cs typeface="Book Antiqua"/>
              </a:rPr>
              <a:t>по</a:t>
            </a:r>
            <a:r>
              <a:rPr dirty="0" sz="750" spc="500">
                <a:latin typeface="Book Antiqua"/>
                <a:cs typeface="Book Antiqua"/>
              </a:rPr>
              <a:t> </a:t>
            </a:r>
            <a:r>
              <a:rPr dirty="0" sz="750" spc="-10">
                <a:latin typeface="Book Antiqua"/>
                <a:cs typeface="Book Antiqua"/>
              </a:rPr>
              <a:t>теме.</a:t>
            </a:r>
            <a:endParaRPr sz="750">
              <a:latin typeface="Book Antiqua"/>
              <a:cs typeface="Book Antiqu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2026-03-20T17:47:09Z</dcterms:created>
  <dcterms:modified xsi:type="dcterms:W3CDTF">2026-03-20T17:47:09Z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2026-03-20T00:00:00Z</vt:filetime>
  </property>
  <property fmtid="{D5CDD505-2E9C-101B-9397-08002B2CF9AE}" pid="3" name="LastSaved">
    <vt:filetime>2026-03-20T00:00:00Z</vt:filetime>
  </property>
  <property fmtid="{D5CDD505-2E9C-101B-9397-08002B2CF9AE}" pid="4" name="Producer">
    <vt:lpwstr>3-Heights(TM) PDF Security Shell 4.8.25.2 (http://www.pdf-tools.com)</vt:lpwstr>
  </property>
</Properties>
</file>