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andoc.org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jgm/pandoc/releases" TargetMode="External"/><Relationship Id="rId3" Type="http://schemas.openxmlformats.org/officeDocument/2006/relationships/hyperlink" Target="https://github.com/lierdakil/pandoc-crossref/release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8412" y="554842"/>
            <a:ext cx="5201920" cy="100139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ДРУЖБЫ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0200" indent="73025">
              <a:lnSpc>
                <a:spcPct val="143800"/>
              </a:lnSpc>
              <a:spcBef>
                <a:spcPts val="195"/>
              </a:spcBef>
            </a:pPr>
            <a:r>
              <a:rPr dirty="0" sz="1300" spc="-20" b="1">
                <a:latin typeface="Times New Roman"/>
                <a:cs typeface="Times New Roman"/>
              </a:rPr>
              <a:t>Факультет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физико-математических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spc="-10" b="1">
                <a:latin typeface="Times New Roman"/>
                <a:cs typeface="Times New Roman"/>
              </a:rPr>
              <a:t>Кафедра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прикладной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0926" y="2821202"/>
            <a:ext cx="3804285" cy="123063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40" b="1">
                <a:latin typeface="Times New Roman"/>
                <a:cs typeface="Times New Roman"/>
              </a:rPr>
              <a:t>ЛАБОРАТОРНОЙ</a:t>
            </a:r>
            <a:r>
              <a:rPr dirty="0" sz="1600" spc="-30" b="1">
                <a:latin typeface="Times New Roman"/>
                <a:cs typeface="Times New Roman"/>
              </a:rPr>
              <a:t> РАБОТЕ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46431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600" spc="-9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4322" y="6616064"/>
            <a:ext cx="2999740" cy="726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u="sng" sz="13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300">
              <a:latin typeface="Times New Roman"/>
              <a:cs typeface="Times New Roman"/>
            </a:endParaRPr>
          </a:p>
          <a:p>
            <a:pPr algn="r" marR="6350">
              <a:lnSpc>
                <a:spcPct val="100000"/>
              </a:lnSpc>
            </a:pPr>
            <a:r>
              <a:rPr dirty="0" u="sng" sz="13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95598" y="9157816"/>
            <a:ext cx="767715" cy="59563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1300">
                <a:latin typeface="Times New Roman"/>
                <a:cs typeface="Times New Roman"/>
              </a:rPr>
              <a:t>2025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6627" y="699007"/>
            <a:ext cx="4491355" cy="1196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latin typeface="Times New Roman"/>
                <a:cs typeface="Times New Roman"/>
              </a:rPr>
              <a:t>Лабораторная </a:t>
            </a:r>
            <a:r>
              <a:rPr dirty="0" sz="950" b="1">
                <a:latin typeface="Times New Roman"/>
                <a:cs typeface="Times New Roman"/>
              </a:rPr>
              <a:t>работа</a:t>
            </a:r>
            <a:r>
              <a:rPr dirty="0" sz="950" spc="-5" b="1">
                <a:latin typeface="Times New Roman"/>
                <a:cs typeface="Times New Roman"/>
              </a:rPr>
              <a:t> </a:t>
            </a:r>
            <a:r>
              <a:rPr dirty="0" sz="950" b="1">
                <a:latin typeface="Times New Roman"/>
                <a:cs typeface="Times New Roman"/>
              </a:rPr>
              <a:t>№</a:t>
            </a:r>
            <a:r>
              <a:rPr dirty="0" sz="950" spc="-25" b="1">
                <a:latin typeface="Times New Roman"/>
                <a:cs typeface="Times New Roman"/>
              </a:rPr>
              <a:t> </a:t>
            </a:r>
            <a:r>
              <a:rPr dirty="0" sz="950" b="1">
                <a:latin typeface="Times New Roman"/>
                <a:cs typeface="Times New Roman"/>
              </a:rPr>
              <a:t>3.</a:t>
            </a:r>
            <a:r>
              <a:rPr dirty="0" sz="950" spc="-15" b="1">
                <a:latin typeface="Times New Roman"/>
                <a:cs typeface="Times New Roman"/>
              </a:rPr>
              <a:t> </a:t>
            </a:r>
            <a:r>
              <a:rPr dirty="0" sz="950" spc="-10" b="1">
                <a:latin typeface="Times New Roman"/>
                <a:cs typeface="Times New Roman"/>
              </a:rPr>
              <a:t>Markdown</a:t>
            </a:r>
            <a:endParaRPr sz="950">
              <a:latin typeface="Times New Roman"/>
              <a:cs typeface="Times New Roman"/>
            </a:endParaRPr>
          </a:p>
          <a:p>
            <a:pPr lvl="1" marL="549275" indent="-312420">
              <a:lnSpc>
                <a:spcPct val="100000"/>
              </a:lnSpc>
              <a:spcBef>
                <a:spcPts val="955"/>
              </a:spcBef>
              <a:buAutoNum type="arabicPeriod"/>
              <a:tabLst>
                <a:tab pos="549275" algn="l"/>
              </a:tabLst>
            </a:pPr>
            <a:r>
              <a:rPr dirty="0" sz="850" b="1">
                <a:latin typeface="Times New Roman"/>
                <a:cs typeface="Times New Roman"/>
              </a:rPr>
              <a:t>Цель</a:t>
            </a:r>
            <a:r>
              <a:rPr dirty="0" sz="850" spc="-1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работы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spc="-10">
                <a:latin typeface="Times New Roman"/>
                <a:cs typeface="Times New Roman"/>
              </a:rPr>
              <a:t>Научиться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оформлять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отчёты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помощью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легковесного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языка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разметки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Markdown.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00">
              <a:latin typeface="Times New Roman"/>
              <a:cs typeface="Times New Roman"/>
            </a:endParaRPr>
          </a:p>
          <a:p>
            <a:pPr lvl="1" marL="614680" indent="-381000">
              <a:lnSpc>
                <a:spcPct val="100000"/>
              </a:lnSpc>
              <a:buAutoNum type="arabicPeriod" startAt="2"/>
              <a:tabLst>
                <a:tab pos="614680" algn="l"/>
              </a:tabLst>
            </a:pPr>
            <a:r>
              <a:rPr dirty="0" sz="850" b="1">
                <a:latin typeface="Calibri"/>
                <a:cs typeface="Calibri"/>
              </a:rPr>
              <a:t>Предварительные</a:t>
            </a:r>
            <a:r>
              <a:rPr dirty="0" sz="850" spc="-30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сведения</a:t>
            </a:r>
            <a:endParaRPr sz="850">
              <a:latin typeface="Calibri"/>
              <a:cs typeface="Calibri"/>
            </a:endParaRPr>
          </a:p>
          <a:p>
            <a:pPr lvl="2" marL="715010" indent="-476884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715010" algn="l"/>
              </a:tabLst>
            </a:pPr>
            <a:r>
              <a:rPr dirty="0" sz="850" b="1">
                <a:latin typeface="Calibri"/>
                <a:cs typeface="Calibri"/>
              </a:rPr>
              <a:t>Базовые</a:t>
            </a:r>
            <a:r>
              <a:rPr dirty="0" sz="850" spc="-30" b="1">
                <a:latin typeface="Calibri"/>
                <a:cs typeface="Calibri"/>
              </a:rPr>
              <a:t> </a:t>
            </a:r>
            <a:r>
              <a:rPr dirty="0" sz="850" b="1">
                <a:latin typeface="Calibri"/>
                <a:cs typeface="Calibri"/>
              </a:rPr>
              <a:t>сведения</a:t>
            </a:r>
            <a:r>
              <a:rPr dirty="0" sz="850" spc="-30" b="1">
                <a:latin typeface="Calibri"/>
                <a:cs typeface="Calibri"/>
              </a:rPr>
              <a:t> </a:t>
            </a:r>
            <a:r>
              <a:rPr dirty="0" sz="850" b="1">
                <a:latin typeface="Calibri"/>
                <a:cs typeface="Calibri"/>
              </a:rPr>
              <a:t>о</a:t>
            </a:r>
            <a:r>
              <a:rPr dirty="0" sz="850" spc="-30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Markdown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79921" y="2129281"/>
            <a:ext cx="67310" cy="147955"/>
          </a:xfrm>
          <a:custGeom>
            <a:avLst/>
            <a:gdLst/>
            <a:ahLst/>
            <a:cxnLst/>
            <a:rect l="l" t="t" r="r" b="b"/>
            <a:pathLst>
              <a:path w="67310" h="147955">
                <a:moveTo>
                  <a:pt x="67055" y="0"/>
                </a:moveTo>
                <a:lnTo>
                  <a:pt x="0" y="0"/>
                </a:lnTo>
                <a:lnTo>
                  <a:pt x="0" y="147827"/>
                </a:lnTo>
                <a:lnTo>
                  <a:pt x="67055" y="147827"/>
                </a:lnTo>
                <a:lnTo>
                  <a:pt x="67055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927472" y="1962657"/>
            <a:ext cx="1923414" cy="3238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  <a:tabLst>
                <a:tab pos="656590" algn="l"/>
                <a:tab pos="1351280" algn="l"/>
              </a:tabLst>
            </a:pPr>
            <a:r>
              <a:rPr dirty="0" sz="1000" spc="-10">
                <a:latin typeface="Times New Roman"/>
                <a:cs typeface="Times New Roman"/>
              </a:rPr>
              <a:t>Чтобы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создать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>
                <a:latin typeface="Times New Roman"/>
                <a:cs typeface="Times New Roman"/>
              </a:rPr>
              <a:t>заголовок, </a:t>
            </a:r>
            <a:r>
              <a:rPr dirty="0" sz="1000" spc="-10">
                <a:latin typeface="Times New Roman"/>
                <a:cs typeface="Times New Roman"/>
              </a:rPr>
              <a:t>используйте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знак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#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),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например: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27472" y="2375661"/>
            <a:ext cx="54610" cy="434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27472" y="2968498"/>
            <a:ext cx="972185" cy="470534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96100"/>
              </a:lnSpc>
              <a:spcBef>
                <a:spcPts val="140"/>
              </a:spcBef>
              <a:tabLst>
                <a:tab pos="589915" algn="l"/>
                <a:tab pos="790575" algn="l"/>
              </a:tabLst>
            </a:pPr>
            <a:r>
              <a:rPr dirty="0" sz="1000" spc="-10">
                <a:latin typeface="Times New Roman"/>
                <a:cs typeface="Times New Roman"/>
              </a:rPr>
              <a:t>Чтобы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задать полужирное заключите</a:t>
            </a:r>
            <a:r>
              <a:rPr dirty="0" sz="1000">
                <a:latin typeface="Times New Roman"/>
                <a:cs typeface="Times New Roman"/>
              </a:rPr>
              <a:t>		</a:t>
            </a:r>
            <a:r>
              <a:rPr dirty="0" sz="1000" spc="-30">
                <a:latin typeface="Times New Roman"/>
                <a:cs typeface="Times New Roman"/>
              </a:rPr>
              <a:t>его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71456" y="2968498"/>
            <a:ext cx="7791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990" algn="l"/>
              </a:tabLst>
            </a:pPr>
            <a:r>
              <a:rPr dirty="0" sz="1000" spc="-25">
                <a:latin typeface="Times New Roman"/>
                <a:cs typeface="Times New Roman"/>
              </a:rPr>
              <a:t>для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текста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88851" y="3114801"/>
            <a:ext cx="661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начертание,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89664" y="3261486"/>
            <a:ext cx="760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</a:tabLst>
            </a:pPr>
            <a:r>
              <a:rPr dirty="0" sz="1000" spc="-50">
                <a:latin typeface="Times New Roman"/>
                <a:cs typeface="Times New Roman"/>
              </a:rPr>
              <a:t>в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двойные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6627" y="3407790"/>
            <a:ext cx="59245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звездочки: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1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27472" y="3915283"/>
            <a:ext cx="1924050" cy="4699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150"/>
              </a:lnSpc>
              <a:spcBef>
                <a:spcPts val="175"/>
              </a:spcBef>
            </a:pPr>
            <a:r>
              <a:rPr dirty="0" sz="1000">
                <a:latin typeface="Times New Roman"/>
                <a:cs typeface="Times New Roman"/>
              </a:rPr>
              <a:t>Чтобы</a:t>
            </a:r>
            <a:r>
              <a:rPr dirty="0" sz="1000" spc="330">
                <a:latin typeface="Times New Roman"/>
                <a:cs typeface="Times New Roman"/>
              </a:rPr>
              <a:t>   </a:t>
            </a:r>
            <a:r>
              <a:rPr dirty="0" sz="1000">
                <a:latin typeface="Times New Roman"/>
                <a:cs typeface="Times New Roman"/>
              </a:rPr>
              <a:t>задать</a:t>
            </a:r>
            <a:r>
              <a:rPr dirty="0" sz="1000" spc="340">
                <a:latin typeface="Times New Roman"/>
                <a:cs typeface="Times New Roman"/>
              </a:rPr>
              <a:t>   </a:t>
            </a: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340">
                <a:latin typeface="Times New Roman"/>
                <a:cs typeface="Times New Roman"/>
              </a:rPr>
              <a:t>   </a:t>
            </a:r>
            <a:r>
              <a:rPr dirty="0" sz="1000" spc="-10">
                <a:latin typeface="Times New Roman"/>
                <a:cs typeface="Times New Roman"/>
              </a:rPr>
              <a:t>текста </a:t>
            </a:r>
            <a:r>
              <a:rPr dirty="0" sz="1000">
                <a:latin typeface="Times New Roman"/>
                <a:cs typeface="Times New Roman"/>
              </a:rPr>
              <a:t>курсивное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начертание,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заключите </a:t>
            </a:r>
            <a:r>
              <a:rPr dirty="0" sz="1000">
                <a:latin typeface="Times New Roman"/>
                <a:cs typeface="Times New Roman"/>
              </a:rPr>
              <a:t>его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одинарные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звездочки: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2536" y="4462398"/>
            <a:ext cx="5461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27472" y="4715382"/>
            <a:ext cx="687705" cy="3238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 indent="99060">
              <a:lnSpc>
                <a:spcPts val="1150"/>
              </a:lnSpc>
              <a:spcBef>
                <a:spcPts val="175"/>
              </a:spcBef>
            </a:pPr>
            <a:r>
              <a:rPr dirty="0" sz="1000" spc="-10">
                <a:latin typeface="Times New Roman"/>
                <a:cs typeface="Times New Roman"/>
              </a:rPr>
              <a:t>Чтобы полужирное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94630" y="4715382"/>
            <a:ext cx="958215" cy="3238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 indent="68580">
              <a:lnSpc>
                <a:spcPts val="1150"/>
              </a:lnSpc>
              <a:spcBef>
                <a:spcPts val="175"/>
              </a:spcBef>
              <a:tabLst>
                <a:tab pos="384175" algn="l"/>
              </a:tabLst>
            </a:pPr>
            <a:r>
              <a:rPr dirty="0" sz="1000" spc="-10">
                <a:latin typeface="Times New Roman"/>
                <a:cs typeface="Times New Roman"/>
              </a:rPr>
              <a:t>задатьдлятекста </a:t>
            </a:r>
            <a:r>
              <a:rPr dirty="0" sz="1000" spc="-50">
                <a:latin typeface="Times New Roman"/>
                <a:cs typeface="Times New Roman"/>
              </a:rPr>
              <a:t>и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курсивное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27472" y="5007990"/>
            <a:ext cx="19246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3075" algn="l"/>
              </a:tabLst>
            </a:pPr>
            <a:r>
              <a:rPr dirty="0" sz="1000" spc="-10">
                <a:latin typeface="Times New Roman"/>
                <a:cs typeface="Times New Roman"/>
              </a:rPr>
              <a:t>начертание,заключите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его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1816" y="5154295"/>
            <a:ext cx="1141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втройные звездочки: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32536" y="5410326"/>
            <a:ext cx="5461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27472" y="5665088"/>
            <a:ext cx="1924050" cy="495934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</a:pPr>
            <a:r>
              <a:rPr dirty="0" sz="1000">
                <a:latin typeface="Times New Roman"/>
                <a:cs typeface="Times New Roman"/>
              </a:rPr>
              <a:t>Блоки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цитирования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создаются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с</a:t>
            </a:r>
            <a:r>
              <a:rPr dirty="0" sz="1000" spc="-10">
                <a:latin typeface="Times New Roman"/>
                <a:cs typeface="Times New Roman"/>
              </a:rPr>
              <a:t> помощью символа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&gt;: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27472" y="7000113"/>
            <a:ext cx="1925320" cy="61658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 indent="99060">
              <a:lnSpc>
                <a:spcPts val="1150"/>
              </a:lnSpc>
              <a:spcBef>
                <a:spcPts val="175"/>
              </a:spcBef>
              <a:tabLst>
                <a:tab pos="1139825" algn="l"/>
                <a:tab pos="1391285" algn="l"/>
              </a:tabLst>
            </a:pPr>
            <a:r>
              <a:rPr dirty="0" sz="1000" spc="-10">
                <a:latin typeface="Times New Roman"/>
                <a:cs typeface="Times New Roman"/>
              </a:rPr>
              <a:t>Неупорядоченный </a:t>
            </a:r>
            <a:r>
              <a:rPr dirty="0" sz="1000">
                <a:latin typeface="Times New Roman"/>
                <a:cs typeface="Times New Roman"/>
              </a:rPr>
              <a:t>(маркированный)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можно отформатировать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Times New Roman"/>
                <a:cs typeface="Times New Roman"/>
              </a:rPr>
              <a:t>с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>
                <a:latin typeface="Times New Roman"/>
                <a:cs typeface="Times New Roman"/>
              </a:rPr>
              <a:t>помощью </a:t>
            </a:r>
            <a:r>
              <a:rPr dirty="0" sz="1000" spc="-10">
                <a:latin typeface="Times New Roman"/>
                <a:cs typeface="Times New Roman"/>
              </a:rPr>
              <a:t>звездочек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20">
                <a:latin typeface="Times New Roman"/>
                <a:cs typeface="Times New Roman"/>
              </a:rPr>
              <a:t> тире: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2536" y="7693532"/>
            <a:ext cx="5461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06627" y="8175497"/>
            <a:ext cx="4755515" cy="266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Чтобы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вложить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один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другой,добавьте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отступ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элементов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дочернего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списка:</a:t>
            </a:r>
            <a:endParaRPr sz="1000">
              <a:latin typeface="Times New Roman"/>
              <a:cs typeface="Times New Roman"/>
            </a:endParaRPr>
          </a:p>
          <a:p>
            <a:pPr algn="r" marR="224154">
              <a:lnSpc>
                <a:spcPts val="710"/>
              </a:lnSpc>
            </a:pPr>
            <a:r>
              <a:rPr dirty="0" sz="600" spc="-25"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27472" y="8641841"/>
            <a:ext cx="54610" cy="433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214117" y="9237726"/>
            <a:ext cx="46412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imes New Roman"/>
                <a:cs typeface="Times New Roman"/>
              </a:rPr>
              <a:t>Упорядоченный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можно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отформатировать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помощью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соответствующих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цифр: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91844" y="2170429"/>
            <a:ext cx="4033520" cy="57785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38735" rIns="0" bIns="0" rtlCol="0" vert="horz">
            <a:spAutoFit/>
          </a:bodyPr>
          <a:lstStyle/>
          <a:p>
            <a:pPr marL="38100" marR="3195320">
              <a:lnSpc>
                <a:spcPct val="102899"/>
              </a:lnSpc>
              <a:spcBef>
                <a:spcPts val="305"/>
              </a:spcBef>
            </a:pPr>
            <a:r>
              <a:rPr dirty="0" sz="700" b="1">
                <a:solidFill>
                  <a:srgbClr val="00007E"/>
                </a:solidFill>
                <a:latin typeface="Times New Roman"/>
                <a:cs typeface="Times New Roman"/>
              </a:rPr>
              <a:t>#</a:t>
            </a:r>
            <a:r>
              <a:rPr dirty="0" sz="700" spc="-15" b="1">
                <a:solidFill>
                  <a:srgbClr val="00007E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007E"/>
                </a:solidFill>
                <a:latin typeface="Times New Roman"/>
                <a:cs typeface="Times New Roman"/>
              </a:rPr>
              <a:t>This is </a:t>
            </a:r>
            <a:r>
              <a:rPr dirty="0" sz="700" spc="-10" b="1">
                <a:solidFill>
                  <a:srgbClr val="00007E"/>
                </a:solidFill>
                <a:latin typeface="Times New Roman"/>
                <a:cs typeface="Times New Roman"/>
              </a:rPr>
              <a:t>heading</a:t>
            </a:r>
            <a:r>
              <a:rPr dirty="0" sz="700" spc="-5" b="1">
                <a:solidFill>
                  <a:srgbClr val="00007E"/>
                </a:solidFill>
                <a:latin typeface="Times New Roman"/>
                <a:cs typeface="Times New Roman"/>
              </a:rPr>
              <a:t> </a:t>
            </a:r>
            <a:r>
              <a:rPr dirty="0" sz="700" spc="-50" b="1">
                <a:solidFill>
                  <a:srgbClr val="00007E"/>
                </a:solidFill>
                <a:latin typeface="Times New Roman"/>
                <a:cs typeface="Times New Roman"/>
              </a:rPr>
              <a:t>1</a:t>
            </a:r>
            <a:r>
              <a:rPr dirty="0" sz="700" spc="500" b="1">
                <a:solidFill>
                  <a:srgbClr val="00007E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E007E"/>
                </a:solidFill>
                <a:latin typeface="Times New Roman"/>
                <a:cs typeface="Times New Roman"/>
              </a:rPr>
              <a:t>##</a:t>
            </a:r>
            <a:r>
              <a:rPr dirty="0" sz="700" spc="-20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E007E"/>
                </a:solidFill>
                <a:latin typeface="Times New Roman"/>
                <a:cs typeface="Times New Roman"/>
              </a:rPr>
              <a:t>This is </a:t>
            </a:r>
            <a:r>
              <a:rPr dirty="0" sz="700" spc="-10" b="1">
                <a:solidFill>
                  <a:srgbClr val="7E007E"/>
                </a:solidFill>
                <a:latin typeface="Times New Roman"/>
                <a:cs typeface="Times New Roman"/>
              </a:rPr>
              <a:t>heading</a:t>
            </a:r>
            <a:r>
              <a:rPr dirty="0" sz="700" spc="-5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spc="-50" b="1">
                <a:solidFill>
                  <a:srgbClr val="7E007E"/>
                </a:solidFill>
                <a:latin typeface="Times New Roman"/>
                <a:cs typeface="Times New Roman"/>
              </a:rPr>
              <a:t>2</a:t>
            </a:r>
            <a:r>
              <a:rPr dirty="0" sz="700" spc="500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E007E"/>
                </a:solidFill>
                <a:latin typeface="Times New Roman"/>
                <a:cs typeface="Times New Roman"/>
              </a:rPr>
              <a:t>###</a:t>
            </a:r>
            <a:r>
              <a:rPr dirty="0" sz="700" spc="-20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E007E"/>
                </a:solidFill>
                <a:latin typeface="Times New Roman"/>
                <a:cs typeface="Times New Roman"/>
              </a:rPr>
              <a:t>This is </a:t>
            </a:r>
            <a:r>
              <a:rPr dirty="0" sz="700" spc="-10" b="1">
                <a:solidFill>
                  <a:srgbClr val="7E007E"/>
                </a:solidFill>
                <a:latin typeface="Times New Roman"/>
                <a:cs typeface="Times New Roman"/>
              </a:rPr>
              <a:t>heading </a:t>
            </a:r>
            <a:r>
              <a:rPr dirty="0" sz="700" spc="-50" b="1">
                <a:solidFill>
                  <a:srgbClr val="7E007E"/>
                </a:solidFill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dirty="0" sz="700" b="1">
                <a:solidFill>
                  <a:srgbClr val="7E007E"/>
                </a:solidFill>
                <a:latin typeface="Times New Roman"/>
                <a:cs typeface="Times New Roman"/>
              </a:rPr>
              <a:t>####</a:t>
            </a:r>
            <a:r>
              <a:rPr dirty="0" sz="700" spc="-20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E007E"/>
                </a:solidFill>
                <a:latin typeface="Times New Roman"/>
                <a:cs typeface="Times New Roman"/>
              </a:rPr>
              <a:t>This is</a:t>
            </a:r>
            <a:r>
              <a:rPr dirty="0" sz="700" spc="-5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7E007E"/>
                </a:solidFill>
                <a:latin typeface="Times New Roman"/>
                <a:cs typeface="Times New Roman"/>
              </a:rPr>
              <a:t>heading</a:t>
            </a:r>
            <a:r>
              <a:rPr dirty="0" sz="700" spc="-5" b="1">
                <a:solidFill>
                  <a:srgbClr val="7E007E"/>
                </a:solidFill>
                <a:latin typeface="Times New Roman"/>
                <a:cs typeface="Times New Roman"/>
              </a:rPr>
              <a:t> </a:t>
            </a:r>
            <a:r>
              <a:rPr dirty="0" sz="700" spc="-60" b="1">
                <a:solidFill>
                  <a:srgbClr val="7E007E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891844" y="3164153"/>
            <a:ext cx="4033520" cy="236854"/>
          </a:xfrm>
          <a:custGeom>
            <a:avLst/>
            <a:gdLst/>
            <a:ahLst/>
            <a:cxnLst/>
            <a:rect l="l" t="t" r="r" b="b"/>
            <a:pathLst>
              <a:path w="4033520" h="236854">
                <a:moveTo>
                  <a:pt x="4033139" y="0"/>
                </a:moveTo>
                <a:lnTo>
                  <a:pt x="0" y="0"/>
                </a:lnTo>
                <a:lnTo>
                  <a:pt x="0" y="236524"/>
                </a:lnTo>
                <a:lnTo>
                  <a:pt x="4033139" y="236524"/>
                </a:lnTo>
                <a:lnTo>
                  <a:pt x="4033139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917244" y="3194049"/>
            <a:ext cx="8096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 spc="-10" b="1">
                <a:latin typeface="Times New Roman"/>
                <a:cs typeface="Times New Roman"/>
              </a:rPr>
              <a:t>**bold**</a:t>
            </a:r>
            <a:r>
              <a:rPr dirty="0" sz="700" spc="-10">
                <a:latin typeface="Times New Roman"/>
                <a:cs typeface="Times New Roman"/>
              </a:rPr>
              <a:t>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891844" y="3164077"/>
            <a:ext cx="4033520" cy="47625"/>
          </a:xfrm>
          <a:custGeom>
            <a:avLst/>
            <a:gdLst/>
            <a:ahLst/>
            <a:cxnLst/>
            <a:rect l="l" t="t" r="r" b="b"/>
            <a:pathLst>
              <a:path w="4033520" h="47625">
                <a:moveTo>
                  <a:pt x="4033139" y="0"/>
                </a:moveTo>
                <a:lnTo>
                  <a:pt x="0" y="0"/>
                </a:lnTo>
                <a:lnTo>
                  <a:pt x="0" y="47244"/>
                </a:lnTo>
                <a:lnTo>
                  <a:pt x="4033139" y="47244"/>
                </a:lnTo>
                <a:lnTo>
                  <a:pt x="4033139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891844" y="4109338"/>
            <a:ext cx="4033520" cy="238125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31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10">
                <a:latin typeface="Times New Roman"/>
                <a:cs typeface="Times New Roman"/>
              </a:rPr>
              <a:t> *italic*.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91844" y="4912486"/>
            <a:ext cx="4033520" cy="238125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31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both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***bold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italic***.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91844" y="5859144"/>
            <a:ext cx="4033520" cy="91948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&gt;</a:t>
            </a:r>
            <a:r>
              <a:rPr dirty="0" sz="700" spc="-2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drought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had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lasted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now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for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ten</a:t>
            </a:r>
            <a:r>
              <a:rPr dirty="0" sz="700" spc="-10">
                <a:latin typeface="Times New Roman"/>
                <a:cs typeface="Times New Roman"/>
              </a:rPr>
              <a:t> million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years,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reign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of</a:t>
            </a:r>
            <a:endParaRPr sz="700">
              <a:latin typeface="Times New Roman"/>
              <a:cs typeface="Times New Roman"/>
            </a:endParaRPr>
          </a:p>
          <a:p>
            <a:pPr marL="83185">
              <a:lnSpc>
                <a:spcPct val="100000"/>
              </a:lnSpc>
              <a:spcBef>
                <a:spcPts val="25"/>
              </a:spcBef>
            </a:pPr>
            <a:r>
              <a:rPr dirty="0" sz="500">
                <a:latin typeface="Segoe UI Emoji"/>
                <a:cs typeface="Segoe UI Emoji"/>
              </a:rPr>
              <a:t>↪</a:t>
            </a:r>
            <a:r>
              <a:rPr dirty="0" sz="500" spc="-15">
                <a:latin typeface="Segoe UI Emoji"/>
                <a:cs typeface="Segoe UI Emoji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terrible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lizards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had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long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since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ended. Here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on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Equator,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in</a:t>
            </a:r>
            <a:endParaRPr sz="700">
              <a:latin typeface="Times New Roman"/>
              <a:cs typeface="Times New Roman"/>
            </a:endParaRPr>
          </a:p>
          <a:p>
            <a:pPr marL="83185">
              <a:lnSpc>
                <a:spcPct val="100000"/>
              </a:lnSpc>
              <a:spcBef>
                <a:spcPts val="25"/>
              </a:spcBef>
            </a:pPr>
            <a:r>
              <a:rPr dirty="0" sz="500">
                <a:latin typeface="Segoe UI Emoji"/>
                <a:cs typeface="Segoe UI Emoji"/>
              </a:rPr>
              <a:t>↪</a:t>
            </a:r>
            <a:r>
              <a:rPr dirty="0" sz="500" spc="-15">
                <a:latin typeface="Segoe UI Emoji"/>
                <a:cs typeface="Segoe UI Emoji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continent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which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would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one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day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be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known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as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Africa, the</a:t>
            </a:r>
            <a:r>
              <a:rPr dirty="0" sz="700" spc="-10">
                <a:latin typeface="Times New Roman"/>
                <a:cs typeface="Times New Roman"/>
              </a:rPr>
              <a:t> battle</a:t>
            </a:r>
            <a:endParaRPr sz="700">
              <a:latin typeface="Times New Roman"/>
              <a:cs typeface="Times New Roman"/>
            </a:endParaRPr>
          </a:p>
          <a:p>
            <a:pPr marL="83185">
              <a:lnSpc>
                <a:spcPct val="100000"/>
              </a:lnSpc>
              <a:spcBef>
                <a:spcPts val="10"/>
              </a:spcBef>
            </a:pPr>
            <a:r>
              <a:rPr dirty="0" sz="500">
                <a:latin typeface="Segoe UI Emoji"/>
                <a:cs typeface="Segoe UI Emoji"/>
              </a:rPr>
              <a:t>↪</a:t>
            </a:r>
            <a:r>
              <a:rPr dirty="0" sz="500" spc="-10">
                <a:latin typeface="Segoe UI Emoji"/>
                <a:cs typeface="Segoe UI Emoji"/>
              </a:rPr>
              <a:t> </a:t>
            </a:r>
            <a:r>
              <a:rPr dirty="0" sz="700">
                <a:latin typeface="Times New Roman"/>
                <a:cs typeface="Times New Roman"/>
              </a:rPr>
              <a:t>for </a:t>
            </a:r>
            <a:r>
              <a:rPr dirty="0" sz="700" spc="-10">
                <a:latin typeface="Times New Roman"/>
                <a:cs typeface="Times New Roman"/>
              </a:rPr>
              <a:t>existence</a:t>
            </a:r>
            <a:r>
              <a:rPr dirty="0" sz="700">
                <a:latin typeface="Times New Roman"/>
                <a:cs typeface="Times New Roman"/>
              </a:rPr>
              <a:t> had </a:t>
            </a:r>
            <a:r>
              <a:rPr dirty="0" sz="700" spc="-10">
                <a:latin typeface="Times New Roman"/>
                <a:cs typeface="Times New Roman"/>
              </a:rPr>
              <a:t>reached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new </a:t>
            </a:r>
            <a:r>
              <a:rPr dirty="0" sz="700" spc="-10">
                <a:latin typeface="Times New Roman"/>
                <a:cs typeface="Times New Roman"/>
              </a:rPr>
              <a:t>climax </a:t>
            </a:r>
            <a:r>
              <a:rPr dirty="0" sz="700">
                <a:latin typeface="Times New Roman"/>
                <a:cs typeface="Times New Roman"/>
              </a:rPr>
              <a:t>of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ferocity,</a:t>
            </a:r>
            <a:r>
              <a:rPr dirty="0" sz="700" spc="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victor</a:t>
            </a:r>
            <a:endParaRPr sz="700">
              <a:latin typeface="Times New Roman"/>
              <a:cs typeface="Times New Roman"/>
            </a:endParaRPr>
          </a:p>
          <a:p>
            <a:pPr marL="83185" marR="161290">
              <a:lnSpc>
                <a:spcPct val="101400"/>
              </a:lnSpc>
              <a:spcBef>
                <a:spcPts val="15"/>
              </a:spcBef>
            </a:pPr>
            <a:r>
              <a:rPr dirty="0" sz="500">
                <a:latin typeface="Segoe UI Emoji"/>
                <a:cs typeface="Segoe UI Emoji"/>
              </a:rPr>
              <a:t>↪</a:t>
            </a:r>
            <a:r>
              <a:rPr dirty="0" sz="500" spc="45">
                <a:latin typeface="Segoe UI Emoji"/>
                <a:cs typeface="Segoe UI Emoji"/>
              </a:rPr>
              <a:t> </a:t>
            </a:r>
            <a:r>
              <a:rPr dirty="0" sz="700">
                <a:latin typeface="Times New Roman"/>
                <a:cs typeface="Times New Roman"/>
              </a:rPr>
              <a:t>was</a:t>
            </a:r>
            <a:r>
              <a:rPr dirty="0" sz="700" spc="7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not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yet</a:t>
            </a:r>
            <a:r>
              <a:rPr dirty="0" sz="700" spc="5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in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sight.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In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5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barren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desiccated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land,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only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75">
                <a:latin typeface="Times New Roman"/>
                <a:cs typeface="Times New Roman"/>
              </a:rPr>
              <a:t> </a:t>
            </a:r>
            <a:r>
              <a:rPr dirty="0" sz="500">
                <a:latin typeface="Segoe UI Emoji"/>
                <a:cs typeface="Segoe UI Emoji"/>
              </a:rPr>
              <a:t>↪</a:t>
            </a:r>
            <a:r>
              <a:rPr dirty="0" sz="500" spc="50">
                <a:latin typeface="Segoe UI Emoji"/>
                <a:cs typeface="Segoe UI Emoji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small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or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swift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or</a:t>
            </a:r>
            <a:r>
              <a:rPr dirty="0" sz="700" spc="6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6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fierce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could</a:t>
            </a:r>
            <a:r>
              <a:rPr dirty="0" sz="700" spc="-10">
                <a:latin typeface="Times New Roman"/>
                <a:cs typeface="Times New Roman"/>
              </a:rPr>
              <a:t> flourish,</a:t>
            </a:r>
            <a:r>
              <a:rPr dirty="0" sz="700">
                <a:latin typeface="Times New Roman"/>
                <a:cs typeface="Times New Roman"/>
              </a:rPr>
              <a:t> or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even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hope to </a:t>
            </a:r>
            <a:r>
              <a:rPr dirty="0" sz="500">
                <a:latin typeface="Segoe UI Emoji"/>
                <a:cs typeface="Segoe UI Emoji"/>
              </a:rPr>
              <a:t>↪</a:t>
            </a:r>
            <a:r>
              <a:rPr dirty="0" sz="500" spc="-20">
                <a:latin typeface="Segoe UI Emoji"/>
                <a:cs typeface="Segoe UI Emoji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survive.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91844" y="7197216"/>
            <a:ext cx="4033520" cy="46482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5085" rIns="0" bIns="0" rtlCol="0" vert="horz">
            <a:spAutoFit/>
          </a:bodyPr>
          <a:lstStyle/>
          <a:p>
            <a:pPr marL="149225" indent="-111125">
              <a:lnSpc>
                <a:spcPct val="100000"/>
              </a:lnSpc>
              <a:spcBef>
                <a:spcPts val="355"/>
              </a:spcBef>
              <a:buClr>
                <a:srgbClr val="007E00"/>
              </a:buClr>
              <a:buFont typeface="Calibri"/>
              <a:buChar char="-"/>
              <a:tabLst>
                <a:tab pos="14922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  <a:p>
            <a:pPr marL="149225" indent="-111125">
              <a:lnSpc>
                <a:spcPct val="100000"/>
              </a:lnSpc>
              <a:spcBef>
                <a:spcPts val="25"/>
              </a:spcBef>
              <a:buClr>
                <a:srgbClr val="007E00"/>
              </a:buClr>
              <a:buFont typeface="Calibri"/>
              <a:buChar char="-"/>
              <a:tabLst>
                <a:tab pos="14922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  <a:p>
            <a:pPr marL="149225" indent="-111125">
              <a:lnSpc>
                <a:spcPct val="100000"/>
              </a:lnSpc>
              <a:spcBef>
                <a:spcPts val="35"/>
              </a:spcBef>
              <a:buClr>
                <a:srgbClr val="007E00"/>
              </a:buClr>
              <a:buFont typeface="Calibri"/>
              <a:buChar char="-"/>
              <a:tabLst>
                <a:tab pos="14922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91844" y="8582914"/>
            <a:ext cx="4033520" cy="57785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5085" rIns="0" bIns="0" rtlCol="0" vert="horz">
            <a:spAutoFit/>
          </a:bodyPr>
          <a:lstStyle/>
          <a:p>
            <a:pPr marL="202565" indent="-109855">
              <a:lnSpc>
                <a:spcPct val="100000"/>
              </a:lnSpc>
              <a:spcBef>
                <a:spcPts val="355"/>
              </a:spcBef>
              <a:buClr>
                <a:srgbClr val="007E00"/>
              </a:buClr>
              <a:buFont typeface="Calibri"/>
              <a:buChar char="-"/>
              <a:tabLst>
                <a:tab pos="20256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  <a:p>
            <a:pPr marL="202565" indent="-109855">
              <a:lnSpc>
                <a:spcPct val="100000"/>
              </a:lnSpc>
              <a:spcBef>
                <a:spcPts val="25"/>
              </a:spcBef>
              <a:buClr>
                <a:srgbClr val="007E00"/>
              </a:buClr>
              <a:buFont typeface="Calibri"/>
              <a:buChar char="-"/>
              <a:tabLst>
                <a:tab pos="20256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A</a:t>
            </a:r>
            <a:endParaRPr sz="700">
              <a:latin typeface="Times New Roman"/>
              <a:cs typeface="Times New Roman"/>
            </a:endParaRPr>
          </a:p>
          <a:p>
            <a:pPr marL="202565" indent="-109855">
              <a:lnSpc>
                <a:spcPct val="100000"/>
              </a:lnSpc>
              <a:spcBef>
                <a:spcPts val="35"/>
              </a:spcBef>
              <a:buClr>
                <a:srgbClr val="007E00"/>
              </a:buClr>
              <a:buFont typeface="Calibri"/>
              <a:buChar char="-"/>
              <a:tabLst>
                <a:tab pos="20256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B</a:t>
            </a:r>
            <a:endParaRPr sz="700">
              <a:latin typeface="Times New Roman"/>
              <a:cs typeface="Times New Roman"/>
            </a:endParaRPr>
          </a:p>
          <a:p>
            <a:pPr marL="202565" indent="-109855">
              <a:lnSpc>
                <a:spcPct val="100000"/>
              </a:lnSpc>
              <a:spcBef>
                <a:spcPts val="25"/>
              </a:spcBef>
              <a:buClr>
                <a:srgbClr val="007E00"/>
              </a:buClr>
              <a:buFont typeface="Calibri"/>
              <a:buChar char="-"/>
              <a:tabLst>
                <a:tab pos="20256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27472" y="702055"/>
            <a:ext cx="54610" cy="322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10936" y="1186941"/>
            <a:ext cx="1647189" cy="4883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r" marL="71755" marR="5080" indent="-59690">
              <a:lnSpc>
                <a:spcPct val="102000"/>
              </a:lnSpc>
              <a:spcBef>
                <a:spcPts val="70"/>
              </a:spcBef>
            </a:pPr>
            <a:r>
              <a:rPr dirty="0" sz="1000">
                <a:latin typeface="Times New Roman"/>
                <a:cs typeface="Times New Roman"/>
              </a:rPr>
              <a:t>Чтобы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вложить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один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в</a:t>
            </a:r>
            <a:r>
              <a:rPr dirty="0" sz="1000" spc="-10">
                <a:latin typeface="Times New Roman"/>
                <a:cs typeface="Times New Roman"/>
              </a:rPr>
              <a:t> другой,добавьте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отступ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для </a:t>
            </a:r>
            <a:r>
              <a:rPr dirty="0" sz="1000" spc="-10">
                <a:latin typeface="Times New Roman"/>
                <a:cs typeface="Times New Roman"/>
              </a:rPr>
              <a:t>элементов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дочернего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списка: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27472" y="1758441"/>
            <a:ext cx="54610" cy="2082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2536" y="1983993"/>
            <a:ext cx="5461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420489" y="2380741"/>
            <a:ext cx="384175" cy="146685"/>
          </a:xfrm>
          <a:custGeom>
            <a:avLst/>
            <a:gdLst/>
            <a:ahLst/>
            <a:cxnLst/>
            <a:rect l="l" t="t" r="r" b="b"/>
            <a:pathLst>
              <a:path w="384175" h="146685">
                <a:moveTo>
                  <a:pt x="384048" y="0"/>
                </a:moveTo>
                <a:lnTo>
                  <a:pt x="0" y="0"/>
                </a:lnTo>
                <a:lnTo>
                  <a:pt x="0" y="146303"/>
                </a:lnTo>
                <a:lnTo>
                  <a:pt x="384048" y="146303"/>
                </a:lnTo>
                <a:lnTo>
                  <a:pt x="384048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19352" y="2360422"/>
            <a:ext cx="58312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Синтаксис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Markdownдля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встроенной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ссылки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состоитиз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части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[link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text]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,представляющей </a:t>
            </a:r>
            <a:r>
              <a:rPr dirty="0" sz="1000">
                <a:latin typeface="Times New Roman"/>
                <a:cs typeface="Times New Roman"/>
              </a:rPr>
              <a:t>текст</a:t>
            </a:r>
            <a:r>
              <a:rPr dirty="0" sz="1000" spc="-10">
                <a:latin typeface="Times New Roman"/>
                <a:cs typeface="Times New Roman"/>
              </a:rPr>
              <a:t> гиперссылки,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52236" y="2575813"/>
            <a:ext cx="598170" cy="146685"/>
          </a:xfrm>
          <a:prstGeom prst="rect">
            <a:avLst/>
          </a:prstGeom>
          <a:solidFill>
            <a:srgbClr val="E4E4E4"/>
          </a:solidFill>
        </p:spPr>
        <p:txBody>
          <a:bodyPr wrap="square" lIns="0" tIns="298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700" spc="-10">
                <a:latin typeface="Times New Roman"/>
                <a:cs typeface="Times New Roman"/>
              </a:rPr>
              <a:t>(file-name.md)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927472" y="2555493"/>
            <a:ext cx="19259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2045" algn="l"/>
              </a:tabLst>
            </a:pPr>
            <a:r>
              <a:rPr dirty="0" sz="1000">
                <a:latin typeface="Times New Roman"/>
                <a:cs typeface="Times New Roman"/>
              </a:rPr>
              <a:t>и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части</a:t>
            </a:r>
            <a:r>
              <a:rPr dirty="0" sz="1000">
                <a:latin typeface="Times New Roman"/>
                <a:cs typeface="Times New Roman"/>
              </a:rPr>
              <a:t>	–</a:t>
            </a:r>
            <a:r>
              <a:rPr dirty="0" sz="1000" spc="3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URL-адреса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27472" y="2705760"/>
            <a:ext cx="1924685" cy="41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имени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файла,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на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который </a:t>
            </a:r>
            <a:r>
              <a:rPr dirty="0" sz="1000">
                <a:latin typeface="Times New Roman"/>
                <a:cs typeface="Times New Roman"/>
              </a:rPr>
              <a:t>дается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ссылка: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2536" y="3215385"/>
            <a:ext cx="5461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19352" y="3473323"/>
            <a:ext cx="52736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8665" algn="l"/>
                <a:tab pos="1684020" algn="l"/>
                <a:tab pos="2038985" algn="l"/>
                <a:tab pos="2882265" algn="l"/>
                <a:tab pos="3694429" algn="l"/>
                <a:tab pos="4108450" algn="l"/>
                <a:tab pos="4345940" algn="l"/>
              </a:tabLst>
            </a:pPr>
            <a:r>
              <a:rPr dirty="0" sz="1000" spc="-10">
                <a:latin typeface="Times New Roman"/>
                <a:cs typeface="Times New Roman"/>
              </a:rPr>
              <a:t>Markdown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поддерживает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встраивание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фрагментов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>
                <a:latin typeface="Times New Roman"/>
                <a:cs typeface="Times New Roman"/>
              </a:rPr>
              <a:t>кода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Times New Roman"/>
                <a:cs typeface="Times New Roman"/>
              </a:rPr>
              <a:t>в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предложение,так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21816" y="3619626"/>
            <a:ext cx="54121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размещениемеждупредложениямиввидеотдельныхогражденныхблоков.Огражденные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блоки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 spc="-20">
                <a:latin typeface="Times New Roman"/>
                <a:cs typeface="Times New Roman"/>
              </a:rPr>
              <a:t>кода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65572" y="3765930"/>
            <a:ext cx="1106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8820" algn="l"/>
              </a:tabLst>
            </a:pPr>
            <a:r>
              <a:rPr dirty="0" sz="1000" spc="-10">
                <a:latin typeface="Times New Roman"/>
                <a:cs typeface="Times New Roman"/>
              </a:rPr>
              <a:t>простой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способ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14784" y="3473323"/>
            <a:ext cx="538480" cy="46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2875">
              <a:lnSpc>
                <a:spcPts val="1175"/>
              </a:lnSpc>
              <a:spcBef>
                <a:spcPts val="95"/>
              </a:spcBef>
              <a:tabLst>
                <a:tab pos="387985" algn="l"/>
              </a:tabLst>
            </a:pPr>
            <a:r>
              <a:rPr dirty="0" sz="1000" spc="-50">
                <a:latin typeface="Times New Roman"/>
                <a:cs typeface="Times New Roman"/>
              </a:rPr>
              <a:t>и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их</a:t>
            </a:r>
            <a:endParaRPr sz="1000">
              <a:latin typeface="Times New Roman"/>
              <a:cs typeface="Times New Roman"/>
            </a:endParaRPr>
          </a:p>
          <a:p>
            <a:pPr marL="12700" marR="5080" indent="104775">
              <a:lnSpc>
                <a:spcPts val="1150"/>
              </a:lnSpc>
              <a:spcBef>
                <a:spcPts val="55"/>
              </a:spcBef>
            </a:pP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это </a:t>
            </a:r>
            <a:r>
              <a:rPr dirty="0" sz="1000" spc="-10">
                <a:latin typeface="Times New Roman"/>
                <a:cs typeface="Times New Roman"/>
              </a:rPr>
              <a:t>выделить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65572" y="3910710"/>
            <a:ext cx="1886585" cy="87249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150"/>
              </a:lnSpc>
              <a:spcBef>
                <a:spcPts val="175"/>
              </a:spcBef>
            </a:pPr>
            <a:r>
              <a:rPr dirty="0" sz="1000">
                <a:latin typeface="Times New Roman"/>
                <a:cs typeface="Times New Roman"/>
              </a:rPr>
              <a:t>синтаксис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фрагментов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кода. </a:t>
            </a:r>
            <a:r>
              <a:rPr dirty="0" sz="1000">
                <a:latin typeface="Times New Roman"/>
                <a:cs typeface="Times New Roman"/>
              </a:rPr>
              <a:t>Общий</a:t>
            </a:r>
            <a:r>
              <a:rPr dirty="0" sz="1000" spc="3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формат</a:t>
            </a:r>
            <a:r>
              <a:rPr dirty="0" sz="1000" spc="40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огражденных </a:t>
            </a:r>
            <a:r>
              <a:rPr dirty="0" sz="1000" spc="-20">
                <a:latin typeface="Times New Roman"/>
                <a:cs typeface="Times New Roman"/>
              </a:rPr>
              <a:t>блоков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кода: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65572" y="5459094"/>
            <a:ext cx="5461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65572" y="6228968"/>
            <a:ext cx="5461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64633" y="6486525"/>
            <a:ext cx="974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Внутритекстовые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333519" y="6486525"/>
            <a:ext cx="519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формулы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96416" y="6632828"/>
            <a:ext cx="5048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делаются </a:t>
            </a:r>
            <a:r>
              <a:rPr dirty="0" sz="1000">
                <a:latin typeface="Times New Roman"/>
                <a:cs typeface="Times New Roman"/>
              </a:rPr>
              <a:t>аналогично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формулам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LaTeX.Например,формула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</a:t>
            </a:r>
            <a:r>
              <a:rPr dirty="0" baseline="32407" sz="900">
                <a:latin typeface="Times New Roman"/>
                <a:cs typeface="Times New Roman"/>
              </a:rPr>
              <a:t>2</a:t>
            </a:r>
            <a:r>
              <a:rPr dirty="0" sz="900">
                <a:latin typeface="Times New Roman"/>
                <a:cs typeface="Times New Roman"/>
              </a:rPr>
              <a:t>(</a:t>
            </a:r>
            <a:r>
              <a:rPr dirty="0" sz="900">
                <a:latin typeface="Cambria Math"/>
                <a:cs typeface="Cambria Math"/>
              </a:rPr>
              <a:t>𝑥</a:t>
            </a:r>
            <a:r>
              <a:rPr dirty="0" sz="900">
                <a:latin typeface="Times New Roman"/>
                <a:cs typeface="Times New Roman"/>
              </a:rPr>
              <a:t>)+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cos</a:t>
            </a:r>
            <a:r>
              <a:rPr dirty="0" baseline="32407" sz="900">
                <a:latin typeface="Times New Roman"/>
                <a:cs typeface="Times New Roman"/>
              </a:rPr>
              <a:t>2</a:t>
            </a:r>
            <a:r>
              <a:rPr dirty="0" sz="900">
                <a:latin typeface="Times New Roman"/>
                <a:cs typeface="Times New Roman"/>
              </a:rPr>
              <a:t>(</a:t>
            </a:r>
            <a:r>
              <a:rPr dirty="0" sz="900">
                <a:latin typeface="Cambria Math"/>
                <a:cs typeface="Cambria Math"/>
              </a:rPr>
              <a:t>𝑥</a:t>
            </a:r>
            <a:r>
              <a:rPr dirty="0" sz="900">
                <a:latin typeface="Times New Roman"/>
                <a:cs typeface="Times New Roman"/>
              </a:rPr>
              <a:t>)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=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1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запишется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27472" y="6782180"/>
            <a:ext cx="14116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 i="1">
                <a:latin typeface="Times New Roman"/>
                <a:cs typeface="Times New Roman"/>
              </a:rPr>
              <a:t>Кулябов</a:t>
            </a:r>
            <a:r>
              <a:rPr dirty="0" sz="600" spc="10" i="1">
                <a:latin typeface="Times New Roman"/>
                <a:cs typeface="Times New Roman"/>
              </a:rPr>
              <a:t> </a:t>
            </a:r>
            <a:r>
              <a:rPr dirty="0" sz="600" i="1">
                <a:latin typeface="Times New Roman"/>
                <a:cs typeface="Times New Roman"/>
              </a:rPr>
              <a:t>Д.С.</a:t>
            </a:r>
            <a:r>
              <a:rPr dirty="0" sz="600" spc="5" i="1">
                <a:latin typeface="Times New Roman"/>
                <a:cs typeface="Times New Roman"/>
              </a:rPr>
              <a:t> </a:t>
            </a:r>
            <a:r>
              <a:rPr dirty="0" sz="600" i="1">
                <a:latin typeface="Times New Roman"/>
                <a:cs typeface="Times New Roman"/>
              </a:rPr>
              <a:t>и</a:t>
            </a:r>
            <a:r>
              <a:rPr dirty="0" sz="600" spc="15" i="1">
                <a:latin typeface="Times New Roman"/>
                <a:cs typeface="Times New Roman"/>
              </a:rPr>
              <a:t> </a:t>
            </a:r>
            <a:r>
              <a:rPr dirty="0" sz="600" i="1">
                <a:latin typeface="Times New Roman"/>
                <a:cs typeface="Times New Roman"/>
              </a:rPr>
              <a:t>др.</a:t>
            </a:r>
            <a:r>
              <a:rPr dirty="0" sz="600" spc="5" i="1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Операционные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системы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27472" y="7102220"/>
            <a:ext cx="5461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06627" y="7347584"/>
            <a:ext cx="1243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Выключные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формулы: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445890" y="7608188"/>
            <a:ext cx="856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Calibri"/>
                <a:cs typeface="Calibri"/>
              </a:rPr>
              <a:t>sin</a:t>
            </a:r>
            <a:r>
              <a:rPr dirty="0" sz="650">
                <a:latin typeface="Calibri"/>
                <a:cs typeface="Calibri"/>
              </a:rPr>
              <a:t>2</a:t>
            </a:r>
            <a:r>
              <a:rPr dirty="0" sz="900">
                <a:latin typeface="Calibri"/>
                <a:cs typeface="Calibri"/>
              </a:rPr>
              <a:t>(</a:t>
            </a:r>
            <a:r>
              <a:rPr dirty="0" sz="900">
                <a:latin typeface="Cambria Math"/>
                <a:cs typeface="Cambria Math"/>
              </a:rPr>
              <a:t>𝑥</a:t>
            </a:r>
            <a:r>
              <a:rPr dirty="0" sz="900">
                <a:latin typeface="Calibri"/>
                <a:cs typeface="Calibri"/>
              </a:rPr>
              <a:t>)+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cos</a:t>
            </a:r>
            <a:r>
              <a:rPr dirty="0" sz="650">
                <a:latin typeface="Calibri"/>
                <a:cs typeface="Calibri"/>
              </a:rPr>
              <a:t>2</a:t>
            </a:r>
            <a:r>
              <a:rPr dirty="0" sz="900">
                <a:latin typeface="Calibri"/>
                <a:cs typeface="Calibri"/>
              </a:rPr>
              <a:t>(</a:t>
            </a:r>
            <a:r>
              <a:rPr dirty="0" sz="900">
                <a:latin typeface="Cambria Math"/>
                <a:cs typeface="Cambria Math"/>
              </a:rPr>
              <a:t>𝑥</a:t>
            </a:r>
            <a:r>
              <a:rPr dirty="0" sz="900">
                <a:latin typeface="Calibri"/>
                <a:cs typeface="Calibri"/>
              </a:rPr>
              <a:t>)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927472" y="7788402"/>
            <a:ext cx="19246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{#eq:eq:sin2+cos2}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со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ссылкой</a:t>
            </a:r>
            <a:r>
              <a:rPr dirty="0" sz="1000" spc="36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в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927472" y="7934705"/>
            <a:ext cx="19272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0540" algn="l"/>
                <a:tab pos="1149985" algn="l"/>
                <a:tab pos="1784985" algn="l"/>
              </a:tabLst>
            </a:pPr>
            <a:r>
              <a:rPr dirty="0" sz="1000" spc="-10">
                <a:latin typeface="Times New Roman"/>
                <a:cs typeface="Times New Roman"/>
              </a:rPr>
              <a:t>тексте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«Смотри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формулу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([-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927472" y="8079485"/>
            <a:ext cx="1924050" cy="6013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</a:pPr>
            <a:r>
              <a:rPr dirty="0" sz="1000">
                <a:latin typeface="Times New Roman"/>
                <a:cs typeface="Times New Roman"/>
              </a:rPr>
              <a:t>@eq:eq:sin2+cos2]).»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записывается 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32536" y="8698229"/>
            <a:ext cx="54610" cy="320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5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269489" y="9695382"/>
            <a:ext cx="281305" cy="146685"/>
          </a:xfrm>
          <a:custGeom>
            <a:avLst/>
            <a:gdLst/>
            <a:ahLst/>
            <a:cxnLst/>
            <a:rect l="l" t="t" r="r" b="b"/>
            <a:pathLst>
              <a:path w="281305" h="146684">
                <a:moveTo>
                  <a:pt x="280720" y="0"/>
                </a:moveTo>
                <a:lnTo>
                  <a:pt x="0" y="0"/>
                </a:lnTo>
                <a:lnTo>
                  <a:pt x="0" y="146304"/>
                </a:lnTo>
                <a:lnTo>
                  <a:pt x="280720" y="146304"/>
                </a:lnTo>
                <a:lnTo>
                  <a:pt x="28072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921816" y="9294855"/>
            <a:ext cx="5928995" cy="55753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480"/>
              </a:spcBef>
              <a:tabLst>
                <a:tab pos="544195" algn="l"/>
              </a:tabLst>
            </a:pPr>
            <a:r>
              <a:rPr dirty="0" sz="850" spc="-10" b="1">
                <a:latin typeface="Calibri"/>
                <a:cs typeface="Calibri"/>
              </a:rPr>
              <a:t>3.2.2.</a:t>
            </a:r>
            <a:r>
              <a:rPr dirty="0" sz="850" b="1">
                <a:latin typeface="Calibri"/>
                <a:cs typeface="Calibri"/>
              </a:rPr>
              <a:t>	Обработка</a:t>
            </a:r>
            <a:r>
              <a:rPr dirty="0" sz="850" spc="-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файлов </a:t>
            </a:r>
            <a:r>
              <a:rPr dirty="0" sz="850" b="1">
                <a:latin typeface="Calibri"/>
                <a:cs typeface="Calibri"/>
              </a:rPr>
              <a:t>в</a:t>
            </a:r>
            <a:r>
              <a:rPr dirty="0" sz="850" spc="-10" b="1">
                <a:latin typeface="Calibri"/>
                <a:cs typeface="Calibri"/>
              </a:rPr>
              <a:t> </a:t>
            </a:r>
            <a:r>
              <a:rPr dirty="0" sz="850" b="1">
                <a:latin typeface="Calibri"/>
                <a:cs typeface="Calibri"/>
              </a:rPr>
              <a:t>формате</a:t>
            </a:r>
            <a:r>
              <a:rPr dirty="0" sz="850" spc="-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Markdown</a:t>
            </a:r>
            <a:endParaRPr sz="850">
              <a:latin typeface="Calibri"/>
              <a:cs typeface="Calibri"/>
            </a:endParaRPr>
          </a:p>
          <a:p>
            <a:pPr marL="12700" marR="5080" indent="97155">
              <a:lnSpc>
                <a:spcPts val="1150"/>
              </a:lnSpc>
              <a:spcBef>
                <a:spcPts val="515"/>
              </a:spcBef>
            </a:pP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обработки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файлов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формате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Markdown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будем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использовать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Pandoc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https://pandoc.org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/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.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Конкретно,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нам </a:t>
            </a:r>
            <a:r>
              <a:rPr dirty="0" sz="1000" spc="-10">
                <a:latin typeface="Times New Roman"/>
                <a:cs typeface="Times New Roman"/>
              </a:rPr>
              <a:t>понадобится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программа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pandoc </a:t>
            </a:r>
            <a:r>
              <a:rPr dirty="0" sz="1000" spc="-50">
                <a:latin typeface="Times New Roman"/>
                <a:cs typeface="Times New Roman"/>
              </a:rPr>
              <a:t>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91844" y="644651"/>
            <a:ext cx="4033520" cy="46482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1.</a:t>
            </a:r>
            <a:r>
              <a:rPr dirty="0" sz="700" spc="5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First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instruction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1.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Second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instruction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"/>
              </a:spcBef>
            </a:pP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1.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Third</a:t>
            </a:r>
            <a:r>
              <a:rPr dirty="0" sz="700" spc="-10">
                <a:latin typeface="Times New Roman"/>
                <a:cs typeface="Times New Roman"/>
              </a:rPr>
              <a:t> instruction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91844" y="1388617"/>
            <a:ext cx="4033520" cy="57785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3180" rIns="0" bIns="0" rtlCol="0" vert="horz">
            <a:spAutoFit/>
          </a:bodyPr>
          <a:lstStyle/>
          <a:p>
            <a:pPr marL="127635" indent="-89535">
              <a:lnSpc>
                <a:spcPct val="100000"/>
              </a:lnSpc>
              <a:spcBef>
                <a:spcPts val="340"/>
              </a:spcBef>
              <a:buClr>
                <a:srgbClr val="007E00"/>
              </a:buClr>
              <a:buFont typeface="Times New Roman"/>
              <a:buAutoNum type="arabicPeriod"/>
              <a:tabLst>
                <a:tab pos="127635" algn="l"/>
              </a:tabLst>
            </a:pPr>
            <a:r>
              <a:rPr dirty="0" sz="700" spc="-10">
                <a:latin typeface="Times New Roman"/>
                <a:cs typeface="Times New Roman"/>
              </a:rPr>
              <a:t>First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instruction</a:t>
            </a:r>
            <a:endParaRPr sz="700">
              <a:latin typeface="Times New Roman"/>
              <a:cs typeface="Times New Roman"/>
            </a:endParaRPr>
          </a:p>
          <a:p>
            <a:pPr algn="r" lvl="1" marL="89535" marR="3188970" indent="-89535">
              <a:lnSpc>
                <a:spcPct val="100000"/>
              </a:lnSpc>
              <a:spcBef>
                <a:spcPts val="15"/>
              </a:spcBef>
              <a:buClr>
                <a:srgbClr val="007E00"/>
              </a:buClr>
              <a:buFont typeface="Times New Roman"/>
              <a:buAutoNum type="arabicPeriod"/>
              <a:tabLst>
                <a:tab pos="89535" algn="l"/>
              </a:tabLst>
            </a:pPr>
            <a:r>
              <a:rPr dirty="0" sz="700" spc="-10">
                <a:latin typeface="Times New Roman"/>
                <a:cs typeface="Times New Roman"/>
              </a:rPr>
              <a:t>Sub-instruction</a:t>
            </a:r>
            <a:endParaRPr sz="700">
              <a:latin typeface="Times New Roman"/>
              <a:cs typeface="Times New Roman"/>
            </a:endParaRPr>
          </a:p>
          <a:p>
            <a:pPr algn="r" marL="89535" marR="3188970" indent="-89535">
              <a:lnSpc>
                <a:spcPct val="100000"/>
              </a:lnSpc>
              <a:spcBef>
                <a:spcPts val="25"/>
              </a:spcBef>
              <a:buClr>
                <a:srgbClr val="007E00"/>
              </a:buClr>
              <a:buFont typeface="Times New Roman"/>
              <a:buAutoNum type="arabicPeriod"/>
              <a:tabLst>
                <a:tab pos="89535" algn="l"/>
              </a:tabLst>
            </a:pPr>
            <a:r>
              <a:rPr dirty="0" sz="700" spc="-10">
                <a:latin typeface="Times New Roman"/>
                <a:cs typeface="Times New Roman"/>
              </a:rPr>
              <a:t>Sub-instruction</a:t>
            </a:r>
            <a:endParaRPr sz="700">
              <a:latin typeface="Times New Roman"/>
              <a:cs typeface="Times New Roman"/>
            </a:endParaRPr>
          </a:p>
          <a:p>
            <a:pPr algn="r" marR="3236595">
              <a:lnSpc>
                <a:spcPct val="100000"/>
              </a:lnSpc>
              <a:spcBef>
                <a:spcPts val="10"/>
              </a:spcBef>
            </a:pP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1.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Second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instruction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91844" y="2766313"/>
            <a:ext cx="4033520" cy="23622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>
                <a:latin typeface="Times New Roman"/>
                <a:cs typeface="Times New Roman"/>
              </a:rPr>
              <a:t>[</a:t>
            </a: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link</a:t>
            </a:r>
            <a:r>
              <a:rPr dirty="0" sz="700" spc="-2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text</a:t>
            </a:r>
            <a:r>
              <a:rPr dirty="0" sz="700" spc="-10">
                <a:latin typeface="Times New Roman"/>
                <a:cs typeface="Times New Roman"/>
              </a:rPr>
              <a:t>](</a:t>
            </a:r>
            <a:r>
              <a:rPr dirty="0" sz="700" spc="-10">
                <a:solidFill>
                  <a:srgbClr val="697820"/>
                </a:solidFill>
                <a:latin typeface="Times New Roman"/>
                <a:cs typeface="Times New Roman"/>
              </a:rPr>
              <a:t>file-name.md</a:t>
            </a:r>
            <a:r>
              <a:rPr dirty="0" sz="700" spc="-1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</p:txBody>
      </p:sp>
      <p:graphicFrame>
        <p:nvGraphicFramePr>
          <p:cNvPr id="35" name="object 35" descr=""/>
          <p:cNvGraphicFramePr>
            <a:graphicFrameLocks noGrp="1"/>
          </p:cNvGraphicFramePr>
          <p:nvPr/>
        </p:nvGraphicFramePr>
        <p:xfrm>
          <a:off x="929944" y="3966082"/>
          <a:ext cx="4109720" cy="2586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5620"/>
                <a:gridCol w="2247264"/>
              </a:tblGrid>
              <a:tr h="514984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700">
                          <a:latin typeface="Times New Roman"/>
                          <a:cs typeface="Times New Roman"/>
                        </a:rPr>
                        <a:t>```</a:t>
                      </a:r>
                      <a:r>
                        <a:rPr dirty="0" sz="7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 spc="-10">
                          <a:latin typeface="Times New Roman"/>
                          <a:cs typeface="Times New Roman"/>
                        </a:rPr>
                        <a:t>language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70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dirty="0" sz="7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7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Times New Roman"/>
                          <a:cs typeface="Times New Roman"/>
                        </a:rPr>
                        <a:t>goes</a:t>
                      </a:r>
                      <a:r>
                        <a:rPr dirty="0" sz="7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7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dirty="0" sz="7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 spc="-25">
                          <a:latin typeface="Times New Roman"/>
                          <a:cs typeface="Times New Roman"/>
                        </a:rPr>
                        <a:t>```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4E4E4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Верхние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нижние</a:t>
                      </a:r>
                      <a:r>
                        <a:rPr dirty="0" sz="1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индексы: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записывается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как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</a:pPr>
                      <a:r>
                        <a:rPr dirty="0" baseline="3086" sz="1350" spc="-37">
                          <a:latin typeface="Cambria Math"/>
                          <a:cs typeface="Cambria Math"/>
                        </a:rPr>
                        <a:t>𝐻</a:t>
                      </a:r>
                      <a:r>
                        <a:rPr dirty="0" sz="600" spc="-25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623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700" spc="-10">
                          <a:latin typeface="Times New Roman"/>
                          <a:cs typeface="Times New Roman"/>
                        </a:rPr>
                        <a:t>H~2~O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4E4E4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записывается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как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spc="-2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10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35623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700" spc="-10">
                          <a:latin typeface="Times New Roman"/>
                          <a:cs typeface="Times New Roman"/>
                        </a:rPr>
                        <a:t>2^10^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4E4E4"/>
                    </a:solidFill>
                  </a:tcPr>
                </a:tc>
              </a:tr>
            </a:tbl>
          </a:graphicData>
        </a:graphic>
      </p:graphicFrame>
      <p:sp>
        <p:nvSpPr>
          <p:cNvPr id="36" name="object 36" descr=""/>
          <p:cNvSpPr txBox="1"/>
          <p:nvPr/>
        </p:nvSpPr>
        <p:spPr>
          <a:xfrm>
            <a:off x="891844" y="7044816"/>
            <a:ext cx="4033520" cy="23622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>
                <a:latin typeface="Times New Roman"/>
                <a:cs typeface="Times New Roman"/>
              </a:rPr>
              <a:t>$\sin^2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+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\cos^2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=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1$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91844" y="7976361"/>
            <a:ext cx="4033520" cy="69215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 spc="-25">
                <a:latin typeface="Times New Roman"/>
                <a:cs typeface="Times New Roman"/>
              </a:rPr>
              <a:t>$$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30"/>
              </a:lnSpc>
              <a:spcBef>
                <a:spcPts val="10"/>
              </a:spcBef>
            </a:pPr>
            <a:r>
              <a:rPr dirty="0" sz="700">
                <a:latin typeface="Times New Roman"/>
                <a:cs typeface="Times New Roman"/>
              </a:rPr>
              <a:t>\sin^2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+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\cos^2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=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1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$$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30"/>
              </a:lnSpc>
            </a:pPr>
            <a:r>
              <a:rPr dirty="0" sz="700" spc="-10">
                <a:latin typeface="Times New Roman"/>
                <a:cs typeface="Times New Roman"/>
              </a:rPr>
              <a:t>{#eq:eq:sin2+cos2}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700">
                <a:latin typeface="Times New Roman"/>
                <a:cs typeface="Times New Roman"/>
              </a:rPr>
              <a:t>Смотри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формулу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([-@eq:eq:sin2+cos2]).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6896" y="719327"/>
            <a:ext cx="594360" cy="13081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29845" rIns="0" bIns="0" rtlCol="0" vert="horz">
            <a:spAutoFit/>
          </a:bodyPr>
          <a:lstStyle/>
          <a:p>
            <a:pPr>
              <a:lnSpc>
                <a:spcPts val="790"/>
              </a:lnSpc>
              <a:spcBef>
                <a:spcPts val="235"/>
              </a:spcBef>
            </a:pPr>
            <a:r>
              <a:rPr dirty="0" sz="700" spc="-10">
                <a:latin typeface="Times New Roman"/>
                <a:cs typeface="Times New Roman"/>
              </a:rPr>
              <a:t>pandoc-citeproc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8505" y="699008"/>
            <a:ext cx="1457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Times New Roman"/>
                <a:cs typeface="Times New Roman"/>
                <a:hlinkClick r:id="rId2"/>
              </a:rPr>
              <a:t>https://github.com/jgm/pandoc/release</a:t>
            </a:r>
            <a:r>
              <a:rPr dirty="0" sz="700" spc="-10">
                <a:latin typeface="Times New Roman"/>
                <a:cs typeface="Times New Roman"/>
                <a:hlinkClick r:id="rId2"/>
              </a:rPr>
              <a:t>s</a:t>
            </a:r>
            <a:r>
              <a:rPr dirty="0" sz="1000" spc="-10">
                <a:latin typeface="Times New Roman"/>
                <a:cs typeface="Times New Roman"/>
                <a:hlinkClick r:id="rId2"/>
              </a:rPr>
              <a:t>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86151" y="719327"/>
            <a:ext cx="567055" cy="13081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29845" rIns="0" bIns="0" rtlCol="0" vert="horz">
            <a:spAutoFit/>
          </a:bodyPr>
          <a:lstStyle/>
          <a:p>
            <a:pPr>
              <a:lnSpc>
                <a:spcPts val="790"/>
              </a:lnSpc>
              <a:spcBef>
                <a:spcPts val="235"/>
              </a:spcBef>
            </a:pPr>
            <a:r>
              <a:rPr dirty="0" sz="700" spc="-10">
                <a:latin typeface="Times New Roman"/>
                <a:cs typeface="Times New Roman"/>
              </a:rPr>
              <a:t>pandoc-crossref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521205" y="847343"/>
            <a:ext cx="1433195" cy="5080"/>
          </a:xfrm>
          <a:custGeom>
            <a:avLst/>
            <a:gdLst/>
            <a:ahLst/>
            <a:cxnLst/>
            <a:rect l="l" t="t" r="r" b="b"/>
            <a:pathLst>
              <a:path w="1433195" h="5080">
                <a:moveTo>
                  <a:pt x="1432814" y="0"/>
                </a:moveTo>
                <a:lnTo>
                  <a:pt x="0" y="0"/>
                </a:lnTo>
                <a:lnTo>
                  <a:pt x="0" y="4572"/>
                </a:lnTo>
                <a:lnTo>
                  <a:pt x="1432814" y="4572"/>
                </a:lnTo>
                <a:lnTo>
                  <a:pt x="14328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14196" y="871219"/>
            <a:ext cx="19259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https://github.com/lierdakil/pandoc-crossref/release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s</a:t>
            </a:r>
            <a:r>
              <a:rPr dirty="0" u="sng" sz="10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27472" y="1042161"/>
            <a:ext cx="12534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1550" algn="l"/>
              </a:tabLst>
            </a:pPr>
            <a:r>
              <a:rPr dirty="0" sz="1000" spc="-10">
                <a:latin typeface="Times New Roman"/>
                <a:cs typeface="Times New Roman"/>
              </a:rPr>
              <a:t>Преобразовать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>
                <a:latin typeface="Times New Roman"/>
                <a:cs typeface="Times New Roman"/>
              </a:rPr>
              <a:t>файл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30441" y="1062177"/>
            <a:ext cx="510540" cy="146685"/>
          </a:xfrm>
          <a:prstGeom prst="rect">
            <a:avLst/>
          </a:prstGeom>
          <a:solidFill>
            <a:srgbClr val="E4E4E4"/>
          </a:solidFill>
        </p:spPr>
        <p:txBody>
          <a:bodyPr wrap="square" lIns="0" tIns="298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700" spc="-10">
                <a:latin typeface="Times New Roman"/>
                <a:cs typeface="Times New Roman"/>
              </a:rPr>
              <a:t>README.md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927472" y="1188465"/>
            <a:ext cx="156654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можно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следующим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образом: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27472" y="1691385"/>
            <a:ext cx="431165" cy="340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так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27472" y="2185161"/>
            <a:ext cx="1924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Можно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использовать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следующий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40172" y="2351785"/>
            <a:ext cx="321945" cy="102235"/>
          </a:xfrm>
          <a:prstGeom prst="rect">
            <a:avLst/>
          </a:prstGeom>
          <a:solidFill>
            <a:srgbClr val="E4E4E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90"/>
              </a:lnSpc>
            </a:pPr>
            <a:r>
              <a:rPr dirty="0" sz="700" spc="-10">
                <a:latin typeface="Times New Roman"/>
                <a:cs typeface="Times New Roman"/>
              </a:rPr>
              <a:t>Makefile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27472" y="2546350"/>
            <a:ext cx="83820" cy="2014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5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50">
                <a:latin typeface="Times New Roman"/>
                <a:cs typeface="Times New Roman"/>
              </a:rPr>
              <a:t>6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50">
                <a:latin typeface="Times New Roman"/>
                <a:cs typeface="Times New Roman"/>
              </a:rPr>
              <a:t>7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450" spc="-50">
                <a:latin typeface="Times New Roman"/>
                <a:cs typeface="Times New Roman"/>
              </a:rPr>
              <a:t>8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450" spc="-50">
                <a:latin typeface="Times New Roman"/>
                <a:cs typeface="Times New Roman"/>
              </a:rPr>
              <a:t>9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25">
                <a:latin typeface="Times New Roman"/>
                <a:cs typeface="Times New Roman"/>
              </a:rPr>
              <a:t>10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25">
                <a:latin typeface="Times New Roman"/>
                <a:cs typeface="Times New Roman"/>
              </a:rPr>
              <a:t>11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25">
                <a:latin typeface="Times New Roman"/>
                <a:cs typeface="Times New Roman"/>
              </a:rPr>
              <a:t>12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25">
                <a:latin typeface="Times New Roman"/>
                <a:cs typeface="Times New Roman"/>
              </a:rPr>
              <a:t>13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25">
                <a:latin typeface="Times New Roman"/>
                <a:cs typeface="Times New Roman"/>
              </a:rPr>
              <a:t>14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25">
                <a:latin typeface="Times New Roman"/>
                <a:cs typeface="Times New Roman"/>
              </a:rPr>
              <a:t>15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25">
                <a:latin typeface="Times New Roman"/>
                <a:cs typeface="Times New Roman"/>
              </a:rPr>
              <a:t>16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450" spc="-25">
                <a:latin typeface="Times New Roman"/>
                <a:cs typeface="Times New Roman"/>
              </a:rPr>
              <a:t>17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450" spc="-25">
                <a:latin typeface="Times New Roman"/>
                <a:cs typeface="Times New Roman"/>
              </a:rPr>
              <a:t>18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20292" y="4579746"/>
            <a:ext cx="40747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4960" algn="l"/>
              </a:tabLst>
            </a:pPr>
            <a:r>
              <a:rPr dirty="0" sz="600" spc="-25">
                <a:latin typeface="Times New Roman"/>
                <a:cs typeface="Times New Roman"/>
              </a:rPr>
              <a:t>36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-10">
                <a:latin typeface="Times New Roman"/>
                <a:cs typeface="Times New Roman"/>
              </a:rPr>
              <a:t>Лабораторная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работа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№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3. </a:t>
            </a:r>
            <a:r>
              <a:rPr dirty="0" sz="600" spc="-10">
                <a:latin typeface="Times New Roman"/>
                <a:cs typeface="Times New Roman"/>
              </a:rPr>
              <a:t>Markdown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21816" y="5043042"/>
            <a:ext cx="5928995" cy="70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330835" indent="-31242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30835" algn="l"/>
              </a:tabLst>
            </a:pPr>
            <a:r>
              <a:rPr dirty="0" sz="850" spc="-10" b="1">
                <a:latin typeface="Calibri"/>
                <a:cs typeface="Calibri"/>
              </a:rPr>
              <a:t>Задание</a:t>
            </a:r>
            <a:endParaRPr sz="850">
              <a:latin typeface="Calibri"/>
              <a:cs typeface="Calibri"/>
            </a:endParaRPr>
          </a:p>
          <a:p>
            <a:pPr lvl="2" marL="131445" indent="-118745">
              <a:lnSpc>
                <a:spcPct val="100000"/>
              </a:lnSpc>
              <a:spcBef>
                <a:spcPts val="740"/>
              </a:spcBef>
              <a:buSzPct val="75000"/>
              <a:buFont typeface="Calibri"/>
              <a:buChar char="–"/>
              <a:tabLst>
                <a:tab pos="131445" algn="l"/>
              </a:tabLst>
            </a:pPr>
            <a:r>
              <a:rPr dirty="0" sz="1000">
                <a:latin typeface="Times New Roman"/>
                <a:cs typeface="Times New Roman"/>
              </a:rPr>
              <a:t>Сделайте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отчёт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по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предыдущей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лабораторной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работе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формате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Markdown.</a:t>
            </a:r>
            <a:endParaRPr sz="1000">
              <a:latin typeface="Times New Roman"/>
              <a:cs typeface="Times New Roman"/>
            </a:endParaRPr>
          </a:p>
          <a:p>
            <a:pPr lvl="2" marL="129539" marR="5080" indent="-117475">
              <a:lnSpc>
                <a:spcPct val="100000"/>
              </a:lnSpc>
              <a:buSzPct val="75000"/>
              <a:buFont typeface="Calibri"/>
              <a:buChar char="–"/>
              <a:tabLst>
                <a:tab pos="129539" algn="l"/>
                <a:tab pos="130810" algn="l"/>
              </a:tabLst>
            </a:pPr>
            <a:r>
              <a:rPr dirty="0" sz="1000" b="1">
                <a:latin typeface="Times New Roman"/>
                <a:cs typeface="Times New Roman"/>
              </a:rPr>
              <a:t>	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10">
                <a:latin typeface="Times New Roman"/>
                <a:cs typeface="Times New Roman"/>
              </a:rPr>
              <a:t> качестве</a:t>
            </a:r>
            <a:r>
              <a:rPr dirty="0" sz="1000">
                <a:latin typeface="Times New Roman"/>
                <a:cs typeface="Times New Roman"/>
              </a:rPr>
              <a:t> отчёта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просьба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предоставить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отчёты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 форматах: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pdf</a:t>
            </a:r>
            <a:r>
              <a:rPr dirty="0" sz="1000">
                <a:latin typeface="Times New Roman"/>
                <a:cs typeface="Times New Roman"/>
              </a:rPr>
              <a:t>,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docx</a:t>
            </a:r>
            <a:r>
              <a:rPr dirty="0" sz="7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 </a:t>
            </a:r>
            <a:r>
              <a:rPr dirty="0" sz="700">
                <a:latin typeface="Times New Roman"/>
                <a:cs typeface="Times New Roman"/>
              </a:rPr>
              <a:t>md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(в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архиве,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поскольку</a:t>
            </a:r>
            <a:r>
              <a:rPr dirty="0" sz="1000">
                <a:latin typeface="Times New Roman"/>
                <a:cs typeface="Times New Roman"/>
              </a:rPr>
              <a:t> он</a:t>
            </a:r>
            <a:r>
              <a:rPr dirty="0" sz="1000" spc="-10">
                <a:latin typeface="Times New Roman"/>
                <a:cs typeface="Times New Roman"/>
              </a:rPr>
              <a:t> должен содержать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скриншоты,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Makefile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т.д.)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91844" y="1242313"/>
            <a:ext cx="4033520" cy="23622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>
                <a:latin typeface="Times New Roman"/>
                <a:cs typeface="Times New Roman"/>
              </a:rPr>
              <a:t>pandoc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README.md </a:t>
            </a: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README.pdf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91844" y="1876297"/>
            <a:ext cx="4033520" cy="236220"/>
          </a:xfrm>
          <a:prstGeom prst="rect">
            <a:avLst/>
          </a:prstGeom>
          <a:solidFill>
            <a:srgbClr val="E4E4E4"/>
          </a:solidFill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700">
                <a:latin typeface="Times New Roman"/>
                <a:cs typeface="Times New Roman"/>
              </a:rPr>
              <a:t>pandoc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README.md </a:t>
            </a: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README.docx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91844" y="2351785"/>
            <a:ext cx="4048760" cy="2202815"/>
          </a:xfrm>
          <a:prstGeom prst="rect">
            <a:avLst/>
          </a:prstGeom>
          <a:solidFill>
            <a:srgbClr val="E4E4E4"/>
          </a:solidFill>
        </p:spPr>
        <p:txBody>
          <a:bodyPr wrap="square" lIns="0" tIns="74295" rIns="0" bIns="0" rtlCol="0" vert="horz">
            <a:spAutoFit/>
          </a:bodyPr>
          <a:lstStyle/>
          <a:p>
            <a:pPr marL="38100" marR="2069464">
              <a:lnSpc>
                <a:spcPct val="101400"/>
              </a:lnSpc>
              <a:spcBef>
                <a:spcPts val="585"/>
              </a:spcBef>
            </a:pPr>
            <a:r>
              <a:rPr dirty="0" sz="700">
                <a:solidFill>
                  <a:srgbClr val="18177C"/>
                </a:solidFill>
                <a:latin typeface="Times New Roman"/>
                <a:cs typeface="Times New Roman"/>
              </a:rPr>
              <a:t>FILES</a:t>
            </a:r>
            <a:r>
              <a:rPr dirty="0" sz="700" spc="-5">
                <a:solidFill>
                  <a:srgbClr val="18177C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=</a:t>
            </a:r>
            <a:r>
              <a:rPr dirty="0" sz="700" spc="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patsubst</a:t>
            </a:r>
            <a:r>
              <a:rPr dirty="0" sz="700">
                <a:latin typeface="Times New Roman"/>
                <a:cs typeface="Times New Roman"/>
              </a:rPr>
              <a:t> %.md,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%.docx,</a:t>
            </a:r>
            <a:r>
              <a:rPr dirty="0" sz="700" spc="10"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wildcard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*.md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))</a:t>
            </a:r>
            <a:r>
              <a:rPr dirty="0" sz="700" spc="50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18177C"/>
                </a:solidFill>
                <a:latin typeface="Times New Roman"/>
                <a:cs typeface="Times New Roman"/>
              </a:rPr>
              <a:t>FILES</a:t>
            </a:r>
            <a:r>
              <a:rPr dirty="0" sz="700" spc="-5">
                <a:solidFill>
                  <a:srgbClr val="18177C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+=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patsubst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%.md, %.pdf,</a:t>
            </a:r>
            <a:r>
              <a:rPr dirty="0" sz="700" spc="10"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wildcard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*.md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700" spc="-20">
                <a:solidFill>
                  <a:srgbClr val="18177C"/>
                </a:solidFill>
                <a:latin typeface="Times New Roman"/>
                <a:cs typeface="Times New Roman"/>
              </a:rPr>
              <a:t>LATEX_FORMAT</a:t>
            </a:r>
            <a:r>
              <a:rPr dirty="0" sz="700" spc="65">
                <a:solidFill>
                  <a:srgbClr val="18177C"/>
                </a:solidFill>
                <a:latin typeface="Times New Roman"/>
                <a:cs typeface="Times New Roman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Times New Roman"/>
                <a:cs typeface="Times New Roman"/>
              </a:rPr>
              <a:t>=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18177C"/>
                </a:solidFill>
                <a:latin typeface="Times New Roman"/>
                <a:cs typeface="Times New Roman"/>
              </a:rPr>
              <a:t>FILTER</a:t>
            </a:r>
            <a:r>
              <a:rPr dirty="0" sz="700" spc="-5">
                <a:solidFill>
                  <a:srgbClr val="18177C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=</a:t>
            </a:r>
            <a:r>
              <a:rPr dirty="0" sz="700" spc="-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 spc="-1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filter</a:t>
            </a:r>
            <a:r>
              <a:rPr dirty="0" sz="700" spc="-10">
                <a:latin typeface="Times New Roman"/>
                <a:cs typeface="Times New Roman"/>
              </a:rPr>
              <a:t> pandoc-crossref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0000FF"/>
                </a:solidFill>
                <a:latin typeface="Times New Roman"/>
                <a:cs typeface="Times New Roman"/>
              </a:rPr>
              <a:t>%.docx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dirty="0" sz="700" spc="-4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latin typeface="Times New Roman"/>
                <a:cs typeface="Times New Roman"/>
              </a:rPr>
              <a:t>%.md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15"/>
              </a:spcBef>
            </a:pP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pandoc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>
                <a:latin typeface="Times New Roman"/>
                <a:cs typeface="Times New Roman"/>
              </a:rPr>
              <a:t>$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&lt;"</a:t>
            </a:r>
            <a:r>
              <a:rPr dirty="0" sz="700" spc="-5">
                <a:solidFill>
                  <a:srgbClr val="B92020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FILTER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) </a:t>
            </a: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 spc="-20">
                <a:solidFill>
                  <a:srgbClr val="18177C"/>
                </a:solidFill>
                <a:latin typeface="Times New Roman"/>
                <a:cs typeface="Times New Roman"/>
              </a:rPr>
              <a:t>$@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700" spc="-10">
                <a:solidFill>
                  <a:srgbClr val="0000FF"/>
                </a:solidFill>
                <a:latin typeface="Times New Roman"/>
                <a:cs typeface="Times New Roman"/>
              </a:rPr>
              <a:t>%.pdf</a:t>
            </a:r>
            <a:r>
              <a:rPr dirty="0" sz="700" spc="-1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dirty="0" sz="700" spc="1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latin typeface="Times New Roman"/>
                <a:cs typeface="Times New Roman"/>
              </a:rPr>
              <a:t>%.md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</a:pP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pandoc</a:t>
            </a:r>
            <a:r>
              <a:rPr dirty="0" sz="700" spc="20"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>
                <a:latin typeface="Times New Roman"/>
                <a:cs typeface="Times New Roman"/>
              </a:rPr>
              <a:t>$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&lt;"</a:t>
            </a:r>
            <a:r>
              <a:rPr dirty="0" sz="700" spc="20">
                <a:solidFill>
                  <a:srgbClr val="B92020"/>
                </a:solidFill>
                <a:latin typeface="Times New Roman"/>
                <a:cs typeface="Times New Roman"/>
              </a:rPr>
              <a:t> </a:t>
            </a:r>
            <a:r>
              <a:rPr dirty="0" sz="700" spc="-2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20">
                <a:latin typeface="Times New Roman"/>
                <a:cs typeface="Times New Roman"/>
              </a:rPr>
              <a:t>LATEX_FORMAT</a:t>
            </a:r>
            <a:r>
              <a:rPr dirty="0" sz="700" spc="-20" b="1">
                <a:solidFill>
                  <a:srgbClr val="007E00"/>
                </a:solidFill>
                <a:latin typeface="Times New Roman"/>
                <a:cs typeface="Times New Roman"/>
              </a:rPr>
              <a:t>)</a:t>
            </a:r>
            <a:r>
              <a:rPr dirty="0" sz="700" spc="20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FILTER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)</a:t>
            </a:r>
            <a:r>
              <a:rPr dirty="0" sz="700" spc="15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25"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 spc="-20">
                <a:solidFill>
                  <a:srgbClr val="18177C"/>
                </a:solidFill>
                <a:latin typeface="Times New Roman"/>
                <a:cs typeface="Times New Roman"/>
              </a:rPr>
              <a:t>$@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700">
                <a:solidFill>
                  <a:srgbClr val="0000FF"/>
                </a:solidFill>
                <a:latin typeface="Times New Roman"/>
                <a:cs typeface="Times New Roman"/>
              </a:rPr>
              <a:t>all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dirty="0" sz="700" spc="-4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solidFill>
                  <a:srgbClr val="18177C"/>
                </a:solidFill>
                <a:latin typeface="Times New Roman"/>
                <a:cs typeface="Times New Roman"/>
              </a:rPr>
              <a:t>FILES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15"/>
              </a:spcBef>
            </a:pPr>
            <a:r>
              <a:rPr dirty="0" sz="700">
                <a:latin typeface="Times New Roman"/>
                <a:cs typeface="Times New Roman"/>
              </a:rPr>
              <a:t>@echo</a:t>
            </a:r>
            <a:r>
              <a:rPr dirty="0" sz="700" spc="-35"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FILES</a:t>
            </a:r>
            <a:r>
              <a:rPr dirty="0" sz="700" spc="-10" b="1">
                <a:solidFill>
                  <a:srgbClr val="007E00"/>
                </a:solidFill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700" spc="-10">
                <a:solidFill>
                  <a:srgbClr val="0000FF"/>
                </a:solidFill>
                <a:latin typeface="Times New Roman"/>
                <a:cs typeface="Times New Roman"/>
              </a:rPr>
              <a:t>clean</a:t>
            </a:r>
            <a:r>
              <a:rPr dirty="0" sz="700" spc="-1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25"/>
              </a:spcBef>
            </a:pPr>
            <a:r>
              <a:rPr dirty="0" sz="700" spc="-2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rm</a:t>
            </a:r>
            <a:r>
              <a:rPr dirty="0" sz="700" spc="-30"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$(</a:t>
            </a:r>
            <a:r>
              <a:rPr dirty="0" sz="700">
                <a:latin typeface="Times New Roman"/>
                <a:cs typeface="Times New Roman"/>
              </a:rPr>
              <a:t>FILES</a:t>
            </a:r>
            <a:r>
              <a:rPr dirty="0" sz="700" b="1">
                <a:solidFill>
                  <a:srgbClr val="007E00"/>
                </a:solidFill>
                <a:latin typeface="Times New Roman"/>
                <a:cs typeface="Times New Roman"/>
              </a:rPr>
              <a:t>)</a:t>
            </a:r>
            <a:r>
              <a:rPr dirty="0" sz="700" spc="-25" b="1">
                <a:solidFill>
                  <a:srgbClr val="007E00"/>
                </a:solidFill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*~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Милана Тимофеева</dc:creator>
  <dcterms:created xsi:type="dcterms:W3CDTF">2026-03-07T18:32:45Z</dcterms:created>
  <dcterms:modified xsi:type="dcterms:W3CDTF">2026-03-07T18:32:45Z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