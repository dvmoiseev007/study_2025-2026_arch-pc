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9228" y="391949"/>
            <a:ext cx="3491865" cy="6985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7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7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3530" marR="219710" indent="46990">
              <a:lnSpc>
                <a:spcPct val="16080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5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0899" y="1970606"/>
            <a:ext cx="2562860" cy="819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1910">
              <a:lnSpc>
                <a:spcPct val="100000"/>
              </a:lnSpc>
              <a:spcBef>
                <a:spcPts val="819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6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7472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9817" y="4260396"/>
            <a:ext cx="206184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334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86023" y="6262062"/>
            <a:ext cx="528320" cy="4445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299085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35306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6.</a:t>
            </a:r>
            <a:r>
              <a:rPr dirty="0" sz="950" spc="24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Поиск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файлов.</a:t>
            </a:r>
            <a:r>
              <a:rPr dirty="0" sz="950" spc="2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Перенаправление </a:t>
            </a:r>
            <a:r>
              <a:rPr dirty="0" sz="950" b="1">
                <a:latin typeface="Book Antiqua"/>
                <a:cs typeface="Book Antiqua"/>
              </a:rPr>
              <a:t>ввода-вывода.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Просмотр</a:t>
            </a:r>
            <a:r>
              <a:rPr dirty="0" sz="950" spc="15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запущенных</a:t>
            </a:r>
            <a:r>
              <a:rPr dirty="0" sz="950" spc="15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процессов</a:t>
            </a:r>
            <a:endParaRPr sz="950">
              <a:latin typeface="Book Antiqua"/>
              <a:cs typeface="Book Antiqua"/>
            </a:endParaRPr>
          </a:p>
          <a:p>
            <a:pPr lvl="1" marL="304800" indent="-29210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0480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762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Ознакомление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инструментами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фильтрации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текстовых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данных.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Приобретение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навыков: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управлению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процессами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заданиями),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диска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обслуживанию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03530" indent="-290830">
              <a:lnSpc>
                <a:spcPct val="100000"/>
              </a:lnSpc>
              <a:buAutoNum type="arabicPeriod" startAt="2"/>
              <a:tabLst>
                <a:tab pos="3035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398780" indent="-38608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Перенаправление</a:t>
            </a:r>
            <a:r>
              <a:rPr dirty="0" sz="850" spc="2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ввода-</a:t>
            </a:r>
            <a:r>
              <a:rPr dirty="0" sz="850" spc="-10" b="1">
                <a:latin typeface="Book Antiqua"/>
                <a:cs typeface="Book Antiqua"/>
              </a:rPr>
              <a:t>вывода</a:t>
            </a:r>
            <a:endParaRPr sz="850">
              <a:latin typeface="Book Antiqua"/>
              <a:cs typeface="Book Antiqua"/>
            </a:endParaRPr>
          </a:p>
          <a:p>
            <a:pPr marL="110489">
              <a:lnSpc>
                <a:spcPts val="894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потока: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stdin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клавиатура),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файловый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дескриптор</a:t>
            </a:r>
            <a:r>
              <a:rPr dirty="0" sz="750" spc="25">
                <a:latin typeface="Book Antiqua"/>
                <a:cs typeface="Book Antiqua"/>
              </a:rPr>
              <a:t> 	0;</a:t>
            </a:r>
            <a:endParaRPr sz="750">
              <a:latin typeface="Book Antiqua"/>
              <a:cs typeface="Book Antiqua"/>
            </a:endParaRPr>
          </a:p>
          <a:p>
            <a:pPr lvl="3" marL="142240" marR="26034" indent="-11620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2240" algn="l"/>
                <a:tab pos="143510" algn="l"/>
              </a:tabLst>
            </a:pPr>
            <a:r>
              <a:rPr dirty="0" sz="700" b="1">
                <a:latin typeface="Courier New"/>
                <a:cs typeface="Courier New"/>
              </a:rPr>
              <a:t>	</a:t>
            </a:r>
            <a:r>
              <a:rPr dirty="0" sz="700">
                <a:latin typeface="Courier New"/>
                <a:cs typeface="Courier New"/>
              </a:rPr>
              <a:t>stdout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консоль),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дескриптор</a:t>
            </a:r>
            <a:r>
              <a:rPr dirty="0" sz="750" spc="25">
                <a:latin typeface="Book Antiqua"/>
                <a:cs typeface="Book Antiqua"/>
              </a:rPr>
              <a:t> 1;</a:t>
            </a:r>
            <a:endParaRPr sz="750">
              <a:latin typeface="Book Antiqua"/>
              <a:cs typeface="Book Antiqua"/>
            </a:endParaRPr>
          </a:p>
          <a:p>
            <a:pPr lvl="3" marL="144145" marR="12065" indent="-117475">
              <a:lnSpc>
                <a:spcPts val="890"/>
              </a:lnSpc>
              <a:spcBef>
                <a:spcPts val="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stderr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ошибках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консоль),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файловый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дескриптор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2.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10">
                <a:latin typeface="Book Antiqua"/>
                <a:cs typeface="Book Antiqua"/>
              </a:rPr>
              <a:t>Большинство</a:t>
            </a:r>
            <a:r>
              <a:rPr dirty="0" sz="750" spc="20">
                <a:latin typeface="Book Antiqua"/>
                <a:cs typeface="Book Antiqua"/>
              </a:rPr>
              <a:t> используемых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консоли</a:t>
            </a:r>
            <a:r>
              <a:rPr dirty="0" sz="750" spc="20">
                <a:latin typeface="Book Antiqua"/>
                <a:cs typeface="Book Antiqua"/>
              </a:rPr>
              <a:t> команд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программ </a:t>
            </a:r>
            <a:r>
              <a:rPr dirty="0" sz="750" spc="25">
                <a:latin typeface="Book Antiqua"/>
                <a:cs typeface="Book Antiqua"/>
              </a:rPr>
              <a:t>записывают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результаты</a:t>
            </a:r>
            <a:r>
              <a:rPr dirty="0" sz="750" spc="10">
                <a:latin typeface="Book Antiqua"/>
                <a:cs typeface="Book Antiqua"/>
              </a:rPr>
              <a:t> своей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работы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стандартный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поток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stdout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7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выводит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стан-</a:t>
            </a:r>
            <a:r>
              <a:rPr dirty="0" sz="750" spc="5">
                <a:latin typeface="Book Antiqua"/>
                <a:cs typeface="Book Antiqua"/>
              </a:rPr>
              <a:t> дартный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поток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(консоль)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список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Потоки </a:t>
            </a:r>
            <a:r>
              <a:rPr dirty="0" sz="750" spc="20">
                <a:latin typeface="Book Antiqua"/>
                <a:cs typeface="Book Antiqua"/>
              </a:rPr>
              <a:t>вывода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ввода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перенаправлять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другие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или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устройства.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Проще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всего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делается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символов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&gt;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&gt;&gt;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&lt;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&lt;&lt;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Рассмотрим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пример.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1335" y="3888944"/>
            <a:ext cx="83820" cy="2136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18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19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3838689"/>
            <a:ext cx="4032250" cy="22345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169037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stdout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(вывода)</a:t>
            </a:r>
            <a:r>
              <a:rPr dirty="0" sz="700" spc="4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файл.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Если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отсутствовал,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то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он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создаётся,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иначе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--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перезаписывается.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Создаёт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файл,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содержащий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список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дерева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каталогов.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dir-</a:t>
            </a:r>
            <a:r>
              <a:rPr dirty="0" sz="700" spc="-10">
                <a:latin typeface="Courier New"/>
                <a:cs typeface="Courier New"/>
              </a:rPr>
              <a:t>tree.list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-10">
                <a:latin typeface="Courier New"/>
                <a:cs typeface="Courier New"/>
              </a:rPr>
              <a:t>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(stdout)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-10">
                <a:latin typeface="Courier New"/>
                <a:cs typeface="Courier New"/>
              </a:rPr>
              <a:t>&gt;&gt;filename</a:t>
            </a:r>
            <a:endParaRPr sz="700">
              <a:latin typeface="Courier New"/>
              <a:cs typeface="Courier New"/>
            </a:endParaRPr>
          </a:p>
          <a:p>
            <a:pPr marL="37465" marR="1143635">
              <a:lnSpc>
                <a:spcPct val="1065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(stdout)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открывается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режиме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добавления.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dirty="0" sz="700" spc="-10">
                <a:latin typeface="Courier New"/>
                <a:cs typeface="Courier New"/>
              </a:rPr>
              <a:t>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dirty="0" sz="700" spc="-10">
                <a:latin typeface="Courier New"/>
                <a:cs typeface="Courier New"/>
              </a:rPr>
              <a:t>&gt;&gt;filename</a:t>
            </a:r>
            <a:endParaRPr sz="700">
              <a:latin typeface="Courier New"/>
              <a:cs typeface="Courier New"/>
            </a:endParaRPr>
          </a:p>
          <a:p>
            <a:pPr marL="37465" marR="1635760">
              <a:lnSpc>
                <a:spcPct val="1065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открывается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режиме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добавления. </a:t>
            </a:r>
            <a:r>
              <a:rPr dirty="0" sz="700" spc="-10">
                <a:latin typeface="Courier New"/>
                <a:cs typeface="Courier New"/>
              </a:rPr>
              <a:t>&amp;&gt;filename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stdout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и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6619" algn="l"/>
              </a:tabLst>
            </a:pPr>
            <a:r>
              <a:rPr dirty="0" sz="600" spc="-25">
                <a:latin typeface="Book Antiqua"/>
                <a:cs typeface="Book Antiqua"/>
              </a:rPr>
              <a:t>56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6.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Поиск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файлов.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Перенаправление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ввода-вывода.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Просмотр</a:t>
            </a:r>
            <a:r>
              <a:rPr dirty="0" sz="600" spc="-3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6.2.2.</a:t>
            </a:r>
            <a:r>
              <a:rPr dirty="0" sz="850" spc="340" b="1">
                <a:latin typeface="Book Antiqua"/>
                <a:cs typeface="Book Antiqua"/>
              </a:rPr>
              <a:t>  </a:t>
            </a:r>
            <a:r>
              <a:rPr dirty="0" sz="850" spc="-10" b="1">
                <a:latin typeface="Book Antiqua"/>
                <a:cs typeface="Book Antiqua"/>
              </a:rPr>
              <a:t>Конвейер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Конвейер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(pipe)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служит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цепочки,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торых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предыдущей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последующей.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Синтаксис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3507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84821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команда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команда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означает,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что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команды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1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передастся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на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ввод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команде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3D7A7A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659153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Конвейеры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группировать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цепочки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перенаправления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 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0400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198975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|sort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sortilg_list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304" y="2250478"/>
            <a:ext cx="4078604" cy="14071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25">
                <a:latin typeface="Courier New"/>
                <a:cs typeface="Courier New"/>
              </a:rPr>
              <a:t>la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сортировки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sort\verb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пишет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зультат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sorting_list\verb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-10">
                <a:latin typeface="Book Antiqua"/>
                <a:cs typeface="Book Antiqua"/>
              </a:rPr>
              <a:t>Чаще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скрипты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автоматизации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каких-то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рутин-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ных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консоли,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отсюда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иногда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возникает необходимость 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обработке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stdout </a:t>
            </a:r>
            <a:r>
              <a:rPr dirty="0" sz="750">
                <a:latin typeface="Book Antiqua"/>
                <a:cs typeface="Book Antiqua"/>
              </a:rPr>
              <a:t>одной команды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передача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40">
                <a:latin typeface="Courier New"/>
                <a:cs typeface="Courier New"/>
              </a:rPr>
              <a:t>stdin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должен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обработан.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6.2.3.</a:t>
            </a:r>
            <a:r>
              <a:rPr dirty="0" sz="850" spc="31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Поиск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find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соответ-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ствующих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405" y="378132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4004" y="373106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путь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опции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7367" y="3991787"/>
            <a:ext cx="4075429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 marR="1841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определяет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всем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подкаталогам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вестись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поиск.</a:t>
            </a:r>
            <a:endParaRPr sz="750">
              <a:latin typeface="Book Antiqua"/>
              <a:cs typeface="Book Antiqua"/>
            </a:endParaRPr>
          </a:p>
          <a:p>
            <a:pPr marL="114300">
              <a:lnSpc>
                <a:spcPts val="885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49225" marR="5080" indent="-13716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40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подкаталогов,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начинающихся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f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3120" y="471346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26719" y="466321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"f*"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print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7367" y="4923929"/>
            <a:ext cx="4082415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Здесь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обозначение </a:t>
            </a:r>
            <a:r>
              <a:rPr dirty="0" sz="750" spc="5">
                <a:latin typeface="Book Antiqua"/>
                <a:cs typeface="Book Antiqua"/>
              </a:rPr>
              <a:t>вашего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 </a:t>
            </a:r>
            <a:r>
              <a:rPr dirty="0" sz="750" spc="5">
                <a:latin typeface="Book Antiqua"/>
                <a:cs typeface="Book Antiqua"/>
              </a:rPr>
              <a:t>каталога,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 этой опции </a:t>
            </a:r>
            <a:r>
              <a:rPr dirty="0" sz="750" spc="15">
                <a:latin typeface="Book Antiqua"/>
                <a:cs typeface="Book Antiqua"/>
              </a:rPr>
              <a:t>указы-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вается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15">
                <a:latin typeface="Book Antiqua"/>
                <a:cs typeface="Book Antiqua"/>
              </a:rPr>
              <a:t> файла,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который</a:t>
            </a:r>
            <a:r>
              <a:rPr dirty="0" sz="750" spc="-15">
                <a:latin typeface="Book Antiqua"/>
                <a:cs typeface="Book Antiqua"/>
              </a:rPr>
              <a:t> нужно </a:t>
            </a:r>
            <a:r>
              <a:rPr dirty="0" sz="750">
                <a:latin typeface="Book Antiqua"/>
                <a:cs typeface="Book Antiqua"/>
              </a:rPr>
              <a:t>найти,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"f*"</a:t>
            </a:r>
            <a:r>
              <a:rPr dirty="0" sz="700" spc="-27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определяющая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 </a:t>
            </a:r>
            <a:r>
              <a:rPr dirty="0" sz="750" spc="-5">
                <a:latin typeface="Book Antiqua"/>
                <a:cs typeface="Book Antiqua"/>
              </a:rPr>
              <a:t>файла,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-print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задающая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результатов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поиска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5">
                <a:latin typeface="Book Antiqua"/>
                <a:cs typeface="Book Antiqua"/>
              </a:rPr>
              <a:t>экран.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/etc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начинающихся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p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3120" y="553200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26719" y="548175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/etc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"p*"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print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7367" y="5742470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имена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заканчиваются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символом</a:t>
            </a:r>
            <a:endParaRPr sz="750">
              <a:latin typeface="Book Antiqua"/>
              <a:cs typeface="Book Antiqua"/>
            </a:endParaRPr>
          </a:p>
          <a:p>
            <a:pPr marL="13779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их: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3120" y="612333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26719" y="607307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"*~"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-exec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"{}"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AA5B1E"/>
                </a:solidFill>
                <a:latin typeface="Courier New"/>
                <a:cs typeface="Courier New"/>
              </a:rPr>
              <a:t>\;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9462" y="6333794"/>
            <a:ext cx="3980179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699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Здесь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-exec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"{}"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\;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применение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ко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файлам,</a:t>
            </a:r>
            <a:r>
              <a:rPr dirty="0" sz="750" spc="-20">
                <a:latin typeface="Book Antiqua"/>
                <a:cs typeface="Book Antiqua"/>
              </a:rPr>
              <a:t> име-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просмотра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опций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воспользуйтесь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567758"/>
            <a:ext cx="3782695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6.2.4.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Фильтрация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текста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указанную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grep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2289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786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строка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7367" y="1446872"/>
            <a:ext cx="4082415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 indent="10096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Кроме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grep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обрабатывать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(любой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текст).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конвейер, связав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grep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4300">
              <a:lnSpc>
                <a:spcPts val="880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49225" marR="5080" indent="-13716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именами,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начинающи-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мися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</a:t>
            </a:r>
            <a:r>
              <a:rPr dirty="0" sz="750">
                <a:latin typeface="Book Antiqua"/>
                <a:cs typeface="Book Antiqua"/>
              </a:rPr>
              <a:t>, 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begin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120" y="228963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719" y="223939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begin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f*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367" y="2507577"/>
            <a:ext cx="32010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содержащих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«лаб»: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3120" y="278229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6719" y="273203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лаб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3085000"/>
            <a:ext cx="3516629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6.2.5.</a:t>
            </a:r>
            <a:r>
              <a:rPr dirty="0" sz="850" spc="36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Проверка</a:t>
            </a:r>
            <a:r>
              <a:rPr dirty="0" sz="850" spc="11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использования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диска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 размер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смонтированного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раздела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диска.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374618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369592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файловая_система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9462" y="3964114"/>
            <a:ext cx="4502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405" y="42388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004" y="41885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vi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9462" y="4456772"/>
            <a:ext cx="397891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показывает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килобайт,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каждым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каталогом.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00405" y="484510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4004" y="479484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имя_файла...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9462" y="5063032"/>
            <a:ext cx="4457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00405" y="533776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4004" y="528750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35">
                <a:latin typeface="Courier New"/>
                <a:cs typeface="Courier New"/>
              </a:rPr>
              <a:t>~/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79462" y="5555691"/>
            <a:ext cx="31318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На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afs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посмотреть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использованное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пространство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00405" y="583040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4004" y="5780163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quota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57650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6619" algn="l"/>
              </a:tabLst>
            </a:pPr>
            <a:r>
              <a:rPr dirty="0" sz="600" spc="-25">
                <a:latin typeface="Book Antiqua"/>
                <a:cs typeface="Book Antiqua"/>
              </a:rPr>
              <a:t>58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6.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Поиск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файлов.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Перенаправление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ввода-вывода.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Просмотр</a:t>
            </a:r>
            <a:r>
              <a:rPr dirty="0" sz="600" spc="-3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6.2.6.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задачами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40">
                <a:latin typeface="Book Antiqua"/>
                <a:cs typeface="Book Antiqua"/>
              </a:rPr>
              <a:t>Любую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выполняющуюся</a:t>
            </a:r>
            <a:r>
              <a:rPr dirty="0" sz="750">
                <a:latin typeface="Book Antiqua"/>
                <a:cs typeface="Book Antiqua"/>
              </a:rPr>
              <a:t> 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консоли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внешнюю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запустить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 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амперсанда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&amp;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4023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8998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gedit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&amp;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555851"/>
            <a:ext cx="4076700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349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gedit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Консоль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заблокирована.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Запущенные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фоном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называются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задачами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(jobs).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jobs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 список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запущенных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данный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 </a:t>
            </a:r>
            <a:r>
              <a:rPr dirty="0" sz="750" spc="-10">
                <a:latin typeface="Book Antiqua"/>
                <a:cs typeface="Book Antiqua"/>
              </a:rPr>
              <a:t>задач.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задачи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28268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223244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kill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%номер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задачи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8006" y="2582182"/>
            <a:ext cx="4081779" cy="12274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lvl="2" marL="394335" indent="-378460">
              <a:lnSpc>
                <a:spcPct val="100000"/>
              </a:lnSpc>
              <a:spcBef>
                <a:spcPts val="695"/>
              </a:spcBef>
              <a:buAutoNum type="arabicPeriod" startAt="7"/>
              <a:tabLst>
                <a:tab pos="394335" algn="l"/>
              </a:tabLst>
            </a:pP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процессами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100965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Любой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команде,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выполняемой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системе,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присваивается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идентификатор</a:t>
            </a:r>
            <a:r>
              <a:rPr dirty="0" sz="750" spc="204" i="1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процесса</a:t>
            </a:r>
            <a:r>
              <a:rPr dirty="0" sz="750" spc="50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(process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ID)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Получить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информацию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пользуясь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идентифи-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катором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интерпретатора.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750">
              <a:latin typeface="Book Antiqua"/>
              <a:cs typeface="Book Antiqua"/>
            </a:endParaRPr>
          </a:p>
          <a:p>
            <a:pPr lvl="2" marL="401955" indent="-386080">
              <a:lnSpc>
                <a:spcPct val="100000"/>
              </a:lnSpc>
              <a:buAutoNum type="arabicPeriod" startAt="8"/>
              <a:tabLst>
                <a:tab pos="401955" algn="l"/>
              </a:tabLst>
            </a:pPr>
            <a:r>
              <a:rPr dirty="0" sz="850" b="1">
                <a:latin typeface="Book Antiqua"/>
                <a:cs typeface="Book Antiqua"/>
              </a:rPr>
              <a:t>Получение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информации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о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процессах</a:t>
            </a:r>
            <a:endParaRPr sz="850">
              <a:latin typeface="Book Antiqua"/>
              <a:cs typeface="Book Antiqua"/>
            </a:endParaRPr>
          </a:p>
          <a:p>
            <a:pPr marL="113664" marR="864235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процессах.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405" y="393860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4004" y="388835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опции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1304" y="4154220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процессах, управляемых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вами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запущенных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(работаю-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щих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остановленных)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aux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 spc="-10" b="1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405" y="465384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460359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aux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4869472"/>
            <a:ext cx="407860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ука-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&amp;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(амперсанд).</a:t>
            </a:r>
            <a:endParaRPr sz="750">
              <a:latin typeface="Book Antiqua"/>
              <a:cs typeface="Book Antiqua"/>
            </a:endParaRPr>
          </a:p>
          <a:p>
            <a:pPr marL="12700" marR="2540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работы,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требующей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машинного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времени 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целесообразно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запустить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0405" y="548269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4004" y="543243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/var/log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"*.log"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-print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l.log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&amp;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7367" y="5869180"/>
            <a:ext cx="4082415" cy="835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6.3.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 spc="10">
                <a:latin typeface="Book Antiqua"/>
                <a:cs typeface="Book Antiqua"/>
              </a:rPr>
              <a:t>Осуществите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вход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систему,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соответствующее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пользователя.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Запишите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file.txt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содержащихся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/etc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Допи-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шите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каталоге.</a:t>
            </a:r>
            <a:endParaRPr sz="750">
              <a:latin typeface="Book Antiqua"/>
              <a:cs typeface="Book Antiqua"/>
            </a:endParaRPr>
          </a:p>
          <a:p>
            <a:pPr marL="147955" marR="2540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Выведите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file.txt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имеющих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расширение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.conf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чего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запишите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conf.txt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5056" y="653389"/>
            <a:ext cx="4135120" cy="50514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0025" marR="26034" indent="-135890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Определите,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начинавшиеся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</a:t>
            </a:r>
            <a:r>
              <a:rPr dirty="0" sz="750">
                <a:latin typeface="Book Antiqua"/>
                <a:cs typeface="Book Antiqua"/>
              </a:rPr>
              <a:t>?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Предложите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вариантов, 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сделать.</a:t>
            </a:r>
            <a:endParaRPr sz="750">
              <a:latin typeface="Book Antiqua"/>
              <a:cs typeface="Book Antiqua"/>
            </a:endParaRPr>
          </a:p>
          <a:p>
            <a:pPr marL="200025" marR="26034" indent="-135890">
              <a:lnSpc>
                <a:spcPts val="890"/>
              </a:lnSpc>
              <a:spcBef>
                <a:spcPts val="30"/>
              </a:spcBef>
              <a:buAutoNum type="arabicPeriod" startAt="4"/>
              <a:tabLst>
                <a:tab pos="201295" algn="l"/>
              </a:tabLst>
            </a:pPr>
            <a:r>
              <a:rPr dirty="0" sz="750" spc="10">
                <a:latin typeface="Book Antiqua"/>
                <a:cs typeface="Book Antiqua"/>
              </a:rPr>
              <a:t>Выведите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(по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странично)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/etc</a:t>
            </a:r>
            <a:r>
              <a:rPr dirty="0" sz="750" spc="10">
                <a:latin typeface="Book Antiqua"/>
                <a:cs typeface="Book Antiqua"/>
              </a:rPr>
              <a:t>, </a:t>
            </a:r>
            <a:r>
              <a:rPr dirty="0" sz="750" spc="-10">
                <a:latin typeface="Book Antiqua"/>
                <a:cs typeface="Book Antiqua"/>
              </a:rPr>
              <a:t>начинающиеся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h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 startAt="4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Запустите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записывать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~/logfile</a:t>
            </a:r>
            <a:endParaRPr sz="700">
              <a:latin typeface="Courier New"/>
              <a:cs typeface="Courier New"/>
            </a:endParaRPr>
          </a:p>
          <a:p>
            <a:pPr marL="201295">
              <a:lnSpc>
                <a:spcPts val="894"/>
              </a:lnSpc>
            </a:pP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имена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log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 startAt="7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~/logfile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 startAt="7"/>
              <a:tabLst>
                <a:tab pos="200660" algn="l"/>
              </a:tabLst>
            </a:pPr>
            <a:r>
              <a:rPr dirty="0" sz="750" spc="10">
                <a:latin typeface="Book Antiqua"/>
                <a:cs typeface="Book Antiqua"/>
              </a:rPr>
              <a:t>Запустите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консоли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в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фоновом</a:t>
            </a:r>
            <a:r>
              <a:rPr dirty="0" sz="750" spc="45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режиме</a:t>
            </a:r>
            <a:r>
              <a:rPr dirty="0" sz="750" spc="5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gedit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 startAt="7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Определите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идентификатор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gedit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конвейер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 </a:t>
            </a:r>
            <a:r>
              <a:rPr dirty="0" sz="750" spc="-10">
                <a:latin typeface="Book Antiqua"/>
                <a:cs typeface="Book Antiqua"/>
              </a:rPr>
              <a:t>фильтр</a:t>
            </a:r>
            <a:endParaRPr sz="750">
              <a:latin typeface="Book Antiqua"/>
              <a:cs typeface="Book Antiqua"/>
            </a:endParaRPr>
          </a:p>
          <a:p>
            <a:pPr marL="20129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ещё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идентификатор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процесса?</a:t>
            </a:r>
            <a:endParaRPr sz="750">
              <a:latin typeface="Book Antiqua"/>
              <a:cs typeface="Book Antiqua"/>
            </a:endParaRPr>
          </a:p>
          <a:p>
            <a:pPr marL="200025" marR="26034" indent="-187960">
              <a:lnSpc>
                <a:spcPts val="890"/>
              </a:lnSpc>
              <a:spcBef>
                <a:spcPts val="35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Прочтите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справку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kill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завершения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процесса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gedit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marR="26034" indent="-187960">
              <a:lnSpc>
                <a:spcPts val="890"/>
              </a:lnSpc>
              <a:spcBef>
                <a:spcPts val="10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предварительно</a:t>
            </a:r>
            <a:r>
              <a:rPr dirty="0" sz="750" spc="-10">
                <a:latin typeface="Book Antiqua"/>
                <a:cs typeface="Book Antiqua"/>
              </a:rPr>
              <a:t> получив </a:t>
            </a:r>
            <a:r>
              <a:rPr dirty="0" sz="750">
                <a:latin typeface="Book Antiqua"/>
                <a:cs typeface="Book Antiqua"/>
              </a:rPr>
              <a:t>более</a:t>
            </a:r>
            <a:r>
              <a:rPr dirty="0" sz="750" spc="-10">
                <a:latin typeface="Book Antiqua"/>
                <a:cs typeface="Book Antiqua"/>
              </a:rPr>
              <a:t> подробную информацию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командах,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marR="5080" indent="-187960">
              <a:lnSpc>
                <a:spcPts val="890"/>
              </a:lnSpc>
              <a:spcBef>
                <a:spcPts val="5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Воспользовавшись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директорий,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щихся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685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раб.;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AutoNum type="arabicPeriod"/>
            </a:pPr>
            <a:endParaRPr sz="750">
              <a:latin typeface="Book Antiqua"/>
              <a:cs typeface="Book Antiqua"/>
            </a:endParaRPr>
          </a:p>
          <a:p>
            <a:pPr marL="161925" indent="-93345">
              <a:lnSpc>
                <a:spcPct val="100000"/>
              </a:lnSpc>
              <a:buSzPct val="88235"/>
              <a:buAutoNum type="arabicPeriod"/>
              <a:tabLst>
                <a:tab pos="161925" algn="l"/>
              </a:tabLst>
            </a:pPr>
            <a:r>
              <a:rPr dirty="0" sz="850" b="1">
                <a:latin typeface="Book Antiqua"/>
                <a:cs typeface="Book Antiqua"/>
              </a:rPr>
              <a:t>5.</a:t>
            </a:r>
            <a:r>
              <a:rPr dirty="0" sz="850" spc="24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знаете?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разницу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&gt;&gt;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конвейер?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процесс?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понятие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отличается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PID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GID?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задачи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какая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управлять?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Найдите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утилитах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top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htop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Каковы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функции?</a:t>
            </a:r>
            <a:endParaRPr sz="750">
              <a:latin typeface="Book Antiqua"/>
              <a:cs typeface="Book Antiqua"/>
            </a:endParaRPr>
          </a:p>
          <a:p>
            <a:pPr marL="200025" marR="508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файлов.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пользования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(содержанию)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файл?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как?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свободной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памяти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жёстком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диске?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зависший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2026-03-20T17:46:34Z</dcterms:created>
  <dcterms:modified xsi:type="dcterms:W3CDTF">2026-03-20T17:46:34Z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