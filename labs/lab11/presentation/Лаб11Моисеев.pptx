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5219700" cy="7200900"/>
  <p:notesSz cx="5219700" cy="72009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1952" y="2232279"/>
            <a:ext cx="4328795" cy="1512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63905" y="4032504"/>
            <a:ext cx="3564890" cy="1800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54635" y="1656207"/>
            <a:ext cx="2215324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622740" y="1656207"/>
            <a:ext cx="2215324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635" y="288036"/>
            <a:ext cx="4583430" cy="1152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4635" y="1656207"/>
            <a:ext cx="4583430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731518" y="6696837"/>
            <a:ext cx="1629664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54635" y="6696837"/>
            <a:ext cx="1171321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666744" y="6696837"/>
            <a:ext cx="1171321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6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7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7.xml"/><Relationship Id="rId3" Type="http://schemas.openxmlformats.org/officeDocument/2006/relationships/image" Target="../media/image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59228" y="391949"/>
            <a:ext cx="3491865" cy="69850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050" b="1">
                <a:latin typeface="Times New Roman"/>
                <a:cs typeface="Times New Roman"/>
              </a:rPr>
              <a:t>РОССИЙСКИЙ</a:t>
            </a:r>
            <a:r>
              <a:rPr dirty="0" sz="1050" spc="7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УНИВЕРСИТЕТ</a:t>
            </a:r>
            <a:r>
              <a:rPr dirty="0" sz="1050" spc="7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ДРУЖБЫ</a:t>
            </a:r>
            <a:r>
              <a:rPr dirty="0" sz="1050" spc="90" b="1">
                <a:latin typeface="Times New Roman"/>
                <a:cs typeface="Times New Roman"/>
              </a:rPr>
              <a:t> </a:t>
            </a:r>
            <a:r>
              <a:rPr dirty="0" sz="1050" spc="-10" b="1">
                <a:latin typeface="Times New Roman"/>
                <a:cs typeface="Times New Roman"/>
              </a:rPr>
              <a:t>НАРОДОВ</a:t>
            </a:r>
            <a:endParaRPr sz="1050">
              <a:latin typeface="Times New Roman"/>
              <a:cs typeface="Times New Roman"/>
            </a:endParaRPr>
          </a:p>
          <a:p>
            <a:pPr marL="303530" marR="219710" indent="46990">
              <a:lnSpc>
                <a:spcPct val="160800"/>
              </a:lnSpc>
            </a:pPr>
            <a:r>
              <a:rPr dirty="0" sz="850" b="1">
                <a:latin typeface="Times New Roman"/>
                <a:cs typeface="Times New Roman"/>
              </a:rPr>
              <a:t>Факультет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физико-математических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естественных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spc="-20" b="1">
                <a:latin typeface="Times New Roman"/>
                <a:cs typeface="Times New Roman"/>
              </a:rPr>
              <a:t>наук</a:t>
            </a:r>
            <a:r>
              <a:rPr dirty="0" sz="850" b="1">
                <a:latin typeface="Times New Roman"/>
                <a:cs typeface="Times New Roman"/>
              </a:rPr>
              <a:t> Кафедра</a:t>
            </a:r>
            <a:r>
              <a:rPr dirty="0" sz="850" spc="5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прикладной</a:t>
            </a:r>
            <a:r>
              <a:rPr dirty="0" sz="850" spc="5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информатики</a:t>
            </a:r>
            <a:r>
              <a:rPr dirty="0" sz="850" spc="5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</a:t>
            </a:r>
            <a:r>
              <a:rPr dirty="0" sz="850" spc="5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теории</a:t>
            </a:r>
            <a:r>
              <a:rPr dirty="0" sz="850" spc="45" b="1">
                <a:latin typeface="Times New Roman"/>
                <a:cs typeface="Times New Roman"/>
              </a:rPr>
              <a:t> </a:t>
            </a:r>
            <a:r>
              <a:rPr dirty="0" sz="850" spc="-10" b="1">
                <a:latin typeface="Times New Roman"/>
                <a:cs typeface="Times New Roman"/>
              </a:rPr>
              <a:t>вероятностей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30898" y="1970606"/>
            <a:ext cx="2562860" cy="819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1905">
              <a:lnSpc>
                <a:spcPct val="100000"/>
              </a:lnSpc>
              <a:spcBef>
                <a:spcPts val="125"/>
              </a:spcBef>
            </a:pPr>
            <a:r>
              <a:rPr dirty="0" sz="1050" spc="-10" b="1">
                <a:latin typeface="Times New Roman"/>
                <a:cs typeface="Times New Roman"/>
              </a:rPr>
              <a:t>ОТЧЕТ</a:t>
            </a:r>
            <a:endParaRPr sz="1050">
              <a:latin typeface="Times New Roman"/>
              <a:cs typeface="Times New Roman"/>
            </a:endParaRPr>
          </a:p>
          <a:p>
            <a:pPr algn="ctr" marL="41910">
              <a:lnSpc>
                <a:spcPct val="100000"/>
              </a:lnSpc>
              <a:spcBef>
                <a:spcPts val="819"/>
              </a:spcBef>
            </a:pPr>
            <a:r>
              <a:rPr dirty="0" sz="1050" b="1">
                <a:latin typeface="Times New Roman"/>
                <a:cs typeface="Times New Roman"/>
              </a:rPr>
              <a:t>ПО</a:t>
            </a:r>
            <a:r>
              <a:rPr dirty="0" sz="1050" spc="5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ЛАБОРАТОРНОЙ</a:t>
            </a:r>
            <a:r>
              <a:rPr dirty="0" sz="1050" spc="5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РАБОТЕ</a:t>
            </a:r>
            <a:r>
              <a:rPr dirty="0" sz="1050" spc="6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№</a:t>
            </a:r>
            <a:r>
              <a:rPr dirty="0" sz="1050" spc="55" b="1">
                <a:latin typeface="Times New Roman"/>
                <a:cs typeface="Times New Roman"/>
              </a:rPr>
              <a:t> </a:t>
            </a:r>
            <a:r>
              <a:rPr dirty="0" sz="1050" spc="-25" b="1">
                <a:latin typeface="Times New Roman"/>
                <a:cs typeface="Times New Roman"/>
              </a:rPr>
              <a:t>11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tabLst>
                <a:tab pos="974725" algn="l"/>
              </a:tabLst>
            </a:pPr>
            <a:r>
              <a:rPr dirty="0" u="sng" sz="105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dirty="0" u="sng" sz="10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Архитектура</a:t>
            </a:r>
            <a:r>
              <a:rPr dirty="0" u="sng" sz="1050" spc="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5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компьютера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89817" y="4260396"/>
            <a:ext cx="2061845" cy="5232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r" marR="53340">
              <a:lnSpc>
                <a:spcPct val="100000"/>
              </a:lnSpc>
              <a:spcBef>
                <a:spcPts val="125"/>
              </a:spcBef>
            </a:pP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dirty="0" u="sng" sz="85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Моисеев</a:t>
            </a:r>
            <a:r>
              <a:rPr dirty="0" u="sng" sz="85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Дмитрий</a:t>
            </a:r>
            <a:r>
              <a:rPr dirty="0" u="sng" sz="85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Вячеславович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8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dirty="0" u="sng" sz="85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НБИбд-</a:t>
            </a:r>
            <a:r>
              <a:rPr dirty="0" u="sng" sz="85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02-</a:t>
            </a:r>
            <a:r>
              <a:rPr dirty="0" u="sng" sz="85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286023" y="6262062"/>
            <a:ext cx="528320" cy="44450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dirty="0" sz="850" spc="-10" b="1">
                <a:latin typeface="Times New Roman"/>
                <a:cs typeface="Times New Roman"/>
              </a:rPr>
              <a:t>МОСКВА</a:t>
            </a:r>
            <a:endParaRPr sz="850">
              <a:latin typeface="Times New Roman"/>
              <a:cs typeface="Times New Roman"/>
            </a:endParaRPr>
          </a:p>
          <a:p>
            <a:pPr algn="ctr" marL="4445">
              <a:lnSpc>
                <a:spcPct val="100000"/>
              </a:lnSpc>
              <a:spcBef>
                <a:spcPts val="625"/>
              </a:spcBef>
            </a:pPr>
            <a:r>
              <a:rPr dirty="0" sz="850">
                <a:latin typeface="Times New Roman"/>
                <a:cs typeface="Times New Roman"/>
              </a:rPr>
              <a:t>2026</a:t>
            </a:r>
            <a:r>
              <a:rPr dirty="0" sz="850" spc="10">
                <a:latin typeface="Times New Roman"/>
                <a:cs typeface="Times New Roman"/>
              </a:rPr>
              <a:t> </a:t>
            </a:r>
            <a:r>
              <a:rPr dirty="0" sz="850" spc="-25">
                <a:latin typeface="Times New Roman"/>
                <a:cs typeface="Times New Roman"/>
              </a:rPr>
              <a:t>г.</a:t>
            </a:r>
            <a:endParaRPr sz="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31918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75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40679" y="6274457"/>
            <a:ext cx="185323" cy="12898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543204" y="766996"/>
            <a:ext cx="4154804" cy="56419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50800">
              <a:lnSpc>
                <a:spcPct val="100000"/>
              </a:lnSpc>
              <a:spcBef>
                <a:spcPts val="90"/>
              </a:spcBef>
            </a:pPr>
            <a:r>
              <a:rPr dirty="0" sz="950" b="1">
                <a:latin typeface="Book Antiqua"/>
                <a:cs typeface="Book Antiqua"/>
              </a:rPr>
              <a:t>Лабораторная</a:t>
            </a:r>
            <a:r>
              <a:rPr dirty="0" sz="950" spc="7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работа</a:t>
            </a:r>
            <a:r>
              <a:rPr dirty="0" sz="950" spc="7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№</a:t>
            </a:r>
            <a:r>
              <a:rPr dirty="0" sz="950" spc="7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9.</a:t>
            </a:r>
            <a:r>
              <a:rPr dirty="0" sz="950" spc="260" b="1">
                <a:latin typeface="Book Antiqua"/>
                <a:cs typeface="Book Antiqua"/>
              </a:rPr>
              <a:t>  </a:t>
            </a:r>
            <a:r>
              <a:rPr dirty="0" sz="950" b="1">
                <a:latin typeface="Book Antiqua"/>
                <a:cs typeface="Book Antiqua"/>
              </a:rPr>
              <a:t>Текстовой</a:t>
            </a:r>
            <a:r>
              <a:rPr dirty="0" sz="950" spc="8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редактор</a:t>
            </a:r>
            <a:r>
              <a:rPr dirty="0" sz="950" spc="7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Courier New"/>
                <a:cs typeface="Courier New"/>
              </a:rPr>
              <a:t>emacs</a:t>
            </a:r>
            <a:endParaRPr sz="850">
              <a:latin typeface="Courier New"/>
              <a:cs typeface="Courier New"/>
            </a:endParaRPr>
          </a:p>
          <a:p>
            <a:pPr lvl="1" marL="342265" indent="-292100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342265" algn="l"/>
              </a:tabLst>
            </a:pPr>
            <a:r>
              <a:rPr dirty="0" sz="850" b="1">
                <a:latin typeface="Book Antiqua"/>
                <a:cs typeface="Book Antiqua"/>
              </a:rPr>
              <a:t>Цель</a:t>
            </a:r>
            <a:r>
              <a:rPr dirty="0" sz="850" spc="-3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algn="just" marL="50800" marR="43180" indent="97790">
              <a:lnSpc>
                <a:spcPct val="100000"/>
              </a:lnSpc>
              <a:spcBef>
                <a:spcPts val="865"/>
              </a:spcBef>
            </a:pPr>
            <a:r>
              <a:rPr dirty="0" sz="750">
                <a:latin typeface="Book Antiqua"/>
                <a:cs typeface="Book Antiqua"/>
              </a:rPr>
              <a:t>Познакомиться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операционной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системой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Linux.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Получить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практические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навыки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редактором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Emacs.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750">
              <a:latin typeface="Book Antiqua"/>
              <a:cs typeface="Book Antiqua"/>
            </a:endParaRPr>
          </a:p>
          <a:p>
            <a:pPr lvl="1" marL="341630" indent="-290830">
              <a:lnSpc>
                <a:spcPct val="100000"/>
              </a:lnSpc>
              <a:buAutoNum type="arabicPeriod" startAt="2"/>
              <a:tabLst>
                <a:tab pos="341630" algn="l"/>
              </a:tabLst>
            </a:pPr>
            <a:r>
              <a:rPr dirty="0" sz="850" b="1">
                <a:latin typeface="Book Antiqua"/>
                <a:cs typeface="Book Antiqua"/>
              </a:rPr>
              <a:t>Указания</a:t>
            </a:r>
            <a:r>
              <a:rPr dirty="0" sz="850" spc="1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к</a:t>
            </a:r>
            <a:r>
              <a:rPr dirty="0" sz="850" spc="1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работе</a:t>
            </a:r>
            <a:endParaRPr sz="850">
              <a:latin typeface="Book Antiqua"/>
              <a:cs typeface="Book Antiqua"/>
            </a:endParaRPr>
          </a:p>
          <a:p>
            <a:pPr algn="just" marL="50800" marR="63500" indent="97790">
              <a:lnSpc>
                <a:spcPct val="100000"/>
              </a:lnSpc>
              <a:spcBef>
                <a:spcPts val="860"/>
              </a:spcBef>
            </a:pPr>
            <a:r>
              <a:rPr dirty="0" sz="750">
                <a:latin typeface="Book Antiqua"/>
                <a:cs typeface="Book Antiqua"/>
              </a:rPr>
              <a:t>Emacs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представляет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собой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мощный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экранный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текста,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написанный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языке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высокого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уровня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Elisp.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750">
              <a:latin typeface="Book Antiqua"/>
              <a:cs typeface="Book Antiqua"/>
            </a:endParaRPr>
          </a:p>
          <a:p>
            <a:pPr lvl="2" marL="436880" indent="-386080">
              <a:lnSpc>
                <a:spcPct val="100000"/>
              </a:lnSpc>
              <a:buAutoNum type="arabicPeriod"/>
              <a:tabLst>
                <a:tab pos="436880" algn="l"/>
              </a:tabLst>
            </a:pPr>
            <a:r>
              <a:rPr dirty="0" sz="850" b="1">
                <a:latin typeface="Book Antiqua"/>
                <a:cs typeface="Book Antiqua"/>
              </a:rPr>
              <a:t>Основные</a:t>
            </a:r>
            <a:r>
              <a:rPr dirty="0" sz="850" spc="7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термины</a:t>
            </a:r>
            <a:r>
              <a:rPr dirty="0" sz="850" spc="10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Emacs</a:t>
            </a:r>
            <a:endParaRPr sz="850">
              <a:latin typeface="Book Antiqua"/>
              <a:cs typeface="Book Antiqua"/>
            </a:endParaRPr>
          </a:p>
          <a:p>
            <a:pPr algn="just" marL="50800">
              <a:lnSpc>
                <a:spcPct val="100000"/>
              </a:lnSpc>
              <a:spcBef>
                <a:spcPts val="555"/>
              </a:spcBef>
            </a:pPr>
            <a:r>
              <a:rPr dirty="0" sz="750" b="1">
                <a:latin typeface="Book Antiqua"/>
                <a:cs typeface="Book Antiqua"/>
              </a:rPr>
              <a:t>Определение</a:t>
            </a:r>
            <a:r>
              <a:rPr dirty="0" sz="750" spc="70" b="1">
                <a:latin typeface="Book Antiqua"/>
                <a:cs typeface="Book Antiqua"/>
              </a:rPr>
              <a:t> </a:t>
            </a:r>
            <a:r>
              <a:rPr dirty="0" sz="750" spc="50" b="1">
                <a:latin typeface="Book Antiqua"/>
                <a:cs typeface="Book Antiqua"/>
              </a:rPr>
              <a:t>1.</a:t>
            </a:r>
            <a:r>
              <a:rPr dirty="0" sz="750" spc="360" b="1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Буфер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объект, представляющий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какой-либо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текст.</a:t>
            </a:r>
            <a:endParaRPr sz="750">
              <a:latin typeface="Book Antiqua"/>
              <a:cs typeface="Book Antiqua"/>
            </a:endParaRPr>
          </a:p>
          <a:p>
            <a:pPr algn="just" marL="50800" marR="64135" indent="97790">
              <a:lnSpc>
                <a:spcPct val="100000"/>
              </a:lnSpc>
              <a:spcBef>
                <a:spcPts val="790"/>
              </a:spcBef>
            </a:pPr>
            <a:r>
              <a:rPr dirty="0" sz="750" spc="-10">
                <a:latin typeface="Book Antiqua"/>
                <a:cs typeface="Book Antiqua"/>
              </a:rPr>
              <a:t>Буфер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может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содержать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угодно,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например,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результаты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компиляции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программы</a:t>
            </a:r>
            <a:r>
              <a:rPr dirty="0" sz="750" spc="20">
                <a:latin typeface="Book Antiqua"/>
                <a:cs typeface="Book Antiqua"/>
              </a:rPr>
              <a:t> или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встроенные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подсказки.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Практически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всё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взаимодействие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пользователем,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том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числе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интерактивное,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происходит </a:t>
            </a:r>
            <a:r>
              <a:rPr dirty="0" sz="750" spc="10">
                <a:latin typeface="Book Antiqua"/>
                <a:cs typeface="Book Antiqua"/>
              </a:rPr>
              <a:t>посредством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буферов.</a:t>
            </a:r>
            <a:endParaRPr sz="750">
              <a:latin typeface="Book Antiqua"/>
              <a:cs typeface="Book Antiqua"/>
            </a:endParaRPr>
          </a:p>
          <a:p>
            <a:pPr algn="just" marL="50800" marR="64135">
              <a:lnSpc>
                <a:spcPct val="100000"/>
              </a:lnSpc>
              <a:spcBef>
                <a:spcPts val="585"/>
              </a:spcBef>
            </a:pPr>
            <a:r>
              <a:rPr dirty="0" sz="750" b="1">
                <a:latin typeface="Book Antiqua"/>
                <a:cs typeface="Book Antiqua"/>
              </a:rPr>
              <a:t>Определение</a:t>
            </a:r>
            <a:r>
              <a:rPr dirty="0" sz="750" spc="50" b="1">
                <a:latin typeface="Book Antiqua"/>
                <a:cs typeface="Book Antiqua"/>
              </a:rPr>
              <a:t> 2.</a:t>
            </a:r>
            <a:r>
              <a:rPr dirty="0" sz="750" spc="320" b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Фрейм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соответствует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окну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обычном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понимании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этого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слова.</a:t>
            </a:r>
            <a:r>
              <a:rPr dirty="0" sz="750" spc="-10">
                <a:latin typeface="Book Antiqua"/>
                <a:cs typeface="Book Antiqua"/>
              </a:rPr>
              <a:t> Каждый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фрейм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содержит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область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несколько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окон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Emacs.</a:t>
            </a:r>
            <a:endParaRPr sz="750">
              <a:latin typeface="Book Antiqua"/>
              <a:cs typeface="Book Antiqua"/>
            </a:endParaRPr>
          </a:p>
          <a:p>
            <a:pPr algn="just" marL="50800" marR="42545">
              <a:lnSpc>
                <a:spcPct val="100000"/>
              </a:lnSpc>
              <a:spcBef>
                <a:spcPts val="785"/>
              </a:spcBef>
            </a:pPr>
            <a:r>
              <a:rPr dirty="0" sz="750" spc="10" b="1">
                <a:latin typeface="Book Antiqua"/>
                <a:cs typeface="Book Antiqua"/>
              </a:rPr>
              <a:t>Определение</a:t>
            </a:r>
            <a:r>
              <a:rPr dirty="0" sz="750" spc="20" b="1">
                <a:latin typeface="Book Antiqua"/>
                <a:cs typeface="Book Antiqua"/>
              </a:rPr>
              <a:t> </a:t>
            </a:r>
            <a:r>
              <a:rPr dirty="0" sz="750" spc="50" b="1">
                <a:latin typeface="Book Antiqua"/>
                <a:cs typeface="Book Antiqua"/>
              </a:rPr>
              <a:t>3.</a:t>
            </a:r>
            <a:r>
              <a:rPr dirty="0" sz="750" spc="254" b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Окно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70">
                <a:latin typeface="Book Antiqua"/>
                <a:cs typeface="Book Antiqua"/>
              </a:rPr>
              <a:t>—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прямоугольная область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фрейма,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отображающая </a:t>
            </a:r>
            <a:r>
              <a:rPr dirty="0" sz="750" spc="-5">
                <a:latin typeface="Book Antiqua"/>
                <a:cs typeface="Book Antiqua"/>
              </a:rPr>
              <a:t>один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из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буфе-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ров.</a:t>
            </a:r>
            <a:endParaRPr sz="750">
              <a:latin typeface="Book Antiqua"/>
              <a:cs typeface="Book Antiqua"/>
            </a:endParaRPr>
          </a:p>
          <a:p>
            <a:pPr algn="just" marL="46990" marR="43180" indent="100965">
              <a:lnSpc>
                <a:spcPct val="100000"/>
              </a:lnSpc>
              <a:spcBef>
                <a:spcPts val="785"/>
              </a:spcBef>
            </a:pPr>
            <a:r>
              <a:rPr dirty="0" sz="750">
                <a:latin typeface="Book Antiqua"/>
                <a:cs typeface="Book Antiqua"/>
              </a:rPr>
              <a:t>Каждое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окно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 свою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состояния,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которой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выводится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следующая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информа-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ция: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название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буфера,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его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основной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изменялся </a:t>
            </a:r>
            <a:r>
              <a:rPr dirty="0" sz="750" spc="-20">
                <a:latin typeface="Book Antiqua"/>
                <a:cs typeface="Book Antiqua"/>
              </a:rPr>
              <a:t>ли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-30">
                <a:latin typeface="Book Antiqua"/>
                <a:cs typeface="Book Antiqua"/>
              </a:rPr>
              <a:t>буфера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 далеко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вниз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буферу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расположен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курсор.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Каждый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буфер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находится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только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одном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возможных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основных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режимов.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Существующие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основные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режимы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включают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режим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Fundamental </a:t>
            </a:r>
            <a:r>
              <a:rPr dirty="0" sz="750" spc="20">
                <a:latin typeface="Book Antiqua"/>
                <a:cs typeface="Book Antiqua"/>
              </a:rPr>
              <a:t>(наименее специализированный),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режим </a:t>
            </a:r>
            <a:r>
              <a:rPr dirty="0" sz="700" spc="20">
                <a:latin typeface="Courier New"/>
                <a:cs typeface="Courier New"/>
              </a:rPr>
              <a:t>Text</a:t>
            </a:r>
            <a:r>
              <a:rPr dirty="0" sz="750" spc="20">
                <a:latin typeface="Book Antiqua"/>
                <a:cs typeface="Book Antiqua"/>
              </a:rPr>
              <a:t>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режим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 spc="20">
                <a:latin typeface="Courier New"/>
                <a:cs typeface="Courier New"/>
              </a:rPr>
              <a:t>Lisp</a:t>
            </a:r>
            <a:r>
              <a:rPr dirty="0" sz="750" spc="20">
                <a:latin typeface="Book Antiqua"/>
                <a:cs typeface="Book Antiqua"/>
              </a:rPr>
              <a:t>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режим </a:t>
            </a:r>
            <a:r>
              <a:rPr dirty="0" sz="700" spc="20">
                <a:latin typeface="Courier New"/>
                <a:cs typeface="Courier New"/>
              </a:rPr>
              <a:t>С</a:t>
            </a:r>
            <a:r>
              <a:rPr dirty="0" sz="750" spc="20">
                <a:latin typeface="Book Antiqua"/>
                <a:cs typeface="Book Antiqua"/>
              </a:rPr>
              <a:t>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режим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Texinfo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другие. </a:t>
            </a:r>
            <a:r>
              <a:rPr dirty="0" sz="750" spc="-10">
                <a:latin typeface="Book Antiqua"/>
                <a:cs typeface="Book Antiqua"/>
              </a:rPr>
              <a:t>Под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второстепенными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режимами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понимается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список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режимов, которые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вклю-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чены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данный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момент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буфере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выбранного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окна.</a:t>
            </a:r>
            <a:endParaRPr sz="750">
              <a:latin typeface="Book Antiqua"/>
              <a:cs typeface="Book Antiqua"/>
            </a:endParaRPr>
          </a:p>
          <a:p>
            <a:pPr algn="just" marL="50800" marR="43180">
              <a:lnSpc>
                <a:spcPct val="100000"/>
              </a:lnSpc>
              <a:spcBef>
                <a:spcPts val="560"/>
              </a:spcBef>
            </a:pPr>
            <a:r>
              <a:rPr dirty="0" sz="750" spc="10" b="1">
                <a:latin typeface="Book Antiqua"/>
                <a:cs typeface="Book Antiqua"/>
              </a:rPr>
              <a:t>Определение</a:t>
            </a:r>
            <a:r>
              <a:rPr dirty="0" sz="750" spc="20" b="1">
                <a:latin typeface="Book Antiqua"/>
                <a:cs typeface="Book Antiqua"/>
              </a:rPr>
              <a:t> </a:t>
            </a:r>
            <a:r>
              <a:rPr dirty="0" sz="750" spc="50" b="1">
                <a:latin typeface="Book Antiqua"/>
                <a:cs typeface="Book Antiqua"/>
              </a:rPr>
              <a:t>4.</a:t>
            </a:r>
            <a:r>
              <a:rPr dirty="0" sz="750" spc="254" b="1">
                <a:latin typeface="Book Antiqua"/>
                <a:cs typeface="Book Antiqua"/>
              </a:rPr>
              <a:t> </a:t>
            </a:r>
            <a:r>
              <a:rPr dirty="0" sz="750" spc="-25" i="1">
                <a:latin typeface="Georgia"/>
                <a:cs typeface="Georgia"/>
              </a:rPr>
              <a:t>Область</a:t>
            </a:r>
            <a:r>
              <a:rPr dirty="0" sz="750" i="1">
                <a:latin typeface="Georgia"/>
                <a:cs typeface="Georgia"/>
              </a:rPr>
              <a:t> </a:t>
            </a:r>
            <a:r>
              <a:rPr dirty="0" sz="750" spc="-25" i="1">
                <a:latin typeface="Georgia"/>
                <a:cs typeface="Georgia"/>
              </a:rPr>
              <a:t>вывода </a:t>
            </a:r>
            <a:r>
              <a:rPr dirty="0" sz="750" spc="-70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одна </a:t>
            </a:r>
            <a:r>
              <a:rPr dirty="0" sz="750" spc="-5">
                <a:latin typeface="Book Antiqua"/>
                <a:cs typeface="Book Antiqua"/>
              </a:rPr>
              <a:t>или</a:t>
            </a:r>
            <a:r>
              <a:rPr dirty="0" sz="750">
                <a:latin typeface="Book Antiqua"/>
                <a:cs typeface="Book Antiqua"/>
              </a:rPr>
              <a:t> несколько </a:t>
            </a:r>
            <a:r>
              <a:rPr dirty="0" sz="750" spc="5">
                <a:latin typeface="Book Antiqua"/>
                <a:cs typeface="Book Antiqua"/>
              </a:rPr>
              <a:t>строк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внизу</a:t>
            </a:r>
            <a:r>
              <a:rPr dirty="0" sz="750">
                <a:latin typeface="Book Antiqua"/>
                <a:cs typeface="Book Antiqua"/>
              </a:rPr>
              <a:t> фрейма,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которой </a:t>
            </a:r>
            <a:r>
              <a:rPr dirty="0" sz="750" spc="5">
                <a:latin typeface="Book Antiqua"/>
                <a:cs typeface="Book Antiqua"/>
              </a:rPr>
              <a:t>Emacs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выводит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различные</a:t>
            </a:r>
            <a:r>
              <a:rPr dirty="0" sz="750">
                <a:latin typeface="Book Antiqua"/>
                <a:cs typeface="Book Antiqua"/>
              </a:rPr>
              <a:t> сообщения,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также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запрашивает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подтверждения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и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дополни-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тельную информацию </a:t>
            </a:r>
            <a:r>
              <a:rPr dirty="0" sz="750" spc="5">
                <a:latin typeface="Book Antiqua"/>
                <a:cs typeface="Book Antiqua"/>
              </a:rPr>
              <a:t>от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пользователя.</a:t>
            </a:r>
            <a:endParaRPr sz="750">
              <a:latin typeface="Book Antiqua"/>
              <a:cs typeface="Book Antiqua"/>
            </a:endParaRPr>
          </a:p>
          <a:p>
            <a:pPr algn="just" marL="50800" marR="43180">
              <a:lnSpc>
                <a:spcPct val="100000"/>
              </a:lnSpc>
              <a:spcBef>
                <a:spcPts val="780"/>
              </a:spcBef>
            </a:pPr>
            <a:r>
              <a:rPr dirty="0" sz="750" b="1">
                <a:latin typeface="Book Antiqua"/>
                <a:cs typeface="Book Antiqua"/>
              </a:rPr>
              <a:t>Определение</a:t>
            </a:r>
            <a:r>
              <a:rPr dirty="0" sz="750" spc="60" b="1">
                <a:latin typeface="Book Antiqua"/>
                <a:cs typeface="Book Antiqua"/>
              </a:rPr>
              <a:t> </a:t>
            </a:r>
            <a:r>
              <a:rPr dirty="0" sz="750" spc="50" b="1">
                <a:latin typeface="Book Antiqua"/>
                <a:cs typeface="Book Antiqua"/>
              </a:rPr>
              <a:t>5.</a:t>
            </a:r>
            <a:r>
              <a:rPr dirty="0" sz="750" spc="350" b="1">
                <a:latin typeface="Book Antiqua"/>
                <a:cs typeface="Book Antiqua"/>
              </a:rPr>
              <a:t> </a:t>
            </a:r>
            <a:r>
              <a:rPr dirty="0" sz="750" spc="-40" i="1">
                <a:latin typeface="Georgia"/>
                <a:cs typeface="Georgia"/>
              </a:rPr>
              <a:t>Минибуфер</a:t>
            </a:r>
            <a:r>
              <a:rPr dirty="0" sz="750" spc="15" i="1">
                <a:latin typeface="Georgia"/>
                <a:cs typeface="Georgi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используется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ввода</a:t>
            </a:r>
            <a:r>
              <a:rPr dirty="0" sz="750" spc="-10">
                <a:latin typeface="Book Antiqua"/>
                <a:cs typeface="Book Antiqua"/>
              </a:rPr>
              <a:t> дополнительной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информации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все-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гда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отображается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области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вывода.</a:t>
            </a:r>
            <a:endParaRPr sz="750">
              <a:latin typeface="Book Antiqua"/>
              <a:cs typeface="Book Antiqua"/>
            </a:endParaRPr>
          </a:p>
          <a:p>
            <a:pPr algn="just" marL="50800">
              <a:lnSpc>
                <a:spcPct val="100000"/>
              </a:lnSpc>
              <a:spcBef>
                <a:spcPts val="785"/>
              </a:spcBef>
            </a:pPr>
            <a:r>
              <a:rPr dirty="0" sz="750" b="1">
                <a:latin typeface="Book Antiqua"/>
                <a:cs typeface="Book Antiqua"/>
              </a:rPr>
              <a:t>Определение</a:t>
            </a:r>
            <a:r>
              <a:rPr dirty="0" sz="750" spc="70" b="1">
                <a:latin typeface="Book Antiqua"/>
                <a:cs typeface="Book Antiqua"/>
              </a:rPr>
              <a:t> </a:t>
            </a:r>
            <a:r>
              <a:rPr dirty="0" sz="750" spc="50" b="1">
                <a:latin typeface="Book Antiqua"/>
                <a:cs typeface="Book Antiqua"/>
              </a:rPr>
              <a:t>6.</a:t>
            </a:r>
            <a:r>
              <a:rPr dirty="0" sz="750" spc="370" b="1">
                <a:latin typeface="Book Antiqua"/>
                <a:cs typeface="Book Antiqua"/>
              </a:rPr>
              <a:t> </a:t>
            </a:r>
            <a:r>
              <a:rPr dirty="0" sz="750" spc="-25" i="1">
                <a:latin typeface="Georgia"/>
                <a:cs typeface="Georgia"/>
              </a:rPr>
              <a:t>Точка</a:t>
            </a:r>
            <a:r>
              <a:rPr dirty="0" sz="750" spc="45" i="1">
                <a:latin typeface="Georgia"/>
                <a:cs typeface="Georgia"/>
              </a:rPr>
              <a:t> </a:t>
            </a:r>
            <a:r>
              <a:rPr dirty="0" sz="750" spc="-25" i="1">
                <a:latin typeface="Georgia"/>
                <a:cs typeface="Georgia"/>
              </a:rPr>
              <a:t>вставки</a:t>
            </a:r>
            <a:r>
              <a:rPr dirty="0" sz="750" spc="15" i="1">
                <a:latin typeface="Georgia"/>
                <a:cs typeface="Georgi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место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вставки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(удаления)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данных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буфере.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750">
              <a:latin typeface="Book Antiqua"/>
              <a:cs typeface="Book Antiqua"/>
            </a:endParaRPr>
          </a:p>
          <a:p>
            <a:pPr lvl="2" marL="436880" indent="-386080">
              <a:lnSpc>
                <a:spcPct val="100000"/>
              </a:lnSpc>
              <a:buAutoNum type="arabicPeriod" startAt="2"/>
              <a:tabLst>
                <a:tab pos="436880" algn="l"/>
              </a:tabLst>
            </a:pPr>
            <a:r>
              <a:rPr dirty="0" sz="850" b="1">
                <a:latin typeface="Book Antiqua"/>
                <a:cs typeface="Book Antiqua"/>
              </a:rPr>
              <a:t>Основы</a:t>
            </a:r>
            <a:r>
              <a:rPr dirty="0" sz="850" spc="70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работы</a:t>
            </a:r>
            <a:r>
              <a:rPr dirty="0" sz="850" spc="70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в</a:t>
            </a:r>
            <a:r>
              <a:rPr dirty="0" sz="850" spc="7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Emacs</a:t>
            </a:r>
            <a:endParaRPr sz="850">
              <a:latin typeface="Book Antiqua"/>
              <a:cs typeface="Book Antiqua"/>
            </a:endParaRPr>
          </a:p>
          <a:p>
            <a:pPr algn="just" marL="50800" marR="64135" indent="97790">
              <a:lnSpc>
                <a:spcPct val="100000"/>
              </a:lnSpc>
              <a:spcBef>
                <a:spcPts val="555"/>
              </a:spcBef>
            </a:pPr>
            <a:r>
              <a:rPr dirty="0" sz="750" spc="-5">
                <a:latin typeface="Book Antiqua"/>
                <a:cs typeface="Book Antiqua"/>
              </a:rPr>
              <a:t>Для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запуска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Emacs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необходимо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командной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строке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набрать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emacs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(или </a:t>
            </a:r>
            <a:r>
              <a:rPr dirty="0" sz="700">
                <a:latin typeface="Courier New"/>
                <a:cs typeface="Courier New"/>
              </a:rPr>
              <a:t>emacs</a:t>
            </a:r>
            <a:r>
              <a:rPr dirty="0" sz="700" spc="1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&amp;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для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работы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фоновом </a:t>
            </a:r>
            <a:r>
              <a:rPr dirty="0" sz="750" spc="5">
                <a:latin typeface="Book Antiqua"/>
                <a:cs typeface="Book Antiqua"/>
              </a:rPr>
              <a:t>режиме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относительно</a:t>
            </a:r>
            <a:r>
              <a:rPr dirty="0" sz="750">
                <a:latin typeface="Book Antiqua"/>
                <a:cs typeface="Book Antiqua"/>
              </a:rPr>
              <a:t> консоли).</a:t>
            </a:r>
            <a:endParaRPr sz="750">
              <a:latin typeface="Book Antiqua"/>
              <a:cs typeface="Book Antiqua"/>
            </a:endParaRPr>
          </a:p>
          <a:p>
            <a:pPr algn="r" marR="43180">
              <a:lnSpc>
                <a:spcPts val="890"/>
              </a:lnSpc>
            </a:pPr>
            <a:r>
              <a:rPr dirty="0" sz="750" spc="10">
                <a:latin typeface="Book Antiqua"/>
                <a:cs typeface="Book Antiqua"/>
              </a:rPr>
              <a:t>Для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работы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Emacs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можно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использовать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как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элементы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меню,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так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различные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со-</a:t>
            </a:r>
            <a:endParaRPr sz="750">
              <a:latin typeface="Book Antiqua"/>
              <a:cs typeface="Book Antiqua"/>
            </a:endParaRPr>
          </a:p>
          <a:p>
            <a:pPr algn="r" marR="91440">
              <a:lnSpc>
                <a:spcPct val="100000"/>
              </a:lnSpc>
              <a:spcBef>
                <a:spcPts val="155"/>
              </a:spcBef>
            </a:pPr>
            <a:r>
              <a:rPr dirty="0" sz="750" spc="10">
                <a:latin typeface="Book Antiqua"/>
                <a:cs typeface="Book Antiqua"/>
              </a:rPr>
              <a:t>четания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клавиш.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Например,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для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выхода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из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Emacs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можно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воспользоваться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меню</a:t>
            </a:r>
            <a:r>
              <a:rPr dirty="0" sz="750" spc="390">
                <a:latin typeface="Book Antiqua"/>
                <a:cs typeface="Book Antiqua"/>
              </a:rPr>
              <a:t> </a:t>
            </a:r>
            <a:r>
              <a:rPr dirty="0" baseline="8547" sz="975" spc="-30">
                <a:latin typeface="Calibri"/>
                <a:cs typeface="Calibri"/>
              </a:rPr>
              <a:t>File</a:t>
            </a:r>
            <a:endParaRPr baseline="8547" sz="975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8757" y="6416101"/>
            <a:ext cx="205365" cy="128986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3292793" y="6416100"/>
            <a:ext cx="527050" cy="129539"/>
            <a:chOff x="3292793" y="6416100"/>
            <a:chExt cx="527050" cy="129539"/>
          </a:xfrm>
        </p:grpSpPr>
        <p:sp>
          <p:nvSpPr>
            <p:cNvPr id="8" name="object 8" descr=""/>
            <p:cNvSpPr/>
            <p:nvPr/>
          </p:nvSpPr>
          <p:spPr>
            <a:xfrm>
              <a:off x="3295323" y="6418631"/>
              <a:ext cx="245745" cy="124460"/>
            </a:xfrm>
            <a:custGeom>
              <a:avLst/>
              <a:gdLst/>
              <a:ahLst/>
              <a:cxnLst/>
              <a:rect l="l" t="t" r="r" b="b"/>
              <a:pathLst>
                <a:path w="245745" h="124459">
                  <a:moveTo>
                    <a:pt x="238865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38865" y="123926"/>
                  </a:lnTo>
                  <a:lnTo>
                    <a:pt x="245457" y="117333"/>
                  </a:lnTo>
                  <a:lnTo>
                    <a:pt x="245457" y="6592"/>
                  </a:lnTo>
                  <a:lnTo>
                    <a:pt x="23886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295323" y="6418631"/>
              <a:ext cx="245745" cy="124460"/>
            </a:xfrm>
            <a:custGeom>
              <a:avLst/>
              <a:gdLst/>
              <a:ahLst/>
              <a:cxnLst/>
              <a:rect l="l" t="t" r="r" b="b"/>
              <a:pathLst>
                <a:path w="245745" h="124459">
                  <a:moveTo>
                    <a:pt x="230733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30733" y="123926"/>
                  </a:lnTo>
                  <a:lnTo>
                    <a:pt x="238865" y="123926"/>
                  </a:lnTo>
                  <a:lnTo>
                    <a:pt x="245457" y="117333"/>
                  </a:lnTo>
                  <a:lnTo>
                    <a:pt x="245457" y="109202"/>
                  </a:lnTo>
                  <a:lnTo>
                    <a:pt x="245457" y="14723"/>
                  </a:lnTo>
                  <a:lnTo>
                    <a:pt x="245457" y="6592"/>
                  </a:lnTo>
                  <a:lnTo>
                    <a:pt x="238865" y="0"/>
                  </a:lnTo>
                  <a:lnTo>
                    <a:pt x="230733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576579" y="6418631"/>
              <a:ext cx="240665" cy="124460"/>
            </a:xfrm>
            <a:custGeom>
              <a:avLst/>
              <a:gdLst/>
              <a:ahLst/>
              <a:cxnLst/>
              <a:rect l="l" t="t" r="r" b="b"/>
              <a:pathLst>
                <a:path w="240664" h="124459">
                  <a:moveTo>
                    <a:pt x="233629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33629" y="123926"/>
                  </a:lnTo>
                  <a:lnTo>
                    <a:pt x="240222" y="117333"/>
                  </a:lnTo>
                  <a:lnTo>
                    <a:pt x="240222" y="6592"/>
                  </a:lnTo>
                  <a:lnTo>
                    <a:pt x="23362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576579" y="6418631"/>
              <a:ext cx="240665" cy="124460"/>
            </a:xfrm>
            <a:custGeom>
              <a:avLst/>
              <a:gdLst/>
              <a:ahLst/>
              <a:cxnLst/>
              <a:rect l="l" t="t" r="r" b="b"/>
              <a:pathLst>
                <a:path w="240664" h="124459">
                  <a:moveTo>
                    <a:pt x="225498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25498" y="123926"/>
                  </a:lnTo>
                  <a:lnTo>
                    <a:pt x="233629" y="123926"/>
                  </a:lnTo>
                  <a:lnTo>
                    <a:pt x="240222" y="117333"/>
                  </a:lnTo>
                  <a:lnTo>
                    <a:pt x="240222" y="109202"/>
                  </a:lnTo>
                  <a:lnTo>
                    <a:pt x="240222" y="14723"/>
                  </a:lnTo>
                  <a:lnTo>
                    <a:pt x="240222" y="6592"/>
                  </a:lnTo>
                  <a:lnTo>
                    <a:pt x="233629" y="0"/>
                  </a:lnTo>
                  <a:lnTo>
                    <a:pt x="225498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295324" y="6418631"/>
            <a:ext cx="521970" cy="1244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>
                <a:latin typeface="Calibri"/>
                <a:cs typeface="Calibri"/>
              </a:rPr>
              <a:t>Ctrl-x</a:t>
            </a:r>
            <a:r>
              <a:rPr dirty="0" sz="650" spc="275">
                <a:latin typeface="Calibri"/>
                <a:cs typeface="Calibri"/>
              </a:rPr>
              <a:t>  </a:t>
            </a:r>
            <a:r>
              <a:rPr dirty="0" sz="650">
                <a:latin typeface="Calibri"/>
                <a:cs typeface="Calibri"/>
              </a:rPr>
              <a:t>Ctrl-</a:t>
            </a:r>
            <a:r>
              <a:rPr dirty="0" sz="650" spc="-50">
                <a:latin typeface="Calibri"/>
                <a:cs typeface="Calibri"/>
              </a:rPr>
              <a:t>c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837355" y="6407162"/>
            <a:ext cx="80137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(в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обозначениях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55904" y="6407162"/>
            <a:ext cx="274447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выбрать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пункт</a:t>
            </a:r>
            <a:r>
              <a:rPr dirty="0" sz="750" spc="360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Quit</a:t>
            </a:r>
            <a:r>
              <a:rPr dirty="0" baseline="8547" sz="975" spc="179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нажать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последовательно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Emacs: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C-x</a:t>
            </a:r>
            <a:r>
              <a:rPr dirty="0" sz="700" spc="10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25">
                <a:latin typeface="Courier New"/>
                <a:cs typeface="Courier New"/>
              </a:rPr>
              <a:t>c</a:t>
            </a:r>
            <a:r>
              <a:rPr dirty="0" sz="750" spc="-25">
                <a:latin typeface="Book Antiqua"/>
                <a:cs typeface="Book Antiqua"/>
              </a:rPr>
              <a:t>).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923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76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704003" y="392412"/>
            <a:ext cx="193484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9.</a:t>
            </a:r>
            <a:r>
              <a:rPr dirty="0" sz="600" spc="4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Текстовой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редактор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550" spc="-10">
                <a:latin typeface="Courier New"/>
                <a:cs typeface="Courier New"/>
              </a:rPr>
              <a:t>emacs</a:t>
            </a:r>
            <a:endParaRPr sz="55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304" y="653389"/>
            <a:ext cx="4078604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Многие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рутинные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операции</a:t>
            </a:r>
            <a:r>
              <a:rPr dirty="0" sz="750">
                <a:latin typeface="Book Antiqua"/>
                <a:cs typeface="Book Antiqua"/>
              </a:rPr>
              <a:t> в Emacs </a:t>
            </a:r>
            <a:r>
              <a:rPr dirty="0" sz="750" spc="-10">
                <a:latin typeface="Book Antiqua"/>
                <a:cs typeface="Book Antiqua"/>
              </a:rPr>
              <a:t>удобнее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производить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 помощью клавиатуры,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 </a:t>
            </a:r>
            <a:r>
              <a:rPr dirty="0" sz="750" spc="-25">
                <a:latin typeface="Book Antiqua"/>
                <a:cs typeface="Book Antiqua"/>
              </a:rPr>
              <a:t>не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графического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меню.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Наиболее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часто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командах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Emacs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используются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сочетания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c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клави-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885430" y="911615"/>
            <a:ext cx="179070" cy="129539"/>
            <a:chOff x="885430" y="911615"/>
            <a:chExt cx="179070" cy="129539"/>
          </a:xfrm>
        </p:grpSpPr>
        <p:sp>
          <p:nvSpPr>
            <p:cNvPr id="7" name="object 7" descr=""/>
            <p:cNvSpPr/>
            <p:nvPr/>
          </p:nvSpPr>
          <p:spPr>
            <a:xfrm>
              <a:off x="887961" y="914146"/>
              <a:ext cx="173990" cy="124460"/>
            </a:xfrm>
            <a:custGeom>
              <a:avLst/>
              <a:gdLst/>
              <a:ahLst/>
              <a:cxnLst/>
              <a:rect l="l" t="t" r="r" b="b"/>
              <a:pathLst>
                <a:path w="173990" h="124459">
                  <a:moveTo>
                    <a:pt x="167290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67290" y="123926"/>
                  </a:lnTo>
                  <a:lnTo>
                    <a:pt x="173882" y="117333"/>
                  </a:lnTo>
                  <a:lnTo>
                    <a:pt x="173882" y="6592"/>
                  </a:lnTo>
                  <a:lnTo>
                    <a:pt x="16729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87961" y="914146"/>
              <a:ext cx="173990" cy="124460"/>
            </a:xfrm>
            <a:custGeom>
              <a:avLst/>
              <a:gdLst/>
              <a:ahLst/>
              <a:cxnLst/>
              <a:rect l="l" t="t" r="r" b="b"/>
              <a:pathLst>
                <a:path w="173990" h="124459">
                  <a:moveTo>
                    <a:pt x="159158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59158" y="123926"/>
                  </a:lnTo>
                  <a:lnTo>
                    <a:pt x="167290" y="123926"/>
                  </a:lnTo>
                  <a:lnTo>
                    <a:pt x="173882" y="117333"/>
                  </a:lnTo>
                  <a:lnTo>
                    <a:pt x="173882" y="109202"/>
                  </a:lnTo>
                  <a:lnTo>
                    <a:pt x="173882" y="14723"/>
                  </a:lnTo>
                  <a:lnTo>
                    <a:pt x="173882" y="6592"/>
                  </a:lnTo>
                  <a:lnTo>
                    <a:pt x="167290" y="0"/>
                  </a:lnTo>
                  <a:lnTo>
                    <a:pt x="159158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555904" y="902665"/>
            <a:ext cx="63182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шами</a:t>
            </a:r>
            <a:r>
              <a:rPr dirty="0" sz="750" spc="254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Ctrl</a:t>
            </a:r>
            <a:r>
              <a:rPr dirty="0" baseline="8547" sz="975" spc="465">
                <a:latin typeface="Calibri"/>
                <a:cs typeface="Calibri"/>
              </a:rPr>
              <a:t> </a:t>
            </a:r>
            <a:r>
              <a:rPr dirty="0" sz="750" spc="-50">
                <a:latin typeface="Book Antiqua"/>
                <a:cs typeface="Book Antiqua"/>
              </a:rPr>
              <a:t>и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173108" y="911615"/>
            <a:ext cx="230504" cy="129539"/>
            <a:chOff x="1173108" y="911615"/>
            <a:chExt cx="230504" cy="129539"/>
          </a:xfrm>
        </p:grpSpPr>
        <p:sp>
          <p:nvSpPr>
            <p:cNvPr id="11" name="object 11" descr=""/>
            <p:cNvSpPr/>
            <p:nvPr/>
          </p:nvSpPr>
          <p:spPr>
            <a:xfrm>
              <a:off x="1175639" y="914146"/>
              <a:ext cx="225425" cy="124460"/>
            </a:xfrm>
            <a:custGeom>
              <a:avLst/>
              <a:gdLst/>
              <a:ahLst/>
              <a:cxnLst/>
              <a:rect l="l" t="t" r="r" b="b"/>
              <a:pathLst>
                <a:path w="225425" h="124459">
                  <a:moveTo>
                    <a:pt x="218578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18578" y="123926"/>
                  </a:lnTo>
                  <a:lnTo>
                    <a:pt x="225170" y="117333"/>
                  </a:lnTo>
                  <a:lnTo>
                    <a:pt x="225170" y="6592"/>
                  </a:lnTo>
                  <a:lnTo>
                    <a:pt x="21857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175639" y="914146"/>
              <a:ext cx="225425" cy="124460"/>
            </a:xfrm>
            <a:custGeom>
              <a:avLst/>
              <a:gdLst/>
              <a:ahLst/>
              <a:cxnLst/>
              <a:rect l="l" t="t" r="r" b="b"/>
              <a:pathLst>
                <a:path w="225425" h="124459">
                  <a:moveTo>
                    <a:pt x="210447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10447" y="123926"/>
                  </a:lnTo>
                  <a:lnTo>
                    <a:pt x="218578" y="123926"/>
                  </a:lnTo>
                  <a:lnTo>
                    <a:pt x="225170" y="117333"/>
                  </a:lnTo>
                  <a:lnTo>
                    <a:pt x="225170" y="109202"/>
                  </a:lnTo>
                  <a:lnTo>
                    <a:pt x="225170" y="14723"/>
                  </a:lnTo>
                  <a:lnTo>
                    <a:pt x="225170" y="6592"/>
                  </a:lnTo>
                  <a:lnTo>
                    <a:pt x="218578" y="0"/>
                  </a:lnTo>
                  <a:lnTo>
                    <a:pt x="210447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175638" y="914146"/>
            <a:ext cx="225425" cy="1244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 spc="-20">
                <a:latin typeface="Calibri"/>
                <a:cs typeface="Calibri"/>
              </a:rPr>
              <a:t>Meta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414487" y="902665"/>
            <a:ext cx="194627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Book Antiqua"/>
                <a:cs typeface="Book Antiqua"/>
              </a:rPr>
              <a:t>(в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обозначениях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Emacs: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M-</a:t>
            </a:r>
            <a:r>
              <a:rPr dirty="0" sz="750" spc="70">
                <a:latin typeface="Book Antiqua"/>
                <a:cs typeface="Book Antiqua"/>
              </a:rPr>
              <a:t>;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клавиша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3371569" y="911615"/>
            <a:ext cx="218440" cy="129539"/>
            <a:chOff x="3371569" y="911615"/>
            <a:chExt cx="218440" cy="129539"/>
          </a:xfrm>
        </p:grpSpPr>
        <p:sp>
          <p:nvSpPr>
            <p:cNvPr id="16" name="object 16" descr=""/>
            <p:cNvSpPr/>
            <p:nvPr/>
          </p:nvSpPr>
          <p:spPr>
            <a:xfrm>
              <a:off x="3374100" y="914146"/>
              <a:ext cx="213360" cy="124460"/>
            </a:xfrm>
            <a:custGeom>
              <a:avLst/>
              <a:gdLst/>
              <a:ahLst/>
              <a:cxnLst/>
              <a:rect l="l" t="t" r="r" b="b"/>
              <a:pathLst>
                <a:path w="213360" h="124459">
                  <a:moveTo>
                    <a:pt x="206636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06636" y="123926"/>
                  </a:lnTo>
                  <a:lnTo>
                    <a:pt x="213228" y="117333"/>
                  </a:lnTo>
                  <a:lnTo>
                    <a:pt x="213228" y="6592"/>
                  </a:lnTo>
                  <a:lnTo>
                    <a:pt x="206636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374100" y="914146"/>
              <a:ext cx="213360" cy="124460"/>
            </a:xfrm>
            <a:custGeom>
              <a:avLst/>
              <a:gdLst/>
              <a:ahLst/>
              <a:cxnLst/>
              <a:rect l="l" t="t" r="r" b="b"/>
              <a:pathLst>
                <a:path w="213360" h="124459">
                  <a:moveTo>
                    <a:pt x="198504" y="0"/>
                  </a:moveTo>
                  <a:lnTo>
                    <a:pt x="14724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4" y="123926"/>
                  </a:lnTo>
                  <a:lnTo>
                    <a:pt x="198504" y="123926"/>
                  </a:lnTo>
                  <a:lnTo>
                    <a:pt x="206636" y="123926"/>
                  </a:lnTo>
                  <a:lnTo>
                    <a:pt x="213228" y="117333"/>
                  </a:lnTo>
                  <a:lnTo>
                    <a:pt x="213228" y="109202"/>
                  </a:lnTo>
                  <a:lnTo>
                    <a:pt x="213228" y="14723"/>
                  </a:lnTo>
                  <a:lnTo>
                    <a:pt x="213228" y="6592"/>
                  </a:lnTo>
                  <a:lnTo>
                    <a:pt x="206636" y="0"/>
                  </a:lnTo>
                  <a:lnTo>
                    <a:pt x="198504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3374100" y="914146"/>
            <a:ext cx="213360" cy="1244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 spc="-10">
                <a:latin typeface="Calibri"/>
                <a:cs typeface="Calibri"/>
              </a:rPr>
              <a:t>Shift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601008" y="902665"/>
            <a:ext cx="103822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Emasc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обозначается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81304" y="1044308"/>
            <a:ext cx="314325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S-</a:t>
            </a:r>
            <a:r>
              <a:rPr dirty="0" sz="750">
                <a:latin typeface="Book Antiqua"/>
                <a:cs typeface="Book Antiqua"/>
              </a:rPr>
              <a:t>).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клавиатуре для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IBM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PC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совместимых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70">
                <a:latin typeface="Book Antiqua"/>
                <a:cs typeface="Book Antiqua"/>
              </a:rPr>
              <a:t>ПК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клавиши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3735587" y="1053246"/>
            <a:ext cx="230504" cy="129539"/>
            <a:chOff x="3735587" y="1053246"/>
            <a:chExt cx="230504" cy="129539"/>
          </a:xfrm>
        </p:grpSpPr>
        <p:sp>
          <p:nvSpPr>
            <p:cNvPr id="22" name="object 22" descr=""/>
            <p:cNvSpPr/>
            <p:nvPr/>
          </p:nvSpPr>
          <p:spPr>
            <a:xfrm>
              <a:off x="3738117" y="1055776"/>
              <a:ext cx="225425" cy="124460"/>
            </a:xfrm>
            <a:custGeom>
              <a:avLst/>
              <a:gdLst/>
              <a:ahLst/>
              <a:cxnLst/>
              <a:rect l="l" t="t" r="r" b="b"/>
              <a:pathLst>
                <a:path w="225425" h="124459">
                  <a:moveTo>
                    <a:pt x="218578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18578" y="123926"/>
                  </a:lnTo>
                  <a:lnTo>
                    <a:pt x="225171" y="117333"/>
                  </a:lnTo>
                  <a:lnTo>
                    <a:pt x="225171" y="6592"/>
                  </a:lnTo>
                  <a:lnTo>
                    <a:pt x="21857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738117" y="1055776"/>
              <a:ext cx="225425" cy="124460"/>
            </a:xfrm>
            <a:custGeom>
              <a:avLst/>
              <a:gdLst/>
              <a:ahLst/>
              <a:cxnLst/>
              <a:rect l="l" t="t" r="r" b="b"/>
              <a:pathLst>
                <a:path w="225425" h="124459">
                  <a:moveTo>
                    <a:pt x="210447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10447" y="123926"/>
                  </a:lnTo>
                  <a:lnTo>
                    <a:pt x="218578" y="123926"/>
                  </a:lnTo>
                  <a:lnTo>
                    <a:pt x="225171" y="117333"/>
                  </a:lnTo>
                  <a:lnTo>
                    <a:pt x="225171" y="109202"/>
                  </a:lnTo>
                  <a:lnTo>
                    <a:pt x="225171" y="14723"/>
                  </a:lnTo>
                  <a:lnTo>
                    <a:pt x="225171" y="6592"/>
                  </a:lnTo>
                  <a:lnTo>
                    <a:pt x="218578" y="0"/>
                  </a:lnTo>
                  <a:lnTo>
                    <a:pt x="210447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3738117" y="1055776"/>
            <a:ext cx="225425" cy="1244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 spc="-20">
                <a:latin typeface="Calibri"/>
                <a:cs typeface="Calibri"/>
              </a:rPr>
              <a:t>Meta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977081" y="1044308"/>
            <a:ext cx="66167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нет,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вместо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1737450" y="1194889"/>
            <a:ext cx="155575" cy="129539"/>
            <a:chOff x="1737450" y="1194889"/>
            <a:chExt cx="155575" cy="129539"/>
          </a:xfrm>
        </p:grpSpPr>
        <p:sp>
          <p:nvSpPr>
            <p:cNvPr id="27" name="object 27" descr=""/>
            <p:cNvSpPr/>
            <p:nvPr/>
          </p:nvSpPr>
          <p:spPr>
            <a:xfrm>
              <a:off x="1739981" y="1197419"/>
              <a:ext cx="150495" cy="124460"/>
            </a:xfrm>
            <a:custGeom>
              <a:avLst/>
              <a:gdLst/>
              <a:ahLst/>
              <a:cxnLst/>
              <a:rect l="l" t="t" r="r" b="b"/>
              <a:pathLst>
                <a:path w="150494" h="124459">
                  <a:moveTo>
                    <a:pt x="143486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3486" y="123926"/>
                  </a:lnTo>
                  <a:lnTo>
                    <a:pt x="150078" y="117333"/>
                  </a:lnTo>
                  <a:lnTo>
                    <a:pt x="150078" y="6592"/>
                  </a:lnTo>
                  <a:lnTo>
                    <a:pt x="143486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739981" y="1197419"/>
              <a:ext cx="150495" cy="124460"/>
            </a:xfrm>
            <a:custGeom>
              <a:avLst/>
              <a:gdLst/>
              <a:ahLst/>
              <a:cxnLst/>
              <a:rect l="l" t="t" r="r" b="b"/>
              <a:pathLst>
                <a:path w="150494" h="124459">
                  <a:moveTo>
                    <a:pt x="135354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5354" y="123926"/>
                  </a:lnTo>
                  <a:lnTo>
                    <a:pt x="143486" y="123926"/>
                  </a:lnTo>
                  <a:lnTo>
                    <a:pt x="150078" y="117333"/>
                  </a:lnTo>
                  <a:lnTo>
                    <a:pt x="150078" y="109202"/>
                  </a:lnTo>
                  <a:lnTo>
                    <a:pt x="150078" y="14723"/>
                  </a:lnTo>
                  <a:lnTo>
                    <a:pt x="150078" y="6592"/>
                  </a:lnTo>
                  <a:lnTo>
                    <a:pt x="143486" y="0"/>
                  </a:lnTo>
                  <a:lnTo>
                    <a:pt x="135354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1739981" y="1197419"/>
            <a:ext cx="150495" cy="1244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 spc="-25">
                <a:latin typeface="Calibri"/>
                <a:cs typeface="Calibri"/>
              </a:rPr>
              <a:t>Alt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2111156" y="1194889"/>
            <a:ext cx="171450" cy="129539"/>
            <a:chOff x="2111156" y="1194889"/>
            <a:chExt cx="171450" cy="129539"/>
          </a:xfrm>
        </p:grpSpPr>
        <p:sp>
          <p:nvSpPr>
            <p:cNvPr id="31" name="object 31" descr=""/>
            <p:cNvSpPr/>
            <p:nvPr/>
          </p:nvSpPr>
          <p:spPr>
            <a:xfrm>
              <a:off x="2113687" y="1197419"/>
              <a:ext cx="166370" cy="124460"/>
            </a:xfrm>
            <a:custGeom>
              <a:avLst/>
              <a:gdLst/>
              <a:ahLst/>
              <a:cxnLst/>
              <a:rect l="l" t="t" r="r" b="b"/>
              <a:pathLst>
                <a:path w="166369" h="124459">
                  <a:moveTo>
                    <a:pt x="159192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59192" y="123926"/>
                  </a:lnTo>
                  <a:lnTo>
                    <a:pt x="165784" y="117333"/>
                  </a:lnTo>
                  <a:lnTo>
                    <a:pt x="165784" y="6592"/>
                  </a:lnTo>
                  <a:lnTo>
                    <a:pt x="1591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113687" y="1197419"/>
              <a:ext cx="166370" cy="124460"/>
            </a:xfrm>
            <a:custGeom>
              <a:avLst/>
              <a:gdLst/>
              <a:ahLst/>
              <a:cxnLst/>
              <a:rect l="l" t="t" r="r" b="b"/>
              <a:pathLst>
                <a:path w="166369" h="124459">
                  <a:moveTo>
                    <a:pt x="151060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51060" y="123926"/>
                  </a:lnTo>
                  <a:lnTo>
                    <a:pt x="159192" y="123926"/>
                  </a:lnTo>
                  <a:lnTo>
                    <a:pt x="165784" y="117333"/>
                  </a:lnTo>
                  <a:lnTo>
                    <a:pt x="165784" y="109202"/>
                  </a:lnTo>
                  <a:lnTo>
                    <a:pt x="165784" y="14723"/>
                  </a:lnTo>
                  <a:lnTo>
                    <a:pt x="165784" y="6592"/>
                  </a:lnTo>
                  <a:lnTo>
                    <a:pt x="159192" y="0"/>
                  </a:lnTo>
                  <a:lnTo>
                    <a:pt x="151060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1878444" y="1185951"/>
            <a:ext cx="278574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254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Esc</a:t>
            </a:r>
            <a:r>
              <a:rPr dirty="0" baseline="8547" sz="975" spc="142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20">
                <a:latin typeface="Book Antiqua"/>
                <a:cs typeface="Book Antiqua"/>
              </a:rPr>
              <a:t> Для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меню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используйте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клавишу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594003" y="1336519"/>
            <a:ext cx="187325" cy="129539"/>
            <a:chOff x="594003" y="1336519"/>
            <a:chExt cx="187325" cy="129539"/>
          </a:xfrm>
        </p:grpSpPr>
        <p:sp>
          <p:nvSpPr>
            <p:cNvPr id="35" name="object 35" descr=""/>
            <p:cNvSpPr/>
            <p:nvPr/>
          </p:nvSpPr>
          <p:spPr>
            <a:xfrm>
              <a:off x="596533" y="1339050"/>
              <a:ext cx="182245" cy="124460"/>
            </a:xfrm>
            <a:custGeom>
              <a:avLst/>
              <a:gdLst/>
              <a:ahLst/>
              <a:cxnLst/>
              <a:rect l="l" t="t" r="r" b="b"/>
              <a:pathLst>
                <a:path w="182245" h="124459">
                  <a:moveTo>
                    <a:pt x="175470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75470" y="123926"/>
                  </a:lnTo>
                  <a:lnTo>
                    <a:pt x="182062" y="117333"/>
                  </a:lnTo>
                  <a:lnTo>
                    <a:pt x="182062" y="6592"/>
                  </a:lnTo>
                  <a:lnTo>
                    <a:pt x="17547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96533" y="1339050"/>
              <a:ext cx="182245" cy="124460"/>
            </a:xfrm>
            <a:custGeom>
              <a:avLst/>
              <a:gdLst/>
              <a:ahLst/>
              <a:cxnLst/>
              <a:rect l="l" t="t" r="r" b="b"/>
              <a:pathLst>
                <a:path w="182245" h="124459">
                  <a:moveTo>
                    <a:pt x="167339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67339" y="123926"/>
                  </a:lnTo>
                  <a:lnTo>
                    <a:pt x="175470" y="123926"/>
                  </a:lnTo>
                  <a:lnTo>
                    <a:pt x="182062" y="117333"/>
                  </a:lnTo>
                  <a:lnTo>
                    <a:pt x="182062" y="109202"/>
                  </a:lnTo>
                  <a:lnTo>
                    <a:pt x="182062" y="14723"/>
                  </a:lnTo>
                  <a:lnTo>
                    <a:pt x="182062" y="6592"/>
                  </a:lnTo>
                  <a:lnTo>
                    <a:pt x="175470" y="0"/>
                  </a:lnTo>
                  <a:lnTo>
                    <a:pt x="167339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555904" y="1162111"/>
            <a:ext cx="1197610" cy="30924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10"/>
              </a:spcBef>
            </a:pPr>
            <a:r>
              <a:rPr dirty="0" sz="750">
                <a:latin typeface="Book Antiqua"/>
                <a:cs typeface="Book Antiqua"/>
              </a:rPr>
              <a:t>неё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использовать</a:t>
            </a:r>
            <a:endParaRPr sz="750">
              <a:latin typeface="Book Antiqua"/>
              <a:cs typeface="Book Antiqua"/>
            </a:endParaRPr>
          </a:p>
          <a:p>
            <a:pPr marL="65405">
              <a:lnSpc>
                <a:spcPct val="100000"/>
              </a:lnSpc>
              <a:spcBef>
                <a:spcPts val="215"/>
              </a:spcBef>
            </a:pPr>
            <a:r>
              <a:rPr dirty="0" baseline="8547" sz="975">
                <a:latin typeface="Calibri"/>
                <a:cs typeface="Calibri"/>
              </a:rPr>
              <a:t>F10</a:t>
            </a:r>
            <a:r>
              <a:rPr dirty="0" baseline="8547" sz="975" spc="217">
                <a:latin typeface="Calibri"/>
                <a:cs typeface="Calibri"/>
              </a:rPr>
              <a:t> </a:t>
            </a:r>
            <a:r>
              <a:rPr dirty="0" sz="750" spc="-5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1148206" y="1478162"/>
            <a:ext cx="179070" cy="129539"/>
            <a:chOff x="1148206" y="1478162"/>
            <a:chExt cx="179070" cy="129539"/>
          </a:xfrm>
        </p:grpSpPr>
        <p:sp>
          <p:nvSpPr>
            <p:cNvPr id="39" name="object 39" descr=""/>
            <p:cNvSpPr/>
            <p:nvPr/>
          </p:nvSpPr>
          <p:spPr>
            <a:xfrm>
              <a:off x="1150737" y="1480693"/>
              <a:ext cx="173990" cy="124460"/>
            </a:xfrm>
            <a:custGeom>
              <a:avLst/>
              <a:gdLst/>
              <a:ahLst/>
              <a:cxnLst/>
              <a:rect l="l" t="t" r="r" b="b"/>
              <a:pathLst>
                <a:path w="173990" h="124459">
                  <a:moveTo>
                    <a:pt x="167290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67290" y="123926"/>
                  </a:lnTo>
                  <a:lnTo>
                    <a:pt x="173882" y="117333"/>
                  </a:lnTo>
                  <a:lnTo>
                    <a:pt x="173882" y="6592"/>
                  </a:lnTo>
                  <a:lnTo>
                    <a:pt x="16729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150737" y="1480693"/>
              <a:ext cx="173990" cy="124460"/>
            </a:xfrm>
            <a:custGeom>
              <a:avLst/>
              <a:gdLst/>
              <a:ahLst/>
              <a:cxnLst/>
              <a:rect l="l" t="t" r="r" b="b"/>
              <a:pathLst>
                <a:path w="173990" h="124459">
                  <a:moveTo>
                    <a:pt x="159158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59158" y="123926"/>
                  </a:lnTo>
                  <a:lnTo>
                    <a:pt x="167290" y="123926"/>
                  </a:lnTo>
                  <a:lnTo>
                    <a:pt x="173882" y="117333"/>
                  </a:lnTo>
                  <a:lnTo>
                    <a:pt x="173882" y="109202"/>
                  </a:lnTo>
                  <a:lnTo>
                    <a:pt x="173882" y="14723"/>
                  </a:lnTo>
                  <a:lnTo>
                    <a:pt x="173882" y="6592"/>
                  </a:lnTo>
                  <a:lnTo>
                    <a:pt x="167290" y="0"/>
                  </a:lnTo>
                  <a:lnTo>
                    <a:pt x="159158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654062" y="1469224"/>
            <a:ext cx="73977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Клавиши</a:t>
            </a:r>
            <a:r>
              <a:rPr dirty="0" sz="750" spc="285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Ctrl</a:t>
            </a:r>
            <a:r>
              <a:rPr dirty="0" baseline="8547" sz="975" spc="142">
                <a:latin typeface="Calibri"/>
                <a:cs typeface="Calibri"/>
              </a:rPr>
              <a:t> </a:t>
            </a:r>
            <a:r>
              <a:rPr dirty="0" sz="750" spc="-50">
                <a:latin typeface="Book Antiqua"/>
                <a:cs typeface="Book Antiqua"/>
              </a:rPr>
              <a:t>,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1379191" y="1478162"/>
            <a:ext cx="230504" cy="129539"/>
            <a:chOff x="1379191" y="1478162"/>
            <a:chExt cx="230504" cy="129539"/>
          </a:xfrm>
        </p:grpSpPr>
        <p:sp>
          <p:nvSpPr>
            <p:cNvPr id="43" name="object 43" descr=""/>
            <p:cNvSpPr/>
            <p:nvPr/>
          </p:nvSpPr>
          <p:spPr>
            <a:xfrm>
              <a:off x="1381721" y="1480693"/>
              <a:ext cx="225425" cy="124460"/>
            </a:xfrm>
            <a:custGeom>
              <a:avLst/>
              <a:gdLst/>
              <a:ahLst/>
              <a:cxnLst/>
              <a:rect l="l" t="t" r="r" b="b"/>
              <a:pathLst>
                <a:path w="225425" h="124459">
                  <a:moveTo>
                    <a:pt x="218578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18578" y="123926"/>
                  </a:lnTo>
                  <a:lnTo>
                    <a:pt x="225170" y="117333"/>
                  </a:lnTo>
                  <a:lnTo>
                    <a:pt x="225170" y="6592"/>
                  </a:lnTo>
                  <a:lnTo>
                    <a:pt x="21857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381721" y="1480693"/>
              <a:ext cx="225425" cy="124460"/>
            </a:xfrm>
            <a:custGeom>
              <a:avLst/>
              <a:gdLst/>
              <a:ahLst/>
              <a:cxnLst/>
              <a:rect l="l" t="t" r="r" b="b"/>
              <a:pathLst>
                <a:path w="225425" h="124459">
                  <a:moveTo>
                    <a:pt x="210447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10447" y="123926"/>
                  </a:lnTo>
                  <a:lnTo>
                    <a:pt x="218578" y="123926"/>
                  </a:lnTo>
                  <a:lnTo>
                    <a:pt x="225170" y="117333"/>
                  </a:lnTo>
                  <a:lnTo>
                    <a:pt x="225170" y="109202"/>
                  </a:lnTo>
                  <a:lnTo>
                    <a:pt x="225170" y="14723"/>
                  </a:lnTo>
                  <a:lnTo>
                    <a:pt x="225170" y="6592"/>
                  </a:lnTo>
                  <a:lnTo>
                    <a:pt x="218578" y="0"/>
                  </a:lnTo>
                  <a:lnTo>
                    <a:pt x="210447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1381721" y="1480693"/>
            <a:ext cx="225425" cy="1244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 spc="-20">
                <a:latin typeface="Calibri"/>
                <a:cs typeface="Calibri"/>
              </a:rPr>
              <a:t>Meta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1624355" y="1469224"/>
            <a:ext cx="8699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50">
                <a:latin typeface="Book Antiqua"/>
                <a:cs typeface="Book Antiqua"/>
              </a:rPr>
              <a:t>и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1725967" y="1478162"/>
            <a:ext cx="218440" cy="129539"/>
            <a:chOff x="1725967" y="1478162"/>
            <a:chExt cx="218440" cy="129539"/>
          </a:xfrm>
        </p:grpSpPr>
        <p:sp>
          <p:nvSpPr>
            <p:cNvPr id="48" name="object 48" descr=""/>
            <p:cNvSpPr/>
            <p:nvPr/>
          </p:nvSpPr>
          <p:spPr>
            <a:xfrm>
              <a:off x="1728497" y="1480693"/>
              <a:ext cx="213360" cy="124460"/>
            </a:xfrm>
            <a:custGeom>
              <a:avLst/>
              <a:gdLst/>
              <a:ahLst/>
              <a:cxnLst/>
              <a:rect l="l" t="t" r="r" b="b"/>
              <a:pathLst>
                <a:path w="213360" h="124459">
                  <a:moveTo>
                    <a:pt x="206636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06636" y="123926"/>
                  </a:lnTo>
                  <a:lnTo>
                    <a:pt x="213228" y="117333"/>
                  </a:lnTo>
                  <a:lnTo>
                    <a:pt x="213228" y="6592"/>
                  </a:lnTo>
                  <a:lnTo>
                    <a:pt x="206636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728497" y="1480693"/>
              <a:ext cx="213360" cy="124460"/>
            </a:xfrm>
            <a:custGeom>
              <a:avLst/>
              <a:gdLst/>
              <a:ahLst/>
              <a:cxnLst/>
              <a:rect l="l" t="t" r="r" b="b"/>
              <a:pathLst>
                <a:path w="213360" h="124459">
                  <a:moveTo>
                    <a:pt x="198504" y="0"/>
                  </a:moveTo>
                  <a:lnTo>
                    <a:pt x="14724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4" y="123926"/>
                  </a:lnTo>
                  <a:lnTo>
                    <a:pt x="198504" y="123926"/>
                  </a:lnTo>
                  <a:lnTo>
                    <a:pt x="206636" y="123926"/>
                  </a:lnTo>
                  <a:lnTo>
                    <a:pt x="213228" y="117333"/>
                  </a:lnTo>
                  <a:lnTo>
                    <a:pt x="213228" y="109202"/>
                  </a:lnTo>
                  <a:lnTo>
                    <a:pt x="213228" y="14723"/>
                  </a:lnTo>
                  <a:lnTo>
                    <a:pt x="213228" y="6592"/>
                  </a:lnTo>
                  <a:lnTo>
                    <a:pt x="206636" y="0"/>
                  </a:lnTo>
                  <a:lnTo>
                    <a:pt x="198504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1728497" y="1480693"/>
            <a:ext cx="213360" cy="1244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 spc="-10">
                <a:latin typeface="Calibri"/>
                <a:cs typeface="Calibri"/>
              </a:rPr>
              <a:t>Shift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1959178" y="1469224"/>
            <a:ext cx="268287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Book Antiqua"/>
                <a:cs typeface="Book Antiqua"/>
              </a:rPr>
              <a:t>принято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называть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префиксными.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Например,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запись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M-</a:t>
            </a:r>
            <a:r>
              <a:rPr dirty="0" sz="700" spc="-50">
                <a:latin typeface="Courier New"/>
                <a:cs typeface="Courier New"/>
              </a:rPr>
              <a:t>x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581304" y="1610855"/>
            <a:ext cx="175895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означает,</a:t>
            </a:r>
            <a:r>
              <a:rPr dirty="0" sz="750" spc="-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надо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удерживая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клавишу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53" name="object 53" descr=""/>
          <p:cNvGrpSpPr/>
          <p:nvPr/>
        </p:nvGrpSpPr>
        <p:grpSpPr>
          <a:xfrm>
            <a:off x="2344620" y="1619806"/>
            <a:ext cx="230504" cy="129539"/>
            <a:chOff x="2344620" y="1619806"/>
            <a:chExt cx="230504" cy="129539"/>
          </a:xfrm>
        </p:grpSpPr>
        <p:sp>
          <p:nvSpPr>
            <p:cNvPr id="54" name="object 54" descr=""/>
            <p:cNvSpPr/>
            <p:nvPr/>
          </p:nvSpPr>
          <p:spPr>
            <a:xfrm>
              <a:off x="2347150" y="1622336"/>
              <a:ext cx="225425" cy="124460"/>
            </a:xfrm>
            <a:custGeom>
              <a:avLst/>
              <a:gdLst/>
              <a:ahLst/>
              <a:cxnLst/>
              <a:rect l="l" t="t" r="r" b="b"/>
              <a:pathLst>
                <a:path w="225425" h="124460">
                  <a:moveTo>
                    <a:pt x="218578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18578" y="123926"/>
                  </a:lnTo>
                  <a:lnTo>
                    <a:pt x="225171" y="117333"/>
                  </a:lnTo>
                  <a:lnTo>
                    <a:pt x="225171" y="6592"/>
                  </a:lnTo>
                  <a:lnTo>
                    <a:pt x="21857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347150" y="1622336"/>
              <a:ext cx="225425" cy="124460"/>
            </a:xfrm>
            <a:custGeom>
              <a:avLst/>
              <a:gdLst/>
              <a:ahLst/>
              <a:cxnLst/>
              <a:rect l="l" t="t" r="r" b="b"/>
              <a:pathLst>
                <a:path w="225425" h="124460">
                  <a:moveTo>
                    <a:pt x="210447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10447" y="123926"/>
                  </a:lnTo>
                  <a:lnTo>
                    <a:pt x="218578" y="123926"/>
                  </a:lnTo>
                  <a:lnTo>
                    <a:pt x="225171" y="117333"/>
                  </a:lnTo>
                  <a:lnTo>
                    <a:pt x="225171" y="109202"/>
                  </a:lnTo>
                  <a:lnTo>
                    <a:pt x="225171" y="14723"/>
                  </a:lnTo>
                  <a:lnTo>
                    <a:pt x="225171" y="6592"/>
                  </a:lnTo>
                  <a:lnTo>
                    <a:pt x="218578" y="0"/>
                  </a:lnTo>
                  <a:lnTo>
                    <a:pt x="210447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 txBox="1"/>
          <p:nvPr/>
        </p:nvSpPr>
        <p:spPr>
          <a:xfrm>
            <a:off x="2347150" y="1622336"/>
            <a:ext cx="225425" cy="1244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 spc="-20">
                <a:latin typeface="Calibri"/>
                <a:cs typeface="Calibri"/>
              </a:rPr>
              <a:t>Meta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2811819" y="1619806"/>
            <a:ext cx="155575" cy="129539"/>
            <a:chOff x="2811819" y="1619806"/>
            <a:chExt cx="155575" cy="129539"/>
          </a:xfrm>
        </p:grpSpPr>
        <p:sp>
          <p:nvSpPr>
            <p:cNvPr id="58" name="object 58" descr=""/>
            <p:cNvSpPr/>
            <p:nvPr/>
          </p:nvSpPr>
          <p:spPr>
            <a:xfrm>
              <a:off x="2814350" y="1622336"/>
              <a:ext cx="150495" cy="124460"/>
            </a:xfrm>
            <a:custGeom>
              <a:avLst/>
              <a:gdLst/>
              <a:ahLst/>
              <a:cxnLst/>
              <a:rect l="l" t="t" r="r" b="b"/>
              <a:pathLst>
                <a:path w="150494" h="124460">
                  <a:moveTo>
                    <a:pt x="143486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3486" y="123926"/>
                  </a:lnTo>
                  <a:lnTo>
                    <a:pt x="150078" y="117333"/>
                  </a:lnTo>
                  <a:lnTo>
                    <a:pt x="150078" y="6592"/>
                  </a:lnTo>
                  <a:lnTo>
                    <a:pt x="143486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2814350" y="1622336"/>
              <a:ext cx="150495" cy="124460"/>
            </a:xfrm>
            <a:custGeom>
              <a:avLst/>
              <a:gdLst/>
              <a:ahLst/>
              <a:cxnLst/>
              <a:rect l="l" t="t" r="r" b="b"/>
              <a:pathLst>
                <a:path w="150494" h="124460">
                  <a:moveTo>
                    <a:pt x="135354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5354" y="123926"/>
                  </a:lnTo>
                  <a:lnTo>
                    <a:pt x="143486" y="123926"/>
                  </a:lnTo>
                  <a:lnTo>
                    <a:pt x="150078" y="117333"/>
                  </a:lnTo>
                  <a:lnTo>
                    <a:pt x="150078" y="109202"/>
                  </a:lnTo>
                  <a:lnTo>
                    <a:pt x="150078" y="14723"/>
                  </a:lnTo>
                  <a:lnTo>
                    <a:pt x="150078" y="6592"/>
                  </a:lnTo>
                  <a:lnTo>
                    <a:pt x="143486" y="0"/>
                  </a:lnTo>
                  <a:lnTo>
                    <a:pt x="135354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2553754" y="1610855"/>
            <a:ext cx="211074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(или</a:t>
            </a:r>
            <a:r>
              <a:rPr dirty="0" sz="750" spc="190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Alt</a:t>
            </a:r>
            <a:r>
              <a:rPr dirty="0" baseline="8547" sz="975" spc="142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),</a:t>
            </a:r>
            <a:r>
              <a:rPr dirty="0" sz="750" spc="-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нажать</a:t>
            </a:r>
            <a:r>
              <a:rPr dirty="0" sz="750" spc="-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клавишу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x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80">
                <a:latin typeface="Book Antiqua"/>
                <a:cs typeface="Book Antiqua"/>
              </a:rPr>
              <a:t> </a:t>
            </a:r>
            <a:r>
              <a:rPr dirty="0" sz="750" spc="-30">
                <a:latin typeface="Book Antiqua"/>
                <a:cs typeface="Book Antiqua"/>
              </a:rPr>
              <a:t>Для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открытия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3944330" y="1761426"/>
            <a:ext cx="179070" cy="129539"/>
            <a:chOff x="3944330" y="1761426"/>
            <a:chExt cx="179070" cy="129539"/>
          </a:xfrm>
        </p:grpSpPr>
        <p:sp>
          <p:nvSpPr>
            <p:cNvPr id="62" name="object 62" descr=""/>
            <p:cNvSpPr/>
            <p:nvPr/>
          </p:nvSpPr>
          <p:spPr>
            <a:xfrm>
              <a:off x="3946870" y="1763966"/>
              <a:ext cx="173990" cy="124460"/>
            </a:xfrm>
            <a:custGeom>
              <a:avLst/>
              <a:gdLst/>
              <a:ahLst/>
              <a:cxnLst/>
              <a:rect l="l" t="t" r="r" b="b"/>
              <a:pathLst>
                <a:path w="173989" h="124460">
                  <a:moveTo>
                    <a:pt x="167290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67290" y="123926"/>
                  </a:lnTo>
                  <a:lnTo>
                    <a:pt x="173882" y="117333"/>
                  </a:lnTo>
                  <a:lnTo>
                    <a:pt x="173882" y="6592"/>
                  </a:lnTo>
                  <a:lnTo>
                    <a:pt x="16729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3946870" y="1763966"/>
              <a:ext cx="173990" cy="124460"/>
            </a:xfrm>
            <a:custGeom>
              <a:avLst/>
              <a:gdLst/>
              <a:ahLst/>
              <a:cxnLst/>
              <a:rect l="l" t="t" r="r" b="b"/>
              <a:pathLst>
                <a:path w="173989" h="124460">
                  <a:moveTo>
                    <a:pt x="159158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59158" y="123926"/>
                  </a:lnTo>
                  <a:lnTo>
                    <a:pt x="167290" y="123926"/>
                  </a:lnTo>
                  <a:lnTo>
                    <a:pt x="173882" y="117333"/>
                  </a:lnTo>
                  <a:lnTo>
                    <a:pt x="173882" y="109202"/>
                  </a:lnTo>
                  <a:lnTo>
                    <a:pt x="173882" y="14723"/>
                  </a:lnTo>
                  <a:lnTo>
                    <a:pt x="173882" y="6592"/>
                  </a:lnTo>
                  <a:lnTo>
                    <a:pt x="167290" y="0"/>
                  </a:lnTo>
                  <a:lnTo>
                    <a:pt x="159158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4" name="object 64" descr=""/>
          <p:cNvGrpSpPr/>
          <p:nvPr/>
        </p:nvGrpSpPr>
        <p:grpSpPr>
          <a:xfrm>
            <a:off x="1017399" y="1903070"/>
            <a:ext cx="152400" cy="129539"/>
            <a:chOff x="1017399" y="1903070"/>
            <a:chExt cx="152400" cy="129539"/>
          </a:xfrm>
        </p:grpSpPr>
        <p:sp>
          <p:nvSpPr>
            <p:cNvPr id="65" name="object 65" descr=""/>
            <p:cNvSpPr/>
            <p:nvPr/>
          </p:nvSpPr>
          <p:spPr>
            <a:xfrm>
              <a:off x="1019939" y="190561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019939" y="190561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 descr=""/>
          <p:cNvSpPr txBox="1"/>
          <p:nvPr/>
        </p:nvSpPr>
        <p:spPr>
          <a:xfrm>
            <a:off x="581304" y="1894141"/>
            <a:ext cx="334645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88010" algn="l"/>
              </a:tabLst>
            </a:pPr>
            <a:r>
              <a:rPr dirty="0" sz="750" spc="-10">
                <a:latin typeface="Book Antiqua"/>
                <a:cs typeface="Book Antiqua"/>
              </a:rPr>
              <a:t>клавишу</a:t>
            </a:r>
            <a:r>
              <a:rPr dirty="0" sz="750">
                <a:latin typeface="Book Antiqua"/>
                <a:cs typeface="Book Antiqua"/>
              </a:rPr>
              <a:t>	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затем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отпустить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клавиши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снова,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удерживая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клавишу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68" name="object 68" descr=""/>
          <p:cNvGrpSpPr/>
          <p:nvPr/>
        </p:nvGrpSpPr>
        <p:grpSpPr>
          <a:xfrm>
            <a:off x="3938536" y="1903079"/>
            <a:ext cx="179070" cy="129539"/>
            <a:chOff x="3938536" y="1903079"/>
            <a:chExt cx="179070" cy="129539"/>
          </a:xfrm>
        </p:grpSpPr>
        <p:sp>
          <p:nvSpPr>
            <p:cNvPr id="69" name="object 69" descr=""/>
            <p:cNvSpPr/>
            <p:nvPr/>
          </p:nvSpPr>
          <p:spPr>
            <a:xfrm>
              <a:off x="3941066" y="1905610"/>
              <a:ext cx="173990" cy="124460"/>
            </a:xfrm>
            <a:custGeom>
              <a:avLst/>
              <a:gdLst/>
              <a:ahLst/>
              <a:cxnLst/>
              <a:rect l="l" t="t" r="r" b="b"/>
              <a:pathLst>
                <a:path w="173989" h="124460">
                  <a:moveTo>
                    <a:pt x="167290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67290" y="123926"/>
                  </a:lnTo>
                  <a:lnTo>
                    <a:pt x="173882" y="117333"/>
                  </a:lnTo>
                  <a:lnTo>
                    <a:pt x="173882" y="6592"/>
                  </a:lnTo>
                  <a:lnTo>
                    <a:pt x="16729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3941066" y="1905610"/>
              <a:ext cx="173990" cy="124460"/>
            </a:xfrm>
            <a:custGeom>
              <a:avLst/>
              <a:gdLst/>
              <a:ahLst/>
              <a:cxnLst/>
              <a:rect l="l" t="t" r="r" b="b"/>
              <a:pathLst>
                <a:path w="173989" h="124460">
                  <a:moveTo>
                    <a:pt x="159158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59158" y="123926"/>
                  </a:lnTo>
                  <a:lnTo>
                    <a:pt x="167290" y="123926"/>
                  </a:lnTo>
                  <a:lnTo>
                    <a:pt x="173882" y="117333"/>
                  </a:lnTo>
                  <a:lnTo>
                    <a:pt x="173882" y="109202"/>
                  </a:lnTo>
                  <a:lnTo>
                    <a:pt x="173882" y="14723"/>
                  </a:lnTo>
                  <a:lnTo>
                    <a:pt x="173882" y="6592"/>
                  </a:lnTo>
                  <a:lnTo>
                    <a:pt x="167290" y="0"/>
                  </a:lnTo>
                  <a:lnTo>
                    <a:pt x="159158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 descr=""/>
          <p:cNvSpPr txBox="1"/>
          <p:nvPr/>
        </p:nvSpPr>
        <p:spPr>
          <a:xfrm>
            <a:off x="1019596" y="1900684"/>
            <a:ext cx="3095625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95"/>
              </a:spcBef>
              <a:tabLst>
                <a:tab pos="2946400" algn="l"/>
              </a:tabLst>
            </a:pPr>
            <a:r>
              <a:rPr dirty="0" sz="650" spc="-50">
                <a:latin typeface="Calibri"/>
                <a:cs typeface="Calibri"/>
              </a:rPr>
              <a:t>x</a:t>
            </a:r>
            <a:r>
              <a:rPr dirty="0" sz="650">
                <a:latin typeface="Calibri"/>
                <a:cs typeface="Calibri"/>
              </a:rPr>
              <a:t>	</a:t>
            </a:r>
            <a:r>
              <a:rPr dirty="0" sz="650" spc="-20">
                <a:latin typeface="Calibri"/>
                <a:cs typeface="Calibri"/>
              </a:rPr>
              <a:t>Ctrl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555904" y="1728645"/>
            <a:ext cx="4121150" cy="30924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algn="r" marR="43180">
              <a:lnSpc>
                <a:spcPct val="100000"/>
              </a:lnSpc>
              <a:spcBef>
                <a:spcPts val="310"/>
              </a:spcBef>
            </a:pPr>
            <a:r>
              <a:rPr dirty="0" sz="750" spc="-20">
                <a:latin typeface="Book Antiqua"/>
                <a:cs typeface="Book Antiqua"/>
              </a:rPr>
              <a:t>файла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следует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команду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C-x</a:t>
            </a:r>
            <a:r>
              <a:rPr dirty="0" sz="700" spc="5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C-f</a:t>
            </a:r>
            <a:r>
              <a:rPr dirty="0" sz="700" spc="-21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(надо,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удерживая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клавишу</a:t>
            </a:r>
            <a:r>
              <a:rPr dirty="0" sz="750" spc="260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Ctrl</a:t>
            </a:r>
            <a:r>
              <a:rPr dirty="0" baseline="8547" sz="975" spc="142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нажать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на</a:t>
            </a:r>
            <a:endParaRPr sz="750">
              <a:latin typeface="Book Antiqua"/>
              <a:cs typeface="Book Antiqua"/>
            </a:endParaRPr>
          </a:p>
          <a:p>
            <a:pPr algn="r" marR="43180">
              <a:lnSpc>
                <a:spcPct val="100000"/>
              </a:lnSpc>
              <a:spcBef>
                <a:spcPts val="215"/>
              </a:spcBef>
            </a:pP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нажать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на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73" name="object 73" descr=""/>
          <p:cNvGrpSpPr/>
          <p:nvPr/>
        </p:nvGrpSpPr>
        <p:grpSpPr>
          <a:xfrm>
            <a:off x="1017065" y="2044710"/>
            <a:ext cx="152400" cy="129539"/>
            <a:chOff x="1017065" y="2044710"/>
            <a:chExt cx="152400" cy="129539"/>
          </a:xfrm>
        </p:grpSpPr>
        <p:sp>
          <p:nvSpPr>
            <p:cNvPr id="74" name="object 74" descr=""/>
            <p:cNvSpPr/>
            <p:nvPr/>
          </p:nvSpPr>
          <p:spPr>
            <a:xfrm>
              <a:off x="1019596" y="204724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019596" y="2047240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 descr=""/>
          <p:cNvSpPr txBox="1"/>
          <p:nvPr/>
        </p:nvSpPr>
        <p:spPr>
          <a:xfrm>
            <a:off x="1019596" y="2042314"/>
            <a:ext cx="147955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f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581304" y="2035771"/>
            <a:ext cx="66230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87375" algn="l"/>
              </a:tabLst>
            </a:pPr>
            <a:r>
              <a:rPr dirty="0" sz="750" spc="-10">
                <a:latin typeface="Book Antiqua"/>
                <a:cs typeface="Book Antiqua"/>
              </a:rPr>
              <a:t>клавишу</a:t>
            </a:r>
            <a:r>
              <a:rPr dirty="0" sz="750">
                <a:latin typeface="Book Antiqua"/>
                <a:cs typeface="Book Antiqua"/>
              </a:rPr>
              <a:t>	</a:t>
            </a:r>
            <a:r>
              <a:rPr dirty="0" sz="750" spc="-25">
                <a:latin typeface="Book Antiqua"/>
                <a:cs typeface="Book Antiqua"/>
              </a:rPr>
              <a:t>).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78" name="object 78" descr=""/>
          <p:cNvSpPr/>
          <p:nvPr/>
        </p:nvSpPr>
        <p:spPr>
          <a:xfrm>
            <a:off x="845362" y="3975874"/>
            <a:ext cx="3529329" cy="0"/>
          </a:xfrm>
          <a:custGeom>
            <a:avLst/>
            <a:gdLst/>
            <a:ahLst/>
            <a:cxnLst/>
            <a:rect l="l" t="t" r="r" b="b"/>
            <a:pathLst>
              <a:path w="3529329" h="0">
                <a:moveTo>
                  <a:pt x="0" y="0"/>
                </a:moveTo>
                <a:lnTo>
                  <a:pt x="352927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 txBox="1"/>
          <p:nvPr/>
        </p:nvSpPr>
        <p:spPr>
          <a:xfrm>
            <a:off x="581304" y="2149386"/>
            <a:ext cx="4071620" cy="198373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10489">
              <a:lnSpc>
                <a:spcPts val="894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По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назначению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префиксные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сочетания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клавиш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различаются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образом:</a:t>
            </a:r>
            <a:endParaRPr sz="750">
              <a:latin typeface="Book Antiqua"/>
              <a:cs typeface="Book Antiqua"/>
            </a:endParaRPr>
          </a:p>
          <a:p>
            <a:pPr marL="144145" marR="5080" indent="-117475">
              <a:lnSpc>
                <a:spcPts val="890"/>
              </a:lnSpc>
              <a:spcBef>
                <a:spcPts val="35"/>
              </a:spcBef>
              <a:buSzPct val="107142"/>
              <a:buFont typeface="Book Antiqua"/>
              <a:buChar char="–"/>
              <a:tabLst>
                <a:tab pos="145415" algn="l"/>
              </a:tabLst>
            </a:pPr>
            <a:r>
              <a:rPr dirty="0" sz="700">
                <a:latin typeface="Courier New"/>
                <a:cs typeface="Courier New"/>
              </a:rPr>
              <a:t>C-x</a:t>
            </a:r>
            <a:r>
              <a:rPr dirty="0" sz="700" spc="-160">
                <a:latin typeface="Courier New"/>
                <a:cs typeface="Courier New"/>
              </a:rPr>
              <a:t> </a:t>
            </a:r>
            <a:r>
              <a:rPr dirty="0" sz="750" spc="-60">
                <a:latin typeface="Book Antiqua"/>
                <a:cs typeface="Book Antiqua"/>
              </a:rPr>
              <a:t>—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префикс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ввода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основных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редактора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(например,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открытия,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закрытии,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сохранения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т.д.);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69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C-c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префикс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вызова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функций,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зависящих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используемого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режима.</a:t>
            </a:r>
            <a:endParaRPr sz="750">
              <a:latin typeface="Book Antiqua"/>
              <a:cs typeface="Book Antiqua"/>
            </a:endParaRPr>
          </a:p>
          <a:p>
            <a:pPr algn="just" marL="12700" marR="18415">
              <a:lnSpc>
                <a:spcPct val="100000"/>
              </a:lnSpc>
              <a:spcBef>
                <a:spcPts val="595"/>
              </a:spcBef>
            </a:pPr>
            <a:r>
              <a:rPr dirty="0" sz="750" spc="10" b="1">
                <a:latin typeface="Book Antiqua"/>
                <a:cs typeface="Book Antiqua"/>
              </a:rPr>
              <a:t>Определение</a:t>
            </a:r>
            <a:r>
              <a:rPr dirty="0" sz="750" spc="20" b="1">
                <a:latin typeface="Book Antiqua"/>
                <a:cs typeface="Book Antiqua"/>
              </a:rPr>
              <a:t> </a:t>
            </a:r>
            <a:r>
              <a:rPr dirty="0" sz="750" spc="25" b="1">
                <a:latin typeface="Book Antiqua"/>
                <a:cs typeface="Book Antiqua"/>
              </a:rPr>
              <a:t>7.</a:t>
            </a:r>
            <a:r>
              <a:rPr dirty="0" sz="750" spc="254" b="1">
                <a:latin typeface="Book Antiqua"/>
                <a:cs typeface="Book Antiqua"/>
              </a:rPr>
              <a:t> </a:t>
            </a:r>
            <a:r>
              <a:rPr dirty="0" sz="750" spc="-45" i="1">
                <a:latin typeface="Georgia"/>
                <a:cs typeface="Georgia"/>
              </a:rPr>
              <a:t>Режим</a:t>
            </a:r>
            <a:r>
              <a:rPr dirty="0" sz="750" spc="-60" i="1">
                <a:latin typeface="Georgia"/>
                <a:cs typeface="Georgia"/>
              </a:rPr>
              <a:t> </a:t>
            </a:r>
            <a:r>
              <a:rPr dirty="0" sz="750" spc="-85">
                <a:latin typeface="Book Antiqua"/>
                <a:cs typeface="Book Antiqua"/>
              </a:rPr>
              <a:t>—</a:t>
            </a:r>
            <a:r>
              <a:rPr dirty="0" sz="750" spc="-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пакет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расширений,</a:t>
            </a:r>
            <a:r>
              <a:rPr dirty="0" sz="750" spc="-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изменяющий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поведение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30">
                <a:latin typeface="Book Antiqua"/>
                <a:cs typeface="Book Antiqua"/>
              </a:rPr>
              <a:t>буфера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Emacs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при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редактировании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просмотре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текста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(например,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для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редактирования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исходного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текста</a:t>
            </a:r>
            <a:r>
              <a:rPr dirty="0" sz="750" spc="10">
                <a:latin typeface="Book Antiqua"/>
                <a:cs typeface="Book Antiqua"/>
              </a:rPr>
              <a:t> программ</a:t>
            </a:r>
            <a:r>
              <a:rPr dirty="0" sz="750">
                <a:latin typeface="Book Antiqua"/>
                <a:cs typeface="Book Antiqua"/>
              </a:rPr>
              <a:t> на </a:t>
            </a:r>
            <a:r>
              <a:rPr dirty="0" sz="750" spc="20">
                <a:latin typeface="Book Antiqua"/>
                <a:cs typeface="Book Antiqua"/>
              </a:rPr>
              <a:t>языках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45">
                <a:latin typeface="Book Antiqua"/>
                <a:cs typeface="Book Antiqua"/>
              </a:rPr>
              <a:t>С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или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Perl).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ct val="100000"/>
              </a:lnSpc>
              <a:spcBef>
                <a:spcPts val="780"/>
              </a:spcBef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табл.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  <a:hlinkClick r:id="rId2" action="ppaction://hlinksldjump"/>
              </a:rPr>
              <a:t>9.1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приведены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основные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комбинации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клавиш,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используемые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перемещения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курсора</a:t>
            </a:r>
            <a:r>
              <a:rPr dirty="0" sz="750">
                <a:latin typeface="Book Antiqua"/>
                <a:cs typeface="Book Antiqua"/>
              </a:rPr>
              <a:t> в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буфере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Emacs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(также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работают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обычные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навигационные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клавиши,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например,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стрелки).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750">
              <a:latin typeface="Book Antiqua"/>
              <a:cs typeface="Book Antiqua"/>
            </a:endParaRPr>
          </a:p>
          <a:p>
            <a:pPr marL="390525" marR="18415" indent="3136265">
              <a:lnSpc>
                <a:spcPct val="114999"/>
              </a:lnSpc>
            </a:pPr>
            <a:r>
              <a:rPr dirty="0" sz="650" b="1">
                <a:latin typeface="Book Antiqua"/>
                <a:cs typeface="Book Antiqua"/>
              </a:rPr>
              <a:t>Таблица</a:t>
            </a:r>
            <a:r>
              <a:rPr dirty="0" sz="650" spc="200" b="1">
                <a:latin typeface="Book Antiqua"/>
                <a:cs typeface="Book Antiqua"/>
              </a:rPr>
              <a:t> </a:t>
            </a:r>
            <a:r>
              <a:rPr dirty="0" sz="650" spc="25" b="1">
                <a:latin typeface="Book Antiqua"/>
                <a:cs typeface="Book Antiqua"/>
              </a:rPr>
              <a:t>9.1</a:t>
            </a:r>
            <a:r>
              <a:rPr dirty="0" sz="650" spc="50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Основные</a:t>
            </a:r>
            <a:r>
              <a:rPr dirty="0" sz="650" spc="7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комбинации</a:t>
            </a:r>
            <a:r>
              <a:rPr dirty="0" sz="650" spc="7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клавиш</a:t>
            </a:r>
            <a:r>
              <a:rPr dirty="0" sz="650" spc="5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для</a:t>
            </a:r>
            <a:r>
              <a:rPr dirty="0" sz="650" spc="7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перемещения</a:t>
            </a:r>
            <a:r>
              <a:rPr dirty="0" sz="650" spc="7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курсора</a:t>
            </a:r>
            <a:r>
              <a:rPr dirty="0" sz="650" spc="7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в</a:t>
            </a:r>
            <a:r>
              <a:rPr dirty="0" sz="650" spc="7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буфере</a:t>
            </a:r>
            <a:r>
              <a:rPr dirty="0" sz="650" spc="70" b="1">
                <a:latin typeface="Book Antiqua"/>
                <a:cs typeface="Book Antiqua"/>
              </a:rPr>
              <a:t> </a:t>
            </a:r>
            <a:r>
              <a:rPr dirty="0" sz="650" spc="-10" b="1">
                <a:latin typeface="Book Antiqua"/>
                <a:cs typeface="Book Antiqua"/>
              </a:rPr>
              <a:t>Emacs</a:t>
            </a:r>
            <a:endParaRPr sz="6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650">
              <a:latin typeface="Book Antiqua"/>
              <a:cs typeface="Book Antiqua"/>
            </a:endParaRPr>
          </a:p>
          <a:p>
            <a:pPr marL="339725">
              <a:lnSpc>
                <a:spcPct val="100000"/>
              </a:lnSpc>
              <a:tabLst>
                <a:tab pos="1499235" algn="l"/>
              </a:tabLst>
            </a:pPr>
            <a:r>
              <a:rPr dirty="0" sz="750">
                <a:latin typeface="Book Antiqua"/>
                <a:cs typeface="Book Antiqua"/>
              </a:rPr>
              <a:t>Комбинация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клавиш</a:t>
            </a:r>
            <a:r>
              <a:rPr dirty="0" sz="75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Действие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80" name="object 80" descr=""/>
          <p:cNvSpPr/>
          <p:nvPr/>
        </p:nvSpPr>
        <p:spPr>
          <a:xfrm>
            <a:off x="845362" y="4170083"/>
            <a:ext cx="3529329" cy="0"/>
          </a:xfrm>
          <a:custGeom>
            <a:avLst/>
            <a:gdLst/>
            <a:ahLst/>
            <a:cxnLst/>
            <a:rect l="l" t="t" r="r" b="b"/>
            <a:pathLst>
              <a:path w="3529329" h="0">
                <a:moveTo>
                  <a:pt x="0" y="0"/>
                </a:moveTo>
                <a:lnTo>
                  <a:pt x="352927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 txBox="1"/>
          <p:nvPr/>
        </p:nvSpPr>
        <p:spPr>
          <a:xfrm>
            <a:off x="908583" y="4161874"/>
            <a:ext cx="189865" cy="182689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50">
                <a:latin typeface="Courier New"/>
                <a:cs typeface="Courier New"/>
              </a:rPr>
              <a:t>p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50">
                <a:latin typeface="Courier New"/>
                <a:cs typeface="Courier New"/>
              </a:rPr>
              <a:t>n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50">
                <a:latin typeface="Courier New"/>
                <a:cs typeface="Courier New"/>
              </a:rPr>
              <a:t>f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50">
                <a:latin typeface="Courier New"/>
                <a:cs typeface="Courier New"/>
              </a:rPr>
              <a:t>b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50">
                <a:latin typeface="Courier New"/>
                <a:cs typeface="Courier New"/>
              </a:rPr>
              <a:t>a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50">
                <a:latin typeface="Courier New"/>
                <a:cs typeface="Courier New"/>
              </a:rPr>
              <a:t>e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50">
                <a:latin typeface="Courier New"/>
                <a:cs typeface="Courier New"/>
              </a:rPr>
              <a:t>v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700">
                <a:latin typeface="Courier New"/>
                <a:cs typeface="Courier New"/>
              </a:rPr>
              <a:t>M-</a:t>
            </a:r>
            <a:r>
              <a:rPr dirty="0" sz="700" spc="-50">
                <a:latin typeface="Courier New"/>
                <a:cs typeface="Courier New"/>
              </a:rPr>
              <a:t>v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700">
                <a:latin typeface="Courier New"/>
                <a:cs typeface="Courier New"/>
              </a:rPr>
              <a:t>M-</a:t>
            </a:r>
            <a:r>
              <a:rPr dirty="0" sz="700" spc="-50">
                <a:latin typeface="Courier New"/>
                <a:cs typeface="Courier New"/>
              </a:rPr>
              <a:t>f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700">
                <a:latin typeface="Courier New"/>
                <a:cs typeface="Courier New"/>
              </a:rPr>
              <a:t>M-</a:t>
            </a:r>
            <a:r>
              <a:rPr dirty="0" sz="700" spc="-50">
                <a:latin typeface="Courier New"/>
                <a:cs typeface="Courier New"/>
              </a:rPr>
              <a:t>b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700">
                <a:latin typeface="Courier New"/>
                <a:cs typeface="Courier New"/>
              </a:rPr>
              <a:t>M-</a:t>
            </a:r>
            <a:r>
              <a:rPr dirty="0" sz="700" spc="-50">
                <a:latin typeface="Courier New"/>
                <a:cs typeface="Courier New"/>
              </a:rPr>
              <a:t>&lt;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700">
                <a:latin typeface="Courier New"/>
                <a:cs typeface="Courier New"/>
              </a:rPr>
              <a:t>M-</a:t>
            </a:r>
            <a:r>
              <a:rPr dirty="0" sz="700" spc="-50">
                <a:latin typeface="Courier New"/>
                <a:cs typeface="Courier New"/>
              </a:rPr>
              <a:t>&gt;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50">
                <a:latin typeface="Courier New"/>
                <a:cs typeface="Courier New"/>
              </a:rPr>
              <a:t>g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2068410" y="4163286"/>
            <a:ext cx="1818639" cy="1826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200"/>
              </a:lnSpc>
              <a:spcBef>
                <a:spcPts val="95"/>
              </a:spcBef>
            </a:pPr>
            <a:r>
              <a:rPr dirty="0" sz="750">
                <a:latin typeface="Book Antiqua"/>
                <a:cs typeface="Book Antiqua"/>
              </a:rPr>
              <a:t>переместиться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вверх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одну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строку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переместиться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вниз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одну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строку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переместиться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вперёд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один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символ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переместиться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назад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один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символ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переместиться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начало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переместиться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конец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переместиться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вниз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одну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страницу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переместиться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вверх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одну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страницу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переместиться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вперёд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слово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переместиться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назад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слово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переместиться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начало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буфера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переместиться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конец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буфера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закончить текущую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операцию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83" name="object 83" descr=""/>
          <p:cNvSpPr/>
          <p:nvPr/>
        </p:nvSpPr>
        <p:spPr>
          <a:xfrm>
            <a:off x="845362" y="6026848"/>
            <a:ext cx="3529329" cy="0"/>
          </a:xfrm>
          <a:custGeom>
            <a:avLst/>
            <a:gdLst/>
            <a:ahLst/>
            <a:cxnLst/>
            <a:rect l="l" t="t" r="r" b="b"/>
            <a:pathLst>
              <a:path w="3529329" h="0">
                <a:moveTo>
                  <a:pt x="0" y="0"/>
                </a:moveTo>
                <a:lnTo>
                  <a:pt x="352927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 descr=""/>
          <p:cNvSpPr txBox="1"/>
          <p:nvPr/>
        </p:nvSpPr>
        <p:spPr>
          <a:xfrm>
            <a:off x="581304" y="6163348"/>
            <a:ext cx="405765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Далее</a:t>
            </a:r>
            <a:r>
              <a:rPr dirty="0" sz="750" spc="13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табл.</a:t>
            </a:r>
            <a:r>
              <a:rPr dirty="0" sz="750" spc="1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  <a:hlinkClick r:id="rId3" action="ppaction://hlinksldjump"/>
              </a:rPr>
              <a:t>9.2–9.7</a:t>
            </a:r>
            <a:r>
              <a:rPr dirty="0" sz="750" spc="1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приведены</a:t>
            </a:r>
            <a:r>
              <a:rPr dirty="0" sz="750" spc="1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наиболее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часто</a:t>
            </a:r>
            <a:r>
              <a:rPr dirty="0" sz="750" spc="1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используемые</a:t>
            </a:r>
            <a:r>
              <a:rPr dirty="0" sz="750" spc="1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комбинации</a:t>
            </a:r>
            <a:r>
              <a:rPr dirty="0" sz="750" spc="1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клавиш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действий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Emacs.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40" i="1">
                <a:latin typeface="Georgia"/>
                <a:cs typeface="Georgia"/>
              </a:rPr>
              <a:t>Кулябов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spc="-30" i="1">
                <a:latin typeface="Georgia"/>
                <a:cs typeface="Georgia"/>
              </a:rPr>
              <a:t>Д.</a:t>
            </a:r>
            <a:r>
              <a:rPr dirty="0" sz="600" spc="-50" i="1">
                <a:latin typeface="Georgia"/>
                <a:cs typeface="Georgia"/>
              </a:rPr>
              <a:t> </a:t>
            </a:r>
            <a:r>
              <a:rPr dirty="0" sz="600" spc="-10" i="1">
                <a:latin typeface="Georgia"/>
                <a:cs typeface="Georgia"/>
              </a:rPr>
              <a:t>С.</a:t>
            </a:r>
            <a:r>
              <a:rPr dirty="0" sz="600" spc="-2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и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др.</a:t>
            </a:r>
            <a:r>
              <a:rPr dirty="0" sz="600" spc="55" i="1">
                <a:latin typeface="Georgia"/>
                <a:cs typeface="Georgi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-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77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45362" y="993952"/>
            <a:ext cx="3529329" cy="0"/>
          </a:xfrm>
          <a:custGeom>
            <a:avLst/>
            <a:gdLst/>
            <a:ahLst/>
            <a:cxnLst/>
            <a:rect l="l" t="t" r="r" b="b"/>
            <a:pathLst>
              <a:path w="3529329" h="0">
                <a:moveTo>
                  <a:pt x="0" y="0"/>
                </a:moveTo>
                <a:lnTo>
                  <a:pt x="352927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908583" y="607746"/>
            <a:ext cx="3730625" cy="543560"/>
          </a:xfrm>
          <a:prstGeom prst="rect">
            <a:avLst/>
          </a:prstGeom>
        </p:spPr>
        <p:txBody>
          <a:bodyPr wrap="square" lIns="0" tIns="26669" rIns="0" bIns="0" rtlCol="0" vert="horz">
            <a:spAutoFit/>
          </a:bodyPr>
          <a:lstStyle/>
          <a:p>
            <a:pPr marL="3199130">
              <a:lnSpc>
                <a:spcPct val="100000"/>
              </a:lnSpc>
              <a:spcBef>
                <a:spcPts val="209"/>
              </a:spcBef>
            </a:pPr>
            <a:r>
              <a:rPr dirty="0" sz="650" b="1">
                <a:latin typeface="Book Antiqua"/>
                <a:cs typeface="Book Antiqua"/>
              </a:rPr>
              <a:t>Таблица</a:t>
            </a:r>
            <a:r>
              <a:rPr dirty="0" sz="650" spc="200" b="1">
                <a:latin typeface="Book Antiqua"/>
                <a:cs typeface="Book Antiqua"/>
              </a:rPr>
              <a:t> </a:t>
            </a:r>
            <a:r>
              <a:rPr dirty="0" sz="650" spc="25" b="1">
                <a:latin typeface="Book Antiqua"/>
                <a:cs typeface="Book Antiqua"/>
              </a:rPr>
              <a:t>9.2</a:t>
            </a:r>
            <a:endParaRPr sz="650">
              <a:latin typeface="Book Antiqua"/>
              <a:cs typeface="Book Antiqua"/>
            </a:endParaRPr>
          </a:p>
          <a:p>
            <a:pPr marL="339725">
              <a:lnSpc>
                <a:spcPct val="100000"/>
              </a:lnSpc>
              <a:spcBef>
                <a:spcPts val="114"/>
              </a:spcBef>
            </a:pPr>
            <a:r>
              <a:rPr dirty="0" sz="650" spc="20" b="1">
                <a:latin typeface="Book Antiqua"/>
                <a:cs typeface="Book Antiqua"/>
              </a:rPr>
              <a:t>Основные</a:t>
            </a:r>
            <a:r>
              <a:rPr dirty="0" sz="650" spc="8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комбинации</a:t>
            </a:r>
            <a:r>
              <a:rPr dirty="0" sz="650" spc="8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клавиш</a:t>
            </a:r>
            <a:r>
              <a:rPr dirty="0" sz="650" spc="6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для</a:t>
            </a:r>
            <a:r>
              <a:rPr dirty="0" sz="650" spc="8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работы</a:t>
            </a:r>
            <a:r>
              <a:rPr dirty="0" sz="650" spc="8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с</a:t>
            </a:r>
            <a:r>
              <a:rPr dirty="0" sz="650" spc="6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текстом</a:t>
            </a:r>
            <a:r>
              <a:rPr dirty="0" sz="650" spc="8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в</a:t>
            </a:r>
            <a:r>
              <a:rPr dirty="0" sz="650" spc="80" b="1">
                <a:latin typeface="Book Antiqua"/>
                <a:cs typeface="Book Antiqua"/>
              </a:rPr>
              <a:t> </a:t>
            </a:r>
            <a:r>
              <a:rPr dirty="0" sz="650" spc="-10" b="1">
                <a:latin typeface="Book Antiqua"/>
                <a:cs typeface="Book Antiqua"/>
              </a:rPr>
              <a:t>Emacs</a:t>
            </a:r>
            <a:endParaRPr sz="6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6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tabLst>
                <a:tab pos="1172210" algn="l"/>
              </a:tabLst>
            </a:pPr>
            <a:r>
              <a:rPr dirty="0" sz="750">
                <a:latin typeface="Book Antiqua"/>
                <a:cs typeface="Book Antiqua"/>
              </a:rPr>
              <a:t>Комбинация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клавиш</a:t>
            </a:r>
            <a:r>
              <a:rPr dirty="0" sz="75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Действие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845362" y="1188174"/>
            <a:ext cx="3529329" cy="0"/>
          </a:xfrm>
          <a:custGeom>
            <a:avLst/>
            <a:gdLst/>
            <a:ahLst/>
            <a:cxnLst/>
            <a:rect l="l" t="t" r="r" b="b"/>
            <a:pathLst>
              <a:path w="3529329" h="0">
                <a:moveTo>
                  <a:pt x="0" y="0"/>
                </a:moveTo>
                <a:lnTo>
                  <a:pt x="352927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908583" y="1209190"/>
            <a:ext cx="189865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50">
                <a:latin typeface="Courier New"/>
                <a:cs typeface="Courier New"/>
              </a:rPr>
              <a:t>d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068410" y="1181377"/>
            <a:ext cx="2264410" cy="1826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200"/>
              </a:lnSpc>
              <a:spcBef>
                <a:spcPts val="95"/>
              </a:spcBef>
            </a:pPr>
            <a:r>
              <a:rPr dirty="0" sz="750" spc="-20">
                <a:latin typeface="Book Antiqua"/>
                <a:cs typeface="Book Antiqua"/>
              </a:rPr>
              <a:t>Удалить </a:t>
            </a:r>
            <a:r>
              <a:rPr dirty="0" sz="750">
                <a:latin typeface="Book Antiqua"/>
                <a:cs typeface="Book Antiqua"/>
              </a:rPr>
              <a:t>символ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перед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текущим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положением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кур-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сора</a:t>
            </a:r>
            <a:endParaRPr sz="750">
              <a:latin typeface="Book Antiqua"/>
              <a:cs typeface="Book Antiqua"/>
            </a:endParaRPr>
          </a:p>
          <a:p>
            <a:pPr marL="12700" marR="5080">
              <a:lnSpc>
                <a:spcPct val="121200"/>
              </a:lnSpc>
            </a:pPr>
            <a:r>
              <a:rPr dirty="0" sz="750" spc="-20">
                <a:latin typeface="Book Antiqua"/>
                <a:cs typeface="Book Antiqua"/>
              </a:rPr>
              <a:t>Удалить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следующее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текущим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положением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кур-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сора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слово</a:t>
            </a:r>
            <a:endParaRPr sz="750">
              <a:latin typeface="Book Antiqua"/>
              <a:cs typeface="Book Antiqua"/>
            </a:endParaRPr>
          </a:p>
          <a:p>
            <a:pPr marL="12700" marR="25400">
              <a:lnSpc>
                <a:spcPct val="121200"/>
              </a:lnSpc>
            </a:pPr>
            <a:r>
              <a:rPr dirty="0" sz="750">
                <a:latin typeface="Book Antiqua"/>
                <a:cs typeface="Book Antiqua"/>
              </a:rPr>
              <a:t>Удалить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текущего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положения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курсора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конца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</a:t>
            </a:r>
            <a:endParaRPr sz="750">
              <a:latin typeface="Book Antiqua"/>
              <a:cs typeface="Book Antiqua"/>
            </a:endParaRPr>
          </a:p>
          <a:p>
            <a:pPr marL="12700" marR="25400">
              <a:lnSpc>
                <a:spcPct val="121200"/>
              </a:lnSpc>
            </a:pPr>
            <a:r>
              <a:rPr dirty="0" sz="750">
                <a:latin typeface="Book Antiqua"/>
                <a:cs typeface="Book Antiqua"/>
              </a:rPr>
              <a:t>Удалить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текущего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положения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курсора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конца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предложения</a:t>
            </a:r>
            <a:endParaRPr sz="750">
              <a:latin typeface="Book Antiqua"/>
              <a:cs typeface="Book Antiqua"/>
            </a:endParaRPr>
          </a:p>
          <a:p>
            <a:pPr marL="12700" marR="25400">
              <a:lnSpc>
                <a:spcPct val="121200"/>
              </a:lnSpc>
            </a:pPr>
            <a:r>
              <a:rPr dirty="0" sz="750">
                <a:latin typeface="Book Antiqua"/>
                <a:cs typeface="Book Antiqua"/>
              </a:rPr>
              <a:t>Удалить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пробелы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знаки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табуляции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вокруг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текущего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положения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курсора</a:t>
            </a:r>
            <a:endParaRPr sz="750">
              <a:latin typeface="Book Antiqua"/>
              <a:cs typeface="Book Antiqua"/>
            </a:endParaRPr>
          </a:p>
          <a:p>
            <a:pPr marL="12700" marR="5080">
              <a:lnSpc>
                <a:spcPct val="121200"/>
              </a:lnSpc>
            </a:pPr>
            <a:r>
              <a:rPr dirty="0" sz="750">
                <a:latin typeface="Book Antiqua"/>
                <a:cs typeface="Book Antiqua"/>
              </a:rPr>
              <a:t>Вставить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символ, соответствующий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нажатой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кла-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више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сочетанию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750">
                <a:latin typeface="Book Antiqua"/>
                <a:cs typeface="Book Antiqua"/>
              </a:rPr>
              <a:t>Выровнять текст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параграфе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буфера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08583" y="1486279"/>
            <a:ext cx="189865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>
                <a:latin typeface="Courier New"/>
                <a:cs typeface="Courier New"/>
              </a:rPr>
              <a:t>M-</a:t>
            </a:r>
            <a:r>
              <a:rPr dirty="0" sz="700" spc="-50">
                <a:latin typeface="Courier New"/>
                <a:cs typeface="Courier New"/>
              </a:rPr>
              <a:t>d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08583" y="1763368"/>
            <a:ext cx="189865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50">
                <a:latin typeface="Courier New"/>
                <a:cs typeface="Courier New"/>
              </a:rPr>
              <a:t>k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08583" y="2040456"/>
            <a:ext cx="189865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>
                <a:latin typeface="Courier New"/>
                <a:cs typeface="Courier New"/>
              </a:rPr>
              <a:t>M-</a:t>
            </a:r>
            <a:r>
              <a:rPr dirty="0" sz="700" spc="-50">
                <a:latin typeface="Courier New"/>
                <a:cs typeface="Courier New"/>
              </a:rPr>
              <a:t>k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08583" y="2317545"/>
            <a:ext cx="189865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>
                <a:latin typeface="Courier New"/>
                <a:cs typeface="Courier New"/>
              </a:rPr>
              <a:t>M-</a:t>
            </a:r>
            <a:r>
              <a:rPr dirty="0" sz="700" spc="-50">
                <a:latin typeface="Courier New"/>
                <a:cs typeface="Courier New"/>
              </a:rPr>
              <a:t>\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08583" y="2594633"/>
            <a:ext cx="189865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50">
                <a:latin typeface="Courier New"/>
                <a:cs typeface="Courier New"/>
              </a:rPr>
              <a:t>q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08583" y="2871735"/>
            <a:ext cx="189865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>
                <a:latin typeface="Courier New"/>
                <a:cs typeface="Courier New"/>
              </a:rPr>
              <a:t>M-</a:t>
            </a:r>
            <a:r>
              <a:rPr dirty="0" sz="700" spc="-50">
                <a:latin typeface="Courier New"/>
                <a:cs typeface="Courier New"/>
              </a:rPr>
              <a:t>q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845362" y="3044926"/>
            <a:ext cx="3529329" cy="0"/>
          </a:xfrm>
          <a:custGeom>
            <a:avLst/>
            <a:gdLst/>
            <a:ahLst/>
            <a:cxnLst/>
            <a:rect l="l" t="t" r="r" b="b"/>
            <a:pathLst>
              <a:path w="3529329" h="0">
                <a:moveTo>
                  <a:pt x="0" y="0"/>
                </a:moveTo>
                <a:lnTo>
                  <a:pt x="352927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845362" y="3542868"/>
            <a:ext cx="3529329" cy="0"/>
          </a:xfrm>
          <a:custGeom>
            <a:avLst/>
            <a:gdLst/>
            <a:ahLst/>
            <a:cxnLst/>
            <a:rect l="l" t="t" r="r" b="b"/>
            <a:pathLst>
              <a:path w="3529329" h="0">
                <a:moveTo>
                  <a:pt x="0" y="0"/>
                </a:moveTo>
                <a:lnTo>
                  <a:pt x="352927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768756" y="3156661"/>
            <a:ext cx="3870325" cy="5435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3326129">
              <a:lnSpc>
                <a:spcPct val="114900"/>
              </a:lnSpc>
              <a:spcBef>
                <a:spcPts val="90"/>
              </a:spcBef>
            </a:pPr>
            <a:r>
              <a:rPr dirty="0" sz="650" b="1">
                <a:latin typeface="Book Antiqua"/>
                <a:cs typeface="Book Antiqua"/>
              </a:rPr>
              <a:t>Таблица</a:t>
            </a:r>
            <a:r>
              <a:rPr dirty="0" sz="650" spc="200" b="1">
                <a:latin typeface="Book Antiqua"/>
                <a:cs typeface="Book Antiqua"/>
              </a:rPr>
              <a:t> </a:t>
            </a:r>
            <a:r>
              <a:rPr dirty="0" sz="650" spc="25" b="1">
                <a:latin typeface="Book Antiqua"/>
                <a:cs typeface="Book Antiqua"/>
              </a:rPr>
              <a:t>9.3</a:t>
            </a:r>
            <a:r>
              <a:rPr dirty="0" sz="650" spc="50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Основные</a:t>
            </a:r>
            <a:r>
              <a:rPr dirty="0" sz="650" spc="8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комбинации</a:t>
            </a:r>
            <a:r>
              <a:rPr dirty="0" sz="650" spc="8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клавиш</a:t>
            </a:r>
            <a:r>
              <a:rPr dirty="0" sz="650" spc="6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для</a:t>
            </a:r>
            <a:r>
              <a:rPr dirty="0" sz="650" spc="8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работы</a:t>
            </a:r>
            <a:r>
              <a:rPr dirty="0" sz="650" spc="8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с</a:t>
            </a:r>
            <a:r>
              <a:rPr dirty="0" sz="650" spc="8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выделенной</a:t>
            </a:r>
            <a:r>
              <a:rPr dirty="0" sz="650" spc="8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областью</a:t>
            </a:r>
            <a:r>
              <a:rPr dirty="0" sz="650" spc="6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текста</a:t>
            </a:r>
            <a:r>
              <a:rPr dirty="0" sz="650" spc="8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в</a:t>
            </a:r>
            <a:r>
              <a:rPr dirty="0" sz="650" spc="85" b="1">
                <a:latin typeface="Book Antiqua"/>
                <a:cs typeface="Book Antiqua"/>
              </a:rPr>
              <a:t> </a:t>
            </a:r>
            <a:r>
              <a:rPr dirty="0" sz="650" spc="-10" b="1">
                <a:latin typeface="Book Antiqua"/>
                <a:cs typeface="Book Antiqua"/>
              </a:rPr>
              <a:t>Emacs</a:t>
            </a:r>
            <a:endParaRPr sz="6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650">
              <a:latin typeface="Book Antiqua"/>
              <a:cs typeface="Book Antiqua"/>
            </a:endParaRPr>
          </a:p>
          <a:p>
            <a:pPr marL="152400">
              <a:lnSpc>
                <a:spcPct val="100000"/>
              </a:lnSpc>
              <a:tabLst>
                <a:tab pos="1311910" algn="l"/>
              </a:tabLst>
            </a:pPr>
            <a:r>
              <a:rPr dirty="0" sz="750">
                <a:latin typeface="Book Antiqua"/>
                <a:cs typeface="Book Antiqua"/>
              </a:rPr>
              <a:t>Комбинация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клавиш</a:t>
            </a:r>
            <a:r>
              <a:rPr dirty="0" sz="75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Действие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845362" y="3737076"/>
            <a:ext cx="3529329" cy="0"/>
          </a:xfrm>
          <a:custGeom>
            <a:avLst/>
            <a:gdLst/>
            <a:ahLst/>
            <a:cxnLst/>
            <a:rect l="l" t="t" r="r" b="b"/>
            <a:pathLst>
              <a:path w="3529329" h="0">
                <a:moveTo>
                  <a:pt x="0" y="0"/>
                </a:moveTo>
                <a:lnTo>
                  <a:pt x="352927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908583" y="3758106"/>
            <a:ext cx="408305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10">
                <a:latin typeface="Courier New"/>
                <a:cs typeface="Courier New"/>
              </a:rPr>
              <a:t>space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068410" y="3730292"/>
            <a:ext cx="2264410" cy="1549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5400">
              <a:lnSpc>
                <a:spcPct val="121200"/>
              </a:lnSpc>
              <a:spcBef>
                <a:spcPts val="95"/>
              </a:spcBef>
            </a:pPr>
            <a:r>
              <a:rPr dirty="0" sz="750">
                <a:latin typeface="Book Antiqua"/>
                <a:cs typeface="Book Antiqua"/>
              </a:rPr>
              <a:t>Начать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выделение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текущего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положения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курсора</a:t>
            </a:r>
            <a:endParaRPr sz="750">
              <a:latin typeface="Book Antiqua"/>
              <a:cs typeface="Book Antiqua"/>
            </a:endParaRPr>
          </a:p>
          <a:p>
            <a:pPr marL="12700" marR="5080">
              <a:lnSpc>
                <a:spcPct val="121200"/>
              </a:lnSpc>
            </a:pPr>
            <a:r>
              <a:rPr dirty="0" sz="750" spc="-20">
                <a:latin typeface="Book Antiqua"/>
                <a:cs typeface="Book Antiqua"/>
              </a:rPr>
              <a:t>Удалить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выделенную </a:t>
            </a:r>
            <a:r>
              <a:rPr dirty="0" sz="750" spc="-10">
                <a:latin typeface="Book Antiqua"/>
                <a:cs typeface="Book Antiqua"/>
              </a:rPr>
              <a:t>область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 список </a:t>
            </a:r>
            <a:r>
              <a:rPr dirty="0" sz="750" spc="-20">
                <a:latin typeface="Book Antiqua"/>
                <a:cs typeface="Book Antiqua"/>
              </a:rPr>
              <a:t>уда-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лений</a:t>
            </a:r>
            <a:endParaRPr sz="750">
              <a:latin typeface="Book Antiqua"/>
              <a:cs typeface="Book Antiqua"/>
            </a:endParaRPr>
          </a:p>
          <a:p>
            <a:pPr marL="12700" marR="5080">
              <a:lnSpc>
                <a:spcPct val="121200"/>
              </a:lnSpc>
            </a:pPr>
            <a:r>
              <a:rPr dirty="0" sz="750">
                <a:latin typeface="Book Antiqua"/>
                <a:cs typeface="Book Antiqua"/>
              </a:rPr>
              <a:t>Скопировать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выделенную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область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текста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спи-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сок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удалений</a:t>
            </a:r>
            <a:endParaRPr sz="750">
              <a:latin typeface="Book Antiqua"/>
              <a:cs typeface="Book Antiqua"/>
            </a:endParaRPr>
          </a:p>
          <a:p>
            <a:pPr marL="12700" marR="25400">
              <a:lnSpc>
                <a:spcPct val="121200"/>
              </a:lnSpc>
            </a:pPr>
            <a:r>
              <a:rPr dirty="0" sz="750">
                <a:latin typeface="Book Antiqua"/>
                <a:cs typeface="Book Antiqua"/>
              </a:rPr>
              <a:t>Вставить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списка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удалений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текущую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позицию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курсора</a:t>
            </a:r>
            <a:endParaRPr sz="750">
              <a:latin typeface="Book Antiqua"/>
              <a:cs typeface="Book Antiqua"/>
            </a:endParaRPr>
          </a:p>
          <a:p>
            <a:pPr marL="12700" marR="5080">
              <a:lnSpc>
                <a:spcPct val="121200"/>
              </a:lnSpc>
            </a:pPr>
            <a:r>
              <a:rPr dirty="0" sz="750">
                <a:latin typeface="Book Antiqua"/>
                <a:cs typeface="Book Antiqua"/>
              </a:rPr>
              <a:t>Последовательно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вставить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списка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удале-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ний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750">
                <a:latin typeface="Book Antiqua"/>
                <a:cs typeface="Book Antiqua"/>
              </a:rPr>
              <a:t>Выровнять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выделенной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области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текста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08583" y="4035194"/>
            <a:ext cx="189865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50">
                <a:latin typeface="Courier New"/>
                <a:cs typeface="Courier New"/>
              </a:rPr>
              <a:t>w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908583" y="4312283"/>
            <a:ext cx="189865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>
                <a:latin typeface="Courier New"/>
                <a:cs typeface="Courier New"/>
              </a:rPr>
              <a:t>M-</a:t>
            </a:r>
            <a:r>
              <a:rPr dirty="0" sz="700" spc="-50">
                <a:latin typeface="Courier New"/>
                <a:cs typeface="Courier New"/>
              </a:rPr>
              <a:t>w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908583" y="4589372"/>
            <a:ext cx="189865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50">
                <a:latin typeface="Courier New"/>
                <a:cs typeface="Courier New"/>
              </a:rPr>
              <a:t>y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908583" y="4866460"/>
            <a:ext cx="189865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>
                <a:latin typeface="Courier New"/>
                <a:cs typeface="Courier New"/>
              </a:rPr>
              <a:t>M-</a:t>
            </a:r>
            <a:r>
              <a:rPr dirty="0" sz="700" spc="-50">
                <a:latin typeface="Courier New"/>
                <a:cs typeface="Courier New"/>
              </a:rPr>
              <a:t>y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908583" y="5143549"/>
            <a:ext cx="189865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>
                <a:latin typeface="Courier New"/>
                <a:cs typeface="Courier New"/>
              </a:rPr>
              <a:t>M-</a:t>
            </a:r>
            <a:r>
              <a:rPr dirty="0" sz="700" spc="-50">
                <a:latin typeface="Courier New"/>
                <a:cs typeface="Courier New"/>
              </a:rPr>
              <a:t>\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845362" y="5316753"/>
            <a:ext cx="3529329" cy="0"/>
          </a:xfrm>
          <a:custGeom>
            <a:avLst/>
            <a:gdLst/>
            <a:ahLst/>
            <a:cxnLst/>
            <a:rect l="l" t="t" r="r" b="b"/>
            <a:pathLst>
              <a:path w="3529329" h="0">
                <a:moveTo>
                  <a:pt x="0" y="0"/>
                </a:moveTo>
                <a:lnTo>
                  <a:pt x="352927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581304" y="5464394"/>
            <a:ext cx="4076700" cy="98425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lvl="2" marL="398780" indent="-386080">
              <a:lnSpc>
                <a:spcPct val="100000"/>
              </a:lnSpc>
              <a:spcBef>
                <a:spcPts val="695"/>
              </a:spcBef>
              <a:buAutoNum type="arabicPeriod" startAt="3"/>
              <a:tabLst>
                <a:tab pos="398780" algn="l"/>
              </a:tabLst>
            </a:pPr>
            <a:r>
              <a:rPr dirty="0" sz="850" b="1">
                <a:latin typeface="Book Antiqua"/>
                <a:cs typeface="Book Antiqua"/>
              </a:rPr>
              <a:t>Регулярные</a:t>
            </a:r>
            <a:r>
              <a:rPr dirty="0" sz="850" spc="2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выражения</a:t>
            </a:r>
            <a:endParaRPr sz="8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ct val="100000"/>
              </a:lnSpc>
              <a:spcBef>
                <a:spcPts val="555"/>
              </a:spcBef>
            </a:pPr>
            <a:r>
              <a:rPr dirty="0" sz="750" spc="-40">
                <a:latin typeface="Book Antiqua"/>
                <a:cs typeface="Book Antiqua"/>
              </a:rPr>
              <a:t>При</a:t>
            </a:r>
            <a:r>
              <a:rPr dirty="0" sz="750" spc="-5">
                <a:latin typeface="Book Antiqua"/>
                <a:cs typeface="Book Antiqua"/>
              </a:rPr>
              <a:t> работе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командами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Emacs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использовать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регулярные</a:t>
            </a:r>
            <a:r>
              <a:rPr dirty="0" sz="750" spc="-5">
                <a:latin typeface="Book Antiqua"/>
                <a:cs typeface="Book Antiqua"/>
              </a:rPr>
              <a:t> выражения </a:t>
            </a:r>
            <a:r>
              <a:rPr dirty="0" sz="750">
                <a:latin typeface="Book Antiqua"/>
                <a:cs typeface="Book Antiqua"/>
              </a:rPr>
              <a:t>(табл.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  <a:hlinkClick r:id="rId2" action="ppaction://hlinksldjump"/>
              </a:rPr>
              <a:t>9.8).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Основные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отличия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30">
                <a:latin typeface="Book Antiqua"/>
                <a:cs typeface="Book Antiqua"/>
              </a:rPr>
              <a:t>PCRE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(Perl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Compatible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Regular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Expressions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-85">
                <a:latin typeface="Book Antiqua"/>
                <a:cs typeface="Book Antiqua"/>
              </a:rPr>
              <a:t>—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библиотека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регулярных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выражений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стиле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Perl):</a:t>
            </a:r>
            <a:endParaRPr sz="750">
              <a:latin typeface="Book Antiqua"/>
              <a:cs typeface="Book Antiqua"/>
            </a:endParaRPr>
          </a:p>
          <a:p>
            <a:pPr lvl="3" marL="144145" indent="-117475">
              <a:lnSpc>
                <a:spcPts val="880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\s</a:t>
            </a:r>
            <a:r>
              <a:rPr dirty="0" sz="700" spc="-18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задаёт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пробел;</a:t>
            </a:r>
            <a:endParaRPr sz="750">
              <a:latin typeface="Book Antiqua"/>
              <a:cs typeface="Book Antiqua"/>
            </a:endParaRPr>
          </a:p>
          <a:p>
            <a:pPr lvl="3" marL="144145" indent="-117475">
              <a:lnSpc>
                <a:spcPts val="894"/>
              </a:lnSpc>
              <a:buSzPct val="107142"/>
              <a:buFont typeface="Book Antiqua"/>
              <a:buChar char="–"/>
              <a:tabLst>
                <a:tab pos="144145" algn="l"/>
              </a:tabLst>
            </a:pPr>
            <a:r>
              <a:rPr dirty="0" sz="700">
                <a:latin typeface="Courier New"/>
                <a:cs typeface="Courier New"/>
              </a:rPr>
              <a:t>\t</a:t>
            </a:r>
            <a:r>
              <a:rPr dirty="0" sz="700" spc="-18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задаёт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табуляцию;</a:t>
            </a:r>
            <a:endParaRPr sz="750">
              <a:latin typeface="Book Antiqua"/>
              <a:cs typeface="Book Antiqua"/>
            </a:endParaRPr>
          </a:p>
          <a:p>
            <a:pPr lvl="3"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>
                <a:latin typeface="Book Antiqua"/>
                <a:cs typeface="Book Antiqua"/>
              </a:rPr>
              <a:t>операция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«или»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скобки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группировки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экранируются.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923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78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704003" y="392412"/>
            <a:ext cx="193484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9.</a:t>
            </a:r>
            <a:r>
              <a:rPr dirty="0" sz="600" spc="4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Текстовой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редактор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550" spc="-10">
                <a:latin typeface="Courier New"/>
                <a:cs typeface="Courier New"/>
              </a:rPr>
              <a:t>emacs</a:t>
            </a:r>
            <a:endParaRPr sz="55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45362" y="993952"/>
            <a:ext cx="3529329" cy="0"/>
          </a:xfrm>
          <a:custGeom>
            <a:avLst/>
            <a:gdLst/>
            <a:ahLst/>
            <a:cxnLst/>
            <a:rect l="l" t="t" r="r" b="b"/>
            <a:pathLst>
              <a:path w="3529329" h="0">
                <a:moveTo>
                  <a:pt x="0" y="0"/>
                </a:moveTo>
                <a:lnTo>
                  <a:pt x="352927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908583" y="607746"/>
            <a:ext cx="3730625" cy="543560"/>
          </a:xfrm>
          <a:prstGeom prst="rect">
            <a:avLst/>
          </a:prstGeom>
        </p:spPr>
        <p:txBody>
          <a:bodyPr wrap="square" lIns="0" tIns="26669" rIns="0" bIns="0" rtlCol="0" vert="horz">
            <a:spAutoFit/>
          </a:bodyPr>
          <a:lstStyle/>
          <a:p>
            <a:pPr marL="3199130">
              <a:lnSpc>
                <a:spcPct val="100000"/>
              </a:lnSpc>
              <a:spcBef>
                <a:spcPts val="209"/>
              </a:spcBef>
            </a:pPr>
            <a:r>
              <a:rPr dirty="0" sz="650" b="1">
                <a:latin typeface="Book Antiqua"/>
                <a:cs typeface="Book Antiqua"/>
              </a:rPr>
              <a:t>Таблица</a:t>
            </a:r>
            <a:r>
              <a:rPr dirty="0" sz="650" spc="200" b="1">
                <a:latin typeface="Book Antiqua"/>
                <a:cs typeface="Book Antiqua"/>
              </a:rPr>
              <a:t> </a:t>
            </a:r>
            <a:r>
              <a:rPr dirty="0" sz="650" spc="25" b="1">
                <a:latin typeface="Book Antiqua"/>
                <a:cs typeface="Book Antiqua"/>
              </a:rPr>
              <a:t>9.4</a:t>
            </a:r>
            <a:endParaRPr sz="650">
              <a:latin typeface="Book Antiqua"/>
              <a:cs typeface="Book Antiqua"/>
            </a:endParaRPr>
          </a:p>
          <a:p>
            <a:pPr marL="344805">
              <a:lnSpc>
                <a:spcPct val="100000"/>
              </a:lnSpc>
              <a:spcBef>
                <a:spcPts val="114"/>
              </a:spcBef>
            </a:pPr>
            <a:r>
              <a:rPr dirty="0" sz="650" spc="20" b="1">
                <a:latin typeface="Book Antiqua"/>
                <a:cs typeface="Book Antiqua"/>
              </a:rPr>
              <a:t>Основные</a:t>
            </a:r>
            <a:r>
              <a:rPr dirty="0" sz="650" spc="8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комбинации</a:t>
            </a:r>
            <a:r>
              <a:rPr dirty="0" sz="650" spc="8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клавиш</a:t>
            </a:r>
            <a:r>
              <a:rPr dirty="0" sz="650" spc="6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для</a:t>
            </a:r>
            <a:r>
              <a:rPr dirty="0" sz="650" spc="8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поиска</a:t>
            </a:r>
            <a:r>
              <a:rPr dirty="0" sz="650" spc="8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и</a:t>
            </a:r>
            <a:r>
              <a:rPr dirty="0" sz="650" spc="8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замены</a:t>
            </a:r>
            <a:r>
              <a:rPr dirty="0" sz="650" spc="8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в</a:t>
            </a:r>
            <a:r>
              <a:rPr dirty="0" sz="650" spc="80" b="1">
                <a:latin typeface="Book Antiqua"/>
                <a:cs typeface="Book Antiqua"/>
              </a:rPr>
              <a:t> </a:t>
            </a:r>
            <a:r>
              <a:rPr dirty="0" sz="650" spc="-10" b="1">
                <a:latin typeface="Book Antiqua"/>
                <a:cs typeface="Book Antiqua"/>
              </a:rPr>
              <a:t>Emacs</a:t>
            </a:r>
            <a:endParaRPr sz="6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6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tabLst>
                <a:tab pos="1172210" algn="l"/>
              </a:tabLst>
            </a:pPr>
            <a:r>
              <a:rPr dirty="0" sz="750">
                <a:latin typeface="Book Antiqua"/>
                <a:cs typeface="Book Antiqua"/>
              </a:rPr>
              <a:t>Комбинация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клавиш</a:t>
            </a:r>
            <a:r>
              <a:rPr dirty="0" sz="75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Действие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845362" y="1188174"/>
            <a:ext cx="3529329" cy="0"/>
          </a:xfrm>
          <a:custGeom>
            <a:avLst/>
            <a:gdLst/>
            <a:ahLst/>
            <a:cxnLst/>
            <a:rect l="l" t="t" r="r" b="b"/>
            <a:pathLst>
              <a:path w="3529329" h="0">
                <a:moveTo>
                  <a:pt x="0" y="0"/>
                </a:moveTo>
                <a:lnTo>
                  <a:pt x="352927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908583" y="1181377"/>
            <a:ext cx="797560" cy="44005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algn="just" marL="12700" marR="5080">
              <a:lnSpc>
                <a:spcPct val="124000"/>
              </a:lnSpc>
              <a:spcBef>
                <a:spcPts val="70"/>
              </a:spcBef>
            </a:pPr>
            <a:r>
              <a:rPr dirty="0" sz="700">
                <a:latin typeface="Courier New"/>
                <a:cs typeface="Courier New"/>
              </a:rPr>
              <a:t>C-s</a:t>
            </a:r>
            <a:r>
              <a:rPr dirty="0" sz="700" spc="-254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текст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поиска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C-r</a:t>
            </a:r>
            <a:r>
              <a:rPr dirty="0" sz="700" spc="-254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текст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поиска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M-%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068370" y="1181377"/>
            <a:ext cx="2243455" cy="579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445134">
              <a:lnSpc>
                <a:spcPct val="121200"/>
              </a:lnSpc>
              <a:spcBef>
                <a:spcPts val="95"/>
              </a:spcBef>
            </a:pPr>
            <a:r>
              <a:rPr dirty="0" sz="750" spc="-10">
                <a:latin typeface="Book Antiqua"/>
                <a:cs typeface="Book Antiqua"/>
              </a:rPr>
              <a:t>Поиск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прямом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направлении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Поиск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обратном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направлении</a:t>
            </a:r>
            <a:endParaRPr sz="750">
              <a:latin typeface="Book Antiqua"/>
              <a:cs typeface="Book Antiqua"/>
            </a:endParaRPr>
          </a:p>
          <a:p>
            <a:pPr marL="12700" marR="5080">
              <a:lnSpc>
                <a:spcPct val="121200"/>
              </a:lnSpc>
            </a:pPr>
            <a:r>
              <a:rPr dirty="0" sz="750" spc="-20">
                <a:latin typeface="Book Antiqua"/>
                <a:cs typeface="Book Antiqua"/>
              </a:rPr>
              <a:t>Поиск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его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замена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запросом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(что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что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заменить)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845362" y="1798015"/>
            <a:ext cx="3529329" cy="0"/>
          </a:xfrm>
          <a:custGeom>
            <a:avLst/>
            <a:gdLst/>
            <a:ahLst/>
            <a:cxnLst/>
            <a:rect l="l" t="t" r="r" b="b"/>
            <a:pathLst>
              <a:path w="3529329" h="0">
                <a:moveTo>
                  <a:pt x="0" y="0"/>
                </a:moveTo>
                <a:lnTo>
                  <a:pt x="352927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845362" y="2289556"/>
            <a:ext cx="3529329" cy="0"/>
          </a:xfrm>
          <a:custGeom>
            <a:avLst/>
            <a:gdLst/>
            <a:ahLst/>
            <a:cxnLst/>
            <a:rect l="l" t="t" r="r" b="b"/>
            <a:pathLst>
              <a:path w="3529329" h="0">
                <a:moveTo>
                  <a:pt x="0" y="0"/>
                </a:moveTo>
                <a:lnTo>
                  <a:pt x="352927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744156" y="1903349"/>
            <a:ext cx="3895090" cy="5435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3350895">
              <a:lnSpc>
                <a:spcPct val="114900"/>
              </a:lnSpc>
              <a:spcBef>
                <a:spcPts val="90"/>
              </a:spcBef>
            </a:pPr>
            <a:r>
              <a:rPr dirty="0" sz="650" b="1">
                <a:latin typeface="Book Antiqua"/>
                <a:cs typeface="Book Antiqua"/>
              </a:rPr>
              <a:t>Таблица</a:t>
            </a:r>
            <a:r>
              <a:rPr dirty="0" sz="650" spc="200" b="1">
                <a:latin typeface="Book Antiqua"/>
                <a:cs typeface="Book Antiqua"/>
              </a:rPr>
              <a:t> </a:t>
            </a:r>
            <a:r>
              <a:rPr dirty="0" sz="650" spc="25" b="1">
                <a:latin typeface="Book Antiqua"/>
                <a:cs typeface="Book Antiqua"/>
              </a:rPr>
              <a:t>9.5</a:t>
            </a:r>
            <a:r>
              <a:rPr dirty="0" sz="650" spc="50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Основные</a:t>
            </a:r>
            <a:r>
              <a:rPr dirty="0" sz="650" spc="7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комбинации</a:t>
            </a:r>
            <a:r>
              <a:rPr dirty="0" sz="650" spc="8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клавиш</a:t>
            </a:r>
            <a:r>
              <a:rPr dirty="0" sz="650" spc="6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для</a:t>
            </a:r>
            <a:r>
              <a:rPr dirty="0" sz="650" spc="7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работы</a:t>
            </a:r>
            <a:r>
              <a:rPr dirty="0" sz="650" spc="8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с</a:t>
            </a:r>
            <a:r>
              <a:rPr dirty="0" sz="650" spc="8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файлами,</a:t>
            </a:r>
            <a:r>
              <a:rPr dirty="0" sz="650" spc="4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буферами</a:t>
            </a:r>
            <a:r>
              <a:rPr dirty="0" sz="650" spc="7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и</a:t>
            </a:r>
            <a:r>
              <a:rPr dirty="0" sz="650" spc="8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окнами</a:t>
            </a:r>
            <a:r>
              <a:rPr dirty="0" sz="650" spc="8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в</a:t>
            </a:r>
            <a:r>
              <a:rPr dirty="0" sz="650" spc="75" b="1">
                <a:latin typeface="Book Antiqua"/>
                <a:cs typeface="Book Antiqua"/>
              </a:rPr>
              <a:t> </a:t>
            </a:r>
            <a:r>
              <a:rPr dirty="0" sz="650" spc="-10" b="1">
                <a:latin typeface="Book Antiqua"/>
                <a:cs typeface="Book Antiqua"/>
              </a:rPr>
              <a:t>Emacs</a:t>
            </a:r>
            <a:endParaRPr sz="6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650">
              <a:latin typeface="Book Antiqua"/>
              <a:cs typeface="Book Antiqua"/>
            </a:endParaRPr>
          </a:p>
          <a:p>
            <a:pPr marL="176530">
              <a:lnSpc>
                <a:spcPct val="100000"/>
              </a:lnSpc>
              <a:tabLst>
                <a:tab pos="1336675" algn="l"/>
              </a:tabLst>
            </a:pPr>
            <a:r>
              <a:rPr dirty="0" sz="750">
                <a:latin typeface="Book Antiqua"/>
                <a:cs typeface="Book Antiqua"/>
              </a:rPr>
              <a:t>Комбинация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клавиш</a:t>
            </a:r>
            <a:r>
              <a:rPr dirty="0" sz="75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Действие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845362" y="2483777"/>
            <a:ext cx="3529329" cy="0"/>
          </a:xfrm>
          <a:custGeom>
            <a:avLst/>
            <a:gdLst/>
            <a:ahLst/>
            <a:cxnLst/>
            <a:rect l="l" t="t" r="r" b="b"/>
            <a:pathLst>
              <a:path w="3529329" h="0">
                <a:moveTo>
                  <a:pt x="0" y="0"/>
                </a:moveTo>
                <a:lnTo>
                  <a:pt x="352927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908583" y="2475567"/>
            <a:ext cx="408305" cy="44132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700">
                <a:latin typeface="Courier New"/>
                <a:cs typeface="Courier New"/>
              </a:rPr>
              <a:t>C-x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50">
                <a:latin typeface="Courier New"/>
                <a:cs typeface="Courier New"/>
              </a:rPr>
              <a:t>f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700">
                <a:latin typeface="Courier New"/>
                <a:cs typeface="Courier New"/>
              </a:rPr>
              <a:t>C-x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50">
                <a:latin typeface="Courier New"/>
                <a:cs typeface="Courier New"/>
              </a:rPr>
              <a:t>s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700">
                <a:latin typeface="Courier New"/>
                <a:cs typeface="Courier New"/>
              </a:rPr>
              <a:t>C-x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50">
                <a:latin typeface="Courier New"/>
                <a:cs typeface="Courier New"/>
              </a:rPr>
              <a:t>b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068410" y="2476979"/>
            <a:ext cx="2264410" cy="168846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118870">
              <a:lnSpc>
                <a:spcPct val="121200"/>
              </a:lnSpc>
              <a:spcBef>
                <a:spcPts val="95"/>
              </a:spcBef>
            </a:pPr>
            <a:r>
              <a:rPr dirty="0" sz="750">
                <a:latin typeface="Book Antiqua"/>
                <a:cs typeface="Book Antiqua"/>
              </a:rPr>
              <a:t>Открыть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Сохранить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буфер</a:t>
            </a:r>
            <a:endParaRPr sz="750">
              <a:latin typeface="Book Antiqua"/>
              <a:cs typeface="Book Antiqua"/>
            </a:endParaRPr>
          </a:p>
          <a:p>
            <a:pPr marL="12700" marR="25400">
              <a:lnSpc>
                <a:spcPct val="121200"/>
              </a:lnSpc>
            </a:pPr>
            <a:r>
              <a:rPr dirty="0" sz="750">
                <a:latin typeface="Book Antiqua"/>
                <a:cs typeface="Book Antiqua"/>
              </a:rPr>
              <a:t>Отобразить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список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открытых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буферов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новом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окне</a:t>
            </a:r>
            <a:endParaRPr sz="750">
              <a:latin typeface="Book Antiqua"/>
              <a:cs typeface="Book Antiqua"/>
            </a:endParaRPr>
          </a:p>
          <a:p>
            <a:pPr marL="12700" marR="25400">
              <a:lnSpc>
                <a:spcPct val="121200"/>
              </a:lnSpc>
            </a:pPr>
            <a:r>
              <a:rPr dirty="0" sz="750">
                <a:latin typeface="Book Antiqua"/>
                <a:cs typeface="Book Antiqua"/>
              </a:rPr>
              <a:t>Переключиться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другой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буфер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текущем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окне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Вставить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содержимое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буфер</a:t>
            </a:r>
            <a:r>
              <a:rPr dirty="0" sz="750" spc="50">
                <a:latin typeface="Book Antiqua"/>
                <a:cs typeface="Book Antiqua"/>
              </a:rPr>
              <a:t> 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текущую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позицию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курсора</a:t>
            </a:r>
            <a:endParaRPr sz="750">
              <a:latin typeface="Book Antiqua"/>
              <a:cs typeface="Book Antiqua"/>
            </a:endParaRPr>
          </a:p>
          <a:p>
            <a:pPr marL="12700" marR="5080">
              <a:lnSpc>
                <a:spcPct val="121200"/>
              </a:lnSpc>
            </a:pPr>
            <a:r>
              <a:rPr dirty="0" sz="750">
                <a:latin typeface="Book Antiqua"/>
                <a:cs typeface="Book Antiqua"/>
              </a:rPr>
              <a:t>Закрыть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окно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(при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этом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буфер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удаля-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ется)</a:t>
            </a:r>
            <a:endParaRPr sz="750">
              <a:latin typeface="Book Antiqua"/>
              <a:cs typeface="Book Antiqua"/>
            </a:endParaRPr>
          </a:p>
          <a:p>
            <a:pPr marL="12700" marR="692150">
              <a:lnSpc>
                <a:spcPct val="121200"/>
              </a:lnSpc>
            </a:pPr>
            <a:r>
              <a:rPr dirty="0" sz="750">
                <a:latin typeface="Book Antiqua"/>
                <a:cs typeface="Book Antiqua"/>
              </a:rPr>
              <a:t>Закрыть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окна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кроме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текущего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Разделить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окно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горизонтали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Перейти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другое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окно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08583" y="3029745"/>
            <a:ext cx="299085" cy="302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9900"/>
              </a:lnSpc>
              <a:spcBef>
                <a:spcPts val="95"/>
              </a:spcBef>
            </a:pPr>
            <a:r>
              <a:rPr dirty="0" sz="700">
                <a:latin typeface="Courier New"/>
                <a:cs typeface="Courier New"/>
              </a:rPr>
              <a:t>C-x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b </a:t>
            </a:r>
            <a:r>
              <a:rPr dirty="0" sz="700">
                <a:latin typeface="Courier New"/>
                <a:cs typeface="Courier New"/>
              </a:rPr>
              <a:t>C-x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i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908583" y="3474604"/>
            <a:ext cx="299085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>
                <a:latin typeface="Courier New"/>
                <a:cs typeface="Courier New"/>
              </a:rPr>
              <a:t>C-x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0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08583" y="3722467"/>
            <a:ext cx="299085" cy="44132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700">
                <a:latin typeface="Courier New"/>
                <a:cs typeface="Courier New"/>
              </a:rPr>
              <a:t>C-x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1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700">
                <a:latin typeface="Courier New"/>
                <a:cs typeface="Courier New"/>
              </a:rPr>
              <a:t>C-x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2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700">
                <a:latin typeface="Courier New"/>
                <a:cs typeface="Courier New"/>
              </a:rPr>
              <a:t>C-x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o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845362" y="4201985"/>
            <a:ext cx="3529329" cy="0"/>
          </a:xfrm>
          <a:custGeom>
            <a:avLst/>
            <a:gdLst/>
            <a:ahLst/>
            <a:cxnLst/>
            <a:rect l="l" t="t" r="r" b="b"/>
            <a:pathLst>
              <a:path w="3529329" h="0">
                <a:moveTo>
                  <a:pt x="0" y="0"/>
                </a:moveTo>
                <a:lnTo>
                  <a:pt x="352927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577367" y="4411563"/>
            <a:ext cx="2598420" cy="7219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 sz="850" spc="10" b="1">
                <a:latin typeface="Book Antiqua"/>
                <a:cs typeface="Book Antiqua"/>
              </a:rPr>
              <a:t>9.3.</a:t>
            </a:r>
            <a:r>
              <a:rPr dirty="0" sz="850" spc="254" b="1">
                <a:latin typeface="Book Antiqua"/>
                <a:cs typeface="Book Antiqua"/>
              </a:rPr>
              <a:t>  </a:t>
            </a:r>
            <a:r>
              <a:rPr dirty="0" sz="850" spc="10" b="1">
                <a:latin typeface="Book Antiqua"/>
                <a:cs typeface="Book Antiqua"/>
              </a:rPr>
              <a:t>Последовательность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выполнения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spcBef>
                <a:spcPts val="865"/>
              </a:spcBef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Ознакомиться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теоретическим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материалом.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Ознакомиться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редактором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emacs.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Выполнить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упражнения.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Ответить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контрольные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вопросы.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77367" y="5185681"/>
            <a:ext cx="2312670" cy="66421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695"/>
              </a:spcBef>
            </a:pPr>
            <a:r>
              <a:rPr dirty="0" sz="850" b="1">
                <a:latin typeface="Book Antiqua"/>
                <a:cs typeface="Book Antiqua"/>
              </a:rPr>
              <a:t>9.3.1.</a:t>
            </a:r>
            <a:r>
              <a:rPr dirty="0" sz="850" spc="350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Основные</a:t>
            </a:r>
            <a:r>
              <a:rPr dirty="0" sz="850" spc="100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команды</a:t>
            </a:r>
            <a:r>
              <a:rPr dirty="0" sz="850" spc="10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emacs</a:t>
            </a:r>
            <a:endParaRPr sz="850">
              <a:latin typeface="Book Antiqua"/>
              <a:cs typeface="Book Antiqua"/>
            </a:endParaRPr>
          </a:p>
          <a:p>
            <a:pPr marL="148590" indent="-135890">
              <a:lnSpc>
                <a:spcPct val="100000"/>
              </a:lnSpc>
              <a:spcBef>
                <a:spcPts val="555"/>
              </a:spcBef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Открыть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emacs.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spcBef>
                <a:spcPts val="155"/>
              </a:spcBef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Создать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lab07.sh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комбинации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Наберите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текст: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2900731" y="5601675"/>
            <a:ext cx="509270" cy="129539"/>
            <a:chOff x="2900731" y="5601675"/>
            <a:chExt cx="509270" cy="129539"/>
          </a:xfrm>
        </p:grpSpPr>
        <p:sp>
          <p:nvSpPr>
            <p:cNvPr id="23" name="object 23" descr=""/>
            <p:cNvSpPr/>
            <p:nvPr/>
          </p:nvSpPr>
          <p:spPr>
            <a:xfrm>
              <a:off x="2903262" y="5604205"/>
              <a:ext cx="245745" cy="124460"/>
            </a:xfrm>
            <a:custGeom>
              <a:avLst/>
              <a:gdLst/>
              <a:ahLst/>
              <a:cxnLst/>
              <a:rect l="l" t="t" r="r" b="b"/>
              <a:pathLst>
                <a:path w="245744" h="124460">
                  <a:moveTo>
                    <a:pt x="238865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38865" y="123926"/>
                  </a:lnTo>
                  <a:lnTo>
                    <a:pt x="245457" y="117333"/>
                  </a:lnTo>
                  <a:lnTo>
                    <a:pt x="245457" y="6592"/>
                  </a:lnTo>
                  <a:lnTo>
                    <a:pt x="23886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903262" y="5604205"/>
              <a:ext cx="245745" cy="124460"/>
            </a:xfrm>
            <a:custGeom>
              <a:avLst/>
              <a:gdLst/>
              <a:ahLst/>
              <a:cxnLst/>
              <a:rect l="l" t="t" r="r" b="b"/>
              <a:pathLst>
                <a:path w="245744" h="124460">
                  <a:moveTo>
                    <a:pt x="230733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30733" y="123926"/>
                  </a:lnTo>
                  <a:lnTo>
                    <a:pt x="238865" y="123926"/>
                  </a:lnTo>
                  <a:lnTo>
                    <a:pt x="245457" y="117333"/>
                  </a:lnTo>
                  <a:lnTo>
                    <a:pt x="245457" y="109202"/>
                  </a:lnTo>
                  <a:lnTo>
                    <a:pt x="245457" y="14723"/>
                  </a:lnTo>
                  <a:lnTo>
                    <a:pt x="245457" y="6592"/>
                  </a:lnTo>
                  <a:lnTo>
                    <a:pt x="238865" y="0"/>
                  </a:lnTo>
                  <a:lnTo>
                    <a:pt x="230733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177622" y="5604205"/>
              <a:ext cx="229870" cy="124460"/>
            </a:xfrm>
            <a:custGeom>
              <a:avLst/>
              <a:gdLst/>
              <a:ahLst/>
              <a:cxnLst/>
              <a:rect l="l" t="t" r="r" b="b"/>
              <a:pathLst>
                <a:path w="229870" h="124460">
                  <a:moveTo>
                    <a:pt x="222832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22832" y="123926"/>
                  </a:lnTo>
                  <a:lnTo>
                    <a:pt x="229424" y="117333"/>
                  </a:lnTo>
                  <a:lnTo>
                    <a:pt x="229424" y="6592"/>
                  </a:lnTo>
                  <a:lnTo>
                    <a:pt x="22283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177622" y="5604205"/>
              <a:ext cx="229870" cy="124460"/>
            </a:xfrm>
            <a:custGeom>
              <a:avLst/>
              <a:gdLst/>
              <a:ahLst/>
              <a:cxnLst/>
              <a:rect l="l" t="t" r="r" b="b"/>
              <a:pathLst>
                <a:path w="229870" h="124460">
                  <a:moveTo>
                    <a:pt x="214700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14700" y="123926"/>
                  </a:lnTo>
                  <a:lnTo>
                    <a:pt x="222832" y="123926"/>
                  </a:lnTo>
                  <a:lnTo>
                    <a:pt x="229424" y="117333"/>
                  </a:lnTo>
                  <a:lnTo>
                    <a:pt x="229424" y="109202"/>
                  </a:lnTo>
                  <a:lnTo>
                    <a:pt x="229424" y="14723"/>
                  </a:lnTo>
                  <a:lnTo>
                    <a:pt x="229424" y="6592"/>
                  </a:lnTo>
                  <a:lnTo>
                    <a:pt x="222832" y="0"/>
                  </a:lnTo>
                  <a:lnTo>
                    <a:pt x="214700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2903262" y="5604205"/>
            <a:ext cx="504190" cy="1244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>
                <a:latin typeface="Calibri"/>
                <a:cs typeface="Calibri"/>
              </a:rPr>
              <a:t>Ctrl-x</a:t>
            </a:r>
            <a:r>
              <a:rPr dirty="0" sz="650" spc="240">
                <a:latin typeface="Calibri"/>
                <a:cs typeface="Calibri"/>
              </a:rPr>
              <a:t>  </a:t>
            </a:r>
            <a:r>
              <a:rPr dirty="0" sz="650">
                <a:latin typeface="Calibri"/>
                <a:cs typeface="Calibri"/>
              </a:rPr>
              <a:t>Ctrl-</a:t>
            </a:r>
            <a:r>
              <a:rPr dirty="0" sz="650" spc="-50">
                <a:latin typeface="Calibri"/>
                <a:cs typeface="Calibri"/>
              </a:rPr>
              <a:t>f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3420732" y="5592737"/>
            <a:ext cx="50292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C-x</a:t>
            </a:r>
            <a:r>
              <a:rPr dirty="0" sz="700" spc="4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25">
                <a:latin typeface="Courier New"/>
                <a:cs typeface="Courier New"/>
              </a:rPr>
              <a:t>f</a:t>
            </a:r>
            <a:r>
              <a:rPr dirty="0" sz="750" spc="-25">
                <a:latin typeface="Book Antiqua"/>
                <a:cs typeface="Book Antiqua"/>
              </a:rPr>
              <a:t>).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33120" y="5974665"/>
            <a:ext cx="54610" cy="6591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726719" y="5924410"/>
            <a:ext cx="3899535" cy="7480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1590" rIns="0" bIns="0" rtlCol="0" vert="horz">
            <a:spAutoFit/>
          </a:bodyPr>
          <a:lstStyle/>
          <a:p>
            <a:pPr marL="37465" marR="2978785">
              <a:lnSpc>
                <a:spcPct val="106500"/>
              </a:lnSpc>
              <a:spcBef>
                <a:spcPts val="170"/>
              </a:spcBef>
            </a:pPr>
            <a:r>
              <a:rPr dirty="0" sz="700" spc="-10">
                <a:solidFill>
                  <a:srgbClr val="3D7A7A"/>
                </a:solidFill>
                <a:latin typeface="Courier New"/>
                <a:cs typeface="Courier New"/>
              </a:rPr>
              <a:t>#!/bin/bash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HELL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-10">
                <a:latin typeface="Courier New"/>
                <a:cs typeface="Courier New"/>
              </a:rPr>
              <a:t>Hello </a:t>
            </a: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function</a:t>
            </a:r>
            <a:r>
              <a:rPr dirty="0" sz="700" spc="3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hello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 spc="-50">
                <a:solidFill>
                  <a:srgbClr val="666666"/>
                </a:solidFill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LOCAL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HELLO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-10">
                <a:latin typeface="Courier New"/>
                <a:cs typeface="Courier New"/>
              </a:rPr>
              <a:t>World</a:t>
            </a:r>
            <a:endParaRPr sz="700">
              <a:latin typeface="Courier New"/>
              <a:cs typeface="Courier New"/>
            </a:endParaRPr>
          </a:p>
          <a:p>
            <a:pPr marL="14668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$HELLO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50">
                <a:solidFill>
                  <a:srgbClr val="666666"/>
                </a:solidFill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40" i="1">
                <a:latin typeface="Georgia"/>
                <a:cs typeface="Georgia"/>
              </a:rPr>
              <a:t>Кулябов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spc="-30" i="1">
                <a:latin typeface="Georgia"/>
                <a:cs typeface="Georgia"/>
              </a:rPr>
              <a:t>Д.</a:t>
            </a:r>
            <a:r>
              <a:rPr dirty="0" sz="600" spc="-50" i="1">
                <a:latin typeface="Georgia"/>
                <a:cs typeface="Georgia"/>
              </a:rPr>
              <a:t> </a:t>
            </a:r>
            <a:r>
              <a:rPr dirty="0" sz="600" spc="-10" i="1">
                <a:latin typeface="Georgia"/>
                <a:cs typeface="Georgia"/>
              </a:rPr>
              <a:t>С.</a:t>
            </a:r>
            <a:r>
              <a:rPr dirty="0" sz="600" spc="-2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и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др.</a:t>
            </a:r>
            <a:r>
              <a:rPr dirty="0" sz="600" spc="55" i="1">
                <a:latin typeface="Georgia"/>
                <a:cs typeface="Georgi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-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79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45362" y="993952"/>
            <a:ext cx="3529329" cy="0"/>
          </a:xfrm>
          <a:custGeom>
            <a:avLst/>
            <a:gdLst/>
            <a:ahLst/>
            <a:cxnLst/>
            <a:rect l="l" t="t" r="r" b="b"/>
            <a:pathLst>
              <a:path w="3529329" h="0">
                <a:moveTo>
                  <a:pt x="0" y="0"/>
                </a:moveTo>
                <a:lnTo>
                  <a:pt x="352927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908583" y="607746"/>
            <a:ext cx="3730625" cy="543560"/>
          </a:xfrm>
          <a:prstGeom prst="rect">
            <a:avLst/>
          </a:prstGeom>
        </p:spPr>
        <p:txBody>
          <a:bodyPr wrap="square" lIns="0" tIns="26669" rIns="0" bIns="0" rtlCol="0" vert="horz">
            <a:spAutoFit/>
          </a:bodyPr>
          <a:lstStyle/>
          <a:p>
            <a:pPr marL="3199130">
              <a:lnSpc>
                <a:spcPct val="100000"/>
              </a:lnSpc>
              <a:spcBef>
                <a:spcPts val="209"/>
              </a:spcBef>
            </a:pPr>
            <a:r>
              <a:rPr dirty="0" sz="650" b="1">
                <a:latin typeface="Book Antiqua"/>
                <a:cs typeface="Book Antiqua"/>
              </a:rPr>
              <a:t>Таблица</a:t>
            </a:r>
            <a:r>
              <a:rPr dirty="0" sz="650" spc="200" b="1">
                <a:latin typeface="Book Antiqua"/>
                <a:cs typeface="Book Antiqua"/>
              </a:rPr>
              <a:t> </a:t>
            </a:r>
            <a:r>
              <a:rPr dirty="0" sz="650" spc="25" b="1">
                <a:latin typeface="Book Antiqua"/>
                <a:cs typeface="Book Antiqua"/>
              </a:rPr>
              <a:t>9.6</a:t>
            </a:r>
            <a:endParaRPr sz="650">
              <a:latin typeface="Book Antiqua"/>
              <a:cs typeface="Book Antiqua"/>
            </a:endParaRPr>
          </a:p>
          <a:p>
            <a:pPr marL="284480">
              <a:lnSpc>
                <a:spcPct val="100000"/>
              </a:lnSpc>
              <a:spcBef>
                <a:spcPts val="114"/>
              </a:spcBef>
            </a:pPr>
            <a:r>
              <a:rPr dirty="0" sz="650" spc="20" b="1">
                <a:latin typeface="Book Antiqua"/>
                <a:cs typeface="Book Antiqua"/>
              </a:rPr>
              <a:t>Основные</a:t>
            </a:r>
            <a:r>
              <a:rPr dirty="0" sz="650" spc="7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комбинации</a:t>
            </a:r>
            <a:r>
              <a:rPr dirty="0" sz="650" spc="7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клавиш</a:t>
            </a:r>
            <a:r>
              <a:rPr dirty="0" sz="650" spc="5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для</a:t>
            </a:r>
            <a:r>
              <a:rPr dirty="0" sz="650" spc="7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работы</a:t>
            </a:r>
            <a:r>
              <a:rPr dirty="0" sz="650" spc="7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со</a:t>
            </a:r>
            <a:r>
              <a:rPr dirty="0" sz="650" spc="7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справкой</a:t>
            </a:r>
            <a:r>
              <a:rPr dirty="0" sz="650" spc="7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в</a:t>
            </a:r>
            <a:r>
              <a:rPr dirty="0" sz="650" spc="75" b="1">
                <a:latin typeface="Book Antiqua"/>
                <a:cs typeface="Book Antiqua"/>
              </a:rPr>
              <a:t> </a:t>
            </a:r>
            <a:r>
              <a:rPr dirty="0" sz="650" spc="-10" b="1">
                <a:latin typeface="Book Antiqua"/>
                <a:cs typeface="Book Antiqua"/>
              </a:rPr>
              <a:t>Emacs</a:t>
            </a:r>
            <a:endParaRPr sz="6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6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tabLst>
                <a:tab pos="1172210" algn="l"/>
              </a:tabLst>
            </a:pPr>
            <a:r>
              <a:rPr dirty="0" sz="750">
                <a:latin typeface="Book Antiqua"/>
                <a:cs typeface="Book Antiqua"/>
              </a:rPr>
              <a:t>Комбинация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клавиш</a:t>
            </a:r>
            <a:r>
              <a:rPr dirty="0" sz="75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Действие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845362" y="1188174"/>
            <a:ext cx="3529329" cy="0"/>
          </a:xfrm>
          <a:custGeom>
            <a:avLst/>
            <a:gdLst/>
            <a:ahLst/>
            <a:cxnLst/>
            <a:rect l="l" t="t" r="r" b="b"/>
            <a:pathLst>
              <a:path w="3529329" h="0">
                <a:moveTo>
                  <a:pt x="0" y="0"/>
                </a:moveTo>
                <a:lnTo>
                  <a:pt x="352927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908583" y="1209190"/>
            <a:ext cx="299085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>
                <a:latin typeface="Courier New"/>
                <a:cs typeface="Courier New"/>
              </a:rPr>
              <a:t>C-h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?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068410" y="1181377"/>
            <a:ext cx="2264410" cy="1549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6034">
              <a:lnSpc>
                <a:spcPct val="121200"/>
              </a:lnSpc>
              <a:spcBef>
                <a:spcPts val="95"/>
              </a:spcBef>
            </a:pPr>
            <a:r>
              <a:rPr dirty="0" sz="750">
                <a:latin typeface="Book Antiqua"/>
                <a:cs typeface="Book Antiqua"/>
              </a:rPr>
              <a:t>Показать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информацию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справочной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системой</a:t>
            </a:r>
            <a:endParaRPr sz="750">
              <a:latin typeface="Book Antiqua"/>
              <a:cs typeface="Book Antiqua"/>
            </a:endParaRPr>
          </a:p>
          <a:p>
            <a:pPr marL="12700" marR="447040">
              <a:lnSpc>
                <a:spcPct val="121200"/>
              </a:lnSpc>
            </a:pPr>
            <a:r>
              <a:rPr dirty="0" sz="750">
                <a:latin typeface="Book Antiqua"/>
                <a:cs typeface="Book Antiqua"/>
              </a:rPr>
              <a:t>Вызвать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интерактивный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учебник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Показать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информацию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Показать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информацию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переменной</a:t>
            </a:r>
            <a:endParaRPr sz="750">
              <a:latin typeface="Book Antiqua"/>
              <a:cs typeface="Book Antiqua"/>
            </a:endParaRPr>
          </a:p>
          <a:p>
            <a:pPr marL="12700" marR="25400">
              <a:lnSpc>
                <a:spcPct val="121200"/>
              </a:lnSpc>
            </a:pPr>
            <a:r>
              <a:rPr dirty="0" sz="750">
                <a:latin typeface="Book Antiqua"/>
                <a:cs typeface="Book Antiqua"/>
              </a:rPr>
              <a:t>Показать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информацию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действию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комбинации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клавиш</a:t>
            </a:r>
            <a:endParaRPr sz="750">
              <a:latin typeface="Book Antiqua"/>
              <a:cs typeface="Book Antiqua"/>
            </a:endParaRPr>
          </a:p>
          <a:p>
            <a:pPr marL="12700" marR="5080">
              <a:lnSpc>
                <a:spcPct val="121200"/>
              </a:lnSpc>
            </a:pPr>
            <a:r>
              <a:rPr dirty="0" sz="750">
                <a:latin typeface="Book Antiqua"/>
                <a:cs typeface="Book Antiqua"/>
              </a:rPr>
              <a:t>Выполнить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поисковый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запрос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справке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ке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регулярному</a:t>
            </a:r>
            <a:r>
              <a:rPr dirty="0" sz="750" spc="-10">
                <a:latin typeface="Book Antiqua"/>
                <a:cs typeface="Book Antiqua"/>
              </a:rPr>
              <a:t> выражению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750">
                <a:latin typeface="Book Antiqua"/>
                <a:cs typeface="Book Antiqua"/>
              </a:rPr>
              <a:t>Вызвать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Emacs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FAQ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750">
                <a:latin typeface="Book Antiqua"/>
                <a:cs typeface="Book Antiqua"/>
              </a:rPr>
              <a:t>Показать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документацию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Emacs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(Info)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08583" y="1457053"/>
            <a:ext cx="299085" cy="579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29900"/>
              </a:lnSpc>
              <a:spcBef>
                <a:spcPts val="95"/>
              </a:spcBef>
            </a:pPr>
            <a:r>
              <a:rPr dirty="0" sz="700">
                <a:latin typeface="Courier New"/>
                <a:cs typeface="Courier New"/>
              </a:rPr>
              <a:t>C-h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t </a:t>
            </a:r>
            <a:r>
              <a:rPr dirty="0" sz="700">
                <a:latin typeface="Courier New"/>
                <a:cs typeface="Courier New"/>
              </a:rPr>
              <a:t>C-h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f </a:t>
            </a:r>
            <a:r>
              <a:rPr dirty="0" sz="700">
                <a:latin typeface="Courier New"/>
                <a:cs typeface="Courier New"/>
              </a:rPr>
              <a:t>C-h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v </a:t>
            </a:r>
            <a:r>
              <a:rPr dirty="0" sz="700">
                <a:latin typeface="Courier New"/>
                <a:cs typeface="Courier New"/>
              </a:rPr>
              <a:t>C-h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k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08583" y="2179001"/>
            <a:ext cx="299085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>
                <a:latin typeface="Courier New"/>
                <a:cs typeface="Courier New"/>
              </a:rPr>
              <a:t>C-h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a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08583" y="2426863"/>
            <a:ext cx="299085" cy="30289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700">
                <a:latin typeface="Courier New"/>
                <a:cs typeface="Courier New"/>
              </a:rPr>
              <a:t>C-h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F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700">
                <a:latin typeface="Courier New"/>
                <a:cs typeface="Courier New"/>
              </a:rPr>
              <a:t>C-h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i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845362" y="2767838"/>
            <a:ext cx="3529329" cy="0"/>
          </a:xfrm>
          <a:custGeom>
            <a:avLst/>
            <a:gdLst/>
            <a:ahLst/>
            <a:cxnLst/>
            <a:rect l="l" t="t" r="r" b="b"/>
            <a:pathLst>
              <a:path w="3529329" h="0">
                <a:moveTo>
                  <a:pt x="0" y="0"/>
                </a:moveTo>
                <a:lnTo>
                  <a:pt x="352927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845362" y="3265779"/>
            <a:ext cx="3529329" cy="0"/>
          </a:xfrm>
          <a:custGeom>
            <a:avLst/>
            <a:gdLst/>
            <a:ahLst/>
            <a:cxnLst/>
            <a:rect l="l" t="t" r="r" b="b"/>
            <a:pathLst>
              <a:path w="3529329" h="0">
                <a:moveTo>
                  <a:pt x="0" y="0"/>
                </a:moveTo>
                <a:lnTo>
                  <a:pt x="352927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908583" y="2879547"/>
            <a:ext cx="3730625" cy="543560"/>
          </a:xfrm>
          <a:prstGeom prst="rect">
            <a:avLst/>
          </a:prstGeom>
        </p:spPr>
        <p:txBody>
          <a:bodyPr wrap="square" lIns="0" tIns="26669" rIns="0" bIns="0" rtlCol="0" vert="horz">
            <a:spAutoFit/>
          </a:bodyPr>
          <a:lstStyle/>
          <a:p>
            <a:pPr marL="3199130">
              <a:lnSpc>
                <a:spcPct val="100000"/>
              </a:lnSpc>
              <a:spcBef>
                <a:spcPts val="209"/>
              </a:spcBef>
            </a:pPr>
            <a:r>
              <a:rPr dirty="0" sz="650" b="1">
                <a:latin typeface="Book Antiqua"/>
                <a:cs typeface="Book Antiqua"/>
              </a:rPr>
              <a:t>Таблица</a:t>
            </a:r>
            <a:r>
              <a:rPr dirty="0" sz="650" spc="200" b="1">
                <a:latin typeface="Book Antiqua"/>
                <a:cs typeface="Book Antiqua"/>
              </a:rPr>
              <a:t> </a:t>
            </a:r>
            <a:r>
              <a:rPr dirty="0" sz="650" spc="25" b="1">
                <a:latin typeface="Book Antiqua"/>
                <a:cs typeface="Book Antiqua"/>
              </a:rPr>
              <a:t>9.7</a:t>
            </a:r>
            <a:endParaRPr sz="650">
              <a:latin typeface="Book Antiqua"/>
              <a:cs typeface="Book Antiqua"/>
            </a:endParaRPr>
          </a:p>
          <a:p>
            <a:pPr marL="542290">
              <a:lnSpc>
                <a:spcPct val="100000"/>
              </a:lnSpc>
              <a:spcBef>
                <a:spcPts val="114"/>
              </a:spcBef>
            </a:pPr>
            <a:r>
              <a:rPr dirty="0" sz="650" spc="20" b="1">
                <a:latin typeface="Book Antiqua"/>
                <a:cs typeface="Book Antiqua"/>
              </a:rPr>
              <a:t>Прочие</a:t>
            </a:r>
            <a:r>
              <a:rPr dirty="0" sz="650" spc="9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комбинации</a:t>
            </a:r>
            <a:r>
              <a:rPr dirty="0" sz="650" spc="9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клавиш,</a:t>
            </a:r>
            <a:r>
              <a:rPr dirty="0" sz="650" spc="5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используемые</a:t>
            </a:r>
            <a:r>
              <a:rPr dirty="0" sz="650" spc="9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в</a:t>
            </a:r>
            <a:r>
              <a:rPr dirty="0" sz="650" spc="90" b="1">
                <a:latin typeface="Book Antiqua"/>
                <a:cs typeface="Book Antiqua"/>
              </a:rPr>
              <a:t> </a:t>
            </a:r>
            <a:r>
              <a:rPr dirty="0" sz="650" spc="-10" b="1">
                <a:latin typeface="Book Antiqua"/>
                <a:cs typeface="Book Antiqua"/>
              </a:rPr>
              <a:t>Emacs</a:t>
            </a:r>
            <a:endParaRPr sz="6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6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tabLst>
                <a:tab pos="1172210" algn="l"/>
              </a:tabLst>
            </a:pPr>
            <a:r>
              <a:rPr dirty="0" sz="750">
                <a:latin typeface="Book Antiqua"/>
                <a:cs typeface="Book Antiqua"/>
              </a:rPr>
              <a:t>Комбинация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клавиш</a:t>
            </a:r>
            <a:r>
              <a:rPr dirty="0" sz="75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Действие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845362" y="3459988"/>
            <a:ext cx="3529329" cy="0"/>
          </a:xfrm>
          <a:custGeom>
            <a:avLst/>
            <a:gdLst/>
            <a:ahLst/>
            <a:cxnLst/>
            <a:rect l="l" t="t" r="r" b="b"/>
            <a:pathLst>
              <a:path w="3529329" h="0">
                <a:moveTo>
                  <a:pt x="0" y="0"/>
                </a:moveTo>
                <a:lnTo>
                  <a:pt x="352927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908583" y="3451779"/>
            <a:ext cx="626745" cy="44132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50">
                <a:latin typeface="Courier New"/>
                <a:cs typeface="Courier New"/>
              </a:rPr>
              <a:t>\</a:t>
            </a:r>
            <a:endParaRPr sz="700">
              <a:latin typeface="Courier New"/>
              <a:cs typeface="Courier New"/>
            </a:endParaRPr>
          </a:p>
          <a:p>
            <a:pPr marL="12700" marR="5080">
              <a:lnSpc>
                <a:spcPct val="129900"/>
              </a:lnSpc>
            </a:pPr>
            <a:r>
              <a:rPr dirty="0" sz="700">
                <a:latin typeface="Courier New"/>
                <a:cs typeface="Courier New"/>
              </a:rPr>
              <a:t>M-x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command </a:t>
            </a:r>
            <a:r>
              <a:rPr dirty="0" sz="700">
                <a:latin typeface="Courier New"/>
                <a:cs typeface="Courier New"/>
              </a:rPr>
              <a:t>C-x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u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068410" y="3453191"/>
            <a:ext cx="2172970" cy="44132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750">
                <a:latin typeface="Book Antiqua"/>
                <a:cs typeface="Book Antiqua"/>
              </a:rPr>
              <a:t>Переключить</a:t>
            </a:r>
            <a:r>
              <a:rPr dirty="0" sz="750" spc="-20">
                <a:latin typeface="Book Antiqua"/>
                <a:cs typeface="Book Antiqua"/>
              </a:rPr>
              <a:t> язык</a:t>
            </a:r>
            <a:endParaRPr sz="750">
              <a:latin typeface="Book Antiqua"/>
              <a:cs typeface="Book Antiqua"/>
            </a:endParaRPr>
          </a:p>
          <a:p>
            <a:pPr marL="12700" marR="5080">
              <a:lnSpc>
                <a:spcPct val="121200"/>
              </a:lnSpc>
            </a:pPr>
            <a:r>
              <a:rPr dirty="0" sz="750">
                <a:latin typeface="Book Antiqua"/>
                <a:cs typeface="Book Antiqua"/>
              </a:rPr>
              <a:t>Выполнить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команду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Emacs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command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Отменить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последнюю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операцию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845362" y="3931298"/>
            <a:ext cx="3529329" cy="0"/>
          </a:xfrm>
          <a:custGeom>
            <a:avLst/>
            <a:gdLst/>
            <a:ahLst/>
            <a:cxnLst/>
            <a:rect l="l" t="t" r="r" b="b"/>
            <a:pathLst>
              <a:path w="3529329" h="0">
                <a:moveTo>
                  <a:pt x="0" y="0"/>
                </a:moveTo>
                <a:lnTo>
                  <a:pt x="352927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533120" y="4249777"/>
            <a:ext cx="54610" cy="204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7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8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26719" y="4199521"/>
            <a:ext cx="3899535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1590" rIns="0" bIns="0" rtlCol="0" vert="horz">
            <a:spAutoFit/>
          </a:bodyPr>
          <a:lstStyle/>
          <a:p>
            <a:pPr marL="37465" marR="3251835">
              <a:lnSpc>
                <a:spcPct val="106500"/>
              </a:lnSpc>
              <a:spcBef>
                <a:spcPts val="170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echo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19167C"/>
                </a:solidFill>
                <a:latin typeface="Courier New"/>
                <a:cs typeface="Courier New"/>
              </a:rPr>
              <a:t>$HELLO </a:t>
            </a:r>
            <a:r>
              <a:rPr dirty="0" sz="700" spc="-10">
                <a:latin typeface="Courier New"/>
                <a:cs typeface="Courier New"/>
              </a:rPr>
              <a:t>hello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77367" y="4581334"/>
            <a:ext cx="205613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4.</a:t>
            </a:r>
            <a:r>
              <a:rPr dirty="0" sz="750" spc="2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Сохранить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комбинации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2644636" y="4590272"/>
            <a:ext cx="517525" cy="129539"/>
            <a:chOff x="2644636" y="4590272"/>
            <a:chExt cx="517525" cy="129539"/>
          </a:xfrm>
        </p:grpSpPr>
        <p:sp>
          <p:nvSpPr>
            <p:cNvPr id="24" name="object 24" descr=""/>
            <p:cNvSpPr/>
            <p:nvPr/>
          </p:nvSpPr>
          <p:spPr>
            <a:xfrm>
              <a:off x="2647166" y="4592803"/>
              <a:ext cx="245745" cy="124460"/>
            </a:xfrm>
            <a:custGeom>
              <a:avLst/>
              <a:gdLst/>
              <a:ahLst/>
              <a:cxnLst/>
              <a:rect l="l" t="t" r="r" b="b"/>
              <a:pathLst>
                <a:path w="245744" h="124460">
                  <a:moveTo>
                    <a:pt x="238865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38865" y="123926"/>
                  </a:lnTo>
                  <a:lnTo>
                    <a:pt x="245457" y="117333"/>
                  </a:lnTo>
                  <a:lnTo>
                    <a:pt x="245457" y="6592"/>
                  </a:lnTo>
                  <a:lnTo>
                    <a:pt x="23886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647166" y="4592803"/>
              <a:ext cx="245745" cy="124460"/>
            </a:xfrm>
            <a:custGeom>
              <a:avLst/>
              <a:gdLst/>
              <a:ahLst/>
              <a:cxnLst/>
              <a:rect l="l" t="t" r="r" b="b"/>
              <a:pathLst>
                <a:path w="245744" h="124460">
                  <a:moveTo>
                    <a:pt x="230733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30733" y="123926"/>
                  </a:lnTo>
                  <a:lnTo>
                    <a:pt x="238865" y="123926"/>
                  </a:lnTo>
                  <a:lnTo>
                    <a:pt x="245457" y="117333"/>
                  </a:lnTo>
                  <a:lnTo>
                    <a:pt x="245457" y="109202"/>
                  </a:lnTo>
                  <a:lnTo>
                    <a:pt x="245457" y="14723"/>
                  </a:lnTo>
                  <a:lnTo>
                    <a:pt x="245457" y="6592"/>
                  </a:lnTo>
                  <a:lnTo>
                    <a:pt x="238865" y="0"/>
                  </a:lnTo>
                  <a:lnTo>
                    <a:pt x="230733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921533" y="4592803"/>
              <a:ext cx="238125" cy="124460"/>
            </a:xfrm>
            <a:custGeom>
              <a:avLst/>
              <a:gdLst/>
              <a:ahLst/>
              <a:cxnLst/>
              <a:rect l="l" t="t" r="r" b="b"/>
              <a:pathLst>
                <a:path w="238125" h="124460">
                  <a:moveTo>
                    <a:pt x="231176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31176" y="123926"/>
                  </a:lnTo>
                  <a:lnTo>
                    <a:pt x="237768" y="117333"/>
                  </a:lnTo>
                  <a:lnTo>
                    <a:pt x="237768" y="6592"/>
                  </a:lnTo>
                  <a:lnTo>
                    <a:pt x="231176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921533" y="4592803"/>
              <a:ext cx="238125" cy="124460"/>
            </a:xfrm>
            <a:custGeom>
              <a:avLst/>
              <a:gdLst/>
              <a:ahLst/>
              <a:cxnLst/>
              <a:rect l="l" t="t" r="r" b="b"/>
              <a:pathLst>
                <a:path w="238125" h="124460">
                  <a:moveTo>
                    <a:pt x="223044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23044" y="123926"/>
                  </a:lnTo>
                  <a:lnTo>
                    <a:pt x="231176" y="123926"/>
                  </a:lnTo>
                  <a:lnTo>
                    <a:pt x="237768" y="117333"/>
                  </a:lnTo>
                  <a:lnTo>
                    <a:pt x="237768" y="109202"/>
                  </a:lnTo>
                  <a:lnTo>
                    <a:pt x="237768" y="14723"/>
                  </a:lnTo>
                  <a:lnTo>
                    <a:pt x="237768" y="6592"/>
                  </a:lnTo>
                  <a:lnTo>
                    <a:pt x="231176" y="0"/>
                  </a:lnTo>
                  <a:lnTo>
                    <a:pt x="223044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2647166" y="4592802"/>
            <a:ext cx="512445" cy="1244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55"/>
              </a:spcBef>
            </a:pPr>
            <a:r>
              <a:rPr dirty="0" sz="650">
                <a:latin typeface="Calibri"/>
                <a:cs typeface="Calibri"/>
              </a:rPr>
              <a:t>Ctrl-x</a:t>
            </a:r>
            <a:r>
              <a:rPr dirty="0" sz="650" spc="240">
                <a:latin typeface="Calibri"/>
                <a:cs typeface="Calibri"/>
              </a:rPr>
              <a:t>  </a:t>
            </a:r>
            <a:r>
              <a:rPr dirty="0" sz="650">
                <a:latin typeface="Calibri"/>
                <a:cs typeface="Calibri"/>
              </a:rPr>
              <a:t>Ctrl-</a:t>
            </a:r>
            <a:r>
              <a:rPr dirty="0" sz="650" spc="-50">
                <a:latin typeface="Calibri"/>
                <a:cs typeface="Calibri"/>
              </a:rPr>
              <a:t>s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3172980" y="4581334"/>
            <a:ext cx="50292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C-x</a:t>
            </a:r>
            <a:r>
              <a:rPr dirty="0" sz="700" spc="4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25">
                <a:latin typeface="Courier New"/>
                <a:cs typeface="Courier New"/>
              </a:rPr>
              <a:t>s</a:t>
            </a:r>
            <a:r>
              <a:rPr dirty="0" sz="750" spc="-25">
                <a:latin typeface="Book Antiqua"/>
                <a:cs typeface="Book Antiqua"/>
              </a:rPr>
              <a:t>).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577367" y="4694935"/>
            <a:ext cx="4082415" cy="18478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47955" marR="5080" indent="-135890">
              <a:lnSpc>
                <a:spcPct val="100000"/>
              </a:lnSpc>
              <a:spcBef>
                <a:spcPts val="120"/>
              </a:spcBef>
              <a:buAutoNum type="arabicPeriod" startAt="5"/>
              <a:tabLst>
                <a:tab pos="149225" algn="l"/>
              </a:tabLst>
            </a:pPr>
            <a:r>
              <a:rPr dirty="0" sz="750" spc="-10">
                <a:latin typeface="Book Antiqua"/>
                <a:cs typeface="Book Antiqua"/>
              </a:rPr>
              <a:t>Проделать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 текстом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стандартные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процедуры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редактирования, каждое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действие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долж-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но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осуществляться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комбинацией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клавиш.</a:t>
            </a:r>
            <a:endParaRPr sz="750">
              <a:latin typeface="Book Antiqua"/>
              <a:cs typeface="Book Antiqua"/>
            </a:endParaRPr>
          </a:p>
          <a:p>
            <a:pPr lvl="1" marL="360680" indent="-215900">
              <a:lnSpc>
                <a:spcPts val="885"/>
              </a:lnSpc>
              <a:buAutoNum type="arabicPeriod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Вырезать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одной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командой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целую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С-</a:t>
            </a:r>
            <a:r>
              <a:rPr dirty="0" sz="700" spc="-25">
                <a:latin typeface="Courier New"/>
                <a:cs typeface="Courier New"/>
              </a:rPr>
              <a:t>k</a:t>
            </a:r>
            <a:r>
              <a:rPr dirty="0" sz="750" spc="-25">
                <a:latin typeface="Book Antiqua"/>
                <a:cs typeface="Book Antiqua"/>
              </a:rPr>
              <a:t>).</a:t>
            </a:r>
            <a:endParaRPr sz="750">
              <a:latin typeface="Book Antiqua"/>
              <a:cs typeface="Book Antiqua"/>
            </a:endParaRPr>
          </a:p>
          <a:p>
            <a:pPr lvl="1" marL="361315" indent="-215900">
              <a:lnSpc>
                <a:spcPts val="894"/>
              </a:lnSpc>
              <a:buAutoNum type="arabicPeriod"/>
              <a:tabLst>
                <a:tab pos="361315" algn="l"/>
              </a:tabLst>
            </a:pPr>
            <a:r>
              <a:rPr dirty="0" sz="750">
                <a:latin typeface="Book Antiqua"/>
                <a:cs typeface="Book Antiqua"/>
              </a:rPr>
              <a:t>Вставить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эту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конец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25">
                <a:latin typeface="Courier New"/>
                <a:cs typeface="Courier New"/>
              </a:rPr>
              <a:t>y</a:t>
            </a:r>
            <a:r>
              <a:rPr dirty="0" sz="750" spc="-25">
                <a:latin typeface="Book Antiqua"/>
                <a:cs typeface="Book Antiqua"/>
              </a:rPr>
              <a:t>).</a:t>
            </a:r>
            <a:endParaRPr sz="750">
              <a:latin typeface="Book Antiqua"/>
              <a:cs typeface="Book Antiqua"/>
            </a:endParaRPr>
          </a:p>
          <a:p>
            <a:pPr lvl="1" marL="361315" indent="-215900">
              <a:lnSpc>
                <a:spcPts val="894"/>
              </a:lnSpc>
              <a:buAutoNum type="arabicPeriod"/>
              <a:tabLst>
                <a:tab pos="361315" algn="l"/>
              </a:tabLst>
            </a:pPr>
            <a:r>
              <a:rPr dirty="0" sz="750">
                <a:latin typeface="Book Antiqua"/>
                <a:cs typeface="Book Antiqua"/>
              </a:rPr>
              <a:t>Выделить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область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10">
                <a:latin typeface="Courier New"/>
                <a:cs typeface="Courier New"/>
              </a:rPr>
              <a:t>space</a:t>
            </a:r>
            <a:r>
              <a:rPr dirty="0" sz="750" spc="-10">
                <a:latin typeface="Book Antiqua"/>
                <a:cs typeface="Book Antiqua"/>
              </a:rPr>
              <a:t>).</a:t>
            </a:r>
            <a:endParaRPr sz="750">
              <a:latin typeface="Book Antiqua"/>
              <a:cs typeface="Book Antiqua"/>
            </a:endParaRPr>
          </a:p>
          <a:p>
            <a:pPr lvl="1" marL="361315" indent="-215900">
              <a:lnSpc>
                <a:spcPts val="894"/>
              </a:lnSpc>
              <a:buAutoNum type="arabicPeriod"/>
              <a:tabLst>
                <a:tab pos="361315" algn="l"/>
              </a:tabLst>
            </a:pPr>
            <a:r>
              <a:rPr dirty="0" sz="750">
                <a:latin typeface="Book Antiqua"/>
                <a:cs typeface="Book Antiqua"/>
              </a:rPr>
              <a:t>Скопировать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область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буфер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обмена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M-</a:t>
            </a:r>
            <a:r>
              <a:rPr dirty="0" sz="700" spc="-25">
                <a:latin typeface="Courier New"/>
                <a:cs typeface="Courier New"/>
              </a:rPr>
              <a:t>w</a:t>
            </a:r>
            <a:r>
              <a:rPr dirty="0" sz="750" spc="-25">
                <a:latin typeface="Book Antiqua"/>
                <a:cs typeface="Book Antiqua"/>
              </a:rPr>
              <a:t>).</a:t>
            </a:r>
            <a:endParaRPr sz="750">
              <a:latin typeface="Book Antiqua"/>
              <a:cs typeface="Book Antiqua"/>
            </a:endParaRPr>
          </a:p>
          <a:p>
            <a:pPr lvl="1" marL="361315" indent="-215900">
              <a:lnSpc>
                <a:spcPts val="894"/>
              </a:lnSpc>
              <a:buAutoNum type="arabicPeriod"/>
              <a:tabLst>
                <a:tab pos="361315" algn="l"/>
              </a:tabLst>
            </a:pPr>
            <a:r>
              <a:rPr dirty="0" sz="750">
                <a:latin typeface="Book Antiqua"/>
                <a:cs typeface="Book Antiqua"/>
              </a:rPr>
              <a:t>Вставить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область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конец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файла.</a:t>
            </a:r>
            <a:endParaRPr sz="750">
              <a:latin typeface="Book Antiqua"/>
              <a:cs typeface="Book Antiqua"/>
            </a:endParaRPr>
          </a:p>
          <a:p>
            <a:pPr lvl="1" marL="361315" indent="-215900">
              <a:lnSpc>
                <a:spcPts val="894"/>
              </a:lnSpc>
              <a:buAutoNum type="arabicPeriod"/>
              <a:tabLst>
                <a:tab pos="361315" algn="l"/>
              </a:tabLst>
            </a:pPr>
            <a:r>
              <a:rPr dirty="0" sz="750" spc="10">
                <a:latin typeface="Book Antiqua"/>
                <a:cs typeface="Book Antiqua"/>
              </a:rPr>
              <a:t>Вновь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выделить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эту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область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этот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раз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вырезать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её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25">
                <a:latin typeface="Courier New"/>
                <a:cs typeface="Courier New"/>
              </a:rPr>
              <a:t>w</a:t>
            </a:r>
            <a:r>
              <a:rPr dirty="0" sz="750" spc="-25">
                <a:latin typeface="Book Antiqua"/>
                <a:cs typeface="Book Antiqua"/>
              </a:rPr>
              <a:t>).</a:t>
            </a:r>
            <a:endParaRPr sz="750">
              <a:latin typeface="Book Antiqua"/>
              <a:cs typeface="Book Antiqua"/>
            </a:endParaRPr>
          </a:p>
          <a:p>
            <a:pPr lvl="1" marL="360680" indent="-205740">
              <a:lnSpc>
                <a:spcPts val="894"/>
              </a:lnSpc>
              <a:buAutoNum type="arabicPeriod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Отмените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последнее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действие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25">
                <a:latin typeface="Courier New"/>
                <a:cs typeface="Courier New"/>
              </a:rPr>
              <a:t>/</a:t>
            </a:r>
            <a:r>
              <a:rPr dirty="0" sz="750" spc="-25">
                <a:latin typeface="Book Antiqua"/>
                <a:cs typeface="Book Antiqua"/>
              </a:rPr>
              <a:t>).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 startAt="5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Научитесь </a:t>
            </a:r>
            <a:r>
              <a:rPr dirty="0" sz="750" spc="10">
                <a:latin typeface="Book Antiqua"/>
                <a:cs typeface="Book Antiqua"/>
              </a:rPr>
              <a:t>использовать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команды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перемещению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курсора.</a:t>
            </a:r>
            <a:endParaRPr sz="750">
              <a:latin typeface="Book Antiqua"/>
              <a:cs typeface="Book Antiqua"/>
            </a:endParaRPr>
          </a:p>
          <a:p>
            <a:pPr lvl="1" marL="361315" indent="-215900">
              <a:lnSpc>
                <a:spcPts val="894"/>
              </a:lnSpc>
              <a:buAutoNum type="arabicPeriod"/>
              <a:tabLst>
                <a:tab pos="361315" algn="l"/>
              </a:tabLst>
            </a:pPr>
            <a:r>
              <a:rPr dirty="0" sz="750">
                <a:latin typeface="Book Antiqua"/>
                <a:cs typeface="Book Antiqua"/>
              </a:rPr>
              <a:t>Переместите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курсор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начало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25">
                <a:latin typeface="Courier New"/>
                <a:cs typeface="Courier New"/>
              </a:rPr>
              <a:t>a</a:t>
            </a:r>
            <a:r>
              <a:rPr dirty="0" sz="750" spc="-25">
                <a:latin typeface="Book Antiqua"/>
                <a:cs typeface="Book Antiqua"/>
              </a:rPr>
              <a:t>).</a:t>
            </a:r>
            <a:endParaRPr sz="750">
              <a:latin typeface="Book Antiqua"/>
              <a:cs typeface="Book Antiqua"/>
            </a:endParaRPr>
          </a:p>
          <a:p>
            <a:pPr lvl="1" marL="361315" indent="-215900">
              <a:lnSpc>
                <a:spcPts val="894"/>
              </a:lnSpc>
              <a:buAutoNum type="arabicPeriod"/>
              <a:tabLst>
                <a:tab pos="361315" algn="l"/>
              </a:tabLst>
            </a:pPr>
            <a:r>
              <a:rPr dirty="0" sz="750">
                <a:latin typeface="Book Antiqua"/>
                <a:cs typeface="Book Antiqua"/>
              </a:rPr>
              <a:t>Переместите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курсор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конец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25">
                <a:latin typeface="Courier New"/>
                <a:cs typeface="Courier New"/>
              </a:rPr>
              <a:t>e</a:t>
            </a:r>
            <a:r>
              <a:rPr dirty="0" sz="750" spc="-25">
                <a:latin typeface="Book Antiqua"/>
                <a:cs typeface="Book Antiqua"/>
              </a:rPr>
              <a:t>).</a:t>
            </a:r>
            <a:endParaRPr sz="750">
              <a:latin typeface="Book Antiqua"/>
              <a:cs typeface="Book Antiqua"/>
            </a:endParaRPr>
          </a:p>
          <a:p>
            <a:pPr lvl="1" marL="361315" indent="-215900">
              <a:lnSpc>
                <a:spcPts val="894"/>
              </a:lnSpc>
              <a:buAutoNum type="arabicPeriod"/>
              <a:tabLst>
                <a:tab pos="361315" algn="l"/>
              </a:tabLst>
            </a:pPr>
            <a:r>
              <a:rPr dirty="0" sz="750">
                <a:latin typeface="Book Antiqua"/>
                <a:cs typeface="Book Antiqua"/>
              </a:rPr>
              <a:t>Переместите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курсор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начало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буфера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M-</a:t>
            </a:r>
            <a:r>
              <a:rPr dirty="0" sz="700" spc="-25">
                <a:latin typeface="Courier New"/>
                <a:cs typeface="Courier New"/>
              </a:rPr>
              <a:t>&lt;</a:t>
            </a:r>
            <a:r>
              <a:rPr dirty="0" sz="750" spc="-25">
                <a:latin typeface="Book Antiqua"/>
                <a:cs typeface="Book Antiqua"/>
              </a:rPr>
              <a:t>).</a:t>
            </a:r>
            <a:endParaRPr sz="750">
              <a:latin typeface="Book Antiqua"/>
              <a:cs typeface="Book Antiqua"/>
            </a:endParaRPr>
          </a:p>
          <a:p>
            <a:pPr lvl="1" marL="361315" indent="-215900">
              <a:lnSpc>
                <a:spcPts val="894"/>
              </a:lnSpc>
              <a:buAutoNum type="arabicPeriod"/>
              <a:tabLst>
                <a:tab pos="361315" algn="l"/>
              </a:tabLst>
            </a:pPr>
            <a:r>
              <a:rPr dirty="0" sz="750">
                <a:latin typeface="Book Antiqua"/>
                <a:cs typeface="Book Antiqua"/>
              </a:rPr>
              <a:t>Переместите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курсор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конец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буфера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M-</a:t>
            </a:r>
            <a:r>
              <a:rPr dirty="0" sz="700" spc="-25">
                <a:latin typeface="Courier New"/>
                <a:cs typeface="Courier New"/>
              </a:rPr>
              <a:t>&gt;</a:t>
            </a:r>
            <a:r>
              <a:rPr dirty="0" sz="750" spc="-25">
                <a:latin typeface="Book Antiqua"/>
                <a:cs typeface="Book Antiqua"/>
              </a:rPr>
              <a:t>).</a:t>
            </a:r>
            <a:endParaRPr sz="750">
              <a:latin typeface="Book Antiqua"/>
              <a:cs typeface="Book Antiqua"/>
            </a:endParaRPr>
          </a:p>
          <a:p>
            <a:pPr marL="147955" indent="-125730">
              <a:lnSpc>
                <a:spcPts val="894"/>
              </a:lnSpc>
              <a:buAutoNum type="arabicPeriod" startAt="5"/>
              <a:tabLst>
                <a:tab pos="147955" algn="l"/>
              </a:tabLst>
            </a:pPr>
            <a:r>
              <a:rPr dirty="0" sz="750">
                <a:latin typeface="Book Antiqua"/>
                <a:cs typeface="Book Antiqua"/>
              </a:rPr>
              <a:t>Управление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буферами.</a:t>
            </a:r>
            <a:endParaRPr sz="750">
              <a:latin typeface="Book Antiqua"/>
              <a:cs typeface="Book Antiqua"/>
            </a:endParaRPr>
          </a:p>
          <a:p>
            <a:pPr lvl="1" marL="360680" indent="-205740">
              <a:lnSpc>
                <a:spcPts val="894"/>
              </a:lnSpc>
              <a:buAutoNum type="arabicPeriod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Вывести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список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активных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буферов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C-x</a:t>
            </a:r>
            <a:r>
              <a:rPr dirty="0" sz="700" spc="10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25">
                <a:latin typeface="Courier New"/>
                <a:cs typeface="Courier New"/>
              </a:rPr>
              <a:t>b</a:t>
            </a:r>
            <a:r>
              <a:rPr dirty="0" sz="750" spc="-25">
                <a:latin typeface="Book Antiqua"/>
                <a:cs typeface="Book Antiqua"/>
              </a:rPr>
              <a:t>).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80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704012" y="392412"/>
            <a:ext cx="193484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9.</a:t>
            </a:r>
            <a:r>
              <a:rPr dirty="0" sz="600" spc="4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Текстовой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редактор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550" spc="-10">
                <a:latin typeface="Courier New"/>
                <a:cs typeface="Courier New"/>
              </a:rPr>
              <a:t>emacs</a:t>
            </a:r>
            <a:endParaRPr sz="55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095457" y="616912"/>
            <a:ext cx="543560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b="1">
                <a:latin typeface="Book Antiqua"/>
                <a:cs typeface="Book Antiqua"/>
              </a:rPr>
              <a:t>Таблица</a:t>
            </a:r>
            <a:r>
              <a:rPr dirty="0" sz="650" spc="200" b="1">
                <a:latin typeface="Book Antiqua"/>
                <a:cs typeface="Book Antiqua"/>
              </a:rPr>
              <a:t> </a:t>
            </a:r>
            <a:r>
              <a:rPr dirty="0" sz="650" spc="25" b="1">
                <a:latin typeface="Book Antiqua"/>
                <a:cs typeface="Book Antiqua"/>
              </a:rPr>
              <a:t>9.8</a:t>
            </a:r>
            <a:endParaRPr sz="6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891995" y="730780"/>
            <a:ext cx="1436370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10" b="1">
                <a:latin typeface="Book Antiqua"/>
                <a:cs typeface="Book Antiqua"/>
              </a:rPr>
              <a:t>Регулярные</a:t>
            </a:r>
            <a:r>
              <a:rPr dirty="0" sz="650" spc="100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выражения</a:t>
            </a:r>
            <a:r>
              <a:rPr dirty="0" sz="650" spc="100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в</a:t>
            </a:r>
            <a:r>
              <a:rPr dirty="0" sz="650" spc="100" b="1">
                <a:latin typeface="Book Antiqua"/>
                <a:cs typeface="Book Antiqua"/>
              </a:rPr>
              <a:t> </a:t>
            </a:r>
            <a:r>
              <a:rPr dirty="0" sz="650" spc="-10" b="1">
                <a:latin typeface="Book Antiqua"/>
                <a:cs typeface="Book Antiqua"/>
              </a:rPr>
              <a:t>Emacs</a:t>
            </a:r>
            <a:endParaRPr sz="650">
              <a:latin typeface="Book Antiqua"/>
              <a:cs typeface="Book Antiqu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88848" y="991222"/>
            <a:ext cx="3842385" cy="169545"/>
            <a:chOff x="688848" y="991222"/>
            <a:chExt cx="3842385" cy="169545"/>
          </a:xfrm>
        </p:grpSpPr>
        <p:sp>
          <p:nvSpPr>
            <p:cNvPr id="8" name="object 8" descr=""/>
            <p:cNvSpPr/>
            <p:nvPr/>
          </p:nvSpPr>
          <p:spPr>
            <a:xfrm>
              <a:off x="692975" y="995350"/>
              <a:ext cx="3834129" cy="0"/>
            </a:xfrm>
            <a:custGeom>
              <a:avLst/>
              <a:gdLst/>
              <a:ahLst/>
              <a:cxnLst/>
              <a:rect l="l" t="t" r="r" b="b"/>
              <a:pathLst>
                <a:path w="3834129" h="0">
                  <a:moveTo>
                    <a:pt x="0" y="0"/>
                  </a:moveTo>
                  <a:lnTo>
                    <a:pt x="3834053" y="0"/>
                  </a:lnTo>
                </a:path>
              </a:pathLst>
            </a:custGeom>
            <a:ln w="78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71416" y="1033704"/>
              <a:ext cx="247650" cy="124460"/>
            </a:xfrm>
            <a:custGeom>
              <a:avLst/>
              <a:gdLst/>
              <a:ahLst/>
              <a:cxnLst/>
              <a:rect l="l" t="t" r="r" b="b"/>
              <a:pathLst>
                <a:path w="247650" h="124459">
                  <a:moveTo>
                    <a:pt x="240665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40665" y="123926"/>
                  </a:lnTo>
                  <a:lnTo>
                    <a:pt x="247257" y="117333"/>
                  </a:lnTo>
                  <a:lnTo>
                    <a:pt x="247257" y="6592"/>
                  </a:lnTo>
                  <a:lnTo>
                    <a:pt x="24066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71416" y="1033704"/>
              <a:ext cx="247650" cy="124460"/>
            </a:xfrm>
            <a:custGeom>
              <a:avLst/>
              <a:gdLst/>
              <a:ahLst/>
              <a:cxnLst/>
              <a:rect l="l" t="t" r="r" b="b"/>
              <a:pathLst>
                <a:path w="247650" h="124459">
                  <a:moveTo>
                    <a:pt x="232533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32533" y="123926"/>
                  </a:lnTo>
                  <a:lnTo>
                    <a:pt x="240665" y="123926"/>
                  </a:lnTo>
                  <a:lnTo>
                    <a:pt x="247257" y="117333"/>
                  </a:lnTo>
                  <a:lnTo>
                    <a:pt x="247257" y="109202"/>
                  </a:lnTo>
                  <a:lnTo>
                    <a:pt x="247257" y="14723"/>
                  </a:lnTo>
                  <a:lnTo>
                    <a:pt x="247257" y="6592"/>
                  </a:lnTo>
                  <a:lnTo>
                    <a:pt x="240665" y="0"/>
                  </a:lnTo>
                  <a:lnTo>
                    <a:pt x="232533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47584" y="1033704"/>
              <a:ext cx="225425" cy="124460"/>
            </a:xfrm>
            <a:custGeom>
              <a:avLst/>
              <a:gdLst/>
              <a:ahLst/>
              <a:cxnLst/>
              <a:rect l="l" t="t" r="r" b="b"/>
              <a:pathLst>
                <a:path w="225425" h="124459">
                  <a:moveTo>
                    <a:pt x="218578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18578" y="123926"/>
                  </a:lnTo>
                  <a:lnTo>
                    <a:pt x="225170" y="117333"/>
                  </a:lnTo>
                  <a:lnTo>
                    <a:pt x="225170" y="6592"/>
                  </a:lnTo>
                  <a:lnTo>
                    <a:pt x="21857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47584" y="1033704"/>
              <a:ext cx="225425" cy="124460"/>
            </a:xfrm>
            <a:custGeom>
              <a:avLst/>
              <a:gdLst/>
              <a:ahLst/>
              <a:cxnLst/>
              <a:rect l="l" t="t" r="r" b="b"/>
              <a:pathLst>
                <a:path w="225425" h="124459">
                  <a:moveTo>
                    <a:pt x="210447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10447" y="123926"/>
                  </a:lnTo>
                  <a:lnTo>
                    <a:pt x="218578" y="123926"/>
                  </a:lnTo>
                  <a:lnTo>
                    <a:pt x="225170" y="117333"/>
                  </a:lnTo>
                  <a:lnTo>
                    <a:pt x="225170" y="109202"/>
                  </a:lnTo>
                  <a:lnTo>
                    <a:pt x="225170" y="14723"/>
                  </a:lnTo>
                  <a:lnTo>
                    <a:pt x="225170" y="6592"/>
                  </a:lnTo>
                  <a:lnTo>
                    <a:pt x="218578" y="0"/>
                  </a:lnTo>
                  <a:lnTo>
                    <a:pt x="210447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784021" y="1028778"/>
            <a:ext cx="47625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Calibri"/>
                <a:cs typeface="Calibri"/>
              </a:rPr>
              <a:t>Ctrl-q</a:t>
            </a:r>
            <a:r>
              <a:rPr dirty="0" sz="650" spc="225">
                <a:latin typeface="Calibri"/>
                <a:cs typeface="Calibri"/>
              </a:rPr>
              <a:t>  </a:t>
            </a:r>
            <a:r>
              <a:rPr dirty="0" sz="650">
                <a:latin typeface="Calibri"/>
                <a:cs typeface="Calibri"/>
              </a:rPr>
              <a:t>Ctrl-</a:t>
            </a:r>
            <a:r>
              <a:rPr dirty="0" sz="650" spc="-50">
                <a:latin typeface="Calibri"/>
                <a:cs typeface="Calibri"/>
              </a:rPr>
              <a:t>j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768876" y="1174648"/>
            <a:ext cx="252729" cy="129539"/>
            <a:chOff x="768876" y="1174648"/>
            <a:chExt cx="252729" cy="129539"/>
          </a:xfrm>
        </p:grpSpPr>
        <p:sp>
          <p:nvSpPr>
            <p:cNvPr id="15" name="object 15" descr=""/>
            <p:cNvSpPr/>
            <p:nvPr/>
          </p:nvSpPr>
          <p:spPr>
            <a:xfrm>
              <a:off x="771416" y="1177188"/>
              <a:ext cx="247650" cy="124460"/>
            </a:xfrm>
            <a:custGeom>
              <a:avLst/>
              <a:gdLst/>
              <a:ahLst/>
              <a:cxnLst/>
              <a:rect l="l" t="t" r="r" b="b"/>
              <a:pathLst>
                <a:path w="247650" h="124459">
                  <a:moveTo>
                    <a:pt x="240665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40665" y="123926"/>
                  </a:lnTo>
                  <a:lnTo>
                    <a:pt x="247257" y="117333"/>
                  </a:lnTo>
                  <a:lnTo>
                    <a:pt x="247257" y="6592"/>
                  </a:lnTo>
                  <a:lnTo>
                    <a:pt x="24066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71416" y="1177188"/>
              <a:ext cx="247650" cy="124460"/>
            </a:xfrm>
            <a:custGeom>
              <a:avLst/>
              <a:gdLst/>
              <a:ahLst/>
              <a:cxnLst/>
              <a:rect l="l" t="t" r="r" b="b"/>
              <a:pathLst>
                <a:path w="247650" h="124459">
                  <a:moveTo>
                    <a:pt x="232533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32533" y="123926"/>
                  </a:lnTo>
                  <a:lnTo>
                    <a:pt x="240665" y="123926"/>
                  </a:lnTo>
                  <a:lnTo>
                    <a:pt x="247257" y="117333"/>
                  </a:lnTo>
                  <a:lnTo>
                    <a:pt x="247257" y="109202"/>
                  </a:lnTo>
                  <a:lnTo>
                    <a:pt x="247257" y="14723"/>
                  </a:lnTo>
                  <a:lnTo>
                    <a:pt x="247257" y="6592"/>
                  </a:lnTo>
                  <a:lnTo>
                    <a:pt x="240665" y="0"/>
                  </a:lnTo>
                  <a:lnTo>
                    <a:pt x="232533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784021" y="1172250"/>
            <a:ext cx="222250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Calibri"/>
                <a:cs typeface="Calibri"/>
              </a:rPr>
              <a:t>Ctrl-</a:t>
            </a:r>
            <a:r>
              <a:rPr dirty="0" sz="650" spc="-50">
                <a:latin typeface="Calibri"/>
                <a:cs typeface="Calibri"/>
              </a:rPr>
              <a:t>q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1045053" y="1174658"/>
            <a:ext cx="158115" cy="129539"/>
            <a:chOff x="1045053" y="1174658"/>
            <a:chExt cx="158115" cy="129539"/>
          </a:xfrm>
        </p:grpSpPr>
        <p:sp>
          <p:nvSpPr>
            <p:cNvPr id="19" name="object 19" descr=""/>
            <p:cNvSpPr/>
            <p:nvPr/>
          </p:nvSpPr>
          <p:spPr>
            <a:xfrm>
              <a:off x="1047583" y="1177188"/>
              <a:ext cx="153035" cy="124460"/>
            </a:xfrm>
            <a:custGeom>
              <a:avLst/>
              <a:gdLst/>
              <a:ahLst/>
              <a:cxnLst/>
              <a:rect l="l" t="t" r="r" b="b"/>
              <a:pathLst>
                <a:path w="153034" h="124459">
                  <a:moveTo>
                    <a:pt x="14626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6267" y="123926"/>
                  </a:lnTo>
                  <a:lnTo>
                    <a:pt x="152859" y="117333"/>
                  </a:lnTo>
                  <a:lnTo>
                    <a:pt x="152859" y="6592"/>
                  </a:lnTo>
                  <a:lnTo>
                    <a:pt x="14626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047583" y="1177188"/>
              <a:ext cx="153035" cy="124460"/>
            </a:xfrm>
            <a:custGeom>
              <a:avLst/>
              <a:gdLst/>
              <a:ahLst/>
              <a:cxnLst/>
              <a:rect l="l" t="t" r="r" b="b"/>
              <a:pathLst>
                <a:path w="153034" h="124459">
                  <a:moveTo>
                    <a:pt x="138136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8136" y="123926"/>
                  </a:lnTo>
                  <a:lnTo>
                    <a:pt x="146267" y="123926"/>
                  </a:lnTo>
                  <a:lnTo>
                    <a:pt x="152859" y="117333"/>
                  </a:lnTo>
                  <a:lnTo>
                    <a:pt x="152859" y="109202"/>
                  </a:lnTo>
                  <a:lnTo>
                    <a:pt x="152859" y="14723"/>
                  </a:lnTo>
                  <a:lnTo>
                    <a:pt x="152859" y="6592"/>
                  </a:lnTo>
                  <a:lnTo>
                    <a:pt x="146267" y="0"/>
                  </a:lnTo>
                  <a:lnTo>
                    <a:pt x="138136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091287" y="1262658"/>
              <a:ext cx="76835" cy="0"/>
            </a:xfrm>
            <a:custGeom>
              <a:avLst/>
              <a:gdLst/>
              <a:ahLst/>
              <a:cxnLst/>
              <a:rect l="l" t="t" r="r" b="b"/>
              <a:pathLst>
                <a:path w="76834" h="0">
                  <a:moveTo>
                    <a:pt x="0" y="0"/>
                  </a:moveTo>
                  <a:lnTo>
                    <a:pt x="76586" y="0"/>
                  </a:lnTo>
                </a:path>
              </a:pathLst>
            </a:custGeom>
            <a:ln w="40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153564" y="1243580"/>
              <a:ext cx="18415" cy="38735"/>
            </a:xfrm>
            <a:custGeom>
              <a:avLst/>
              <a:gdLst/>
              <a:ahLst/>
              <a:cxnLst/>
              <a:rect l="l" t="t" r="r" b="b"/>
              <a:pathLst>
                <a:path w="18415" h="38734">
                  <a:moveTo>
                    <a:pt x="0" y="0"/>
                  </a:moveTo>
                  <a:lnTo>
                    <a:pt x="2794" y="5831"/>
                  </a:lnTo>
                  <a:lnTo>
                    <a:pt x="8048" y="11775"/>
                  </a:lnTo>
                  <a:lnTo>
                    <a:pt x="13750" y="16600"/>
                  </a:lnTo>
                  <a:lnTo>
                    <a:pt x="17886" y="19078"/>
                  </a:lnTo>
                  <a:lnTo>
                    <a:pt x="13750" y="21556"/>
                  </a:lnTo>
                  <a:lnTo>
                    <a:pt x="8048" y="26382"/>
                  </a:lnTo>
                  <a:lnTo>
                    <a:pt x="2794" y="32325"/>
                  </a:lnTo>
                  <a:lnTo>
                    <a:pt x="0" y="38157"/>
                  </a:lnTo>
                </a:path>
              </a:pathLst>
            </a:custGeom>
            <a:ln w="32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080141" y="1221759"/>
              <a:ext cx="93345" cy="55244"/>
            </a:xfrm>
            <a:custGeom>
              <a:avLst/>
              <a:gdLst/>
              <a:ahLst/>
              <a:cxnLst/>
              <a:rect l="l" t="t" r="r" b="b"/>
              <a:pathLst>
                <a:path w="93344" h="55244">
                  <a:moveTo>
                    <a:pt x="92946" y="55214"/>
                  </a:moveTo>
                  <a:lnTo>
                    <a:pt x="92946" y="26584"/>
                  </a:lnTo>
                </a:path>
                <a:path w="93344" h="55244">
                  <a:moveTo>
                    <a:pt x="0" y="0"/>
                  </a:moveTo>
                  <a:lnTo>
                    <a:pt x="76586" y="0"/>
                  </a:lnTo>
                </a:path>
              </a:pathLst>
            </a:custGeom>
            <a:ln w="40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076564" y="1202680"/>
              <a:ext cx="18415" cy="38735"/>
            </a:xfrm>
            <a:custGeom>
              <a:avLst/>
              <a:gdLst/>
              <a:ahLst/>
              <a:cxnLst/>
              <a:rect l="l" t="t" r="r" b="b"/>
              <a:pathLst>
                <a:path w="18415" h="38734">
                  <a:moveTo>
                    <a:pt x="17886" y="38157"/>
                  </a:moveTo>
                  <a:lnTo>
                    <a:pt x="15091" y="32325"/>
                  </a:lnTo>
                  <a:lnTo>
                    <a:pt x="9837" y="26382"/>
                  </a:lnTo>
                  <a:lnTo>
                    <a:pt x="4136" y="21556"/>
                  </a:lnTo>
                  <a:lnTo>
                    <a:pt x="0" y="19078"/>
                  </a:lnTo>
                  <a:lnTo>
                    <a:pt x="4136" y="16600"/>
                  </a:lnTo>
                  <a:lnTo>
                    <a:pt x="9837" y="11775"/>
                  </a:lnTo>
                  <a:lnTo>
                    <a:pt x="15091" y="5831"/>
                  </a:lnTo>
                  <a:lnTo>
                    <a:pt x="17886" y="0"/>
                  </a:lnTo>
                </a:path>
              </a:pathLst>
            </a:custGeom>
            <a:ln w="32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074928" y="1207443"/>
              <a:ext cx="0" cy="29209"/>
            </a:xfrm>
            <a:custGeom>
              <a:avLst/>
              <a:gdLst/>
              <a:ahLst/>
              <a:cxnLst/>
              <a:rect l="l" t="t" r="r" b="b"/>
              <a:pathLst>
                <a:path w="0" h="29209">
                  <a:moveTo>
                    <a:pt x="0" y="28630"/>
                  </a:moveTo>
                  <a:lnTo>
                    <a:pt x="0" y="0"/>
                  </a:lnTo>
                </a:path>
              </a:pathLst>
            </a:custGeom>
            <a:ln w="40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1414335" y="996553"/>
            <a:ext cx="2561590" cy="23907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943100">
              <a:lnSpc>
                <a:spcPct val="125499"/>
              </a:lnSpc>
              <a:spcBef>
                <a:spcPts val="95"/>
              </a:spcBef>
            </a:pPr>
            <a:r>
              <a:rPr dirty="0" sz="750">
                <a:latin typeface="Book Antiqua"/>
                <a:cs typeface="Book Antiqua"/>
              </a:rPr>
              <a:t>новая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табуляция</a:t>
            </a:r>
            <a:endParaRPr sz="750">
              <a:latin typeface="Book Antiqua"/>
              <a:cs typeface="Book Antiqua"/>
            </a:endParaRPr>
          </a:p>
          <a:p>
            <a:pPr marL="12700" marR="586740">
              <a:lnSpc>
                <a:spcPct val="121200"/>
              </a:lnSpc>
            </a:pPr>
            <a:r>
              <a:rPr dirty="0" sz="750">
                <a:latin typeface="Book Antiqua"/>
                <a:cs typeface="Book Antiqua"/>
              </a:rPr>
              <a:t>любой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кроме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новой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повторение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предыдущего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55">
                <a:latin typeface="Book Antiqua"/>
                <a:cs typeface="Book Antiqua"/>
              </a:rPr>
              <a:t>0–n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жадное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повторение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предыдущего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55">
                <a:latin typeface="Book Antiqua"/>
                <a:cs typeface="Book Antiqua"/>
              </a:rPr>
              <a:t>1–n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жадное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повторение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предыдущего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60">
                <a:latin typeface="Book Antiqua"/>
                <a:cs typeface="Book Antiqua"/>
              </a:rPr>
              <a:t>0–1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жадное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аналогично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предыдущим,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ленивые</a:t>
            </a:r>
            <a:endParaRPr sz="750">
              <a:latin typeface="Book Antiqua"/>
              <a:cs typeface="Book Antiqua"/>
            </a:endParaRPr>
          </a:p>
          <a:p>
            <a:pPr marL="12700" marR="5080">
              <a:lnSpc>
                <a:spcPct val="121200"/>
              </a:lnSpc>
            </a:pPr>
            <a:r>
              <a:rPr dirty="0" sz="750">
                <a:latin typeface="Book Antiqua"/>
                <a:cs typeface="Book Antiqua"/>
              </a:rPr>
              <a:t>набор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символов,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^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начале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>
                <a:latin typeface="Book Antiqua"/>
                <a:cs typeface="Book Antiqua"/>
              </a:rPr>
              <a:t> «не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символы»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начало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</a:t>
            </a:r>
            <a:endParaRPr sz="750">
              <a:latin typeface="Book Antiqua"/>
              <a:cs typeface="Book Antiqua"/>
            </a:endParaRPr>
          </a:p>
          <a:p>
            <a:pPr marL="12700" marR="1753235">
              <a:lnSpc>
                <a:spcPct val="121200"/>
              </a:lnSpc>
            </a:pPr>
            <a:r>
              <a:rPr dirty="0" sz="750">
                <a:latin typeface="Book Antiqua"/>
                <a:cs typeface="Book Antiqua"/>
              </a:rPr>
              <a:t>конец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или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группировка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граница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слова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граница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слова</a:t>
            </a:r>
            <a:endParaRPr sz="750">
              <a:latin typeface="Book Antiqua"/>
              <a:cs typeface="Book Antiqua"/>
            </a:endParaRPr>
          </a:p>
          <a:p>
            <a:pPr marL="12700" marR="1381125">
              <a:lnSpc>
                <a:spcPct val="121200"/>
              </a:lnSpc>
            </a:pPr>
            <a:r>
              <a:rPr dirty="0" sz="750">
                <a:latin typeface="Book Antiqua"/>
                <a:cs typeface="Book Antiqua"/>
              </a:rPr>
              <a:t>буквенный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символ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небуквенный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символ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ссылка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первую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группу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68883" y="1304252"/>
            <a:ext cx="2794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750" spc="-5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68883" y="1442796"/>
            <a:ext cx="4572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750" spc="20">
                <a:latin typeface="Book Antiqua"/>
                <a:cs typeface="Book Antiqua"/>
              </a:rPr>
              <a:t>*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768883" y="1560599"/>
            <a:ext cx="379095" cy="182562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85"/>
              </a:spcBef>
            </a:pPr>
            <a:r>
              <a:rPr dirty="0" sz="750" spc="-50">
                <a:latin typeface="Book Antiqua"/>
                <a:cs typeface="Book Antiqua"/>
              </a:rPr>
              <a:t>+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r>
              <a:rPr dirty="0" sz="750" spc="-50">
                <a:latin typeface="Book Antiqua"/>
                <a:cs typeface="Book Antiqua"/>
              </a:rPr>
              <a:t>?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r>
              <a:rPr dirty="0" sz="750">
                <a:latin typeface="Book Antiqua"/>
                <a:cs typeface="Book Antiqua"/>
              </a:rPr>
              <a:t>*?,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+?,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??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r>
              <a:rPr dirty="0" sz="700">
                <a:latin typeface="Courier New"/>
                <a:cs typeface="Courier New"/>
              </a:rPr>
              <a:t>[</a:t>
            </a:r>
            <a:r>
              <a:rPr dirty="0" sz="700" spc="-265">
                <a:latin typeface="Courier New"/>
                <a:cs typeface="Courier New"/>
              </a:rPr>
              <a:t> </a:t>
            </a:r>
            <a:r>
              <a:rPr dirty="0" sz="750" spc="-35">
                <a:latin typeface="Book Antiqua"/>
                <a:cs typeface="Book Antiqua"/>
              </a:rPr>
              <a:t>…</a:t>
            </a:r>
            <a:r>
              <a:rPr dirty="0" sz="700" spc="-35">
                <a:latin typeface="Courier New"/>
                <a:cs typeface="Courier New"/>
              </a:rPr>
              <a:t>]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r>
              <a:rPr dirty="0" sz="700" spc="-50">
                <a:latin typeface="Courier New"/>
                <a:cs typeface="Courier New"/>
              </a:rPr>
              <a:t>^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r>
              <a:rPr dirty="0" sz="700" spc="-50">
                <a:latin typeface="Courier New"/>
                <a:cs typeface="Courier New"/>
              </a:rPr>
              <a:t>$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r>
              <a:rPr dirty="0" sz="700" spc="-25">
                <a:latin typeface="Courier New"/>
                <a:cs typeface="Courier New"/>
              </a:rPr>
              <a:t>\|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dirty="0" sz="700" spc="-10">
                <a:latin typeface="Courier New"/>
                <a:cs typeface="Courier New"/>
              </a:rPr>
              <a:t>\(</a:t>
            </a:r>
            <a:r>
              <a:rPr dirty="0" sz="750" spc="-10">
                <a:latin typeface="Book Antiqua"/>
                <a:cs typeface="Book Antiqua"/>
              </a:rPr>
              <a:t>…</a:t>
            </a:r>
            <a:r>
              <a:rPr dirty="0" sz="700" spc="-10">
                <a:latin typeface="Courier New"/>
                <a:cs typeface="Courier New"/>
              </a:rPr>
              <a:t>\)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r>
              <a:rPr dirty="0" sz="700" spc="-25">
                <a:latin typeface="Courier New"/>
                <a:cs typeface="Courier New"/>
              </a:rPr>
              <a:t>\b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r>
              <a:rPr dirty="0" sz="700" spc="-25">
                <a:latin typeface="Courier New"/>
                <a:cs typeface="Courier New"/>
              </a:rPr>
              <a:t>\B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r>
              <a:rPr dirty="0" sz="700" spc="-25">
                <a:latin typeface="Courier New"/>
                <a:cs typeface="Courier New"/>
              </a:rPr>
              <a:t>\w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r>
              <a:rPr dirty="0" sz="700" spc="-25">
                <a:latin typeface="Courier New"/>
                <a:cs typeface="Courier New"/>
              </a:rPr>
              <a:t>\W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r>
              <a:rPr dirty="0" sz="700" spc="-25">
                <a:latin typeface="Courier New"/>
                <a:cs typeface="Courier New"/>
              </a:rPr>
              <a:t>\1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692975" y="3419868"/>
            <a:ext cx="3834129" cy="0"/>
          </a:xfrm>
          <a:custGeom>
            <a:avLst/>
            <a:gdLst/>
            <a:ahLst/>
            <a:cxnLst/>
            <a:rect l="l" t="t" r="r" b="b"/>
            <a:pathLst>
              <a:path w="3834129" h="0">
                <a:moveTo>
                  <a:pt x="0" y="0"/>
                </a:moveTo>
                <a:lnTo>
                  <a:pt x="3834053" y="0"/>
                </a:lnTo>
              </a:path>
            </a:pathLst>
          </a:custGeom>
          <a:ln w="78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577367" y="3654552"/>
            <a:ext cx="4075429" cy="938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lvl="1" marL="360045" marR="18415" indent="-205740">
              <a:lnSpc>
                <a:spcPct val="100000"/>
              </a:lnSpc>
              <a:spcBef>
                <a:spcPts val="120"/>
              </a:spcBef>
              <a:buAutoNum type="arabicPeriod" startAt="2"/>
              <a:tabLst>
                <a:tab pos="361315" algn="l"/>
              </a:tabLst>
            </a:pPr>
            <a:r>
              <a:rPr dirty="0" sz="750" spc="10">
                <a:latin typeface="Book Antiqua"/>
                <a:cs typeface="Book Antiqua"/>
              </a:rPr>
              <a:t>Переместитесь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вновь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открытое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окно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10">
                <a:latin typeface="Courier New"/>
                <a:cs typeface="Courier New"/>
              </a:rPr>
              <a:t>x</a:t>
            </a:r>
            <a:r>
              <a:rPr dirty="0" sz="750" spc="10">
                <a:latin typeface="Book Antiqua"/>
                <a:cs typeface="Book Antiqua"/>
              </a:rPr>
              <a:t>)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o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списком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открытых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буферов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переключитесь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другой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буфер.</a:t>
            </a:r>
            <a:endParaRPr sz="750">
              <a:latin typeface="Book Antiqua"/>
              <a:cs typeface="Book Antiqua"/>
            </a:endParaRPr>
          </a:p>
          <a:p>
            <a:pPr lvl="1" marL="360680" indent="-205740">
              <a:lnSpc>
                <a:spcPts val="885"/>
              </a:lnSpc>
              <a:buAutoNum type="arabicPeriod" startAt="2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Закройте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окно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C-x</a:t>
            </a:r>
            <a:r>
              <a:rPr dirty="0" sz="700" spc="70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0</a:t>
            </a:r>
            <a:r>
              <a:rPr dirty="0" sz="750" spc="-25">
                <a:latin typeface="Book Antiqua"/>
                <a:cs typeface="Book Antiqua"/>
              </a:rPr>
              <a:t>).</a:t>
            </a:r>
            <a:endParaRPr sz="750">
              <a:latin typeface="Book Antiqua"/>
              <a:cs typeface="Book Antiqua"/>
            </a:endParaRPr>
          </a:p>
          <a:p>
            <a:pPr lvl="1" marL="360045" marR="18415" indent="-205740">
              <a:lnSpc>
                <a:spcPts val="890"/>
              </a:lnSpc>
              <a:spcBef>
                <a:spcPts val="35"/>
              </a:spcBef>
              <a:buAutoNum type="arabicPeriod" startAt="2"/>
              <a:tabLst>
                <a:tab pos="361315" algn="l"/>
              </a:tabLst>
            </a:pPr>
            <a:r>
              <a:rPr dirty="0" sz="750">
                <a:latin typeface="Book Antiqua"/>
                <a:cs typeface="Book Antiqua"/>
              </a:rPr>
              <a:t>Теперь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вновь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переключайтесь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между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буферами,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уже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без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их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списка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на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экран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C-x</a:t>
            </a:r>
            <a:r>
              <a:rPr dirty="0" sz="700" spc="45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b</a:t>
            </a:r>
            <a:r>
              <a:rPr dirty="0" sz="750" spc="-25">
                <a:latin typeface="Book Antiqua"/>
                <a:cs typeface="Book Antiqua"/>
              </a:rPr>
              <a:t>).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69"/>
              </a:lnSpc>
              <a:buAutoNum type="arabicPeriod" startAt="8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Управление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окнами.</a:t>
            </a:r>
            <a:endParaRPr sz="750">
              <a:latin typeface="Book Antiqua"/>
              <a:cs typeface="Book Antiqua"/>
            </a:endParaRPr>
          </a:p>
          <a:p>
            <a:pPr lvl="1" marL="361315" marR="5080" indent="-216535">
              <a:lnSpc>
                <a:spcPts val="890"/>
              </a:lnSpc>
              <a:spcBef>
                <a:spcPts val="35"/>
              </a:spcBef>
              <a:buAutoNum type="arabicPeriod"/>
              <a:tabLst>
                <a:tab pos="361315" algn="l"/>
              </a:tabLst>
            </a:pPr>
            <a:r>
              <a:rPr dirty="0" sz="750">
                <a:latin typeface="Book Antiqua"/>
                <a:cs typeface="Book Antiqua"/>
              </a:rPr>
              <a:t>Поделите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фрейм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4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части: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разделите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фрейм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два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окна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вертикали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C-x</a:t>
            </a:r>
            <a:r>
              <a:rPr dirty="0" sz="700" spc="65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3</a:t>
            </a:r>
            <a:r>
              <a:rPr dirty="0" sz="750" spc="-25">
                <a:latin typeface="Book Antiqua"/>
                <a:cs typeface="Book Antiqua"/>
              </a:rPr>
              <a:t>),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затем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каждое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этих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окон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две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части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горизонтали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C-x</a:t>
            </a:r>
            <a:r>
              <a:rPr dirty="0" sz="700" spc="1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2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(см. рис.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  <a:hlinkClick r:id="rId2" action="ppaction://hlinksldjump"/>
              </a:rPr>
              <a:t>9.1).</a:t>
            </a:r>
            <a:endParaRPr sz="750">
              <a:latin typeface="Book Antiqua"/>
              <a:cs typeface="Book Antiqua"/>
            </a:endParaRPr>
          </a:p>
        </p:txBody>
      </p:sp>
      <p:pic>
        <p:nvPicPr>
          <p:cNvPr id="32" name="object 3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0390" y="4733139"/>
            <a:ext cx="2419195" cy="1691561"/>
          </a:xfrm>
          <a:prstGeom prst="rect">
            <a:avLst/>
          </a:prstGeom>
        </p:spPr>
      </p:pic>
      <p:sp>
        <p:nvSpPr>
          <p:cNvPr id="33" name="object 33" descr=""/>
          <p:cNvSpPr txBox="1"/>
          <p:nvPr/>
        </p:nvSpPr>
        <p:spPr>
          <a:xfrm>
            <a:off x="1581734" y="6530985"/>
            <a:ext cx="2056764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20" b="1">
                <a:latin typeface="Book Antiqua"/>
                <a:cs typeface="Book Antiqua"/>
              </a:rPr>
              <a:t>Рис.</a:t>
            </a:r>
            <a:r>
              <a:rPr dirty="0" sz="650" spc="75" b="1">
                <a:latin typeface="Book Antiqua"/>
                <a:cs typeface="Book Antiqua"/>
              </a:rPr>
              <a:t> </a:t>
            </a:r>
            <a:r>
              <a:rPr dirty="0" sz="650" spc="50" b="1">
                <a:latin typeface="Book Antiqua"/>
                <a:cs typeface="Book Antiqua"/>
              </a:rPr>
              <a:t>9.1.</a:t>
            </a:r>
            <a:r>
              <a:rPr dirty="0" sz="650" spc="4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Фрейм</a:t>
            </a:r>
            <a:r>
              <a:rPr dirty="0" sz="650" spc="8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emacs,</a:t>
            </a:r>
            <a:r>
              <a:rPr dirty="0" sz="650" spc="4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разделённый</a:t>
            </a:r>
            <a:r>
              <a:rPr dirty="0" sz="650" spc="7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на</a:t>
            </a:r>
            <a:r>
              <a:rPr dirty="0" sz="650" spc="80" b="1">
                <a:latin typeface="Book Antiqua"/>
                <a:cs typeface="Book Antiqua"/>
              </a:rPr>
              <a:t> </a:t>
            </a:r>
            <a:r>
              <a:rPr dirty="0" sz="650" spc="60" b="1">
                <a:latin typeface="Book Antiqua"/>
                <a:cs typeface="Book Antiqua"/>
              </a:rPr>
              <a:t>4</a:t>
            </a:r>
            <a:r>
              <a:rPr dirty="0" sz="650" spc="75" b="1">
                <a:latin typeface="Book Antiqua"/>
                <a:cs typeface="Book Antiqua"/>
              </a:rPr>
              <a:t> </a:t>
            </a:r>
            <a:r>
              <a:rPr dirty="0" sz="650" spc="-20" b="1">
                <a:latin typeface="Book Antiqua"/>
                <a:cs typeface="Book Antiqua"/>
              </a:rPr>
              <a:t>окна</a:t>
            </a:r>
            <a:endParaRPr sz="6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40" i="1">
                <a:latin typeface="Georgia"/>
                <a:cs typeface="Georgia"/>
              </a:rPr>
              <a:t>Кулябов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spc="-30" i="1">
                <a:latin typeface="Georgia"/>
                <a:cs typeface="Georgia"/>
              </a:rPr>
              <a:t>Д.</a:t>
            </a:r>
            <a:r>
              <a:rPr dirty="0" sz="600" spc="-50" i="1">
                <a:latin typeface="Georgia"/>
                <a:cs typeface="Georgia"/>
              </a:rPr>
              <a:t> </a:t>
            </a:r>
            <a:r>
              <a:rPr dirty="0" sz="600" spc="-10" i="1">
                <a:latin typeface="Georgia"/>
                <a:cs typeface="Georgia"/>
              </a:rPr>
              <a:t>С.</a:t>
            </a:r>
            <a:r>
              <a:rPr dirty="0" sz="600" spc="-2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и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др.</a:t>
            </a:r>
            <a:r>
              <a:rPr dirty="0" sz="600" spc="55" i="1">
                <a:latin typeface="Georgia"/>
                <a:cs typeface="Georgi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-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81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1920369" y="1593263"/>
            <a:ext cx="240665" cy="129539"/>
            <a:chOff x="1920369" y="1593263"/>
            <a:chExt cx="240665" cy="129539"/>
          </a:xfrm>
        </p:grpSpPr>
        <p:sp>
          <p:nvSpPr>
            <p:cNvPr id="6" name="object 6" descr=""/>
            <p:cNvSpPr/>
            <p:nvPr/>
          </p:nvSpPr>
          <p:spPr>
            <a:xfrm>
              <a:off x="1922899" y="1595793"/>
              <a:ext cx="235585" cy="124460"/>
            </a:xfrm>
            <a:custGeom>
              <a:avLst/>
              <a:gdLst/>
              <a:ahLst/>
              <a:cxnLst/>
              <a:rect l="l" t="t" r="r" b="b"/>
              <a:pathLst>
                <a:path w="235585" h="124460">
                  <a:moveTo>
                    <a:pt x="228804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28804" y="123926"/>
                  </a:lnTo>
                  <a:lnTo>
                    <a:pt x="235396" y="117333"/>
                  </a:lnTo>
                  <a:lnTo>
                    <a:pt x="235396" y="6592"/>
                  </a:lnTo>
                  <a:lnTo>
                    <a:pt x="2288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922899" y="1595793"/>
              <a:ext cx="235585" cy="124460"/>
            </a:xfrm>
            <a:custGeom>
              <a:avLst/>
              <a:gdLst/>
              <a:ahLst/>
              <a:cxnLst/>
              <a:rect l="l" t="t" r="r" b="b"/>
              <a:pathLst>
                <a:path w="235585" h="124460">
                  <a:moveTo>
                    <a:pt x="220672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20672" y="123926"/>
                  </a:lnTo>
                  <a:lnTo>
                    <a:pt x="228804" y="123926"/>
                  </a:lnTo>
                  <a:lnTo>
                    <a:pt x="235396" y="117333"/>
                  </a:lnTo>
                  <a:lnTo>
                    <a:pt x="235396" y="109202"/>
                  </a:lnTo>
                  <a:lnTo>
                    <a:pt x="235396" y="14723"/>
                  </a:lnTo>
                  <a:lnTo>
                    <a:pt x="235396" y="6592"/>
                  </a:lnTo>
                  <a:lnTo>
                    <a:pt x="228804" y="0"/>
                  </a:lnTo>
                  <a:lnTo>
                    <a:pt x="220672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2324" y="4931547"/>
            <a:ext cx="176326" cy="128987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501167" y="653389"/>
            <a:ext cx="4213860" cy="452628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437515" marR="81280" indent="-216535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8.2.</a:t>
            </a:r>
            <a:r>
              <a:rPr dirty="0" sz="750" spc="4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каждом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четырёх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созданных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окон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откройте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новый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буфер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(файл)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введите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несколько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текста.</a:t>
            </a:r>
            <a:endParaRPr sz="750">
              <a:latin typeface="Book Antiqua"/>
              <a:cs typeface="Book Antiqua"/>
            </a:endParaRPr>
          </a:p>
          <a:p>
            <a:pPr marL="224790" indent="-135890">
              <a:lnSpc>
                <a:spcPts val="885"/>
              </a:lnSpc>
              <a:buAutoNum type="arabicPeriod" startAt="9"/>
              <a:tabLst>
                <a:tab pos="224790" algn="l"/>
              </a:tabLst>
            </a:pPr>
            <a:r>
              <a:rPr dirty="0" sz="750">
                <a:latin typeface="Book Antiqua"/>
                <a:cs typeface="Book Antiqua"/>
              </a:rPr>
              <a:t>Режим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поиска</a:t>
            </a:r>
            <a:endParaRPr sz="750">
              <a:latin typeface="Book Antiqua"/>
              <a:cs typeface="Book Antiqua"/>
            </a:endParaRPr>
          </a:p>
          <a:p>
            <a:pPr lvl="1" marL="437515" marR="81280" indent="-216535">
              <a:lnSpc>
                <a:spcPts val="890"/>
              </a:lnSpc>
              <a:spcBef>
                <a:spcPts val="35"/>
              </a:spcBef>
              <a:buAutoNum type="arabicPeriod"/>
              <a:tabLst>
                <a:tab pos="437515" algn="l"/>
              </a:tabLst>
            </a:pPr>
            <a:r>
              <a:rPr dirty="0" sz="750" spc="-10">
                <a:latin typeface="Book Antiqua"/>
                <a:cs typeface="Book Antiqua"/>
              </a:rPr>
              <a:t>Переключитесь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 режим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поиска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C-s</a:t>
            </a:r>
            <a:r>
              <a:rPr dirty="0" sz="750">
                <a:latin typeface="Book Antiqua"/>
                <a:cs typeface="Book Antiqua"/>
              </a:rPr>
              <a:t>) 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найдите несколько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присутствующих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тексте.</a:t>
            </a:r>
            <a:endParaRPr sz="750">
              <a:latin typeface="Book Antiqua"/>
              <a:cs typeface="Book Antiqua"/>
            </a:endParaRPr>
          </a:p>
          <a:p>
            <a:pPr lvl="1" marL="437515" indent="-215900">
              <a:lnSpc>
                <a:spcPts val="869"/>
              </a:lnSpc>
              <a:buAutoNum type="arabicPeriod"/>
              <a:tabLst>
                <a:tab pos="437515" algn="l"/>
              </a:tabLst>
            </a:pPr>
            <a:r>
              <a:rPr dirty="0" sz="750">
                <a:latin typeface="Book Antiqua"/>
                <a:cs typeface="Book Antiqua"/>
              </a:rPr>
              <a:t>Переключайтесь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между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результатами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поиска,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нажимая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25">
                <a:latin typeface="Courier New"/>
                <a:cs typeface="Courier New"/>
              </a:rPr>
              <a:t>s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1" marL="436880" indent="-215900">
              <a:lnSpc>
                <a:spcPts val="894"/>
              </a:lnSpc>
              <a:buAutoNum type="arabicPeriod"/>
              <a:tabLst>
                <a:tab pos="436880" algn="l"/>
              </a:tabLst>
            </a:pPr>
            <a:r>
              <a:rPr dirty="0" sz="750">
                <a:latin typeface="Book Antiqua"/>
                <a:cs typeface="Book Antiqua"/>
              </a:rPr>
              <a:t>Выйдите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поиска,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нажав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25">
                <a:latin typeface="Courier New"/>
                <a:cs typeface="Courier New"/>
              </a:rPr>
              <a:t>g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1" marL="436880" indent="-215900">
              <a:lnSpc>
                <a:spcPts val="894"/>
              </a:lnSpc>
              <a:buAutoNum type="arabicPeriod"/>
              <a:tabLst>
                <a:tab pos="436880" algn="l"/>
              </a:tabLst>
            </a:pPr>
            <a:r>
              <a:rPr dirty="0" sz="750" spc="-10">
                <a:latin typeface="Book Antiqua"/>
                <a:cs typeface="Book Antiqua"/>
              </a:rPr>
              <a:t>Перейдите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поиска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замены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M-%</a:t>
            </a:r>
            <a:r>
              <a:rPr dirty="0" sz="750">
                <a:latin typeface="Book Antiqua"/>
                <a:cs typeface="Book Antiqua"/>
              </a:rPr>
              <a:t>),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введите текст,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следует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найти</a:t>
            </a:r>
            <a:endParaRPr sz="750">
              <a:latin typeface="Book Antiqua"/>
              <a:cs typeface="Book Antiqua"/>
            </a:endParaRPr>
          </a:p>
          <a:p>
            <a:pPr marL="437515" marR="81280">
              <a:lnSpc>
                <a:spcPct val="100000"/>
              </a:lnSpc>
              <a:spcBef>
                <a:spcPts val="170"/>
              </a:spcBef>
            </a:pP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заменить,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нажмите</a:t>
            </a:r>
            <a:r>
              <a:rPr dirty="0" sz="750" spc="300">
                <a:latin typeface="Book Antiqua"/>
                <a:cs typeface="Book Antiqua"/>
              </a:rPr>
              <a:t> </a:t>
            </a:r>
            <a:r>
              <a:rPr dirty="0" baseline="8547" sz="975">
                <a:latin typeface="Calibri"/>
                <a:cs typeface="Calibri"/>
              </a:rPr>
              <a:t>Enter</a:t>
            </a:r>
            <a:r>
              <a:rPr dirty="0" baseline="8547" sz="975" spc="179">
                <a:latin typeface="Calibri"/>
                <a:cs typeface="Calibri"/>
              </a:rPr>
              <a:t> 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затем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введите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замены.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После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того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будут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подсвечены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результаты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поиска,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нажмите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!</a:t>
            </a:r>
            <a:r>
              <a:rPr dirty="0" sz="700" spc="-1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подтверждения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замены.</a:t>
            </a:r>
            <a:endParaRPr sz="750">
              <a:latin typeface="Book Antiqua"/>
              <a:cs typeface="Book Antiqua"/>
            </a:endParaRPr>
          </a:p>
          <a:p>
            <a:pPr lvl="1" marL="437515" marR="81280" indent="-216535">
              <a:lnSpc>
                <a:spcPts val="890"/>
              </a:lnSpc>
              <a:spcBef>
                <a:spcPts val="25"/>
              </a:spcBef>
              <a:buAutoNum type="arabicPeriod" startAt="5"/>
              <a:tabLst>
                <a:tab pos="437515" algn="l"/>
              </a:tabLst>
            </a:pPr>
            <a:r>
              <a:rPr dirty="0" sz="750" spc="-10">
                <a:latin typeface="Book Antiqua"/>
                <a:cs typeface="Book Antiqua"/>
              </a:rPr>
              <a:t>Испробуйте другой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поиска,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нажав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M-s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Объясните,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чем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отличается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от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обычного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режима?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750">
              <a:latin typeface="Book Antiqua"/>
              <a:cs typeface="Book Antiqua"/>
            </a:endParaRPr>
          </a:p>
          <a:p>
            <a:pPr marL="92710">
              <a:lnSpc>
                <a:spcPct val="100000"/>
              </a:lnSpc>
            </a:pPr>
            <a:r>
              <a:rPr dirty="0" sz="850" b="1">
                <a:latin typeface="Book Antiqua"/>
                <a:cs typeface="Book Antiqua"/>
              </a:rPr>
              <a:t>9.4.</a:t>
            </a:r>
            <a:r>
              <a:rPr dirty="0" sz="850" spc="280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Содержание</a:t>
            </a:r>
            <a:r>
              <a:rPr dirty="0" sz="850" spc="6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отчёта</a:t>
            </a:r>
            <a:endParaRPr sz="850">
              <a:latin typeface="Book Antiqua"/>
              <a:cs typeface="Book Antiqua"/>
            </a:endParaRPr>
          </a:p>
          <a:p>
            <a:pPr marL="224790" indent="-135890">
              <a:lnSpc>
                <a:spcPts val="894"/>
              </a:lnSpc>
              <a:spcBef>
                <a:spcPts val="865"/>
              </a:spcBef>
              <a:buAutoNum type="arabicPeriod"/>
              <a:tabLst>
                <a:tab pos="224790" algn="l"/>
              </a:tabLst>
            </a:pPr>
            <a:r>
              <a:rPr dirty="0" sz="750">
                <a:latin typeface="Book Antiqua"/>
                <a:cs typeface="Book Antiqua"/>
              </a:rPr>
              <a:t>Титульный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лист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указанием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номера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40">
                <a:latin typeface="Book Antiqua"/>
                <a:cs typeface="Book Antiqua"/>
              </a:rPr>
              <a:t>ФИО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студента.</a:t>
            </a:r>
            <a:endParaRPr sz="750">
              <a:latin typeface="Book Antiqua"/>
              <a:cs typeface="Book Antiqua"/>
            </a:endParaRPr>
          </a:p>
          <a:p>
            <a:pPr marL="224790" indent="-135890">
              <a:lnSpc>
                <a:spcPts val="894"/>
              </a:lnSpc>
              <a:buAutoNum type="arabicPeriod"/>
              <a:tabLst>
                <a:tab pos="224790" algn="l"/>
              </a:tabLst>
            </a:pPr>
            <a:r>
              <a:rPr dirty="0" sz="750">
                <a:latin typeface="Book Antiqua"/>
                <a:cs typeface="Book Antiqua"/>
              </a:rPr>
              <a:t>Формулировка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224790" indent="-135890">
              <a:lnSpc>
                <a:spcPts val="894"/>
              </a:lnSpc>
              <a:buAutoNum type="arabicPeriod"/>
              <a:tabLst>
                <a:tab pos="224790" algn="l"/>
              </a:tabLst>
            </a:pPr>
            <a:r>
              <a:rPr dirty="0" sz="750">
                <a:latin typeface="Book Antiqua"/>
                <a:cs typeface="Book Antiqua"/>
              </a:rPr>
              <a:t>Описание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результатов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задания:</a:t>
            </a:r>
            <a:endParaRPr sz="750">
              <a:latin typeface="Book Antiqua"/>
              <a:cs typeface="Book Antiqua"/>
            </a:endParaRPr>
          </a:p>
          <a:p>
            <a:pPr lvl="1" marL="436880" indent="-117475">
              <a:lnSpc>
                <a:spcPts val="894"/>
              </a:lnSpc>
              <a:buFont typeface="Book Antiqua"/>
              <a:buChar char="–"/>
              <a:tabLst>
                <a:tab pos="436880" algn="l"/>
              </a:tabLst>
            </a:pPr>
            <a:r>
              <a:rPr dirty="0" sz="750">
                <a:latin typeface="Book Antiqua"/>
                <a:cs typeface="Book Antiqua"/>
              </a:rPr>
              <a:t>скриншоты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(снимки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экрана),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фиксирующие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работы;</a:t>
            </a:r>
            <a:endParaRPr sz="750">
              <a:latin typeface="Book Antiqua"/>
              <a:cs typeface="Book Antiqua"/>
            </a:endParaRPr>
          </a:p>
          <a:p>
            <a:pPr lvl="1" marL="436880" indent="-117475">
              <a:lnSpc>
                <a:spcPts val="894"/>
              </a:lnSpc>
              <a:buFont typeface="Book Antiqua"/>
              <a:buChar char="–"/>
              <a:tabLst>
                <a:tab pos="436880" algn="l"/>
              </a:tabLst>
            </a:pPr>
            <a:r>
              <a:rPr dirty="0" sz="750">
                <a:latin typeface="Book Antiqua"/>
                <a:cs typeface="Book Antiqua"/>
              </a:rPr>
              <a:t>листинги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(исходный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код)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(если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есть);</a:t>
            </a:r>
            <a:endParaRPr sz="750">
              <a:latin typeface="Book Antiqua"/>
              <a:cs typeface="Book Antiqua"/>
            </a:endParaRPr>
          </a:p>
          <a:p>
            <a:pPr lvl="1" marL="436245" marR="81280" indent="-117475">
              <a:lnSpc>
                <a:spcPts val="890"/>
              </a:lnSpc>
              <a:spcBef>
                <a:spcPts val="35"/>
              </a:spcBef>
              <a:buFont typeface="Book Antiqua"/>
              <a:buChar char="–"/>
              <a:tabLst>
                <a:tab pos="437515" algn="l"/>
              </a:tabLst>
            </a:pPr>
            <a:r>
              <a:rPr dirty="0" sz="750" spc="10">
                <a:latin typeface="Book Antiqua"/>
                <a:cs typeface="Book Antiqua"/>
              </a:rPr>
              <a:t>результаты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выполнения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(текст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или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снимок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экрана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 </a:t>
            </a:r>
            <a:r>
              <a:rPr dirty="0" sz="750" spc="10">
                <a:latin typeface="Book Antiqua"/>
                <a:cs typeface="Book Antiqua"/>
              </a:rPr>
              <a:t>зависимости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от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задания).</a:t>
            </a:r>
            <a:endParaRPr sz="750">
              <a:latin typeface="Book Antiqua"/>
              <a:cs typeface="Book Antiqua"/>
            </a:endParaRPr>
          </a:p>
          <a:p>
            <a:pPr marL="224790" indent="-135890">
              <a:lnSpc>
                <a:spcPts val="869"/>
              </a:lnSpc>
              <a:buAutoNum type="arabicPeriod"/>
              <a:tabLst>
                <a:tab pos="224790" algn="l"/>
              </a:tabLst>
            </a:pPr>
            <a:r>
              <a:rPr dirty="0" sz="750">
                <a:latin typeface="Book Antiqua"/>
                <a:cs typeface="Book Antiqua"/>
              </a:rPr>
              <a:t>Выводы,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согласованные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целью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224790" indent="-135890">
              <a:lnSpc>
                <a:spcPts val="894"/>
              </a:lnSpc>
              <a:buAutoNum type="arabicPeriod"/>
              <a:tabLst>
                <a:tab pos="224790" algn="l"/>
              </a:tabLst>
            </a:pPr>
            <a:r>
              <a:rPr dirty="0" sz="750">
                <a:latin typeface="Book Antiqua"/>
                <a:cs typeface="Book Antiqua"/>
              </a:rPr>
              <a:t>Ответы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контрольные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вопросы.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750">
              <a:latin typeface="Book Antiqua"/>
              <a:cs typeface="Book Antiqua"/>
            </a:endParaRPr>
          </a:p>
          <a:p>
            <a:pPr marL="92710">
              <a:lnSpc>
                <a:spcPct val="100000"/>
              </a:lnSpc>
            </a:pPr>
            <a:r>
              <a:rPr dirty="0" sz="850" b="1">
                <a:latin typeface="Book Antiqua"/>
                <a:cs typeface="Book Antiqua"/>
              </a:rPr>
              <a:t>9.5.</a:t>
            </a:r>
            <a:r>
              <a:rPr dirty="0" sz="850" spc="280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Контрольные</a:t>
            </a:r>
            <a:r>
              <a:rPr dirty="0" sz="850" spc="6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вопросы</a:t>
            </a:r>
            <a:endParaRPr sz="850">
              <a:latin typeface="Book Antiqua"/>
              <a:cs typeface="Book Antiqua"/>
            </a:endParaRPr>
          </a:p>
          <a:p>
            <a:pPr marL="224790" indent="-135890">
              <a:lnSpc>
                <a:spcPts val="894"/>
              </a:lnSpc>
              <a:spcBef>
                <a:spcPts val="860"/>
              </a:spcBef>
              <a:buAutoNum type="arabicPeriod"/>
              <a:tabLst>
                <a:tab pos="224790" algn="l"/>
              </a:tabLst>
            </a:pPr>
            <a:r>
              <a:rPr dirty="0" sz="750">
                <a:latin typeface="Book Antiqua"/>
                <a:cs typeface="Book Antiqua"/>
              </a:rPr>
              <a:t>Кратко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охарактеризуйте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emacs.</a:t>
            </a:r>
            <a:endParaRPr sz="750">
              <a:latin typeface="Book Antiqua"/>
              <a:cs typeface="Book Antiqua"/>
            </a:endParaRPr>
          </a:p>
          <a:p>
            <a:pPr marL="224154" marR="60325" indent="-135890">
              <a:lnSpc>
                <a:spcPts val="890"/>
              </a:lnSpc>
              <a:spcBef>
                <a:spcPts val="40"/>
              </a:spcBef>
              <a:buAutoNum type="arabicPeriod"/>
              <a:tabLst>
                <a:tab pos="225425" algn="l"/>
              </a:tabLst>
            </a:pPr>
            <a:r>
              <a:rPr dirty="0" sz="750">
                <a:latin typeface="Book Antiqua"/>
                <a:cs typeface="Book Antiqua"/>
              </a:rPr>
              <a:t>Какие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особенности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данного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редактора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могут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сделать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его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сложным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освоения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но-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вичком?</a:t>
            </a:r>
            <a:endParaRPr sz="750">
              <a:latin typeface="Book Antiqua"/>
              <a:cs typeface="Book Antiqua"/>
            </a:endParaRPr>
          </a:p>
          <a:p>
            <a:pPr marL="224790" indent="-135890">
              <a:lnSpc>
                <a:spcPts val="869"/>
              </a:lnSpc>
              <a:buAutoNum type="arabicPeriod"/>
              <a:tabLst>
                <a:tab pos="224790" algn="l"/>
              </a:tabLst>
            </a:pPr>
            <a:r>
              <a:rPr dirty="0" sz="750">
                <a:latin typeface="Book Antiqua"/>
                <a:cs typeface="Book Antiqua"/>
              </a:rPr>
              <a:t>Своими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словами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опишите, что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такое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буфер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окно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терминологии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emacs’а.</a:t>
            </a:r>
            <a:endParaRPr sz="750">
              <a:latin typeface="Book Antiqua"/>
              <a:cs typeface="Book Antiqua"/>
            </a:endParaRPr>
          </a:p>
          <a:p>
            <a:pPr marL="224790" indent="-135890">
              <a:lnSpc>
                <a:spcPts val="894"/>
              </a:lnSpc>
              <a:buAutoNum type="arabicPeriod"/>
              <a:tabLst>
                <a:tab pos="224790" algn="l"/>
              </a:tabLst>
            </a:pP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открыть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больше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10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буферов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одном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окне?</a:t>
            </a:r>
            <a:endParaRPr sz="750">
              <a:latin typeface="Book Antiqua"/>
              <a:cs typeface="Book Antiqua"/>
            </a:endParaRPr>
          </a:p>
          <a:p>
            <a:pPr marL="224790" indent="-135890">
              <a:lnSpc>
                <a:spcPts val="894"/>
              </a:lnSpc>
              <a:buAutoNum type="arabicPeriod"/>
              <a:tabLst>
                <a:tab pos="224790" algn="l"/>
              </a:tabLst>
            </a:pPr>
            <a:r>
              <a:rPr dirty="0" sz="750">
                <a:latin typeface="Book Antiqua"/>
                <a:cs typeface="Book Antiqua"/>
              </a:rPr>
              <a:t>Какие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буферы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создаются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умолчанию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запуске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emacs?</a:t>
            </a:r>
            <a:endParaRPr sz="750">
              <a:latin typeface="Book Antiqua"/>
              <a:cs typeface="Book Antiqua"/>
            </a:endParaRPr>
          </a:p>
          <a:p>
            <a:pPr marL="224790" indent="-135890">
              <a:lnSpc>
                <a:spcPts val="894"/>
              </a:lnSpc>
              <a:buAutoNum type="arabicPeriod"/>
              <a:tabLst>
                <a:tab pos="224790" algn="l"/>
              </a:tabLst>
            </a:pPr>
            <a:r>
              <a:rPr dirty="0" sz="750" spc="-10">
                <a:latin typeface="Book Antiqua"/>
                <a:cs typeface="Book Antiqua"/>
              </a:rPr>
              <a:t>Какие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клавиши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нажмёте,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чтобы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ввести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следующую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комбинацию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C-c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|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C-c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C-</a:t>
            </a:r>
            <a:r>
              <a:rPr dirty="0" sz="700" spc="-25">
                <a:latin typeface="Courier New"/>
                <a:cs typeface="Courier New"/>
              </a:rPr>
              <a:t>|</a:t>
            </a:r>
            <a:r>
              <a:rPr dirty="0" sz="750" spc="-25">
                <a:latin typeface="Book Antiqua"/>
                <a:cs typeface="Book Antiqua"/>
              </a:rPr>
              <a:t>?</a:t>
            </a:r>
            <a:endParaRPr sz="750">
              <a:latin typeface="Book Antiqua"/>
              <a:cs typeface="Book Antiqua"/>
            </a:endParaRPr>
          </a:p>
          <a:p>
            <a:pPr marL="224154" indent="-125730">
              <a:lnSpc>
                <a:spcPts val="894"/>
              </a:lnSpc>
              <a:buAutoNum type="arabicPeriod"/>
              <a:tabLst>
                <a:tab pos="224154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поделить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окно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две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части?</a:t>
            </a:r>
            <a:endParaRPr sz="750">
              <a:latin typeface="Book Antiqua"/>
              <a:cs typeface="Book Antiqua"/>
            </a:endParaRPr>
          </a:p>
          <a:p>
            <a:pPr marL="224790" indent="-135890">
              <a:lnSpc>
                <a:spcPts val="894"/>
              </a:lnSpc>
              <a:buAutoNum type="arabicPeriod"/>
              <a:tabLst>
                <a:tab pos="224790" algn="l"/>
              </a:tabLst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каком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хранятся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настройки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emacs?</a:t>
            </a:r>
            <a:endParaRPr sz="750">
              <a:latin typeface="Book Antiqua"/>
              <a:cs typeface="Book Antiqua"/>
            </a:endParaRPr>
          </a:p>
          <a:p>
            <a:pPr marL="224790" indent="-135890">
              <a:lnSpc>
                <a:spcPts val="894"/>
              </a:lnSpc>
              <a:spcBef>
                <a:spcPts val="155"/>
              </a:spcBef>
              <a:buAutoNum type="arabicPeriod"/>
              <a:tabLst>
                <a:tab pos="224790" algn="l"/>
                <a:tab pos="2141220" algn="l"/>
              </a:tabLst>
            </a:pPr>
            <a:r>
              <a:rPr dirty="0" sz="750" spc="-10">
                <a:latin typeface="Book Antiqua"/>
                <a:cs typeface="Book Antiqua"/>
              </a:rPr>
              <a:t>Какую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функцию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выполняет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клавиша</a:t>
            </a:r>
            <a:r>
              <a:rPr dirty="0" sz="750">
                <a:latin typeface="Book Antiqua"/>
                <a:cs typeface="Book Antiqua"/>
              </a:rPr>
              <a:t>	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её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переназначить?</a:t>
            </a:r>
            <a:endParaRPr sz="750">
              <a:latin typeface="Book Antiqua"/>
              <a:cs typeface="Book Antiqua"/>
            </a:endParaRPr>
          </a:p>
          <a:p>
            <a:pPr marL="224154" indent="-187960">
              <a:lnSpc>
                <a:spcPts val="894"/>
              </a:lnSpc>
              <a:buAutoNum type="arabicPeriod"/>
              <a:tabLst>
                <a:tab pos="224154" algn="l"/>
              </a:tabLst>
            </a:pPr>
            <a:r>
              <a:rPr dirty="0" sz="750">
                <a:latin typeface="Book Antiqua"/>
                <a:cs typeface="Book Antiqua"/>
              </a:rPr>
              <a:t>Какой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редактор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показался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удобнее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vi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emacs?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Поясните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почему.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2026-03-20T17:47:09Z</dcterms:created>
  <dcterms:modified xsi:type="dcterms:W3CDTF">2026-03-20T17:47:09Z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2026-03-20T00:00:00Z</vt:filetime>
  </property>
  <property fmtid="{D5CDD505-2E9C-101B-9397-08002B2CF9AE}" pid="3" name="LastSaved">
    <vt:filetime>2026-03-20T00:00:00Z</vt:filetime>
  </property>
  <property fmtid="{D5CDD505-2E9C-101B-9397-08002B2CF9AE}" pid="4" name="Producer">
    <vt:lpwstr>3-Heights(TM) PDF Security Shell 4.8.25.2 (http://www.pdf-tools.com)</vt:lpwstr>
  </property>
</Properties>
</file>