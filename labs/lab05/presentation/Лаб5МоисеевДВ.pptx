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7556500" cy="10693400"/>
  <p:notesSz cx="7556500" cy="106934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7390" y="728371"/>
            <a:ext cx="775335" cy="3911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35989" y="4339298"/>
            <a:ext cx="5073650" cy="34201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202528"/>
                </a:solidFill>
                <a:latin typeface="Arial"/>
                <a:cs typeface="Arial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544525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mailto:git@github.com" TargetMode="Externa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https://github.com/browserpass/browserpass-extension" TargetMode="External"/><Relationship Id="rId3" Type="http://schemas.openxmlformats.org/officeDocument/2006/relationships/hyperlink" Target="https://addons.mozilla.org/en-US/firefox/addon/browserpass-ce/" TargetMode="External"/><Relationship Id="rId4" Type="http://schemas.openxmlformats.org/officeDocument/2006/relationships/hyperlink" Target="https://chrome.google.com/webstore/detail/browserpass-ce/naepdomgkenhinolocfifgehidddafch" TargetMode="External"/><Relationship Id="rId5" Type="http://schemas.openxmlformats.org/officeDocument/2006/relationships/hyperlink" Target="https://github.com/browserpass/browserpass-native" TargetMode="Externa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git@github.com" TargetMode="Externa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hyperlink" Target="mailto:git@github.com" TargetMode="Externa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1113128" y="559525"/>
            <a:ext cx="5219065" cy="996315"/>
          </a:xfrm>
          <a:prstGeom prst="rect">
            <a:avLst/>
          </a:prstGeom>
        </p:spPr>
        <p:txBody>
          <a:bodyPr wrap="square" lIns="0" tIns="1466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5"/>
              </a:spcBef>
            </a:pPr>
            <a:r>
              <a:rPr dirty="0" sz="1600" b="1">
                <a:latin typeface="Times New Roman"/>
                <a:cs typeface="Times New Roman"/>
              </a:rPr>
              <a:t>РОССИЙСКИЙ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УНИВЕРСИТЕТ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ДРУЖБЫ</a:t>
            </a:r>
            <a:r>
              <a:rPr dirty="0" sz="1600" spc="-65" b="1">
                <a:latin typeface="Times New Roman"/>
                <a:cs typeface="Times New Roman"/>
              </a:rPr>
              <a:t> </a:t>
            </a:r>
            <a:r>
              <a:rPr dirty="0" sz="1600" spc="-10" b="1">
                <a:latin typeface="Times New Roman"/>
                <a:cs typeface="Times New Roman"/>
              </a:rPr>
              <a:t>НАРОДОВ</a:t>
            </a:r>
            <a:endParaRPr sz="1600">
              <a:latin typeface="Times New Roman"/>
              <a:cs typeface="Times New Roman"/>
            </a:endParaRPr>
          </a:p>
          <a:p>
            <a:pPr marL="454025" marR="334010" indent="67310">
              <a:lnSpc>
                <a:spcPct val="143700"/>
              </a:lnSpc>
              <a:spcBef>
                <a:spcPts val="180"/>
              </a:spcBef>
            </a:pPr>
            <a:r>
              <a:rPr dirty="0" sz="1300" b="1">
                <a:latin typeface="Times New Roman"/>
                <a:cs typeface="Times New Roman"/>
              </a:rPr>
              <a:t>Факультет</a:t>
            </a:r>
            <a:r>
              <a:rPr dirty="0" sz="1300" spc="5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физико-</a:t>
            </a:r>
            <a:r>
              <a:rPr dirty="0" sz="1300" spc="-10" b="1">
                <a:latin typeface="Times New Roman"/>
                <a:cs typeface="Times New Roman"/>
              </a:rPr>
              <a:t>математических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естественных</a:t>
            </a:r>
            <a:r>
              <a:rPr dirty="0" sz="1300" spc="10" b="1">
                <a:latin typeface="Times New Roman"/>
                <a:cs typeface="Times New Roman"/>
              </a:rPr>
              <a:t> </a:t>
            </a:r>
            <a:r>
              <a:rPr dirty="0" sz="1300" spc="-20" b="1">
                <a:latin typeface="Times New Roman"/>
                <a:cs typeface="Times New Roman"/>
              </a:rPr>
              <a:t>наук </a:t>
            </a:r>
            <a:r>
              <a:rPr dirty="0" sz="1300" b="1">
                <a:latin typeface="Times New Roman"/>
                <a:cs typeface="Times New Roman"/>
              </a:rPr>
              <a:t>Кафедра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прикладной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информатики</a:t>
            </a:r>
            <a:r>
              <a:rPr dirty="0" sz="1300" spc="-20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и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b="1">
                <a:latin typeface="Times New Roman"/>
                <a:cs typeface="Times New Roman"/>
              </a:rPr>
              <a:t>теории</a:t>
            </a:r>
            <a:r>
              <a:rPr dirty="0" sz="1300" spc="-25" b="1">
                <a:latin typeface="Times New Roman"/>
                <a:cs typeface="Times New Roman"/>
              </a:rPr>
              <a:t> </a:t>
            </a:r>
            <a:r>
              <a:rPr dirty="0" sz="1300" spc="-10" b="1">
                <a:latin typeface="Times New Roman"/>
                <a:cs typeface="Times New Roman"/>
              </a:rPr>
              <a:t>вероятностей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3" name="object 3" descr=""/>
          <p:cNvSpPr txBox="1"/>
          <p:nvPr/>
        </p:nvSpPr>
        <p:spPr>
          <a:xfrm>
            <a:off x="1805713" y="2821626"/>
            <a:ext cx="3832860" cy="1229360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940"/>
              </a:spcBef>
            </a:pPr>
            <a:r>
              <a:rPr dirty="0" sz="1600" spc="-10" b="1">
                <a:latin typeface="Times New Roman"/>
                <a:cs typeface="Times New Roman"/>
              </a:rPr>
              <a:t>ОТЧЕТ</a:t>
            </a:r>
            <a:endParaRPr sz="1600">
              <a:latin typeface="Times New Roman"/>
              <a:cs typeface="Times New Roman"/>
            </a:endParaRPr>
          </a:p>
          <a:p>
            <a:pPr algn="ctr" marL="635">
              <a:lnSpc>
                <a:spcPct val="100000"/>
              </a:lnSpc>
              <a:spcBef>
                <a:spcPts val="840"/>
              </a:spcBef>
            </a:pPr>
            <a:r>
              <a:rPr dirty="0" sz="1600" b="1">
                <a:latin typeface="Times New Roman"/>
                <a:cs typeface="Times New Roman"/>
              </a:rPr>
              <a:t>ПО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ЛАБОРАТОРНОЙ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РАБОТЕ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b="1">
                <a:latin typeface="Times New Roman"/>
                <a:cs typeface="Times New Roman"/>
              </a:rPr>
              <a:t>№</a:t>
            </a:r>
            <a:r>
              <a:rPr dirty="0" sz="1600" spc="-40" b="1">
                <a:latin typeface="Times New Roman"/>
                <a:cs typeface="Times New Roman"/>
              </a:rPr>
              <a:t> </a:t>
            </a:r>
            <a:r>
              <a:rPr dirty="0" sz="1600" spc="-50" b="1">
                <a:latin typeface="Times New Roman"/>
                <a:cs typeface="Times New Roman"/>
              </a:rPr>
              <a:t>5</a:t>
            </a: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  <a:tabLst>
                <a:tab pos="1464310" algn="l"/>
              </a:tabLst>
            </a:pP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дисциплина:</a:t>
            </a:r>
            <a:r>
              <a:rPr dirty="0" u="sng" sz="160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Архитектура</a:t>
            </a:r>
            <a:r>
              <a:rPr dirty="0" u="sng" sz="1600" spc="-45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600" spc="-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компьютера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3841724" y="6613194"/>
            <a:ext cx="3010535" cy="727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r" marR="5715">
              <a:lnSpc>
                <a:spcPct val="100000"/>
              </a:lnSpc>
              <a:spcBef>
                <a:spcPts val="100"/>
              </a:spcBef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Студент:</a:t>
            </a:r>
            <a:r>
              <a:rPr dirty="0" u="sng" sz="1300" spc="-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Моисеев</a:t>
            </a:r>
            <a:r>
              <a:rPr dirty="0" u="sng" sz="1300" spc="-4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Дмитрий</a:t>
            </a:r>
            <a:r>
              <a:rPr dirty="0" u="sng" sz="1300" spc="-3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Вячеславович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910"/>
              </a:spcBef>
            </a:pPr>
            <a:endParaRPr sz="1300">
              <a:latin typeface="Times New Roman"/>
              <a:cs typeface="Times New Roman"/>
            </a:endParaRPr>
          </a:p>
          <a:p>
            <a:pPr algn="r" marR="5080">
              <a:lnSpc>
                <a:spcPct val="100000"/>
              </a:lnSpc>
            </a:pPr>
            <a:r>
              <a:rPr dirty="0" u="sng" sz="130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Группа:</a:t>
            </a:r>
            <a:r>
              <a:rPr dirty="0" u="sng" sz="1300" spc="-6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sng" sz="1300" spc="-10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НБИбд-02-</a:t>
            </a:r>
            <a:r>
              <a:rPr dirty="0" u="sng" sz="1300" spc="-2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25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3391192" y="9155213"/>
            <a:ext cx="777875" cy="594995"/>
          </a:xfrm>
          <a:prstGeom prst="rect">
            <a:avLst/>
          </a:prstGeom>
        </p:spPr>
        <p:txBody>
          <a:bodyPr wrap="square" lIns="0" tIns="9906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780"/>
              </a:spcBef>
            </a:pPr>
            <a:r>
              <a:rPr dirty="0" sz="1300" spc="-10" b="1">
                <a:latin typeface="Times New Roman"/>
                <a:cs typeface="Times New Roman"/>
              </a:rPr>
              <a:t>МОСКВА</a:t>
            </a:r>
            <a:endParaRPr sz="13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685"/>
              </a:spcBef>
            </a:pPr>
            <a:r>
              <a:rPr dirty="0" sz="1300">
                <a:latin typeface="Times New Roman"/>
                <a:cs typeface="Times New Roman"/>
              </a:rPr>
              <a:t>2026 </a:t>
            </a:r>
            <a:r>
              <a:rPr dirty="0" sz="1300" spc="-25">
                <a:latin typeface="Times New Roman"/>
                <a:cs typeface="Times New Roman"/>
              </a:rPr>
              <a:t>г.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/>
              <a:t>Цель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07390" y="1309446"/>
            <a:ext cx="1773555" cy="1854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Настройка</a:t>
            </a:r>
            <a:r>
              <a:rPr dirty="0" sz="1050" spc="2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рабочей</a:t>
            </a:r>
            <a:r>
              <a:rPr dirty="0" sz="1050" spc="2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среды.</a:t>
            </a:r>
            <a:endParaRPr sz="1050">
              <a:latin typeface="Arial"/>
              <a:cs typeface="Arial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07390" y="1680654"/>
            <a:ext cx="5330190" cy="25031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80">
                <a:solidFill>
                  <a:srgbClr val="202528"/>
                </a:solidFill>
                <a:latin typeface="Arial"/>
                <a:cs typeface="Arial"/>
              </a:rPr>
              <a:t>Выполнение</a:t>
            </a:r>
            <a:r>
              <a:rPr dirty="0" sz="240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2400" spc="75">
                <a:solidFill>
                  <a:srgbClr val="202528"/>
                </a:solidFill>
                <a:latin typeface="Arial"/>
                <a:cs typeface="Arial"/>
              </a:rPr>
              <a:t>лабораторной</a:t>
            </a:r>
            <a:r>
              <a:rPr dirty="0" sz="240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2400" spc="50">
                <a:solidFill>
                  <a:srgbClr val="202528"/>
                </a:solidFill>
                <a:latin typeface="Arial"/>
                <a:cs typeface="Arial"/>
              </a:rPr>
              <a:t>работы</a:t>
            </a:r>
            <a:endParaRPr sz="2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735"/>
              </a:spcBef>
            </a:pPr>
            <a:r>
              <a:rPr dirty="0" sz="1650" spc="-90">
                <a:solidFill>
                  <a:srgbClr val="282C3D"/>
                </a:solidFill>
                <a:latin typeface="Arial Black"/>
                <a:cs typeface="Arial Black"/>
              </a:rPr>
              <a:t>Менеджер</a:t>
            </a:r>
            <a:r>
              <a:rPr dirty="0" sz="1650" spc="-80">
                <a:solidFill>
                  <a:srgbClr val="282C3D"/>
                </a:solidFill>
                <a:latin typeface="Arial Black"/>
                <a:cs typeface="Arial Black"/>
              </a:rPr>
              <a:t> </a:t>
            </a:r>
            <a:r>
              <a:rPr dirty="0" sz="1650" spc="-85">
                <a:solidFill>
                  <a:srgbClr val="282C3D"/>
                </a:solidFill>
                <a:latin typeface="Arial Black"/>
                <a:cs typeface="Arial Black"/>
              </a:rPr>
              <a:t>паролей</a:t>
            </a:r>
            <a:r>
              <a:rPr dirty="0" sz="1650" spc="-75">
                <a:solidFill>
                  <a:srgbClr val="282C3D"/>
                </a:solidFill>
                <a:latin typeface="Arial Black"/>
                <a:cs typeface="Arial Black"/>
              </a:rPr>
              <a:t> </a:t>
            </a:r>
            <a:r>
              <a:rPr dirty="0" sz="1650" spc="-20">
                <a:solidFill>
                  <a:srgbClr val="282C3D"/>
                </a:solidFill>
                <a:latin typeface="Arial Black"/>
                <a:cs typeface="Arial Black"/>
              </a:rPr>
              <a:t>pass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dirty="0" sz="1350" spc="-10">
                <a:solidFill>
                  <a:srgbClr val="202528"/>
                </a:solidFill>
                <a:latin typeface="Arial"/>
                <a:cs typeface="Arial"/>
              </a:rPr>
              <a:t>Установка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SzPct val="95238"/>
              <a:buChar char="•"/>
              <a:tabLst>
                <a:tab pos="4692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Fedora</a:t>
            </a:r>
            <a:endParaRPr sz="105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spcBef>
                <a:spcPts val="60"/>
              </a:spcBef>
              <a:buClr>
                <a:srgbClr val="202528"/>
              </a:buClr>
              <a:buSzPct val="111111"/>
              <a:buFont typeface="Courier New"/>
              <a:buChar char="o"/>
              <a:tabLst>
                <a:tab pos="926465" algn="l"/>
              </a:tabLst>
            </a:pPr>
            <a:r>
              <a:rPr dirty="0" sz="900" spc="-20">
                <a:solidFill>
                  <a:srgbClr val="E73E8C"/>
                </a:solidFill>
                <a:latin typeface="Arial"/>
                <a:cs typeface="Arial"/>
              </a:rPr>
              <a:t>pass</a:t>
            </a:r>
            <a:endParaRPr sz="90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spcBef>
                <a:spcPts val="135"/>
              </a:spcBef>
              <a:buFont typeface="Courier New"/>
              <a:buChar char="o"/>
              <a:tabLst>
                <a:tab pos="926465" algn="l"/>
              </a:tabLst>
            </a:pP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dnf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install</a:t>
            </a:r>
            <a:r>
              <a:rPr dirty="0" sz="100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pass</a:t>
            </a:r>
            <a:r>
              <a:rPr dirty="0" sz="100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pass-</a:t>
            </a:r>
            <a:r>
              <a:rPr dirty="0" sz="1000" spc="-25">
                <a:solidFill>
                  <a:srgbClr val="202528"/>
                </a:solidFill>
                <a:latin typeface="Arial"/>
                <a:cs typeface="Arial"/>
              </a:rPr>
              <a:t>otp</a:t>
            </a:r>
            <a:endParaRPr sz="1000">
              <a:latin typeface="Arial"/>
              <a:cs typeface="Arial"/>
            </a:endParaRPr>
          </a:p>
          <a:p>
            <a:pPr lvl="2" marL="1383665" indent="-228600">
              <a:lnSpc>
                <a:spcPct val="100000"/>
              </a:lnSpc>
              <a:spcBef>
                <a:spcPts val="155"/>
              </a:spcBef>
              <a:buClr>
                <a:srgbClr val="202528"/>
              </a:buClr>
              <a:buSzPct val="111111"/>
              <a:buChar char="▪"/>
              <a:tabLst>
                <a:tab pos="1383665" algn="l"/>
              </a:tabLst>
            </a:pP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gopass</a:t>
            </a:r>
            <a:endParaRPr sz="900">
              <a:latin typeface="Arial"/>
              <a:cs typeface="Arial"/>
            </a:endParaRPr>
          </a:p>
          <a:p>
            <a:pPr lvl="2" marL="1383665" indent="-228600">
              <a:lnSpc>
                <a:spcPct val="100000"/>
              </a:lnSpc>
              <a:spcBef>
                <a:spcPts val="150"/>
              </a:spcBef>
              <a:buChar char="▪"/>
              <a:tabLst>
                <a:tab pos="1383665" algn="l"/>
              </a:tabLst>
            </a:pP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dnf</a:t>
            </a:r>
            <a:r>
              <a:rPr dirty="0" sz="100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install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gopass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350" spc="-10">
                <a:solidFill>
                  <a:srgbClr val="202528"/>
                </a:solidFill>
                <a:latin typeface="Arial"/>
                <a:cs typeface="Arial"/>
              </a:rPr>
              <a:t>Настройка</a:t>
            </a:r>
            <a:endParaRPr sz="1350">
              <a:latin typeface="Arial"/>
              <a:cs typeface="Arial"/>
            </a:endParaRPr>
          </a:p>
        </p:txBody>
      </p:sp>
      <p:sp>
        <p:nvSpPr>
          <p:cNvPr id="5" name="object 5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4290" rIns="0" bIns="0" rtlCol="0" vert="horz">
            <a:spAutoFit/>
          </a:bodyPr>
          <a:lstStyle/>
          <a:p>
            <a:pPr marL="238760" indent="-226060">
              <a:lnSpc>
                <a:spcPct val="100000"/>
              </a:lnSpc>
              <a:spcBef>
                <a:spcPts val="270"/>
              </a:spcBef>
              <a:buAutoNum type="arabicPeriod"/>
              <a:tabLst>
                <a:tab pos="238760" algn="l"/>
              </a:tabLst>
            </a:pPr>
            <a:r>
              <a:rPr dirty="0"/>
              <a:t>Ключи</a:t>
            </a:r>
            <a:r>
              <a:rPr dirty="0" spc="210"/>
              <a:t> </a:t>
            </a:r>
            <a:r>
              <a:rPr dirty="0" spc="-25"/>
              <a:t>GPG</a:t>
            </a:r>
          </a:p>
          <a:p>
            <a:pPr lvl="1" marL="697865" indent="-227965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Просмотр</a:t>
            </a:r>
            <a:r>
              <a:rPr dirty="0" sz="1050" spc="1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списка</a:t>
            </a:r>
            <a:r>
              <a:rPr dirty="0" sz="1050" spc="1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ключей:</a:t>
            </a:r>
            <a:endParaRPr sz="1050">
              <a:latin typeface="Arial"/>
              <a:cs typeface="Arial"/>
            </a:endParaRPr>
          </a:p>
          <a:p>
            <a:pPr lvl="1" marL="697865" indent="-227965">
              <a:lnSpc>
                <a:spcPct val="100000"/>
              </a:lnSpc>
              <a:spcBef>
                <a:spcPts val="16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gpg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--list-secret-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keys</a:t>
            </a:r>
            <a:endParaRPr sz="1000">
              <a:latin typeface="Arial"/>
              <a:cs typeface="Arial"/>
            </a:endParaRPr>
          </a:p>
          <a:p>
            <a:pPr lvl="1" marL="697865" indent="-227965">
              <a:lnSpc>
                <a:spcPct val="100000"/>
              </a:lnSpc>
              <a:spcBef>
                <a:spcPts val="165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Если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ключа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нет,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нужно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создать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новый:</a:t>
            </a:r>
            <a:endParaRPr sz="1050">
              <a:latin typeface="Arial"/>
              <a:cs typeface="Arial"/>
            </a:endParaRPr>
          </a:p>
          <a:p>
            <a:pPr lvl="1" marL="697865" indent="-227965">
              <a:lnSpc>
                <a:spcPct val="100000"/>
              </a:lnSpc>
              <a:spcBef>
                <a:spcPts val="16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gpg</a:t>
            </a:r>
            <a:r>
              <a:rPr dirty="0" sz="1000" spc="2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--full-generate-</a:t>
            </a:r>
            <a:r>
              <a:rPr dirty="0" sz="1000" spc="-25">
                <a:solidFill>
                  <a:srgbClr val="202528"/>
                </a:solidFill>
                <a:latin typeface="Arial"/>
                <a:cs typeface="Arial"/>
              </a:rPr>
              <a:t>key</a:t>
            </a:r>
            <a:endParaRPr sz="1000">
              <a:latin typeface="Arial"/>
              <a:cs typeface="Arial"/>
            </a:endParaRPr>
          </a:p>
          <a:p>
            <a:pPr marL="238760" indent="-22606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238760" algn="l"/>
              </a:tabLst>
            </a:pPr>
            <a:r>
              <a:rPr dirty="0" spc="20"/>
              <a:t>Инициализация</a:t>
            </a:r>
            <a:r>
              <a:rPr dirty="0" spc="215"/>
              <a:t> </a:t>
            </a:r>
            <a:r>
              <a:rPr dirty="0" spc="-10"/>
              <a:t>хранилища</a:t>
            </a:r>
          </a:p>
          <a:p>
            <a:pPr lvl="1" marL="697865" indent="-227965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Инициализируем</a:t>
            </a:r>
            <a:r>
              <a:rPr dirty="0" sz="1050" spc="1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хранилище:</a:t>
            </a:r>
            <a:endParaRPr sz="1050">
              <a:latin typeface="Arial"/>
              <a:cs typeface="Arial"/>
            </a:endParaRPr>
          </a:p>
          <a:p>
            <a:pPr lvl="1" marL="697865" indent="-227965">
              <a:lnSpc>
                <a:spcPct val="100000"/>
              </a:lnSpc>
              <a:spcBef>
                <a:spcPts val="170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pass</a:t>
            </a:r>
            <a:r>
              <a:rPr dirty="0" sz="100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init</a:t>
            </a:r>
            <a:r>
              <a:rPr dirty="0" sz="100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&lt;gpg-id</a:t>
            </a:r>
            <a:r>
              <a:rPr dirty="0" sz="100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or</a:t>
            </a:r>
            <a:r>
              <a:rPr dirty="0" sz="100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email&gt;</a:t>
            </a:r>
            <a:endParaRPr sz="1000">
              <a:latin typeface="Arial"/>
              <a:cs typeface="Arial"/>
            </a:endParaRPr>
          </a:p>
          <a:p>
            <a:pPr marL="238760" indent="-22606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238760" algn="l"/>
              </a:tabLst>
            </a:pPr>
            <a:r>
              <a:rPr dirty="0" spc="20"/>
              <a:t>Синхронизация</a:t>
            </a:r>
            <a:r>
              <a:rPr dirty="0" spc="35"/>
              <a:t> </a:t>
            </a:r>
            <a:r>
              <a:rPr dirty="0" spc="20"/>
              <a:t>с</a:t>
            </a:r>
            <a:r>
              <a:rPr dirty="0" spc="40"/>
              <a:t> </a:t>
            </a:r>
            <a:r>
              <a:rPr dirty="0" spc="-25"/>
              <a:t>git</a:t>
            </a:r>
          </a:p>
          <a:p>
            <a:pPr lvl="1" marL="697865" indent="-227965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Создадим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структуру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git:</a:t>
            </a:r>
            <a:endParaRPr sz="1050">
              <a:latin typeface="Arial"/>
              <a:cs typeface="Arial"/>
            </a:endParaRPr>
          </a:p>
          <a:p>
            <a:pPr lvl="1" marL="697865" indent="-227965">
              <a:lnSpc>
                <a:spcPct val="100000"/>
              </a:lnSpc>
              <a:spcBef>
                <a:spcPts val="165"/>
              </a:spcBef>
              <a:buFont typeface="Courier New"/>
              <a:buChar char="o"/>
              <a:tabLst>
                <a:tab pos="6978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pass</a:t>
            </a:r>
            <a:r>
              <a:rPr dirty="0" sz="100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init</a:t>
            </a:r>
            <a:endParaRPr sz="1000">
              <a:latin typeface="Arial"/>
              <a:cs typeface="Arial"/>
            </a:endParaRPr>
          </a:p>
          <a:p>
            <a:pPr lvl="1" marL="697865" marR="5080" indent="-228600">
              <a:lnSpc>
                <a:spcPts val="1430"/>
              </a:lnSpc>
              <a:spcBef>
                <a:spcPts val="70"/>
              </a:spcBef>
              <a:buSzPct val="95238"/>
              <a:buFont typeface="Courier New"/>
              <a:buChar char="o"/>
              <a:tabLst>
                <a:tab pos="6978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Также</a:t>
            </a:r>
            <a:r>
              <a:rPr dirty="0" sz="105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можно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задать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адрес</a:t>
            </a:r>
            <a:r>
              <a:rPr dirty="0" sz="105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репозитория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хостинге</a:t>
            </a:r>
            <a:r>
              <a:rPr dirty="0" sz="105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(репозиторий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необходимо</a:t>
            </a:r>
            <a:r>
              <a:rPr dirty="0" sz="105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предварительно</a:t>
            </a:r>
            <a:r>
              <a:rPr dirty="0" sz="105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создать):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</a:p>
          <a:p>
            <a:pPr marL="241300">
              <a:lnSpc>
                <a:spcPct val="100000"/>
              </a:lnSpc>
            </a:pPr>
            <a:r>
              <a:rPr dirty="0" sz="1000"/>
              <a:t>pass</a:t>
            </a:r>
            <a:r>
              <a:rPr dirty="0" sz="1000" spc="160"/>
              <a:t> </a:t>
            </a:r>
            <a:r>
              <a:rPr dirty="0" sz="1000"/>
              <a:t>git</a:t>
            </a:r>
            <a:r>
              <a:rPr dirty="0" sz="1000" spc="165"/>
              <a:t> </a:t>
            </a:r>
            <a:r>
              <a:rPr dirty="0" sz="1000" spc="50"/>
              <a:t>remote</a:t>
            </a:r>
            <a:r>
              <a:rPr dirty="0" sz="1000" spc="165"/>
              <a:t> </a:t>
            </a:r>
            <a:r>
              <a:rPr dirty="0" sz="1000"/>
              <a:t>add</a:t>
            </a:r>
            <a:r>
              <a:rPr dirty="0" sz="1000" spc="165"/>
              <a:t> </a:t>
            </a:r>
            <a:r>
              <a:rPr dirty="0" sz="1000"/>
              <a:t>origin</a:t>
            </a:r>
            <a:r>
              <a:rPr dirty="0" sz="1000" spc="165"/>
              <a:t> </a:t>
            </a:r>
            <a:r>
              <a:rPr dirty="0" sz="1000" spc="-10">
                <a:hlinkClick r:id="rId2"/>
              </a:rPr>
              <a:t>git@github.com:&lt;git_username&gt;/&lt;git_repo&gt;.git</a:t>
            </a:r>
            <a:endParaRPr sz="1000"/>
          </a:p>
          <a:p>
            <a:pPr marL="240665" indent="-227965">
              <a:lnSpc>
                <a:spcPct val="100000"/>
              </a:lnSpc>
              <a:spcBef>
                <a:spcPts val="5"/>
              </a:spcBef>
              <a:buClr>
                <a:srgbClr val="202528"/>
              </a:buClr>
              <a:buSzPct val="76923"/>
              <a:buFont typeface="Arial"/>
              <a:buChar char="•"/>
              <a:tabLst>
                <a:tab pos="240665" algn="l"/>
              </a:tabLst>
            </a:pPr>
            <a:r>
              <a:rPr dirty="0" sz="1300" spc="-10" b="1">
                <a:solidFill>
                  <a:srgbClr val="000000"/>
                </a:solidFill>
                <a:latin typeface="Times New Roman"/>
                <a:cs typeface="Times New Roman"/>
              </a:rPr>
              <a:t>-</a:t>
            </a:r>
            <a:r>
              <a:rPr dirty="0"/>
              <a:t>Для</a:t>
            </a:r>
            <a:r>
              <a:rPr dirty="0" spc="60"/>
              <a:t> </a:t>
            </a:r>
            <a:r>
              <a:rPr dirty="0" spc="45"/>
              <a:t>синхронизации</a:t>
            </a:r>
            <a:r>
              <a:rPr dirty="0" spc="65"/>
              <a:t> </a:t>
            </a:r>
            <a:r>
              <a:rPr dirty="0"/>
              <a:t>выполняется</a:t>
            </a:r>
            <a:r>
              <a:rPr dirty="0" spc="65"/>
              <a:t> </a:t>
            </a:r>
            <a:r>
              <a:rPr dirty="0"/>
              <a:t>следующая</a:t>
            </a:r>
            <a:r>
              <a:rPr dirty="0" spc="65"/>
              <a:t> </a:t>
            </a:r>
            <a:r>
              <a:rPr dirty="0" spc="-10"/>
              <a:t>команда:</a:t>
            </a: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45"/>
              </a:spcBef>
              <a:buClr>
                <a:srgbClr val="202528"/>
              </a:buClr>
              <a:buFont typeface="Arial"/>
              <a:buChar char="•"/>
            </a:pPr>
          </a:p>
          <a:p>
            <a:pPr marL="241300" marR="4048125" indent="-228600">
              <a:lnSpc>
                <a:spcPct val="113500"/>
              </a:lnSpc>
              <a:spcBef>
                <a:spcPts val="5"/>
              </a:spcBef>
              <a:buChar char="•"/>
              <a:tabLst>
                <a:tab pos="241300" algn="l"/>
              </a:tabLst>
            </a:pPr>
            <a:r>
              <a:rPr dirty="0" sz="1000"/>
              <a:t>pass</a:t>
            </a:r>
            <a:r>
              <a:rPr dirty="0" sz="1000" spc="30"/>
              <a:t> </a:t>
            </a:r>
            <a:r>
              <a:rPr dirty="0" sz="1000"/>
              <a:t>git</a:t>
            </a:r>
            <a:r>
              <a:rPr dirty="0" sz="1000" spc="30"/>
              <a:t> </a:t>
            </a:r>
            <a:r>
              <a:rPr dirty="0" sz="1000" spc="-20"/>
              <a:t>pull </a:t>
            </a:r>
            <a:r>
              <a:rPr dirty="0" sz="1000"/>
              <a:t>pass</a:t>
            </a:r>
            <a:r>
              <a:rPr dirty="0" sz="1000" spc="30"/>
              <a:t> </a:t>
            </a:r>
            <a:r>
              <a:rPr dirty="0" sz="1000"/>
              <a:t>git</a:t>
            </a:r>
            <a:r>
              <a:rPr dirty="0" sz="1000" spc="30"/>
              <a:t> </a:t>
            </a:r>
            <a:r>
              <a:rPr dirty="0" sz="1000" spc="-20"/>
              <a:t>push</a:t>
            </a:r>
            <a:endParaRPr sz="1000"/>
          </a:p>
        </p:txBody>
      </p:sp>
      <p:sp>
        <p:nvSpPr>
          <p:cNvPr id="6" name="object 6" descr=""/>
          <p:cNvSpPr txBox="1"/>
          <p:nvPr/>
        </p:nvSpPr>
        <p:spPr>
          <a:xfrm>
            <a:off x="935989" y="8217293"/>
            <a:ext cx="5662930" cy="162687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1.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Arial"/>
              <a:cs typeface="Arial"/>
            </a:endParaRPr>
          </a:p>
          <a:p>
            <a:pPr marL="695960" indent="-226060">
              <a:lnSpc>
                <a:spcPct val="100000"/>
              </a:lnSpc>
              <a:buAutoNum type="arabicPeriod"/>
              <a:tabLst>
                <a:tab pos="695960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Прямые</a:t>
            </a:r>
            <a:r>
              <a:rPr dirty="0" sz="1050" spc="1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0"/>
              </a:spcBef>
              <a:buClr>
                <a:srgbClr val="202528"/>
              </a:buClr>
              <a:buFont typeface="Arial"/>
              <a:buAutoNum type="arabicPeriod"/>
            </a:pPr>
            <a:endParaRPr sz="1050">
              <a:latin typeface="Arial"/>
              <a:cs typeface="Arial"/>
            </a:endParaRPr>
          </a:p>
          <a:p>
            <a:pPr lvl="1" marL="1155065" marR="5080" indent="-228600">
              <a:lnSpc>
                <a:spcPct val="113500"/>
              </a:lnSpc>
              <a:spcBef>
                <a:spcPts val="5"/>
              </a:spcBef>
              <a:buSzPct val="95238"/>
              <a:buChar char="▪"/>
              <a:tabLst>
                <a:tab pos="1155065" algn="l"/>
              </a:tabLst>
            </a:pP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Следует</a:t>
            </a:r>
            <a:r>
              <a:rPr dirty="0" sz="105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заметить,</a:t>
            </a:r>
            <a:r>
              <a:rPr dirty="0" sz="105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что</a:t>
            </a:r>
            <a:r>
              <a:rPr dirty="0" sz="105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отслеживаются</a:t>
            </a:r>
            <a:r>
              <a:rPr dirty="0" sz="105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только</a:t>
            </a:r>
            <a:r>
              <a:rPr dirty="0" sz="105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изменения,</a:t>
            </a:r>
            <a:r>
              <a:rPr dirty="0" sz="105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сделанные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через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сам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gopass</a:t>
            </a:r>
            <a:r>
              <a:rPr dirty="0" sz="900" spc="7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(или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pass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).</a:t>
            </a:r>
            <a:endParaRPr sz="1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90"/>
              </a:spcBef>
              <a:buClr>
                <a:srgbClr val="202528"/>
              </a:buClr>
              <a:buFont typeface="Arial"/>
              <a:buChar char="▪"/>
            </a:pPr>
            <a:endParaRPr sz="1050">
              <a:latin typeface="Arial"/>
              <a:cs typeface="Arial"/>
            </a:endParaRPr>
          </a:p>
          <a:p>
            <a:pPr lvl="1" marL="1155065" marR="208915" indent="-228600">
              <a:lnSpc>
                <a:spcPct val="113500"/>
              </a:lnSpc>
              <a:buSzPct val="95238"/>
              <a:buChar char="▪"/>
              <a:tabLst>
                <a:tab pos="1155065" algn="l"/>
              </a:tabLst>
            </a:pP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Если</a:t>
            </a:r>
            <a:r>
              <a:rPr dirty="0" sz="1050" spc="1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r>
              <a:rPr dirty="0" sz="105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сделаны</a:t>
            </a:r>
            <a:r>
              <a:rPr dirty="0" sz="105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непосредственно</a:t>
            </a:r>
            <a:r>
              <a:rPr dirty="0" sz="1050" spc="1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05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файловой</a:t>
            </a:r>
            <a:r>
              <a:rPr dirty="0" sz="105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системе,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необходимо</a:t>
            </a:r>
            <a:r>
              <a:rPr dirty="0" sz="105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вручную</a:t>
            </a:r>
            <a:r>
              <a:rPr dirty="0" sz="105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закоммитить</a:t>
            </a:r>
            <a:r>
              <a:rPr dirty="0" sz="105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выложить</a:t>
            </a:r>
            <a:r>
              <a:rPr dirty="0" sz="105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изменения: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7390" y="695566"/>
            <a:ext cx="6110605" cy="9069070"/>
          </a:xfrm>
          <a:prstGeom prst="rect">
            <a:avLst/>
          </a:prstGeom>
        </p:spPr>
        <p:txBody>
          <a:bodyPr wrap="square" lIns="0" tIns="33020" rIns="0" bIns="0" rtlCol="0" vert="horz">
            <a:spAutoFit/>
          </a:bodyPr>
          <a:lstStyle/>
          <a:p>
            <a:pPr marL="1383665" indent="-228600">
              <a:lnSpc>
                <a:spcPct val="100000"/>
              </a:lnSpc>
              <a:spcBef>
                <a:spcPts val="260"/>
              </a:spcBef>
              <a:buChar char="▪"/>
              <a:tabLst>
                <a:tab pos="13836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cd</a:t>
            </a:r>
            <a:r>
              <a:rPr dirty="0" sz="1000" spc="3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~/.password-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store/</a:t>
            </a:r>
            <a:endParaRPr sz="1000">
              <a:latin typeface="Arial"/>
              <a:cs typeface="Arial"/>
            </a:endParaRPr>
          </a:p>
          <a:p>
            <a:pPr marL="1383665" indent="-228600">
              <a:lnSpc>
                <a:spcPct val="100000"/>
              </a:lnSpc>
              <a:spcBef>
                <a:spcPts val="160"/>
              </a:spcBef>
              <a:buChar char="▪"/>
              <a:tabLst>
                <a:tab pos="13836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add</a:t>
            </a:r>
            <a:r>
              <a:rPr dirty="0" sz="100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00">
              <a:latin typeface="Arial"/>
              <a:cs typeface="Arial"/>
            </a:endParaRPr>
          </a:p>
          <a:p>
            <a:pPr marL="1383665" indent="-228600">
              <a:lnSpc>
                <a:spcPct val="100000"/>
              </a:lnSpc>
              <a:spcBef>
                <a:spcPts val="165"/>
              </a:spcBef>
              <a:buChar char="▪"/>
              <a:tabLst>
                <a:tab pos="1383665" algn="l"/>
              </a:tabLst>
            </a:pP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commit</a:t>
            </a:r>
            <a:r>
              <a:rPr dirty="0" sz="100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am</a:t>
            </a:r>
            <a:r>
              <a:rPr dirty="0" sz="100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'edit</a:t>
            </a:r>
            <a:r>
              <a:rPr dirty="0" sz="100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manually'</a:t>
            </a:r>
            <a:endParaRPr sz="1000">
              <a:latin typeface="Arial"/>
              <a:cs typeface="Arial"/>
            </a:endParaRPr>
          </a:p>
          <a:p>
            <a:pPr marL="1383665" indent="-228600">
              <a:lnSpc>
                <a:spcPct val="100000"/>
              </a:lnSpc>
              <a:spcBef>
                <a:spcPts val="160"/>
              </a:spcBef>
              <a:buChar char="▪"/>
              <a:tabLst>
                <a:tab pos="13836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push</a:t>
            </a:r>
            <a:endParaRPr sz="1000">
              <a:latin typeface="Arial"/>
              <a:cs typeface="Arial"/>
            </a:endParaRPr>
          </a:p>
          <a:p>
            <a:pPr marL="1383665" indent="-228600">
              <a:lnSpc>
                <a:spcPct val="100000"/>
              </a:lnSpc>
              <a:spcBef>
                <a:spcPts val="165"/>
              </a:spcBef>
              <a:buSzPct val="95238"/>
              <a:buChar char="▪"/>
              <a:tabLst>
                <a:tab pos="13836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Проверить</a:t>
            </a:r>
            <a:r>
              <a:rPr dirty="0" sz="1050" spc="1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статус</a:t>
            </a:r>
            <a:r>
              <a:rPr dirty="0" sz="1050" spc="1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синхронизации</a:t>
            </a:r>
            <a:r>
              <a:rPr dirty="0" sz="1050" spc="1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модно</a:t>
            </a:r>
            <a:r>
              <a:rPr dirty="0" sz="1050" spc="1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командой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202528"/>
              </a:buClr>
              <a:buFont typeface="Arial"/>
              <a:buChar char="▪"/>
            </a:pPr>
            <a:endParaRPr sz="1050">
              <a:latin typeface="Arial"/>
              <a:cs typeface="Arial"/>
            </a:endParaRPr>
          </a:p>
          <a:p>
            <a:pPr marL="1383665" indent="-228600">
              <a:lnSpc>
                <a:spcPct val="100000"/>
              </a:lnSpc>
              <a:buChar char="▪"/>
              <a:tabLst>
                <a:tab pos="13836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pass</a:t>
            </a:r>
            <a:r>
              <a:rPr dirty="0" sz="100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status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350">
                <a:solidFill>
                  <a:srgbClr val="202528"/>
                </a:solidFill>
                <a:latin typeface="Arial"/>
                <a:cs typeface="Arial"/>
              </a:rPr>
              <a:t>Настройка</a:t>
            </a:r>
            <a:r>
              <a:rPr dirty="0" sz="1350" spc="1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02528"/>
                </a:solidFill>
                <a:latin typeface="Arial"/>
                <a:cs typeface="Arial"/>
              </a:rPr>
              <a:t>интерфейса</a:t>
            </a:r>
            <a:r>
              <a:rPr dirty="0" sz="1350" spc="1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350" spc="1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02528"/>
                </a:solidFill>
                <a:latin typeface="Arial"/>
                <a:cs typeface="Arial"/>
              </a:rPr>
              <a:t>броузером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SzPct val="95238"/>
              <a:buChar char="•"/>
              <a:tabLst>
                <a:tab pos="469265" algn="l"/>
              </a:tabLst>
            </a:pP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взаимодействия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броузером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используется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интерфейс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 i="1">
                <a:solidFill>
                  <a:srgbClr val="202528"/>
                </a:solidFill>
                <a:latin typeface="Arial"/>
                <a:cs typeface="Arial"/>
              </a:rPr>
              <a:t>native</a:t>
            </a:r>
            <a:r>
              <a:rPr dirty="0" sz="1050" spc="40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messaging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marL="469900" marR="240029" indent="-228600">
              <a:lnSpc>
                <a:spcPct val="113500"/>
              </a:lnSpc>
              <a:buSzPct val="95238"/>
              <a:buChar char="•"/>
              <a:tabLst>
                <a:tab pos="469900" algn="l"/>
              </a:tabLst>
            </a:pP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Поэтому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кроме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плагина</a:t>
            </a:r>
            <a:r>
              <a:rPr dirty="0" sz="105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к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броузеру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устанавливается</a:t>
            </a:r>
            <a:r>
              <a:rPr dirty="0" sz="105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программа,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обеспечивающая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интерфейс</a:t>
            </a:r>
            <a:r>
              <a:rPr dirty="0" sz="105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i="1">
                <a:solidFill>
                  <a:srgbClr val="202528"/>
                </a:solidFill>
                <a:latin typeface="Arial"/>
                <a:cs typeface="Arial"/>
              </a:rPr>
              <a:t>native</a:t>
            </a:r>
            <a:r>
              <a:rPr dirty="0" sz="1050" spc="110" i="1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 i="1">
                <a:solidFill>
                  <a:srgbClr val="202528"/>
                </a:solidFill>
                <a:latin typeface="Arial"/>
                <a:cs typeface="Arial"/>
              </a:rPr>
              <a:t>messaging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5"/>
              </a:spcBef>
            </a:pPr>
            <a:endParaRPr sz="1050">
              <a:latin typeface="Arial"/>
              <a:cs typeface="Arial"/>
            </a:endParaRPr>
          </a:p>
          <a:p>
            <a:pPr marL="467359" indent="-226060">
              <a:lnSpc>
                <a:spcPct val="100000"/>
              </a:lnSpc>
              <a:buAutoNum type="arabicPeriod"/>
              <a:tabLst>
                <a:tab pos="467359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Плагин</a:t>
            </a:r>
            <a:r>
              <a:rPr dirty="0" sz="1050" spc="1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2"/>
              </a:rPr>
              <a:t>browserpass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202528"/>
              </a:buClr>
              <a:buFont typeface="Arial"/>
              <a:buAutoNum type="arabicPeriod"/>
            </a:pPr>
            <a:endParaRPr sz="105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Репозиторий:</a:t>
            </a:r>
            <a:r>
              <a:rPr dirty="0" sz="1050" spc="375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u="sng" sz="1050" spc="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2"/>
              </a:rPr>
              <a:t>https://github.com/browserpass/browserpass-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2"/>
              </a:rPr>
              <a:t>extension</a:t>
            </a:r>
            <a:endParaRPr sz="105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Плагин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брoузера</a:t>
            </a:r>
            <a:endParaRPr sz="1050">
              <a:latin typeface="Arial"/>
              <a:cs typeface="Arial"/>
            </a:endParaRPr>
          </a:p>
          <a:p>
            <a:pPr lvl="2" marL="1383665" marR="1565910" indent="-228600">
              <a:lnSpc>
                <a:spcPct val="113500"/>
              </a:lnSpc>
              <a:buSzPct val="95238"/>
              <a:buChar char="▪"/>
              <a:tabLst>
                <a:tab pos="13836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Плагин</a:t>
            </a:r>
            <a:r>
              <a:rPr dirty="0" sz="105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Firefox: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3"/>
              </a:rPr>
              <a:t>https://addons.mozilla.org/en-</a:t>
            </a:r>
            <a:r>
              <a:rPr dirty="0" sz="1050" spc="500">
                <a:solidFill>
                  <a:srgbClr val="0079C0"/>
                </a:solidFill>
                <a:latin typeface="Arial"/>
                <a:cs typeface="Arial"/>
              </a:rPr>
              <a:t>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3"/>
              </a:rPr>
              <a:t>US/firefox/addon/browserpass-</a:t>
            </a:r>
            <a:r>
              <a:rPr dirty="0" u="sng" sz="1050" spc="-2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3"/>
              </a:rPr>
              <a:t>ce/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lvl="2" marL="1383665" indent="-228600">
              <a:lnSpc>
                <a:spcPct val="100000"/>
              </a:lnSpc>
              <a:spcBef>
                <a:spcPts val="170"/>
              </a:spcBef>
              <a:buSzPct val="95238"/>
              <a:buChar char="▪"/>
              <a:tabLst>
                <a:tab pos="13836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Плагин</a:t>
            </a:r>
            <a:r>
              <a:rPr dirty="0" sz="1050" spc="1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endParaRPr sz="1050">
              <a:latin typeface="Arial"/>
              <a:cs typeface="Arial"/>
            </a:endParaRPr>
          </a:p>
          <a:p>
            <a:pPr marL="1383665" marR="5080">
              <a:lnSpc>
                <a:spcPct val="113500"/>
              </a:lnSpc>
            </a:pP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Chrome/Chromium:</a:t>
            </a:r>
            <a:r>
              <a:rPr dirty="0" sz="1050" spc="2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4"/>
              </a:rPr>
              <a:t>https://chrome.google.com/webstore/detail/browserpa</a:t>
            </a:r>
            <a:r>
              <a:rPr dirty="0" sz="1050" spc="500">
                <a:solidFill>
                  <a:srgbClr val="0079C0"/>
                </a:solidFill>
                <a:latin typeface="Arial"/>
                <a:cs typeface="Arial"/>
              </a:rPr>
              <a:t>  </a:t>
            </a:r>
            <a:r>
              <a:rPr dirty="0" u="sng" sz="105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4"/>
              </a:rPr>
              <a:t>ss-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4"/>
              </a:rPr>
              <a:t>ce/naepdomgkenhinolocfifgehidddafch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</a:pPr>
            <a:endParaRPr sz="105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spcBef>
                <a:spcPts val="5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Интерфейс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взаимодействия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броузером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(native</a:t>
            </a:r>
            <a:r>
              <a:rPr dirty="0" sz="10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messaging)</a:t>
            </a:r>
            <a:endParaRPr sz="1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202528"/>
              </a:buClr>
              <a:buFont typeface="Courier New"/>
              <a:buChar char="o"/>
            </a:pPr>
            <a:endParaRPr sz="1050">
              <a:latin typeface="Arial"/>
              <a:cs typeface="Arial"/>
            </a:endParaRPr>
          </a:p>
          <a:p>
            <a:pPr lvl="2" marL="1383665" indent="-228600">
              <a:lnSpc>
                <a:spcPct val="100000"/>
              </a:lnSpc>
              <a:buSzPct val="95238"/>
              <a:buChar char="▪"/>
              <a:tabLst>
                <a:tab pos="1383665" algn="l"/>
              </a:tabLst>
            </a:pP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Репозиторий:</a:t>
            </a:r>
            <a:r>
              <a:rPr dirty="0" sz="1050" spc="375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u="sng" sz="1050" spc="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5"/>
              </a:rPr>
              <a:t>https://github.com/browserpass/browserpass-</a:t>
            </a:r>
            <a:r>
              <a:rPr dirty="0" u="sng" sz="1050" spc="-10">
                <a:solidFill>
                  <a:srgbClr val="0079C0"/>
                </a:solidFill>
                <a:uFill>
                  <a:solidFill>
                    <a:srgbClr val="0079C0"/>
                  </a:solidFill>
                </a:uFill>
                <a:latin typeface="Arial"/>
                <a:cs typeface="Arial"/>
                <a:hlinkClick r:id="rId5"/>
              </a:rPr>
              <a:t>native</a:t>
            </a:r>
            <a:endParaRPr sz="1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360"/>
              </a:spcBef>
              <a:buClr>
                <a:srgbClr val="202528"/>
              </a:buClr>
              <a:buFont typeface="Arial"/>
              <a:buChar char="▪"/>
            </a:pPr>
            <a:endParaRPr sz="1050">
              <a:latin typeface="Arial"/>
              <a:cs typeface="Arial"/>
            </a:endParaRPr>
          </a:p>
          <a:p>
            <a:pPr lvl="2" marL="1383665" indent="-228600">
              <a:lnSpc>
                <a:spcPct val="100000"/>
              </a:lnSpc>
              <a:spcBef>
                <a:spcPts val="5"/>
              </a:spcBef>
              <a:buSzPct val="95238"/>
              <a:buChar char="▪"/>
              <a:tabLst>
                <a:tab pos="13836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Gentoo:</a:t>
            </a:r>
            <a:endParaRPr sz="1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355"/>
              </a:spcBef>
              <a:buClr>
                <a:srgbClr val="202528"/>
              </a:buClr>
              <a:buFont typeface="Arial"/>
              <a:buChar char="▪"/>
            </a:pPr>
            <a:endParaRPr sz="1050">
              <a:latin typeface="Arial"/>
              <a:cs typeface="Arial"/>
            </a:endParaRPr>
          </a:p>
          <a:p>
            <a:pPr lvl="2" marL="1383665" indent="-228600">
              <a:lnSpc>
                <a:spcPct val="100000"/>
              </a:lnSpc>
              <a:buChar char="▪"/>
              <a:tabLst>
                <a:tab pos="13836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emerge</a:t>
            </a:r>
            <a:r>
              <a:rPr dirty="0" sz="1000" spc="2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www-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plugins/browserpass</a:t>
            </a:r>
            <a:endParaRPr sz="1000">
              <a:latin typeface="Arial"/>
              <a:cs typeface="Arial"/>
            </a:endParaRPr>
          </a:p>
          <a:p>
            <a:pPr lvl="2" marL="1383665" indent="-228600">
              <a:lnSpc>
                <a:spcPct val="100000"/>
              </a:lnSpc>
              <a:spcBef>
                <a:spcPts val="170"/>
              </a:spcBef>
              <a:buSzPct val="95238"/>
              <a:buChar char="▪"/>
              <a:tabLst>
                <a:tab pos="13836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Fedora</a:t>
            </a:r>
            <a:endParaRPr sz="1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355"/>
              </a:spcBef>
              <a:buClr>
                <a:srgbClr val="202528"/>
              </a:buClr>
              <a:buFont typeface="Arial"/>
              <a:buChar char="▪"/>
            </a:pPr>
            <a:endParaRPr sz="1050">
              <a:latin typeface="Arial"/>
              <a:cs typeface="Arial"/>
            </a:endParaRPr>
          </a:p>
          <a:p>
            <a:pPr lvl="2" marL="1383665" indent="-228600">
              <a:lnSpc>
                <a:spcPct val="100000"/>
              </a:lnSpc>
              <a:buChar char="▪"/>
              <a:tabLst>
                <a:tab pos="1383665" algn="l"/>
              </a:tabLst>
            </a:pP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dnf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copr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enable</a:t>
            </a:r>
            <a:r>
              <a:rPr dirty="0" sz="100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maximbaz/browserpass</a:t>
            </a:r>
            <a:endParaRPr sz="1000">
              <a:latin typeface="Arial"/>
              <a:cs typeface="Arial"/>
            </a:endParaRPr>
          </a:p>
          <a:p>
            <a:pPr lvl="2" marL="1383665" indent="-228600">
              <a:lnSpc>
                <a:spcPct val="100000"/>
              </a:lnSpc>
              <a:spcBef>
                <a:spcPts val="165"/>
              </a:spcBef>
              <a:buChar char="▪"/>
              <a:tabLst>
                <a:tab pos="1383665" algn="l"/>
              </a:tabLst>
            </a:pP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dnf</a:t>
            </a:r>
            <a:r>
              <a:rPr dirty="0" sz="100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install</a:t>
            </a:r>
            <a:r>
              <a:rPr dirty="0" sz="100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browserpass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350">
                <a:solidFill>
                  <a:srgbClr val="202528"/>
                </a:solidFill>
                <a:latin typeface="Arial"/>
                <a:cs typeface="Arial"/>
              </a:rPr>
              <a:t>Сохранение</a:t>
            </a:r>
            <a:r>
              <a:rPr dirty="0" sz="1350" spc="3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02528"/>
                </a:solidFill>
                <a:latin typeface="Arial"/>
                <a:cs typeface="Arial"/>
              </a:rPr>
              <a:t>пароля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Arial"/>
              <a:cs typeface="Arial"/>
            </a:endParaRPr>
          </a:p>
          <a:p>
            <a:pPr marL="467359" indent="-226060">
              <a:lnSpc>
                <a:spcPct val="100000"/>
              </a:lnSpc>
              <a:buAutoNum type="arabicPeriod"/>
              <a:tabLst>
                <a:tab pos="467359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Добавить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новый</a:t>
            </a:r>
            <a:r>
              <a:rPr dirty="0" sz="105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пароль</a:t>
            </a:r>
            <a:endParaRPr sz="105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Выполните:</a:t>
            </a:r>
            <a:endParaRPr sz="1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202528"/>
              </a:buClr>
              <a:buFont typeface="Courier New"/>
              <a:buChar char="o"/>
            </a:pPr>
            <a:endParaRPr sz="105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buFont typeface="Courier New"/>
              <a:buChar char="o"/>
              <a:tabLst>
                <a:tab pos="9264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pass</a:t>
            </a:r>
            <a:r>
              <a:rPr dirty="0" sz="100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insert</a:t>
            </a:r>
            <a:r>
              <a:rPr dirty="0" sz="100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[OPTIONAL</a:t>
            </a:r>
            <a:r>
              <a:rPr dirty="0" sz="100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DIR]/[FILENAME]</a:t>
            </a:r>
            <a:endParaRPr sz="10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45"/>
              </a:spcBef>
              <a:buClr>
                <a:srgbClr val="202528"/>
              </a:buClr>
              <a:buFont typeface="Courier New"/>
              <a:buChar char="o"/>
            </a:pPr>
            <a:endParaRPr sz="1000">
              <a:latin typeface="Arial"/>
              <a:cs typeface="Arial"/>
            </a:endParaRPr>
          </a:p>
          <a:p>
            <a:pPr lvl="2" marL="1383665" marR="148590" indent="-228600">
              <a:lnSpc>
                <a:spcPct val="113500"/>
              </a:lnSpc>
              <a:buClr>
                <a:srgbClr val="202528"/>
              </a:buClr>
              <a:buSzPct val="111111"/>
              <a:buChar char="▪"/>
              <a:tabLst>
                <a:tab pos="1383665" algn="l"/>
              </a:tabLst>
            </a:pPr>
            <a:r>
              <a:rPr dirty="0" sz="900" spc="-25">
                <a:solidFill>
                  <a:srgbClr val="E73E8C"/>
                </a:solidFill>
                <a:latin typeface="Arial"/>
                <a:cs typeface="Arial"/>
              </a:rPr>
              <a:t>OPTIONAL</a:t>
            </a:r>
            <a:r>
              <a:rPr dirty="0" sz="900" spc="10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E73E8C"/>
                </a:solidFill>
                <a:latin typeface="Arial"/>
                <a:cs typeface="Arial"/>
              </a:rPr>
              <a:t>DIR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: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необязательное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имя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каталога,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определяющее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файловую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структуру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вашего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хранилища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паролей;</a:t>
            </a:r>
            <a:endParaRPr sz="1050">
              <a:latin typeface="Arial"/>
              <a:cs typeface="Arial"/>
            </a:endParaRPr>
          </a:p>
          <a:p>
            <a:pPr lvl="2" marL="1383665" marR="393065" indent="-228600">
              <a:lnSpc>
                <a:spcPct val="113500"/>
              </a:lnSpc>
              <a:buClr>
                <a:srgbClr val="202528"/>
              </a:buClr>
              <a:buSzPct val="111111"/>
              <a:buChar char="▪"/>
              <a:tabLst>
                <a:tab pos="1383665" algn="l"/>
              </a:tabLst>
            </a:pPr>
            <a:r>
              <a:rPr dirty="0" sz="900" spc="-35">
                <a:solidFill>
                  <a:srgbClr val="E73E8C"/>
                </a:solidFill>
                <a:latin typeface="Arial"/>
                <a:cs typeface="Arial"/>
              </a:rPr>
              <a:t>FILENAME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: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имя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файла,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который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будет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использоваться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хранения пароля.</a:t>
            </a:r>
            <a:endParaRPr sz="105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360"/>
              </a:spcBef>
              <a:buClr>
                <a:srgbClr val="202528"/>
              </a:buClr>
              <a:buFont typeface="Arial"/>
              <a:buChar char="▪"/>
            </a:pPr>
            <a:endParaRPr sz="105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Отобразите</a:t>
            </a:r>
            <a:r>
              <a:rPr dirty="0" sz="105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пароль</a:t>
            </a:r>
            <a:r>
              <a:rPr dirty="0" sz="105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указанного</a:t>
            </a:r>
            <a:r>
              <a:rPr dirty="0" sz="1050" spc="1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имени</a:t>
            </a:r>
            <a:r>
              <a:rPr dirty="0" sz="105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файла:</a:t>
            </a:r>
            <a:endParaRPr sz="105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360"/>
              </a:spcBef>
              <a:buClr>
                <a:srgbClr val="202528"/>
              </a:buClr>
              <a:buFont typeface="Courier New"/>
              <a:buChar char="o"/>
            </a:pPr>
            <a:endParaRPr sz="105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buFont typeface="Courier New"/>
              <a:buChar char="o"/>
              <a:tabLst>
                <a:tab pos="9264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pass</a:t>
            </a:r>
            <a:r>
              <a:rPr dirty="0" sz="1000" spc="-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[OPTIONAL</a:t>
            </a:r>
            <a:r>
              <a:rPr dirty="0" sz="100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DIR]/[FILENAME]</a:t>
            </a:r>
            <a:endParaRPr sz="100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spcBef>
                <a:spcPts val="165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Замените</a:t>
            </a:r>
            <a:r>
              <a:rPr dirty="0" sz="1050" spc="1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существующий</a:t>
            </a:r>
            <a:r>
              <a:rPr dirty="0" sz="1050" spc="1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пароль: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7390" y="700225"/>
            <a:ext cx="6035040" cy="8971915"/>
          </a:xfrm>
          <a:prstGeom prst="rect">
            <a:avLst/>
          </a:prstGeom>
        </p:spPr>
        <p:txBody>
          <a:bodyPr wrap="square" lIns="0" tIns="28575" rIns="0" bIns="0" rtlCol="0" vert="horz">
            <a:spAutoFit/>
          </a:bodyPr>
          <a:lstStyle/>
          <a:p>
            <a:pPr marL="926465" indent="-227965">
              <a:lnSpc>
                <a:spcPct val="100000"/>
              </a:lnSpc>
              <a:spcBef>
                <a:spcPts val="225"/>
              </a:spcBef>
              <a:buFont typeface="Courier New"/>
              <a:buChar char="o"/>
              <a:tabLst>
                <a:tab pos="9264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pass</a:t>
            </a:r>
            <a:r>
              <a:rPr dirty="0" sz="100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generate</a:t>
            </a:r>
            <a:r>
              <a:rPr dirty="0" sz="100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--in-place</a:t>
            </a:r>
            <a:r>
              <a:rPr dirty="0" sz="100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FILENAME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4"/>
              </a:spcBef>
            </a:pPr>
            <a:r>
              <a:rPr dirty="0" sz="1650" spc="-75">
                <a:solidFill>
                  <a:srgbClr val="282C3D"/>
                </a:solidFill>
                <a:latin typeface="Arial Black"/>
                <a:cs typeface="Arial Black"/>
              </a:rPr>
              <a:t>Управление</a:t>
            </a:r>
            <a:r>
              <a:rPr dirty="0" sz="1650" spc="-65">
                <a:solidFill>
                  <a:srgbClr val="282C3D"/>
                </a:solidFill>
                <a:latin typeface="Arial Black"/>
                <a:cs typeface="Arial Black"/>
              </a:rPr>
              <a:t> </a:t>
            </a:r>
            <a:r>
              <a:rPr dirty="0" sz="1650" spc="-100">
                <a:solidFill>
                  <a:srgbClr val="282C3D"/>
                </a:solidFill>
                <a:latin typeface="Arial Black"/>
                <a:cs typeface="Arial Black"/>
              </a:rPr>
              <a:t>файлами</a:t>
            </a:r>
            <a:r>
              <a:rPr dirty="0" sz="1650" spc="-65">
                <a:solidFill>
                  <a:srgbClr val="282C3D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282C3D"/>
                </a:solidFill>
                <a:latin typeface="Arial Black"/>
                <a:cs typeface="Arial Black"/>
              </a:rPr>
              <a:t>конфигурации</a:t>
            </a:r>
            <a:endParaRPr sz="165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  <a:spcBef>
                <a:spcPts val="1465"/>
              </a:spcBef>
            </a:pPr>
            <a:r>
              <a:rPr dirty="0" sz="1650" spc="-85">
                <a:solidFill>
                  <a:srgbClr val="282C3D"/>
                </a:solidFill>
                <a:latin typeface="Arial Black"/>
                <a:cs typeface="Arial Black"/>
              </a:rPr>
              <a:t>Дополнительное</a:t>
            </a:r>
            <a:r>
              <a:rPr dirty="0" sz="1650" spc="-15">
                <a:solidFill>
                  <a:srgbClr val="282C3D"/>
                </a:solidFill>
                <a:latin typeface="Arial Black"/>
                <a:cs typeface="Arial Black"/>
              </a:rPr>
              <a:t> </a:t>
            </a:r>
            <a:r>
              <a:rPr dirty="0" sz="1650" spc="-80">
                <a:solidFill>
                  <a:srgbClr val="282C3D"/>
                </a:solidFill>
                <a:latin typeface="Arial Black"/>
                <a:cs typeface="Arial Black"/>
              </a:rPr>
              <a:t>программное</a:t>
            </a:r>
            <a:r>
              <a:rPr dirty="0" sz="1650" spc="-15">
                <a:solidFill>
                  <a:srgbClr val="282C3D"/>
                </a:solidFill>
                <a:latin typeface="Arial Black"/>
                <a:cs typeface="Arial Black"/>
              </a:rPr>
              <a:t> </a:t>
            </a:r>
            <a:r>
              <a:rPr dirty="0" sz="1650" spc="-10">
                <a:solidFill>
                  <a:srgbClr val="282C3D"/>
                </a:solidFill>
                <a:latin typeface="Arial Black"/>
                <a:cs typeface="Arial Black"/>
              </a:rPr>
              <a:t>обеспечение</a:t>
            </a:r>
            <a:endParaRPr sz="1650">
              <a:latin typeface="Arial Black"/>
              <a:cs typeface="Arial Black"/>
            </a:endParaRPr>
          </a:p>
          <a:p>
            <a:pPr marL="469265" indent="-227965">
              <a:lnSpc>
                <a:spcPct val="100000"/>
              </a:lnSpc>
              <a:spcBef>
                <a:spcPts val="1430"/>
              </a:spcBef>
              <a:buSzPct val="95238"/>
              <a:buChar char="•"/>
              <a:tabLst>
                <a:tab pos="469265" algn="l"/>
              </a:tabLst>
            </a:pP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Установите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дополнительное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программное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обеспечение: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sudo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dnf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y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install</a:t>
            </a:r>
            <a:r>
              <a:rPr dirty="0" sz="100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40">
                <a:solidFill>
                  <a:srgbClr val="202528"/>
                </a:solidFill>
                <a:latin typeface="Arial"/>
                <a:cs typeface="Arial"/>
              </a:rPr>
              <a:t>\</a:t>
            </a:r>
            <a:endParaRPr sz="1000">
              <a:latin typeface="Arial"/>
              <a:cs typeface="Arial"/>
            </a:endParaRPr>
          </a:p>
          <a:p>
            <a:pPr marL="766445" indent="-525145">
              <a:lnSpc>
                <a:spcPct val="100000"/>
              </a:lnSpc>
              <a:spcBef>
                <a:spcPts val="165"/>
              </a:spcBef>
              <a:buChar char="•"/>
              <a:tabLst>
                <a:tab pos="76644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dunst</a:t>
            </a:r>
            <a:r>
              <a:rPr dirty="0" sz="1000" spc="2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40">
                <a:solidFill>
                  <a:srgbClr val="202528"/>
                </a:solidFill>
                <a:latin typeface="Arial"/>
                <a:cs typeface="Arial"/>
              </a:rPr>
              <a:t>\</a:t>
            </a:r>
            <a:endParaRPr sz="1000">
              <a:latin typeface="Arial"/>
              <a:cs typeface="Arial"/>
            </a:endParaRPr>
          </a:p>
          <a:p>
            <a:pPr marL="766445" indent="-525145">
              <a:lnSpc>
                <a:spcPct val="100000"/>
              </a:lnSpc>
              <a:spcBef>
                <a:spcPts val="160"/>
              </a:spcBef>
              <a:buChar char="•"/>
              <a:tabLst>
                <a:tab pos="76644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fontawesome-fonts</a:t>
            </a:r>
            <a:r>
              <a:rPr dirty="0" sz="1000" spc="145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00" spc="40">
                <a:solidFill>
                  <a:srgbClr val="202528"/>
                </a:solidFill>
                <a:latin typeface="Arial"/>
                <a:cs typeface="Arial"/>
              </a:rPr>
              <a:t>\</a:t>
            </a:r>
            <a:endParaRPr sz="1000">
              <a:latin typeface="Arial"/>
              <a:cs typeface="Arial"/>
            </a:endParaRPr>
          </a:p>
          <a:p>
            <a:pPr marL="766445" indent="-525145">
              <a:lnSpc>
                <a:spcPct val="100000"/>
              </a:lnSpc>
              <a:spcBef>
                <a:spcPts val="165"/>
              </a:spcBef>
              <a:buChar char="•"/>
              <a:tabLst>
                <a:tab pos="76644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powerline-fonts</a:t>
            </a:r>
            <a:r>
              <a:rPr dirty="0" sz="1000" spc="4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40">
                <a:solidFill>
                  <a:srgbClr val="202528"/>
                </a:solidFill>
                <a:latin typeface="Arial"/>
                <a:cs typeface="Arial"/>
              </a:rPr>
              <a:t>\</a:t>
            </a:r>
            <a:endParaRPr sz="1000">
              <a:latin typeface="Arial"/>
              <a:cs typeface="Arial"/>
            </a:endParaRPr>
          </a:p>
          <a:p>
            <a:pPr marL="766445" indent="-525145">
              <a:lnSpc>
                <a:spcPct val="100000"/>
              </a:lnSpc>
              <a:spcBef>
                <a:spcPts val="160"/>
              </a:spcBef>
              <a:buChar char="•"/>
              <a:tabLst>
                <a:tab pos="76644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light</a:t>
            </a:r>
            <a:r>
              <a:rPr dirty="0" sz="100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40">
                <a:solidFill>
                  <a:srgbClr val="202528"/>
                </a:solidFill>
                <a:latin typeface="Arial"/>
                <a:cs typeface="Arial"/>
              </a:rPr>
              <a:t>\</a:t>
            </a:r>
            <a:endParaRPr sz="1000">
              <a:latin typeface="Arial"/>
              <a:cs typeface="Arial"/>
            </a:endParaRPr>
          </a:p>
          <a:p>
            <a:pPr marL="766445" indent="-525145">
              <a:lnSpc>
                <a:spcPct val="100000"/>
              </a:lnSpc>
              <a:spcBef>
                <a:spcPts val="160"/>
              </a:spcBef>
              <a:buChar char="•"/>
              <a:tabLst>
                <a:tab pos="76644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fuzzel</a:t>
            </a:r>
            <a:r>
              <a:rPr dirty="0" sz="100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40">
                <a:solidFill>
                  <a:srgbClr val="202528"/>
                </a:solidFill>
                <a:latin typeface="Arial"/>
                <a:cs typeface="Arial"/>
              </a:rPr>
              <a:t>\</a:t>
            </a:r>
            <a:endParaRPr sz="1000">
              <a:latin typeface="Arial"/>
              <a:cs typeface="Arial"/>
            </a:endParaRPr>
          </a:p>
          <a:p>
            <a:pPr marL="766445" indent="-525145">
              <a:lnSpc>
                <a:spcPct val="100000"/>
              </a:lnSpc>
              <a:spcBef>
                <a:spcPts val="165"/>
              </a:spcBef>
              <a:buChar char="•"/>
              <a:tabLst>
                <a:tab pos="76644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swaylock</a:t>
            </a:r>
            <a:r>
              <a:rPr dirty="0" sz="100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40">
                <a:solidFill>
                  <a:srgbClr val="202528"/>
                </a:solidFill>
                <a:latin typeface="Arial"/>
                <a:cs typeface="Arial"/>
              </a:rPr>
              <a:t>\</a:t>
            </a:r>
            <a:endParaRPr sz="1000">
              <a:latin typeface="Arial"/>
              <a:cs typeface="Arial"/>
            </a:endParaRPr>
          </a:p>
          <a:p>
            <a:pPr marL="766445" indent="-525145">
              <a:lnSpc>
                <a:spcPct val="100000"/>
              </a:lnSpc>
              <a:spcBef>
                <a:spcPts val="160"/>
              </a:spcBef>
              <a:buChar char="•"/>
              <a:tabLst>
                <a:tab pos="76644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kitty</a:t>
            </a:r>
            <a:r>
              <a:rPr dirty="0" sz="1000" spc="1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40">
                <a:solidFill>
                  <a:srgbClr val="202528"/>
                </a:solidFill>
                <a:latin typeface="Arial"/>
                <a:cs typeface="Arial"/>
              </a:rPr>
              <a:t>\</a:t>
            </a:r>
            <a:endParaRPr sz="1000">
              <a:latin typeface="Arial"/>
              <a:cs typeface="Arial"/>
            </a:endParaRPr>
          </a:p>
          <a:p>
            <a:pPr marL="766445" indent="-525145">
              <a:lnSpc>
                <a:spcPct val="100000"/>
              </a:lnSpc>
              <a:spcBef>
                <a:spcPts val="160"/>
              </a:spcBef>
              <a:buChar char="•"/>
              <a:tabLst>
                <a:tab pos="76644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waybar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swaybg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40">
                <a:solidFill>
                  <a:srgbClr val="202528"/>
                </a:solidFill>
                <a:latin typeface="Arial"/>
                <a:cs typeface="Arial"/>
              </a:rPr>
              <a:t>\</a:t>
            </a:r>
            <a:endParaRPr sz="1000">
              <a:latin typeface="Arial"/>
              <a:cs typeface="Arial"/>
            </a:endParaRPr>
          </a:p>
          <a:p>
            <a:pPr marL="766445" indent="-525145">
              <a:lnSpc>
                <a:spcPct val="100000"/>
              </a:lnSpc>
              <a:spcBef>
                <a:spcPts val="165"/>
              </a:spcBef>
              <a:buChar char="•"/>
              <a:tabLst>
                <a:tab pos="76644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wl-clipboard</a:t>
            </a:r>
            <a:r>
              <a:rPr dirty="0" sz="1000" spc="2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40">
                <a:solidFill>
                  <a:srgbClr val="202528"/>
                </a:solidFill>
                <a:latin typeface="Arial"/>
                <a:cs typeface="Arial"/>
              </a:rPr>
              <a:t>\</a:t>
            </a:r>
            <a:endParaRPr sz="1000">
              <a:latin typeface="Arial"/>
              <a:cs typeface="Arial"/>
            </a:endParaRPr>
          </a:p>
          <a:p>
            <a:pPr marL="766445" indent="-525145">
              <a:lnSpc>
                <a:spcPct val="100000"/>
              </a:lnSpc>
              <a:spcBef>
                <a:spcPts val="160"/>
              </a:spcBef>
              <a:buChar char="•"/>
              <a:tabLst>
                <a:tab pos="76644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mpv</a:t>
            </a:r>
            <a:r>
              <a:rPr dirty="0" sz="1000" spc="1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40">
                <a:solidFill>
                  <a:srgbClr val="202528"/>
                </a:solidFill>
                <a:latin typeface="Arial"/>
                <a:cs typeface="Arial"/>
              </a:rPr>
              <a:t>\</a:t>
            </a:r>
            <a:endParaRPr sz="1000">
              <a:latin typeface="Arial"/>
              <a:cs typeface="Arial"/>
            </a:endParaRPr>
          </a:p>
          <a:p>
            <a:pPr marL="766445" indent="-525145">
              <a:lnSpc>
                <a:spcPct val="100000"/>
              </a:lnSpc>
              <a:spcBef>
                <a:spcPts val="160"/>
              </a:spcBef>
              <a:buChar char="•"/>
              <a:tabLst>
                <a:tab pos="76644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grim</a:t>
            </a:r>
            <a:r>
              <a:rPr dirty="0" sz="1000" spc="1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40">
                <a:solidFill>
                  <a:srgbClr val="202528"/>
                </a:solidFill>
                <a:latin typeface="Arial"/>
                <a:cs typeface="Arial"/>
              </a:rPr>
              <a:t>\</a:t>
            </a:r>
            <a:endParaRPr sz="1000">
              <a:latin typeface="Arial"/>
              <a:cs typeface="Arial"/>
            </a:endParaRPr>
          </a:p>
          <a:p>
            <a:pPr marL="766445" indent="-525145">
              <a:lnSpc>
                <a:spcPct val="100000"/>
              </a:lnSpc>
              <a:spcBef>
                <a:spcPts val="165"/>
              </a:spcBef>
              <a:buChar char="•"/>
              <a:tabLst>
                <a:tab pos="766445" algn="l"/>
              </a:tabLst>
            </a:pP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slurp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SzPct val="95238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Установите</a:t>
            </a:r>
            <a:r>
              <a:rPr dirty="0" sz="1050" spc="20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шрифты: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5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5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sudo</a:t>
            </a:r>
            <a:r>
              <a:rPr dirty="0" sz="100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dnf</a:t>
            </a:r>
            <a:r>
              <a:rPr dirty="0" sz="100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copr</a:t>
            </a:r>
            <a:r>
              <a:rPr dirty="0" sz="100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enable</a:t>
            </a:r>
            <a:r>
              <a:rPr dirty="0" sz="100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peterwu/iosevka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0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sudo</a:t>
            </a:r>
            <a:r>
              <a:rPr dirty="0" sz="100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dnf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search</a:t>
            </a:r>
            <a:r>
              <a:rPr dirty="0" sz="100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iosevka</a:t>
            </a:r>
            <a:endParaRPr sz="1000">
              <a:latin typeface="Arial"/>
              <a:cs typeface="Arial"/>
            </a:endParaRPr>
          </a:p>
          <a:p>
            <a:pPr marL="469900" marR="5080" indent="-228600">
              <a:lnSpc>
                <a:spcPct val="113500"/>
              </a:lnSpc>
              <a:buChar char="•"/>
              <a:tabLst>
                <a:tab pos="469900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sudo</a:t>
            </a:r>
            <a:r>
              <a:rPr dirty="0" sz="1000" spc="1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dnf</a:t>
            </a:r>
            <a:r>
              <a:rPr dirty="0" sz="1000" spc="1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install</a:t>
            </a:r>
            <a:r>
              <a:rPr dirty="0" sz="1000" spc="1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iosevka-fonts</a:t>
            </a:r>
            <a:r>
              <a:rPr dirty="0" sz="1000" spc="1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iosevka-aile-fonts</a:t>
            </a:r>
            <a:r>
              <a:rPr dirty="0" sz="1000" spc="1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iosevka-curly-fonts</a:t>
            </a:r>
            <a:r>
              <a:rPr dirty="0" sz="1000" spc="1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iosevka-slab-fonts</a:t>
            </a:r>
            <a:r>
              <a:rPr dirty="0" sz="1000" spc="1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iosevka-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etoile-fonts</a:t>
            </a:r>
            <a:r>
              <a:rPr dirty="0" sz="1000" spc="165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iosevka-term-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fonts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350" spc="-10">
                <a:solidFill>
                  <a:srgbClr val="202528"/>
                </a:solidFill>
                <a:latin typeface="Arial"/>
                <a:cs typeface="Arial"/>
              </a:rPr>
              <a:t>Установка</a:t>
            </a:r>
            <a:endParaRPr sz="1350">
              <a:latin typeface="Arial"/>
              <a:cs typeface="Arial"/>
            </a:endParaRPr>
          </a:p>
          <a:p>
            <a:pPr marL="469900" marR="635000" indent="-228600">
              <a:lnSpc>
                <a:spcPct val="113500"/>
              </a:lnSpc>
              <a:spcBef>
                <a:spcPts val="1430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Установка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бинарного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файла.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Скрипт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определяет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архитектуру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процессора</a:t>
            </a:r>
            <a:r>
              <a:rPr dirty="0" sz="1050" spc="11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5">
                <a:solidFill>
                  <a:srgbClr val="202528"/>
                </a:solidFill>
                <a:latin typeface="Arial"/>
                <a:cs typeface="Arial"/>
              </a:rPr>
              <a:t>и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операционную</a:t>
            </a:r>
            <a:r>
              <a:rPr dirty="0" sz="1050" spc="2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систему</a:t>
            </a:r>
            <a:r>
              <a:rPr dirty="0" sz="1050" spc="2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229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скачивает</a:t>
            </a:r>
            <a:r>
              <a:rPr dirty="0" sz="1050" spc="2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необходимый</a:t>
            </a:r>
            <a:r>
              <a:rPr dirty="0" sz="1050" spc="229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файл:</a:t>
            </a:r>
            <a:endParaRPr sz="105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-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помощью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 spc="-20">
                <a:solidFill>
                  <a:srgbClr val="E73E8C"/>
                </a:solidFill>
                <a:latin typeface="Arial"/>
                <a:cs typeface="Arial"/>
              </a:rPr>
              <a:t>wget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spcBef>
                <a:spcPts val="165"/>
              </a:spcBef>
              <a:buFont typeface="Courier New"/>
              <a:buChar char="o"/>
              <a:tabLst>
                <a:tab pos="9264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sh</a:t>
            </a:r>
            <a:r>
              <a:rPr dirty="0" sz="100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</a:t>
            </a:r>
            <a:r>
              <a:rPr dirty="0" sz="100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"$(wget</a:t>
            </a:r>
            <a:r>
              <a:rPr dirty="0" sz="100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qO-</a:t>
            </a:r>
            <a:r>
              <a:rPr dirty="0" sz="100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chezmoi.io/get)"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350" spc="20">
                <a:solidFill>
                  <a:srgbClr val="202528"/>
                </a:solidFill>
                <a:latin typeface="Arial"/>
                <a:cs typeface="Arial"/>
              </a:rPr>
              <a:t>Создание</a:t>
            </a:r>
            <a:r>
              <a:rPr dirty="0" sz="13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20">
                <a:solidFill>
                  <a:srgbClr val="202528"/>
                </a:solidFill>
                <a:latin typeface="Arial"/>
                <a:cs typeface="Arial"/>
              </a:rPr>
              <a:t>собственного </a:t>
            </a:r>
            <a:r>
              <a:rPr dirty="0" sz="1350" spc="55">
                <a:solidFill>
                  <a:srgbClr val="202528"/>
                </a:solidFill>
                <a:latin typeface="Arial"/>
                <a:cs typeface="Arial"/>
              </a:rPr>
              <a:t>репозитория</a:t>
            </a:r>
            <a:r>
              <a:rPr dirty="0" sz="1350" spc="1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20">
                <a:solidFill>
                  <a:srgbClr val="202528"/>
                </a:solidFill>
                <a:latin typeface="Arial"/>
                <a:cs typeface="Arial"/>
              </a:rPr>
              <a:t>с </a:t>
            </a:r>
            <a:r>
              <a:rPr dirty="0" sz="1350" spc="80">
                <a:solidFill>
                  <a:srgbClr val="202528"/>
                </a:solidFill>
                <a:latin typeface="Arial"/>
                <a:cs typeface="Arial"/>
              </a:rPr>
              <a:t>помощью</a:t>
            </a:r>
            <a:r>
              <a:rPr dirty="0" sz="13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02528"/>
                </a:solidFill>
                <a:latin typeface="Arial"/>
                <a:cs typeface="Arial"/>
              </a:rPr>
              <a:t>утилит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SzPct val="95238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Будем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использовать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утилиты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командной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строки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работы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github.</a:t>
            </a: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70"/>
              </a:spcBef>
              <a:buSzPct val="95238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Создадим</a:t>
            </a:r>
            <a:r>
              <a:rPr dirty="0" sz="105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свой</a:t>
            </a:r>
            <a:r>
              <a:rPr dirty="0" sz="105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репозиторий</a:t>
            </a:r>
            <a:r>
              <a:rPr dirty="0" sz="1050" spc="1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для</a:t>
            </a:r>
            <a:r>
              <a:rPr dirty="0" sz="105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конфигурационных</a:t>
            </a:r>
            <a:r>
              <a:rPr dirty="0" sz="105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файлов</a:t>
            </a:r>
            <a:r>
              <a:rPr dirty="0" sz="1050" spc="1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05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основе</a:t>
            </a:r>
            <a:r>
              <a:rPr dirty="0" sz="105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шаблона:</a:t>
            </a:r>
            <a:endParaRPr sz="10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60"/>
              </a:spcBef>
              <a:buClr>
                <a:srgbClr val="202528"/>
              </a:buClr>
              <a:buFont typeface="Arial"/>
              <a:buChar char="•"/>
            </a:pPr>
            <a:endParaRPr sz="1050">
              <a:latin typeface="Arial"/>
              <a:cs typeface="Arial"/>
            </a:endParaRPr>
          </a:p>
          <a:p>
            <a:pPr marL="469900">
              <a:lnSpc>
                <a:spcPct val="100000"/>
              </a:lnSpc>
            </a:pP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gh</a:t>
            </a:r>
            <a:r>
              <a:rPr dirty="0" sz="1000" spc="2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repo</a:t>
            </a:r>
            <a:r>
              <a:rPr dirty="0" sz="1000" spc="2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create</a:t>
            </a:r>
            <a:r>
              <a:rPr dirty="0" sz="1000" spc="25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dotfiles</a:t>
            </a:r>
            <a:r>
              <a:rPr dirty="0" sz="1000" spc="2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--template="yamadharma/dotfiles-template"</a:t>
            </a:r>
            <a:r>
              <a:rPr dirty="0" sz="1000" spc="2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10">
                <a:solidFill>
                  <a:srgbClr val="202528"/>
                </a:solidFill>
                <a:latin typeface="Arial"/>
                <a:cs typeface="Arial"/>
              </a:rPr>
              <a:t>--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private</a:t>
            </a: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1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350" spc="50">
                <a:solidFill>
                  <a:srgbClr val="202528"/>
                </a:solidFill>
                <a:latin typeface="Arial"/>
                <a:cs typeface="Arial"/>
              </a:rPr>
              <a:t>Подключение</a:t>
            </a:r>
            <a:r>
              <a:rPr dirty="0" sz="13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55">
                <a:solidFill>
                  <a:srgbClr val="202528"/>
                </a:solidFill>
                <a:latin typeface="Arial"/>
                <a:cs typeface="Arial"/>
              </a:rPr>
              <a:t>репозитория</a:t>
            </a:r>
            <a:r>
              <a:rPr dirty="0" sz="13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110">
                <a:solidFill>
                  <a:srgbClr val="202528"/>
                </a:solidFill>
                <a:latin typeface="Arial"/>
                <a:cs typeface="Arial"/>
              </a:rPr>
              <a:t>к</a:t>
            </a:r>
            <a:r>
              <a:rPr dirty="0" sz="13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02528"/>
                </a:solidFill>
                <a:latin typeface="Arial"/>
                <a:cs typeface="Arial"/>
              </a:rPr>
              <a:t>своей</a:t>
            </a:r>
            <a:r>
              <a:rPr dirty="0" sz="13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-10">
                <a:solidFill>
                  <a:srgbClr val="202528"/>
                </a:solidFill>
                <a:latin typeface="Arial"/>
                <a:cs typeface="Arial"/>
              </a:rPr>
              <a:t>системе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SzPct val="95238"/>
              <a:buChar char="•"/>
              <a:tabLst>
                <a:tab pos="469265" algn="l"/>
              </a:tabLst>
            </a:pP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Инициализируйте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 spc="20">
                <a:solidFill>
                  <a:srgbClr val="E73E8C"/>
                </a:solidFill>
                <a:latin typeface="Arial"/>
                <a:cs typeface="Arial"/>
              </a:rPr>
              <a:t>chezmoi</a:t>
            </a:r>
            <a:r>
              <a:rPr dirty="0" sz="900" spc="6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вашим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репозиторием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dotfiles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4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init</a:t>
            </a:r>
            <a:r>
              <a:rPr dirty="0" sz="1000" spc="4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  <a:hlinkClick r:id="rId2"/>
              </a:rPr>
              <a:t>git@github.com:&lt;username&gt;/dotfiles.git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SzPct val="95238"/>
              <a:buChar char="•"/>
              <a:tabLst>
                <a:tab pos="469265" algn="l"/>
              </a:tabLst>
            </a:pP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Проверьте,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какие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внесёт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 spc="20">
                <a:solidFill>
                  <a:srgbClr val="E73E8C"/>
                </a:solidFill>
                <a:latin typeface="Arial"/>
                <a:cs typeface="Arial"/>
              </a:rPr>
              <a:t>chezmoi</a:t>
            </a:r>
            <a:r>
              <a:rPr dirty="0" sz="900" spc="8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домашний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каталог,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запустив:</a:t>
            </a: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1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diff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SzPct val="95238"/>
              <a:buChar char="•"/>
              <a:tabLst>
                <a:tab pos="469265" algn="l"/>
              </a:tabLst>
            </a:pP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Если</a:t>
            </a:r>
            <a:r>
              <a:rPr dirty="0" sz="1050" spc="1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вас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устраивают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изменения,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внесённые</a:t>
            </a:r>
            <a:r>
              <a:rPr dirty="0" sz="1050" spc="1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chezmoi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,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запустите:</a:t>
            </a: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70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1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apply</a:t>
            </a:r>
            <a:r>
              <a:rPr dirty="0" sz="1000" spc="1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v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350" spc="20">
                <a:solidFill>
                  <a:srgbClr val="202528"/>
                </a:solidFill>
                <a:latin typeface="Arial"/>
                <a:cs typeface="Arial"/>
              </a:rPr>
              <a:t>Использование</a:t>
            </a:r>
            <a:r>
              <a:rPr dirty="0" sz="13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2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3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3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50">
                <a:solidFill>
                  <a:srgbClr val="202528"/>
                </a:solidFill>
                <a:latin typeface="Arial"/>
                <a:cs typeface="Arial"/>
              </a:rPr>
              <a:t>нескольких</a:t>
            </a:r>
            <a:r>
              <a:rPr dirty="0" sz="13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45">
                <a:solidFill>
                  <a:srgbClr val="202528"/>
                </a:solidFill>
                <a:latin typeface="Arial"/>
                <a:cs typeface="Arial"/>
              </a:rPr>
              <a:t>машинах</a:t>
            </a:r>
            <a:endParaRPr sz="1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7390" y="694369"/>
            <a:ext cx="6034405" cy="9271635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469265" indent="-227965">
              <a:lnSpc>
                <a:spcPct val="100000"/>
              </a:lnSpc>
              <a:spcBef>
                <a:spcPts val="275"/>
              </a:spcBef>
              <a:buSzPct val="95238"/>
              <a:buChar char="•"/>
              <a:tabLst>
                <a:tab pos="469265" algn="l"/>
              </a:tabLst>
            </a:pP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На 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второй</a:t>
            </a:r>
            <a:r>
              <a:rPr dirty="0" sz="10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машине</a:t>
            </a:r>
            <a:r>
              <a:rPr dirty="0" sz="10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инициализируйте </a:t>
            </a:r>
            <a:r>
              <a:rPr dirty="0" sz="900" spc="20">
                <a:solidFill>
                  <a:srgbClr val="E73E8C"/>
                </a:solidFill>
                <a:latin typeface="Arial"/>
                <a:cs typeface="Arial"/>
              </a:rPr>
              <a:t>chezmoi</a:t>
            </a:r>
            <a:r>
              <a:rPr dirty="0" sz="900" spc="7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с 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вашим</a:t>
            </a:r>
            <a:r>
              <a:rPr dirty="0" sz="10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репозиторием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dotfiles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:</a:t>
            </a: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220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init</a:t>
            </a:r>
            <a:r>
              <a:rPr dirty="0" sz="1000" spc="220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https://github.com/&lt;username&gt;/dotfiles.git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SzPct val="95238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Или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через</a:t>
            </a:r>
            <a:r>
              <a:rPr dirty="0" sz="105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ssh:</a:t>
            </a: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4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init</a:t>
            </a:r>
            <a:r>
              <a:rPr dirty="0" sz="1000" spc="4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  <a:hlinkClick r:id="rId2"/>
              </a:rPr>
              <a:t>git@github.com:&lt;username&gt;/dotfiles.git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SzPct val="95238"/>
              <a:buChar char="•"/>
              <a:tabLst>
                <a:tab pos="469265" algn="l"/>
              </a:tabLst>
            </a:pP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Проверьте,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какие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внесёт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 spc="20">
                <a:solidFill>
                  <a:srgbClr val="E73E8C"/>
                </a:solidFill>
                <a:latin typeface="Arial"/>
                <a:cs typeface="Arial"/>
              </a:rPr>
              <a:t>chezmoi</a:t>
            </a:r>
            <a:r>
              <a:rPr dirty="0" sz="900" spc="8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домашний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каталог,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запустив:</a:t>
            </a: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70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1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diff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SzPct val="95238"/>
              <a:buChar char="•"/>
              <a:tabLst>
                <a:tab pos="469265" algn="l"/>
              </a:tabLst>
            </a:pP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Если</a:t>
            </a:r>
            <a:r>
              <a:rPr dirty="0" sz="1050" spc="1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вас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устраивают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изменения,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внесённые</a:t>
            </a:r>
            <a:r>
              <a:rPr dirty="0" sz="1050" spc="1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chezmoi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,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запустите:</a:t>
            </a: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12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apply</a:t>
            </a:r>
            <a:r>
              <a:rPr dirty="0" sz="1000" spc="1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v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SzPct val="95238"/>
              <a:buChar char="•"/>
              <a:tabLst>
                <a:tab pos="469265" algn="l"/>
              </a:tabLst>
            </a:pP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Если</a:t>
            </a:r>
            <a:r>
              <a:rPr dirty="0" sz="105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вас</a:t>
            </a:r>
            <a:r>
              <a:rPr dirty="0" sz="105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не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устраивают</a:t>
            </a:r>
            <a:r>
              <a:rPr dirty="0" sz="105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r>
              <a:rPr dirty="0" sz="105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файле,</a:t>
            </a:r>
            <a:r>
              <a:rPr dirty="0" sz="105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отредактируйте</a:t>
            </a:r>
            <a:r>
              <a:rPr dirty="0" sz="105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его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помощью:</a:t>
            </a: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1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edit</a:t>
            </a:r>
            <a:r>
              <a:rPr dirty="0" sz="1000" spc="1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file_name</a:t>
            </a:r>
            <a:endParaRPr sz="1000">
              <a:latin typeface="Arial"/>
              <a:cs typeface="Arial"/>
            </a:endParaRPr>
          </a:p>
          <a:p>
            <a:pPr marL="469900" marR="237490" indent="-228600">
              <a:lnSpc>
                <a:spcPts val="1430"/>
              </a:lnSpc>
              <a:spcBef>
                <a:spcPts val="75"/>
              </a:spcBef>
              <a:buSzPct val="95238"/>
              <a:buChar char="•"/>
              <a:tabLst>
                <a:tab pos="469900" algn="l"/>
              </a:tabLst>
            </a:pP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Также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можно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вызвать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инструмент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слияния,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чтобы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объединить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между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текущим</a:t>
            </a:r>
            <a:r>
              <a:rPr dirty="0" sz="105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содержимым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файла,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файлом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вашей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рабочей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65">
                <a:solidFill>
                  <a:srgbClr val="202528"/>
                </a:solidFill>
                <a:latin typeface="Arial"/>
                <a:cs typeface="Arial"/>
              </a:rPr>
              <a:t>копии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9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измененным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содержимым</a:t>
            </a:r>
            <a:r>
              <a:rPr dirty="0" sz="105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файла:</a:t>
            </a: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90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1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merge</a:t>
            </a:r>
            <a:r>
              <a:rPr dirty="0" sz="1000" spc="1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file_name</a:t>
            </a:r>
            <a:endParaRPr sz="1000">
              <a:latin typeface="Arial"/>
              <a:cs typeface="Arial"/>
            </a:endParaRPr>
          </a:p>
          <a:p>
            <a:pPr marL="469265" marR="435609" indent="-228600">
              <a:lnSpc>
                <a:spcPts val="1430"/>
              </a:lnSpc>
              <a:spcBef>
                <a:spcPts val="70"/>
              </a:spcBef>
              <a:buSzPct val="95238"/>
              <a:buChar char="•"/>
              <a:tabLst>
                <a:tab pos="469265" algn="l"/>
              </a:tabLst>
            </a:pP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При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существующем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каталоге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 spc="10">
                <a:solidFill>
                  <a:srgbClr val="E73E8C"/>
                </a:solidFill>
                <a:latin typeface="Arial"/>
                <a:cs typeface="Arial"/>
              </a:rPr>
              <a:t>chezmoi</a:t>
            </a:r>
            <a:r>
              <a:rPr dirty="0" sz="900" spc="10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можно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получить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применить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последние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вашего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репозитория:</a:t>
            </a: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90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1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update</a:t>
            </a:r>
            <a:r>
              <a:rPr dirty="0" sz="1000" spc="2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 spc="-50">
                <a:solidFill>
                  <a:srgbClr val="202528"/>
                </a:solidFill>
                <a:latin typeface="Arial"/>
                <a:cs typeface="Arial"/>
              </a:rPr>
              <a:t>v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85"/>
              </a:spcBef>
            </a:pPr>
            <a:r>
              <a:rPr dirty="0" sz="1350">
                <a:solidFill>
                  <a:srgbClr val="202528"/>
                </a:solidFill>
                <a:latin typeface="Arial"/>
                <a:cs typeface="Arial"/>
              </a:rPr>
              <a:t>Настройка</a:t>
            </a:r>
            <a:r>
              <a:rPr dirty="0" sz="13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75">
                <a:solidFill>
                  <a:srgbClr val="202528"/>
                </a:solidFill>
                <a:latin typeface="Arial"/>
                <a:cs typeface="Arial"/>
              </a:rPr>
              <a:t>новой</a:t>
            </a:r>
            <a:r>
              <a:rPr dirty="0" sz="135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70">
                <a:solidFill>
                  <a:srgbClr val="202528"/>
                </a:solidFill>
                <a:latin typeface="Arial"/>
                <a:cs typeface="Arial"/>
              </a:rPr>
              <a:t>машины</a:t>
            </a:r>
            <a:r>
              <a:rPr dirty="0" sz="13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35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80">
                <a:solidFill>
                  <a:srgbClr val="202528"/>
                </a:solidFill>
                <a:latin typeface="Arial"/>
                <a:cs typeface="Arial"/>
              </a:rPr>
              <a:t>помощью</a:t>
            </a:r>
            <a:r>
              <a:rPr dirty="0" sz="135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60">
                <a:solidFill>
                  <a:srgbClr val="202528"/>
                </a:solidFill>
                <a:latin typeface="Arial"/>
                <a:cs typeface="Arial"/>
              </a:rPr>
              <a:t>одной</a:t>
            </a:r>
            <a:r>
              <a:rPr dirty="0" sz="1350" spc="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40">
                <a:solidFill>
                  <a:srgbClr val="202528"/>
                </a:solidFill>
                <a:latin typeface="Arial"/>
                <a:cs typeface="Arial"/>
              </a:rPr>
              <a:t>команды</a:t>
            </a:r>
            <a:endParaRPr sz="13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3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buSzPct val="95238"/>
              <a:buChar char="•"/>
              <a:tabLst>
                <a:tab pos="469265" algn="l"/>
              </a:tabLst>
            </a:pP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Можно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установить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свои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 spc="20">
                <a:solidFill>
                  <a:srgbClr val="E73E8C"/>
                </a:solidFill>
                <a:latin typeface="Arial"/>
                <a:cs typeface="Arial"/>
              </a:rPr>
              <a:t>dotfiles</a:t>
            </a:r>
            <a:r>
              <a:rPr dirty="0" sz="900" spc="8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на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новый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компьютер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помощью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одной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команды:</a:t>
            </a: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70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110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init</a:t>
            </a:r>
            <a:r>
              <a:rPr dirty="0" sz="1000" spc="114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--apply</a:t>
            </a:r>
            <a:r>
              <a:rPr dirty="0" sz="1000" spc="114">
                <a:solidFill>
                  <a:srgbClr val="202528"/>
                </a:solidFill>
                <a:latin typeface="Arial"/>
                <a:cs typeface="Arial"/>
              </a:rPr>
              <a:t> 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https://github.com/&lt;username&gt;/dotfiles.git</a:t>
            </a:r>
            <a:endParaRPr sz="100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SzPct val="95238"/>
              <a:buChar char="•"/>
              <a:tabLst>
                <a:tab pos="4692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Через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ssh:</a:t>
            </a:r>
            <a:endParaRPr sz="1050">
              <a:latin typeface="Arial"/>
              <a:cs typeface="Arial"/>
            </a:endParaRPr>
          </a:p>
          <a:p>
            <a:pPr marL="469265" indent="-227965">
              <a:lnSpc>
                <a:spcPct val="100000"/>
              </a:lnSpc>
              <a:spcBef>
                <a:spcPts val="165"/>
              </a:spcBef>
              <a:buChar char="•"/>
              <a:tabLst>
                <a:tab pos="4692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3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init</a:t>
            </a:r>
            <a:r>
              <a:rPr dirty="0" sz="1000" spc="3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--apply</a:t>
            </a:r>
            <a:r>
              <a:rPr dirty="0" sz="1000" spc="3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  <a:hlinkClick r:id="rId2"/>
              </a:rPr>
              <a:t>git@github.com:&lt;username&gt;/dotfiles.git</a:t>
            </a:r>
            <a:endParaRPr sz="1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0"/>
              </a:spcBef>
            </a:pPr>
            <a:r>
              <a:rPr dirty="0" sz="1350">
                <a:solidFill>
                  <a:srgbClr val="202528"/>
                </a:solidFill>
                <a:latin typeface="Arial"/>
                <a:cs typeface="Arial"/>
              </a:rPr>
              <a:t>Ежедневные</a:t>
            </a:r>
            <a:r>
              <a:rPr dirty="0" sz="13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 spc="60">
                <a:solidFill>
                  <a:srgbClr val="202528"/>
                </a:solidFill>
                <a:latin typeface="Arial"/>
                <a:cs typeface="Arial"/>
              </a:rPr>
              <a:t>операции</a:t>
            </a:r>
            <a:r>
              <a:rPr dirty="0" sz="13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350">
                <a:solidFill>
                  <a:srgbClr val="202528"/>
                </a:solidFill>
                <a:latin typeface="Arial"/>
                <a:cs typeface="Arial"/>
              </a:rPr>
              <a:t>c</a:t>
            </a:r>
            <a:r>
              <a:rPr dirty="0" sz="13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450" spc="-10">
                <a:solidFill>
                  <a:srgbClr val="E73E8C"/>
                </a:solidFill>
                <a:latin typeface="Arial"/>
                <a:cs typeface="Arial"/>
              </a:rPr>
              <a:t>chezmoi</a:t>
            </a:r>
            <a:endParaRPr sz="14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350">
              <a:latin typeface="Arial"/>
              <a:cs typeface="Arial"/>
            </a:endParaRPr>
          </a:p>
          <a:p>
            <a:pPr algn="just" marL="467359" indent="-226060">
              <a:lnSpc>
                <a:spcPct val="100000"/>
              </a:lnSpc>
              <a:buAutoNum type="arabicPeriod"/>
              <a:tabLst>
                <a:tab pos="467359" algn="l"/>
              </a:tabLst>
            </a:pP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Извлеките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последние</a:t>
            </a:r>
            <a:r>
              <a:rPr dirty="0" sz="105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r>
              <a:rPr dirty="0" sz="105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репозитория</a:t>
            </a:r>
            <a:r>
              <a:rPr dirty="0" sz="105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примените</a:t>
            </a:r>
            <a:r>
              <a:rPr dirty="0" sz="105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их</a:t>
            </a:r>
            <a:endParaRPr sz="1050">
              <a:latin typeface="Arial"/>
              <a:cs typeface="Arial"/>
            </a:endParaRPr>
          </a:p>
          <a:p>
            <a:pPr algn="just" lvl="1" marL="926465" indent="-227965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Можно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извлечь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репозитория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применить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их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одной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командой:</a:t>
            </a:r>
            <a:endParaRPr sz="1050">
              <a:latin typeface="Arial"/>
              <a:cs typeface="Arial"/>
            </a:endParaRPr>
          </a:p>
          <a:p>
            <a:pPr algn="just" lvl="1" marL="926465" indent="-227965">
              <a:lnSpc>
                <a:spcPct val="100000"/>
              </a:lnSpc>
              <a:spcBef>
                <a:spcPts val="170"/>
              </a:spcBef>
              <a:buFont typeface="Courier New"/>
              <a:buChar char="o"/>
              <a:tabLst>
                <a:tab pos="9264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1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update</a:t>
            </a:r>
            <a:endParaRPr sz="1000">
              <a:latin typeface="Arial"/>
              <a:cs typeface="Arial"/>
            </a:endParaRPr>
          </a:p>
          <a:p>
            <a:pPr algn="just" lvl="1" marL="927100" marR="575310" indent="-228600">
              <a:lnSpc>
                <a:spcPts val="1430"/>
              </a:lnSpc>
              <a:spcBef>
                <a:spcPts val="7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Это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запускается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git</a:t>
            </a:r>
            <a:r>
              <a:rPr dirty="0" sz="900" spc="7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pull</a:t>
            </a:r>
            <a:r>
              <a:rPr dirty="0" sz="900" spc="6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--autostash</a:t>
            </a:r>
            <a:r>
              <a:rPr dirty="0" sz="900" spc="7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--rebase</a:t>
            </a:r>
            <a:r>
              <a:rPr dirty="0" sz="900" spc="13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вашем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исходном</a:t>
            </a:r>
            <a:r>
              <a:rPr dirty="0" sz="105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каталоге,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50">
                <a:solidFill>
                  <a:srgbClr val="202528"/>
                </a:solidFill>
                <a:latin typeface="Arial"/>
                <a:cs typeface="Arial"/>
              </a:rPr>
              <a:t>а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затем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chezmoi</a:t>
            </a:r>
            <a:r>
              <a:rPr dirty="0" sz="900" spc="4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apply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.</a:t>
            </a:r>
            <a:endParaRPr sz="1050">
              <a:latin typeface="Arial"/>
              <a:cs typeface="Arial"/>
            </a:endParaRPr>
          </a:p>
          <a:p>
            <a:pPr algn="just" marL="467359" marR="629285" indent="-226060">
              <a:lnSpc>
                <a:spcPts val="1430"/>
              </a:lnSpc>
              <a:buAutoNum type="arabicPeriod"/>
              <a:tabLst>
                <a:tab pos="469900" algn="l"/>
              </a:tabLst>
            </a:pP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Извлеките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последние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r>
              <a:rPr dirty="0" sz="105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своего</a:t>
            </a:r>
            <a:r>
              <a:rPr dirty="0" sz="105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репозитория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6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посмотрите,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что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	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изменится,</a:t>
            </a:r>
            <a:r>
              <a:rPr dirty="0" sz="1050" spc="1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фактически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не</a:t>
            </a:r>
            <a:r>
              <a:rPr dirty="0" sz="1050" spc="12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применяя</a:t>
            </a:r>
            <a:r>
              <a:rPr dirty="0" sz="1050" spc="1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endParaRPr sz="1050">
              <a:latin typeface="Arial"/>
              <a:cs typeface="Arial"/>
            </a:endParaRPr>
          </a:p>
          <a:p>
            <a:pPr algn="just" lvl="1" marL="926465" indent="-227965">
              <a:lnSpc>
                <a:spcPct val="100000"/>
              </a:lnSpc>
              <a:spcBef>
                <a:spcPts val="95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Выполните:</a:t>
            </a:r>
            <a:endParaRPr sz="1050">
              <a:latin typeface="Arial"/>
              <a:cs typeface="Arial"/>
            </a:endParaRPr>
          </a:p>
          <a:p>
            <a:pPr algn="just" lvl="1" marL="926465" indent="-227965">
              <a:lnSpc>
                <a:spcPct val="100000"/>
              </a:lnSpc>
              <a:spcBef>
                <a:spcPts val="165"/>
              </a:spcBef>
              <a:buFont typeface="Courier New"/>
              <a:buChar char="o"/>
              <a:tabLst>
                <a:tab pos="9264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git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pull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3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--autostash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--rebase</a:t>
            </a:r>
            <a:r>
              <a:rPr dirty="0" sz="100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&amp;&amp;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diff</a:t>
            </a:r>
            <a:endParaRPr sz="1000">
              <a:latin typeface="Arial"/>
              <a:cs typeface="Arial"/>
            </a:endParaRPr>
          </a:p>
          <a:p>
            <a:pPr algn="just" lvl="1" marL="927100" marR="93980" indent="-228600">
              <a:lnSpc>
                <a:spcPts val="1430"/>
              </a:lnSpc>
              <a:spcBef>
                <a:spcPts val="70"/>
              </a:spcBef>
              <a:buSzPct val="95238"/>
              <a:buFont typeface="Courier New"/>
              <a:buChar char="o"/>
              <a:tabLst>
                <a:tab pos="927100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Это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запускается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git</a:t>
            </a:r>
            <a:r>
              <a:rPr dirty="0" sz="900" spc="6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pull</a:t>
            </a:r>
            <a:r>
              <a:rPr dirty="0" sz="900" spc="5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--autostash</a:t>
            </a:r>
            <a:r>
              <a:rPr dirty="0" sz="900" spc="6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--rebase</a:t>
            </a:r>
            <a:r>
              <a:rPr dirty="0" sz="900" spc="125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вашем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исходном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каталоге,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а</a:t>
            </a:r>
            <a:r>
              <a:rPr dirty="0" sz="105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 spc="-10">
                <a:solidFill>
                  <a:srgbClr val="E73E8C"/>
                </a:solidFill>
                <a:latin typeface="Arial"/>
                <a:cs typeface="Arial"/>
              </a:rPr>
              <a:t>chezmoi </a:t>
            </a:r>
            <a:r>
              <a:rPr dirty="0" sz="900" spc="20">
                <a:solidFill>
                  <a:srgbClr val="E73E8C"/>
                </a:solidFill>
                <a:latin typeface="Arial"/>
                <a:cs typeface="Arial"/>
              </a:rPr>
              <a:t>diff</a:t>
            </a:r>
            <a:r>
              <a:rPr dirty="0" sz="900" spc="8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затем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показывает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разницу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между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целевым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состоянием,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вычисленным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из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вашего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исходного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каталога,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фактическим</a:t>
            </a:r>
            <a:r>
              <a:rPr dirty="0" sz="105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состоянием.</a:t>
            </a:r>
            <a:endParaRPr sz="1050">
              <a:latin typeface="Arial"/>
              <a:cs typeface="Arial"/>
            </a:endParaRPr>
          </a:p>
          <a:p>
            <a:pPr algn="just" lvl="1" marL="926465" indent="-227965">
              <a:lnSpc>
                <a:spcPct val="100000"/>
              </a:lnSpc>
              <a:spcBef>
                <a:spcPts val="95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Если</a:t>
            </a:r>
            <a:r>
              <a:rPr dirty="0" sz="1050" spc="1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</a:t>
            </a:r>
            <a:r>
              <a:rPr dirty="0" sz="1050" spc="1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довольны</a:t>
            </a:r>
            <a:r>
              <a:rPr dirty="0" sz="1050" spc="1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изменениями,</a:t>
            </a:r>
            <a:r>
              <a:rPr dirty="0" sz="1050" spc="1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</a:t>
            </a:r>
            <a:r>
              <a:rPr dirty="0" sz="1050" spc="1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можете</a:t>
            </a:r>
            <a:r>
              <a:rPr dirty="0" sz="1050" spc="1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применить</a:t>
            </a:r>
            <a:r>
              <a:rPr dirty="0" sz="1050" spc="1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их:</a:t>
            </a:r>
            <a:endParaRPr sz="1050">
              <a:latin typeface="Arial"/>
              <a:cs typeface="Arial"/>
            </a:endParaRPr>
          </a:p>
          <a:p>
            <a:pPr algn="just" lvl="1" marL="926465" indent="-227965">
              <a:lnSpc>
                <a:spcPct val="100000"/>
              </a:lnSpc>
              <a:spcBef>
                <a:spcPts val="165"/>
              </a:spcBef>
              <a:buFont typeface="Courier New"/>
              <a:buChar char="o"/>
              <a:tabLst>
                <a:tab pos="92646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chezmoi</a:t>
            </a:r>
            <a:r>
              <a:rPr dirty="0" sz="1000" spc="1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-10">
                <a:solidFill>
                  <a:srgbClr val="202528"/>
                </a:solidFill>
                <a:latin typeface="Arial"/>
                <a:cs typeface="Arial"/>
              </a:rPr>
              <a:t>apply</a:t>
            </a:r>
            <a:endParaRPr sz="1000">
              <a:latin typeface="Arial"/>
              <a:cs typeface="Arial"/>
            </a:endParaRPr>
          </a:p>
          <a:p>
            <a:pPr algn="just" marL="467359" indent="-226060">
              <a:lnSpc>
                <a:spcPct val="100000"/>
              </a:lnSpc>
              <a:spcBef>
                <a:spcPts val="165"/>
              </a:spcBef>
              <a:buAutoNum type="arabicPeriod"/>
              <a:tabLst>
                <a:tab pos="467359" algn="l"/>
              </a:tabLst>
            </a:pP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Автоматически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фиксируйте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отправляйте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репозиторий</a:t>
            </a:r>
            <a:endParaRPr sz="1050">
              <a:latin typeface="Arial"/>
              <a:cs typeface="Arial"/>
            </a:endParaRPr>
          </a:p>
          <a:p>
            <a:pPr lvl="1" marL="926465" marR="281940" indent="-228600">
              <a:lnSpc>
                <a:spcPct val="113500"/>
              </a:lnSpc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Можно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автоматически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фиксировать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отправлять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исходный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каталог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репозиторий.</a:t>
            </a:r>
            <a:endParaRPr sz="105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Эта</a:t>
            </a:r>
            <a:r>
              <a:rPr dirty="0" sz="105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функция</a:t>
            </a:r>
            <a:r>
              <a:rPr dirty="0" sz="105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отключена</a:t>
            </a:r>
            <a:r>
              <a:rPr dirty="0" sz="1050" spc="10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по</a:t>
            </a:r>
            <a:r>
              <a:rPr dirty="0" sz="1050" spc="10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умолчанию.</a:t>
            </a:r>
            <a:endParaRPr sz="105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spcBef>
                <a:spcPts val="170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Чтобы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включить</a:t>
            </a:r>
            <a:r>
              <a:rPr dirty="0" sz="1050" spc="11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её,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добавьте</a:t>
            </a:r>
            <a:r>
              <a:rPr dirty="0" sz="1050" spc="114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11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0">
                <a:solidFill>
                  <a:srgbClr val="202528"/>
                </a:solidFill>
                <a:latin typeface="Arial"/>
                <a:cs typeface="Arial"/>
              </a:rPr>
              <a:t>файл</a:t>
            </a:r>
            <a:endParaRPr sz="1050">
              <a:latin typeface="Arial"/>
              <a:cs typeface="Arial"/>
            </a:endParaRPr>
          </a:p>
          <a:p>
            <a:pPr marL="926465">
              <a:lnSpc>
                <a:spcPct val="100000"/>
              </a:lnSpc>
              <a:spcBef>
                <a:spcPts val="170"/>
              </a:spcBef>
            </a:pP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конфигурации</a:t>
            </a:r>
            <a:r>
              <a:rPr dirty="0" sz="1050" spc="1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 spc="20">
                <a:solidFill>
                  <a:srgbClr val="E73E8C"/>
                </a:solidFill>
                <a:latin typeface="Arial"/>
                <a:cs typeface="Arial"/>
              </a:rPr>
              <a:t>~/.config/chezmoi/chezmoi.toml</a:t>
            </a:r>
            <a:r>
              <a:rPr dirty="0" sz="900" spc="22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следующее:</a:t>
            </a:r>
            <a:endParaRPr sz="1050">
              <a:latin typeface="Arial"/>
              <a:cs typeface="Arial"/>
            </a:endParaRPr>
          </a:p>
          <a:p>
            <a:pPr lvl="1" marL="926465" indent="-227965">
              <a:lnSpc>
                <a:spcPct val="100000"/>
              </a:lnSpc>
              <a:spcBef>
                <a:spcPts val="165"/>
              </a:spcBef>
              <a:buFont typeface="Courier New"/>
              <a:buChar char="o"/>
              <a:tabLst>
                <a:tab pos="926465" algn="l"/>
              </a:tabLst>
            </a:pPr>
            <a:r>
              <a:rPr dirty="0" sz="1000" spc="-20">
                <a:solidFill>
                  <a:srgbClr val="202528"/>
                </a:solidFill>
                <a:latin typeface="Arial"/>
                <a:cs typeface="Arial"/>
              </a:rPr>
              <a:t>[git]</a:t>
            </a:r>
            <a:endParaRPr sz="1000">
              <a:latin typeface="Arial"/>
              <a:cs typeface="Arial"/>
            </a:endParaRPr>
          </a:p>
          <a:p>
            <a:pPr lvl="1" marL="1058545" indent="-360045">
              <a:lnSpc>
                <a:spcPct val="100000"/>
              </a:lnSpc>
              <a:spcBef>
                <a:spcPts val="165"/>
              </a:spcBef>
              <a:buFont typeface="Courier New"/>
              <a:buChar char="o"/>
              <a:tabLst>
                <a:tab pos="1058545" algn="l"/>
              </a:tabLst>
            </a:pPr>
            <a:r>
              <a:rPr dirty="0" sz="1000" spc="20">
                <a:solidFill>
                  <a:srgbClr val="202528"/>
                </a:solidFill>
                <a:latin typeface="Arial"/>
                <a:cs typeface="Arial"/>
              </a:rPr>
              <a:t>autoCommit</a:t>
            </a:r>
            <a:r>
              <a:rPr dirty="0" sz="100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20">
                <a:solidFill>
                  <a:srgbClr val="202528"/>
                </a:solidFill>
                <a:latin typeface="Arial"/>
                <a:cs typeface="Arial"/>
              </a:rPr>
              <a:t>=</a:t>
            </a:r>
            <a:r>
              <a:rPr dirty="0" sz="100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35">
                <a:solidFill>
                  <a:srgbClr val="202528"/>
                </a:solidFill>
                <a:latin typeface="Arial"/>
                <a:cs typeface="Arial"/>
              </a:rPr>
              <a:t>true</a:t>
            </a:r>
            <a:endParaRPr sz="1000">
              <a:latin typeface="Arial"/>
              <a:cs typeface="Arial"/>
            </a:endParaRPr>
          </a:p>
          <a:p>
            <a:pPr lvl="1" marL="1058545" indent="-360045">
              <a:lnSpc>
                <a:spcPct val="100000"/>
              </a:lnSpc>
              <a:spcBef>
                <a:spcPts val="160"/>
              </a:spcBef>
              <a:buFont typeface="Courier New"/>
              <a:buChar char="o"/>
              <a:tabLst>
                <a:tab pos="1058545" algn="l"/>
              </a:tabLst>
            </a:pP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autoPush</a:t>
            </a:r>
            <a:r>
              <a:rPr dirty="0" sz="1000" spc="5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>
                <a:solidFill>
                  <a:srgbClr val="202528"/>
                </a:solidFill>
                <a:latin typeface="Arial"/>
                <a:cs typeface="Arial"/>
              </a:rPr>
              <a:t>=</a:t>
            </a:r>
            <a:r>
              <a:rPr dirty="0" sz="1000" spc="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00" spc="35">
                <a:solidFill>
                  <a:srgbClr val="202528"/>
                </a:solidFill>
                <a:latin typeface="Arial"/>
                <a:cs typeface="Arial"/>
              </a:rPr>
              <a:t>true</a:t>
            </a:r>
            <a:endParaRPr sz="1000">
              <a:latin typeface="Arial"/>
              <a:cs typeface="Arial"/>
            </a:endParaRPr>
          </a:p>
          <a:p>
            <a:pPr lvl="1" marL="926465" marR="35560" indent="-228600">
              <a:lnSpc>
                <a:spcPts val="1430"/>
              </a:lnSpc>
              <a:spcBef>
                <a:spcPts val="70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Всякий</a:t>
            </a:r>
            <a:r>
              <a:rPr dirty="0" sz="1050" spc="7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раз,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когда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исходный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каталог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вносятся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10">
                <a:solidFill>
                  <a:srgbClr val="202528"/>
                </a:solidFill>
                <a:latin typeface="Arial"/>
                <a:cs typeface="Arial"/>
              </a:rPr>
              <a:t>изменения,</a:t>
            </a:r>
            <a:r>
              <a:rPr dirty="0" sz="1050" spc="9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 spc="10">
                <a:solidFill>
                  <a:srgbClr val="E73E8C"/>
                </a:solidFill>
                <a:latin typeface="Arial"/>
                <a:cs typeface="Arial"/>
              </a:rPr>
              <a:t>chezmoi</a:t>
            </a:r>
            <a:r>
              <a:rPr dirty="0" sz="900" spc="12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фиксирует 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изменения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20">
                <a:solidFill>
                  <a:srgbClr val="202528"/>
                </a:solidFill>
                <a:latin typeface="Arial"/>
                <a:cs typeface="Arial"/>
              </a:rPr>
              <a:t>с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60">
                <a:solidFill>
                  <a:srgbClr val="202528"/>
                </a:solidFill>
                <a:latin typeface="Arial"/>
                <a:cs typeface="Arial"/>
              </a:rPr>
              <a:t>помощью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автоматически</a:t>
            </a:r>
            <a:r>
              <a:rPr dirty="0" sz="1050" spc="3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30">
                <a:solidFill>
                  <a:srgbClr val="202528"/>
                </a:solidFill>
                <a:latin typeface="Arial"/>
                <a:cs typeface="Arial"/>
              </a:rPr>
              <a:t>сгенерированного</a:t>
            </a:r>
            <a:r>
              <a:rPr dirty="0" sz="1050" spc="4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сообщения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фиксации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отправляет</a:t>
            </a:r>
            <a:r>
              <a:rPr dirty="0" sz="105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их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ваш</a:t>
            </a:r>
            <a:r>
              <a:rPr dirty="0" sz="1050" spc="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репозиторий.</a:t>
            </a:r>
            <a:endParaRPr sz="10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07388" y="694994"/>
            <a:ext cx="6083935" cy="1414145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926465" indent="-227965">
              <a:lnSpc>
                <a:spcPct val="100000"/>
              </a:lnSpc>
              <a:spcBef>
                <a:spcPts val="270"/>
              </a:spcBef>
              <a:buSzPct val="95238"/>
              <a:buFont typeface="Courier New"/>
              <a:buChar char="o"/>
              <a:tabLst>
                <a:tab pos="926465" algn="l"/>
              </a:tabLst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Будьте</a:t>
            </a:r>
            <a:r>
              <a:rPr dirty="0" sz="1050" spc="1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осторожны</a:t>
            </a:r>
            <a:r>
              <a:rPr dirty="0" sz="1050" spc="1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65">
                <a:solidFill>
                  <a:srgbClr val="202528"/>
                </a:solidFill>
                <a:latin typeface="Arial"/>
                <a:cs typeface="Arial"/>
              </a:rPr>
              <a:t>при</a:t>
            </a:r>
            <a:r>
              <a:rPr dirty="0" sz="105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использовании</a:t>
            </a:r>
            <a:r>
              <a:rPr dirty="0" sz="1050" spc="16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autoPush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.</a:t>
            </a:r>
            <a:r>
              <a:rPr dirty="0" sz="1050" spc="14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Если</a:t>
            </a:r>
            <a:r>
              <a:rPr dirty="0" sz="1050" spc="1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25">
                <a:solidFill>
                  <a:srgbClr val="202528"/>
                </a:solidFill>
                <a:latin typeface="Arial"/>
                <a:cs typeface="Arial"/>
              </a:rPr>
              <a:t>ваш</a:t>
            </a:r>
            <a:endParaRPr sz="1050">
              <a:latin typeface="Arial"/>
              <a:cs typeface="Arial"/>
            </a:endParaRPr>
          </a:p>
          <a:p>
            <a:pPr marL="927100" marR="5080">
              <a:lnSpc>
                <a:spcPct val="113500"/>
              </a:lnSpc>
            </a:pP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репозиторий</a:t>
            </a:r>
            <a:r>
              <a:rPr dirty="0" sz="1050" spc="18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900">
                <a:solidFill>
                  <a:srgbClr val="E73E8C"/>
                </a:solidFill>
                <a:latin typeface="Arial"/>
                <a:cs typeface="Arial"/>
              </a:rPr>
              <a:t>dotfiles</a:t>
            </a:r>
            <a:r>
              <a:rPr dirty="0" sz="900" spc="220">
                <a:solidFill>
                  <a:srgbClr val="E73E8C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является</a:t>
            </a:r>
            <a:r>
              <a:rPr dirty="0" sz="1050" spc="1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общедоступным,</a:t>
            </a:r>
            <a:r>
              <a:rPr dirty="0" sz="1050" spc="1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75">
                <a:solidFill>
                  <a:srgbClr val="202528"/>
                </a:solidFill>
                <a:latin typeface="Arial"/>
                <a:cs typeface="Arial"/>
              </a:rPr>
              <a:t>и</a:t>
            </a:r>
            <a:r>
              <a:rPr dirty="0" sz="1050" spc="1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вы</a:t>
            </a:r>
            <a:r>
              <a:rPr dirty="0" sz="1050" spc="1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случайно</a:t>
            </a:r>
            <a:r>
              <a:rPr dirty="0" sz="1050" spc="18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добавили</a:t>
            </a:r>
            <a:r>
              <a:rPr dirty="0" sz="1050" spc="175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секрет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виде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55">
                <a:solidFill>
                  <a:srgbClr val="202528"/>
                </a:solidFill>
                <a:latin typeface="Arial"/>
                <a:cs typeface="Arial"/>
              </a:rPr>
              <a:t>обычного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текста,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этот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секрет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будет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отправлен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>
                <a:solidFill>
                  <a:srgbClr val="202528"/>
                </a:solidFill>
                <a:latin typeface="Arial"/>
                <a:cs typeface="Arial"/>
              </a:rPr>
              <a:t>ваш</a:t>
            </a:r>
            <a:r>
              <a:rPr dirty="0" sz="1050" spc="50">
                <a:solidFill>
                  <a:srgbClr val="202528"/>
                </a:solidFill>
                <a:latin typeface="Arial"/>
                <a:cs typeface="Arial"/>
              </a:rPr>
              <a:t> </a:t>
            </a:r>
            <a:r>
              <a:rPr dirty="0" sz="1050" spc="-10">
                <a:solidFill>
                  <a:srgbClr val="202528"/>
                </a:solidFill>
                <a:latin typeface="Arial"/>
                <a:cs typeface="Arial"/>
              </a:rPr>
              <a:t>общедоступный репозиторий.</a:t>
            </a:r>
            <a:endParaRPr sz="1050">
              <a:latin typeface="Arial"/>
              <a:cs typeface="Arial"/>
            </a:endParaRPr>
          </a:p>
          <a:p>
            <a:pPr marL="12700" marR="48260">
              <a:lnSpc>
                <a:spcPct val="143700"/>
              </a:lnSpc>
              <a:spcBef>
                <a:spcPts val="730"/>
              </a:spcBef>
            </a:pPr>
            <a:r>
              <a:rPr dirty="0" sz="1300">
                <a:latin typeface="Times New Roman"/>
                <a:cs typeface="Times New Roman"/>
              </a:rPr>
              <a:t>В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рамках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данной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работы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мы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приобрели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практические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навыки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работы</a:t>
            </a:r>
            <a:r>
              <a:rPr dirty="0" sz="1300" spc="-30">
                <a:latin typeface="Times New Roman"/>
                <a:cs typeface="Times New Roman"/>
              </a:rPr>
              <a:t> </a:t>
            </a:r>
            <a:r>
              <a:rPr dirty="0" sz="1300">
                <a:latin typeface="Times New Roman"/>
                <a:cs typeface="Times New Roman"/>
              </a:rPr>
              <a:t>с</a:t>
            </a:r>
            <a:r>
              <a:rPr dirty="0" sz="1300" spc="-35">
                <a:latin typeface="Times New Roman"/>
                <a:cs typeface="Times New Roman"/>
              </a:rPr>
              <a:t> </a:t>
            </a:r>
            <a:r>
              <a:rPr dirty="0" sz="1300" spc="-10">
                <a:latin typeface="Times New Roman"/>
                <a:cs typeface="Times New Roman"/>
              </a:rPr>
              <a:t>репозиторией github.</a:t>
            </a:r>
            <a:endParaRPr sz="13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2026-03-14T12:37:09Z</dcterms:created>
  <dcterms:modified xsi:type="dcterms:W3CDTF">2026-03-14T12:37:09Z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2026-03-14T00:00:00Z</vt:filetime>
  </property>
  <property fmtid="{D5CDD505-2E9C-101B-9397-08002B2CF9AE}" pid="3" name="Creator">
    <vt:lpwstr>www.smallpdf.com</vt:lpwstr>
  </property>
  <property fmtid="{D5CDD505-2E9C-101B-9397-08002B2CF9AE}" pid="4" name="LastSaved">
    <vt:filetime>2026-03-14T00:00:00Z</vt:filetime>
  </property>
  <property fmtid="{D5CDD505-2E9C-101B-9397-08002B2CF9AE}" pid="5" name="Producer">
    <vt:lpwstr>3-Heights(TM) PDF Security Shell 4.8.25.2 (http://www.pdf-tools.com)</vt:lpwstr>
  </property>
</Properties>
</file>