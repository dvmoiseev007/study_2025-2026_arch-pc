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6034" y="378226"/>
            <a:ext cx="3522979" cy="7118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1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11150" marR="225425" indent="60960">
              <a:lnSpc>
                <a:spcPts val="176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7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22062" y="2004235"/>
            <a:ext cx="2577465" cy="935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1045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10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spc="-25" b="1">
                <a:latin typeface="Times New Roman"/>
                <a:cs typeface="Times New Roman"/>
              </a:rPr>
              <a:t>12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974090" algn="l"/>
              </a:tabLst>
            </a:pP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sz="1050" spc="270" i="1">
                <a:latin typeface="Times New Roman"/>
                <a:cs typeface="Times New Roman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Архитектура</a:t>
            </a:r>
            <a:r>
              <a:rPr dirty="0" u="sng" sz="1050" spc="114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7971" y="4408316"/>
            <a:ext cx="203517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38714" y="4931815"/>
            <a:ext cx="10610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82661" y="6237442"/>
            <a:ext cx="532130" cy="372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660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81304" y="766996"/>
            <a:ext cx="4078604" cy="459803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248920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10.</a:t>
            </a:r>
            <a:r>
              <a:rPr dirty="0" sz="950" spc="285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Программирование</a:t>
            </a:r>
            <a:r>
              <a:rPr dirty="0" sz="950" spc="9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в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командном </a:t>
            </a:r>
            <a:r>
              <a:rPr dirty="0" sz="950" b="1">
                <a:latin typeface="Book Antiqua"/>
                <a:cs typeface="Book Antiqua"/>
              </a:rPr>
              <a:t>процессоре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spc="-90" b="1">
                <a:latin typeface="Book Antiqua"/>
                <a:cs typeface="Book Antiqua"/>
              </a:rPr>
              <a:t>ОС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spc="-20" b="1">
                <a:latin typeface="Book Antiqua"/>
                <a:cs typeface="Book Antiqua"/>
              </a:rPr>
              <a:t>UNIX.</a:t>
            </a:r>
            <a:r>
              <a:rPr dirty="0" sz="950" spc="2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Командные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файлы</a:t>
            </a:r>
            <a:endParaRPr sz="950">
              <a:latin typeface="Book Antiqua"/>
              <a:cs typeface="Book Antiqua"/>
            </a:endParaRPr>
          </a:p>
          <a:p>
            <a:pPr lvl="1" marL="366395" indent="-353695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6639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2700" marR="26034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Изучить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основы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оболочке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UNIX/Linux.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Научиться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писать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небольшие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lvl="1" marL="365125" indent="-352425">
              <a:lnSpc>
                <a:spcPct val="100000"/>
              </a:lnSpc>
              <a:buAutoNum type="arabicPeriod" startAt="2"/>
              <a:tabLst>
                <a:tab pos="365125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5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к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лабораторной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lvl="2" marL="460375" indent="-447675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460375" algn="l"/>
              </a:tabLst>
            </a:pPr>
            <a:r>
              <a:rPr dirty="0" sz="850" b="1">
                <a:latin typeface="Book Antiqua"/>
                <a:cs typeface="Book Antiqua"/>
              </a:rPr>
              <a:t>Командные</a:t>
            </a:r>
            <a:r>
              <a:rPr dirty="0" sz="850" spc="14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процессоры</a:t>
            </a:r>
            <a:r>
              <a:rPr dirty="0" sz="850" spc="15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(оболочки)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30" i="1">
                <a:latin typeface="Book Antiqua"/>
                <a:cs typeface="Book Antiqua"/>
              </a:rPr>
              <a:t>Командный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процессор</a:t>
            </a:r>
            <a:r>
              <a:rPr dirty="0" sz="750" spc="114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(командная</a:t>
            </a:r>
            <a:r>
              <a:rPr dirty="0" sz="750" spc="114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оболочка,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интерпретатор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команд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shell)</a:t>
            </a:r>
            <a:r>
              <a:rPr dirty="0" sz="750" spc="90" i="1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—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это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про-</a:t>
            </a:r>
            <a:r>
              <a:rPr dirty="0" sz="750" spc="20">
                <a:latin typeface="Book Antiqua"/>
                <a:cs typeface="Book Antiqua"/>
              </a:rPr>
              <a:t> грамма,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позволяющая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пользователю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взаимодействовать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операционной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компьютера.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системах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UNIX/Linux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наиболее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часто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используются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реализации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оболочек:</a:t>
            </a:r>
            <a:endParaRPr sz="750">
              <a:latin typeface="Book Antiqua"/>
              <a:cs typeface="Book Antiqua"/>
            </a:endParaRPr>
          </a:p>
          <a:p>
            <a:pPr lvl="3" marL="144145" marR="12065" indent="-117475">
              <a:lnSpc>
                <a:spcPts val="890"/>
              </a:lnSpc>
              <a:spcBef>
                <a:spcPts val="15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 i="1">
                <a:latin typeface="Book Antiqua"/>
                <a:cs typeface="Book Antiqua"/>
              </a:rPr>
              <a:t>оболочка</a:t>
            </a:r>
            <a:r>
              <a:rPr dirty="0" sz="750" spc="15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Борна</a:t>
            </a:r>
            <a:r>
              <a:rPr dirty="0" sz="750" spc="1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(Bourne</a:t>
            </a:r>
            <a:r>
              <a:rPr dirty="0" sz="750" spc="1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shell</a:t>
            </a:r>
            <a:r>
              <a:rPr dirty="0" sz="750" spc="15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или</a:t>
            </a:r>
            <a:r>
              <a:rPr dirty="0" sz="750" spc="1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sh)</a:t>
            </a:r>
            <a:r>
              <a:rPr dirty="0" sz="750" spc="105" i="1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стандартная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командная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оболочка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UNIX/Linux,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содержащая</a:t>
            </a:r>
            <a:r>
              <a:rPr dirty="0" sz="750" spc="10">
                <a:latin typeface="Book Antiqua"/>
                <a:cs typeface="Book Antiqua"/>
              </a:rPr>
              <a:t> базовый,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но при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набор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функций;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 i="1">
                <a:latin typeface="Book Antiqua"/>
                <a:cs typeface="Book Antiqua"/>
              </a:rPr>
              <a:t>С-</a:t>
            </a:r>
            <a:r>
              <a:rPr dirty="0" sz="750" spc="45" i="1">
                <a:latin typeface="Book Antiqua"/>
                <a:cs typeface="Book Antiqua"/>
              </a:rPr>
              <a:t>оболочка</a:t>
            </a:r>
            <a:r>
              <a:rPr dirty="0" sz="750" spc="8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(или</a:t>
            </a:r>
            <a:r>
              <a:rPr dirty="0" sz="750" spc="8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csh)</a:t>
            </a:r>
            <a:r>
              <a:rPr dirty="0" sz="750" spc="40" i="1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надстройка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Борна,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использующая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С-</a:t>
            </a:r>
            <a:r>
              <a:rPr dirty="0" sz="750" spc="-10">
                <a:latin typeface="Book Antiqua"/>
                <a:cs typeface="Book Antiqua"/>
              </a:rPr>
              <a:t>подобный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синтаксис команд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возможностью </a:t>
            </a:r>
            <a:r>
              <a:rPr dirty="0" sz="750">
                <a:latin typeface="Book Antiqua"/>
                <a:cs typeface="Book Antiqua"/>
              </a:rPr>
              <a:t>сохранения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истории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 </a:t>
            </a:r>
            <a:r>
              <a:rPr dirty="0" sz="750" spc="-10">
                <a:latin typeface="Book Antiqua"/>
                <a:cs typeface="Book Antiqua"/>
              </a:rPr>
              <a:t>команд;</a:t>
            </a:r>
            <a:endParaRPr sz="750">
              <a:latin typeface="Book Antiqua"/>
              <a:cs typeface="Book Antiqua"/>
            </a:endParaRPr>
          </a:p>
          <a:p>
            <a:pPr lvl="3" marL="144145" marR="508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 i="1">
                <a:latin typeface="Book Antiqua"/>
                <a:cs typeface="Book Antiqua"/>
              </a:rPr>
              <a:t>оболочка</a:t>
            </a:r>
            <a:r>
              <a:rPr dirty="0" sz="750" spc="2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Корна</a:t>
            </a:r>
            <a:r>
              <a:rPr dirty="0" sz="750" spc="3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(или</a:t>
            </a:r>
            <a:r>
              <a:rPr dirty="0" sz="750" spc="2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ksh)</a:t>
            </a:r>
            <a:r>
              <a:rPr dirty="0" sz="750" spc="-10" i="1">
                <a:latin typeface="Book Antiqua"/>
                <a:cs typeface="Book Antiqua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напоминает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мой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совместимы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операторами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Борна;</a:t>
            </a:r>
            <a:endParaRPr sz="750">
              <a:latin typeface="Book Antiqua"/>
              <a:cs typeface="Book Antiqua"/>
            </a:endParaRPr>
          </a:p>
          <a:p>
            <a:pPr algn="r" lvl="3" marL="12700" marR="5080" indent="131445">
              <a:lnSpc>
                <a:spcPts val="890"/>
              </a:lnSpc>
              <a:spcBef>
                <a:spcPts val="5"/>
              </a:spcBef>
              <a:buFont typeface="Book Antiqua"/>
              <a:buChar char="–"/>
              <a:tabLst>
                <a:tab pos="144145" algn="l"/>
              </a:tabLst>
            </a:pPr>
            <a:r>
              <a:rPr dirty="0" sz="750" spc="-10" i="1">
                <a:latin typeface="Book Antiqua"/>
                <a:cs typeface="Book Antiqua"/>
              </a:rPr>
              <a:t>BASH</a:t>
            </a:r>
            <a:r>
              <a:rPr dirty="0" sz="750" spc="65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сокращение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 Bourne </a:t>
            </a:r>
            <a:r>
              <a:rPr dirty="0" sz="750" spc="-10">
                <a:latin typeface="Book Antiqua"/>
                <a:cs typeface="Book Antiqua"/>
              </a:rPr>
              <a:t>Again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Shell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(опять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Борна),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своей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сов-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мещает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свойства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оболочек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Корна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(разработка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компании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Free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Software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Foundation).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 i="1">
                <a:latin typeface="Book Antiqua"/>
                <a:cs typeface="Book Antiqua"/>
              </a:rPr>
              <a:t>POSIX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(Portable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Operating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System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Interface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for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Computer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Environments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набор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стандартов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описания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интерфейсов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взаимодействия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операционной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прикладных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Стандарты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POSIX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разработаны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комитетом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IEEE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(Institute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of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Electrical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and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Electronics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Engineers)</a:t>
            </a:r>
            <a:r>
              <a:rPr dirty="0" sz="750" spc="2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обеспечения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совместимости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различных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UNIX/Linux-</a:t>
            </a:r>
            <a:r>
              <a:rPr dirty="0" sz="750">
                <a:latin typeface="Book Antiqua"/>
                <a:cs typeface="Book Antiqua"/>
              </a:rPr>
              <a:t>подобных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ционных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переносимости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прикладных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уровне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исходного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кода.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POSIX-</a:t>
            </a:r>
            <a:r>
              <a:rPr dirty="0" sz="750" spc="10">
                <a:latin typeface="Book Antiqua"/>
                <a:cs typeface="Book Antiqua"/>
              </a:rPr>
              <a:t>совместимые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разработаны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базе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Корна.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40"/>
              </a:spcBef>
            </a:pPr>
            <a:r>
              <a:rPr dirty="0" sz="750">
                <a:latin typeface="Book Antiqua"/>
                <a:cs typeface="Book Antiqua"/>
              </a:rPr>
              <a:t>Рассмотрим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элементы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других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большинство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совпадать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описанными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ниже.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10.2.2.</a:t>
            </a:r>
            <a:r>
              <a:rPr dirty="0" sz="850" spc="23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Переменные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языке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программирования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-20" b="1">
                <a:latin typeface="Book Antiqua"/>
                <a:cs typeface="Book Antiqua"/>
              </a:rPr>
              <a:t>bash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процессор </a:t>
            </a:r>
            <a:r>
              <a:rPr dirty="0" sz="750" spc="20">
                <a:latin typeface="Book Antiqua"/>
                <a:cs typeface="Book Antiqua"/>
              </a:rPr>
              <a:t>bash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обеспечивает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возможность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переменных</a:t>
            </a:r>
            <a:r>
              <a:rPr dirty="0" sz="750" spc="20">
                <a:latin typeface="Book Antiqua"/>
                <a:cs typeface="Book Antiqua"/>
              </a:rPr>
              <a:t> типа </a:t>
            </a:r>
            <a:r>
              <a:rPr dirty="0" sz="750" spc="20" i="1">
                <a:latin typeface="Book Antiqua"/>
                <a:cs typeface="Book Antiqua"/>
              </a:rPr>
              <a:t>строка</a:t>
            </a:r>
            <a:r>
              <a:rPr dirty="0" sz="750" spc="15" i="1">
                <a:latin typeface="Book Antiqua"/>
                <a:cs typeface="Book Antiqua"/>
              </a:rPr>
              <a:t> </a:t>
            </a:r>
            <a:r>
              <a:rPr dirty="0" sz="750" spc="20" i="1">
                <a:latin typeface="Book Antiqua"/>
                <a:cs typeface="Book Antiqua"/>
              </a:rPr>
              <a:t>символов</a:t>
            </a:r>
            <a:r>
              <a:rPr dirty="0" sz="750" spc="20">
                <a:latin typeface="Book Antiqua"/>
                <a:cs typeface="Book Antiqua"/>
              </a:rPr>
              <a:t>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переменных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могут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быть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выбраны </a:t>
            </a:r>
            <a:r>
              <a:rPr dirty="0" sz="750" spc="10">
                <a:latin typeface="Book Antiqua"/>
                <a:cs typeface="Book Antiqua"/>
              </a:rPr>
              <a:t>пользователем.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ватель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возможность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присвоить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некоторой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405" y="549625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5446014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mark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/usr/andy/bin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304" y="5714200"/>
            <a:ext cx="4078604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54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присваивает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/usr/andy/bin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mark</a:t>
            </a:r>
            <a:r>
              <a:rPr dirty="0" sz="700" spc="-5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строка</a:t>
            </a:r>
            <a:r>
              <a:rPr dirty="0" sz="750" spc="500" i="1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символов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 spc="10">
                <a:latin typeface="Book Antiqua"/>
                <a:cs typeface="Book Antiqua"/>
              </a:rPr>
              <a:t>Значение,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присвоенное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некоторой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впоследствии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вано.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соответствующем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месте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 </a:t>
            </a:r>
            <a:r>
              <a:rPr dirty="0" sz="750" spc="10">
                <a:latin typeface="Book Antiqua"/>
                <a:cs typeface="Book Antiqua"/>
              </a:rPr>
              <a:t>должно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употреблено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которому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предшествует</a:t>
            </a:r>
            <a:r>
              <a:rPr dirty="0" sz="750" spc="10">
                <a:latin typeface="Book Antiqua"/>
                <a:cs typeface="Book Antiqua"/>
              </a:rPr>
              <a:t> метасимвол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$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-10">
                <a:latin typeface="Book Antiqua"/>
                <a:cs typeface="Book Antiqua"/>
              </a:rPr>
              <a:t> команда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405" y="644334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639309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afile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 b="1">
                <a:solidFill>
                  <a:srgbClr val="A35977"/>
                </a:solidFill>
                <a:latin typeface="Courier New"/>
                <a:cs typeface="Courier New"/>
              </a:rPr>
              <a:t>${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mark</a:t>
            </a:r>
            <a:r>
              <a:rPr dirty="0" sz="700" spc="-10" b="1">
                <a:solidFill>
                  <a:srgbClr val="A35977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5830" y="653389"/>
            <a:ext cx="408432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78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переместит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afile</a:t>
            </a:r>
            <a:r>
              <a:rPr dirty="0" sz="700" spc="-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абсолютным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именем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/usr/andy/bin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778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 spc="-10">
                <a:latin typeface="Book Antiqua"/>
                <a:cs typeface="Book Antiqua"/>
              </a:rPr>
              <a:t>Использование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значения, присвоенного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некоторой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называется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подстанов-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кой.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Для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 не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сливалось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общем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следующая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49615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44589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${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имя</a:t>
            </a:r>
            <a:r>
              <a:rPr dirty="0" sz="700" spc="30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переменной</a:t>
            </a:r>
            <a:r>
              <a:rPr dirty="0" sz="700" spc="-10" b="1">
                <a:solidFill>
                  <a:srgbClr val="A35977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9462" y="1714081"/>
            <a:ext cx="16078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198879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938540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b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/tmp/andy-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myfile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${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b</a:t>
            </a: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}</a:t>
            </a:r>
            <a:r>
              <a:rPr dirty="0" sz="700">
                <a:latin typeface="Courier New"/>
                <a:cs typeface="Courier New"/>
              </a:rPr>
              <a:t>lssudo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apt-get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install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texlive-</a:t>
            </a:r>
            <a:r>
              <a:rPr dirty="0" sz="700" spc="-10">
                <a:latin typeface="Courier New"/>
                <a:cs typeface="Courier New"/>
              </a:rPr>
              <a:t>luatex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5830" y="2320340"/>
            <a:ext cx="4084320" cy="8248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778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приведёт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переназначению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стандартного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4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терминала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endParaRPr sz="750">
              <a:latin typeface="Book Antiqua"/>
              <a:cs typeface="Book Antiqua"/>
            </a:endParaRPr>
          </a:p>
          <a:p>
            <a:pPr algn="just" marL="17780" marR="5080" indent="-5715">
              <a:lnSpc>
                <a:spcPts val="890"/>
              </a:lnSpc>
              <a:spcBef>
                <a:spcPts val="35"/>
              </a:spcBef>
            </a:pPr>
            <a:r>
              <a:rPr dirty="0" sz="700">
                <a:latin typeface="Courier New"/>
                <a:cs typeface="Courier New"/>
              </a:rPr>
              <a:t>/tmp/andy-ls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5">
                <a:latin typeface="Courier New"/>
                <a:cs typeface="Courier New"/>
              </a:rPr>
              <a:t>l&gt;$bls</a:t>
            </a:r>
            <a:r>
              <a:rPr dirty="0" sz="700" spc="-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bls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bls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предварительно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присвоено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никакого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пробела.</a:t>
            </a:r>
            <a:endParaRPr sz="750">
              <a:latin typeface="Book Antiqua"/>
              <a:cs typeface="Book Antiqua"/>
            </a:endParaRPr>
          </a:p>
          <a:p>
            <a:pPr algn="just" marL="17780" marR="12065" indent="97790">
              <a:lnSpc>
                <a:spcPts val="890"/>
              </a:lnSpc>
              <a:spcBef>
                <a:spcPts val="15"/>
              </a:spcBef>
            </a:pPr>
            <a:r>
              <a:rPr dirty="0" sz="750">
                <a:latin typeface="Book Antiqua"/>
                <a:cs typeface="Book Antiqua"/>
              </a:rPr>
              <a:t>Оболочка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bash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работать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массивами.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массива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set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-A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значений,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разделённых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пробелами.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327671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322646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set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-A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states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Delaware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Michigan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"New</a:t>
            </a:r>
            <a:r>
              <a:rPr dirty="0" sz="700" spc="3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A2121"/>
                </a:solidFill>
                <a:latin typeface="Courier New"/>
                <a:cs typeface="Courier New"/>
              </a:rPr>
              <a:t>Jersey"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3494646"/>
            <a:ext cx="4078604" cy="312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6034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Далее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можно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сделать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добавление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states[49]=Alaska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Индексация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массивов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начинается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нулевого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элемента.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750">
              <a:latin typeface="Book Antiqua"/>
              <a:cs typeface="Book Antiqua"/>
            </a:endParaRPr>
          </a:p>
          <a:p>
            <a:pPr marL="12700" marR="237490">
              <a:lnSpc>
                <a:spcPts val="980"/>
              </a:lnSpc>
            </a:pPr>
            <a:r>
              <a:rPr dirty="0" sz="850" spc="50" b="1">
                <a:latin typeface="Book Antiqua"/>
                <a:cs typeface="Book Antiqua"/>
              </a:rPr>
              <a:t>10.2.3.</a:t>
            </a:r>
            <a:r>
              <a:rPr dirty="0" sz="850" spc="23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Использование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арифметических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вычислений.</a:t>
            </a:r>
            <a:r>
              <a:rPr dirty="0" sz="850" spc="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Операторы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Book Antiqua"/>
                <a:cs typeface="Book Antiqua"/>
              </a:rPr>
              <a:t>let</a:t>
            </a:r>
            <a:r>
              <a:rPr dirty="0" sz="850" b="1">
                <a:latin typeface="Book Antiqua"/>
                <a:cs typeface="Book Antiqua"/>
              </a:rPr>
              <a:t> и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-20" b="1">
                <a:latin typeface="Book Antiqua"/>
                <a:cs typeface="Book Antiqua"/>
              </a:rPr>
              <a:t>read</a:t>
            </a:r>
            <a:endParaRPr sz="850">
              <a:latin typeface="Book Antiqua"/>
              <a:cs typeface="Book Antiqua"/>
            </a:endParaRPr>
          </a:p>
          <a:p>
            <a:pPr algn="just" marL="12700" marR="12065" indent="97790">
              <a:lnSpc>
                <a:spcPct val="100000"/>
              </a:lnSpc>
              <a:spcBef>
                <a:spcPts val="530"/>
              </a:spcBef>
            </a:pPr>
            <a:r>
              <a:rPr dirty="0" sz="750" spc="5">
                <a:latin typeface="Book Antiqua"/>
                <a:cs typeface="Book Antiqua"/>
              </a:rPr>
              <a:t>Оболочка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bash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поддерживает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встроенные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арифметические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функции.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 </a:t>
            </a:r>
            <a:r>
              <a:rPr dirty="0" sz="750" spc="5">
                <a:latin typeface="Book Antiqua"/>
                <a:cs typeface="Book Antiqua"/>
              </a:rPr>
              <a:t>является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показателем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того,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последующие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аргументы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представляют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собой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выражение,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подлежащее </a:t>
            </a:r>
            <a:r>
              <a:rPr dirty="0" sz="750">
                <a:latin typeface="Book Antiqua"/>
                <a:cs typeface="Book Antiqua"/>
              </a:rPr>
              <a:t>вычислению.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Простейшее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выражение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</a:t>
            </a:r>
            <a:r>
              <a:rPr dirty="0" sz="750" spc="-5">
                <a:latin typeface="Book Antiqua"/>
                <a:cs typeface="Book Antiqua"/>
              </a:rPr>
              <a:t> единичный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терм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(term),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 </a:t>
            </a:r>
            <a:r>
              <a:rPr dirty="0" sz="750" spc="5">
                <a:latin typeface="Book Antiqua"/>
                <a:cs typeface="Book Antiqua"/>
              </a:rPr>
              <a:t>целочисленный.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5"/>
              </a:spcBef>
            </a:pPr>
            <a:r>
              <a:rPr dirty="0" sz="750" spc="5">
                <a:latin typeface="Book Antiqua"/>
                <a:cs typeface="Book Antiqua"/>
              </a:rPr>
              <a:t>Целые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числа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можно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записывать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последовательность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цифр</a:t>
            </a:r>
            <a:r>
              <a:rPr dirty="0" sz="750">
                <a:latin typeface="Book Antiqua"/>
                <a:cs typeface="Book Antiqua"/>
              </a:rPr>
              <a:t> или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базовом</a:t>
            </a:r>
            <a:r>
              <a:rPr dirty="0" sz="750" spc="10">
                <a:latin typeface="Book Antiqua"/>
                <a:cs typeface="Book Antiqua"/>
              </a:rPr>
              <a:t> формате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типа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radix\#number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где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radix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(основание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системы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счисления)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чис-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более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26.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большинства</a:t>
            </a:r>
            <a:r>
              <a:rPr dirty="0" sz="750" spc="20">
                <a:latin typeface="Book Antiqua"/>
                <a:cs typeface="Book Antiqua"/>
              </a:rPr>
              <a:t> команд </a:t>
            </a:r>
            <a:r>
              <a:rPr dirty="0" sz="750" spc="15">
                <a:latin typeface="Book Antiqua"/>
                <a:cs typeface="Book Antiqua"/>
              </a:rPr>
              <a:t>используются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следующие</a:t>
            </a:r>
            <a:r>
              <a:rPr dirty="0" sz="750" spc="20">
                <a:latin typeface="Book Antiqua"/>
                <a:cs typeface="Book Antiqua"/>
              </a:rPr>
              <a:t> основания систем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исчисления: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2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(двоичная),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8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(восьмеричная)</a:t>
            </a:r>
            <a:r>
              <a:rPr dirty="0" sz="750">
                <a:latin typeface="Book Antiqua"/>
                <a:cs typeface="Book Antiqua"/>
              </a:rPr>
              <a:t> и </a:t>
            </a:r>
            <a:r>
              <a:rPr dirty="0" sz="750" spc="40">
                <a:latin typeface="Book Antiqua"/>
                <a:cs typeface="Book Antiqua"/>
              </a:rPr>
              <a:t>16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(шестнадцатеричная).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Простейшими </a:t>
            </a:r>
            <a:r>
              <a:rPr dirty="0" sz="750" spc="15">
                <a:latin typeface="Book Antiqua"/>
                <a:cs typeface="Book Antiqua"/>
              </a:rPr>
              <a:t>математическими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выражениями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являются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сложение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(+),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вычитание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(-</a:t>
            </a:r>
            <a:r>
              <a:rPr dirty="0" sz="750" spc="35">
                <a:latin typeface="Book Antiqua"/>
                <a:cs typeface="Book Antiqua"/>
              </a:rPr>
              <a:t>),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умножение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(*),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целочисленное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деление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(/)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целочисленный </a:t>
            </a:r>
            <a:r>
              <a:rPr dirty="0" sz="750" spc="10">
                <a:latin typeface="Book Antiqua"/>
                <a:cs typeface="Book Antiqua"/>
              </a:rPr>
              <a:t>остаток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деления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(%).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let</a:t>
            </a:r>
            <a:r>
              <a:rPr dirty="0" sz="700" spc="-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берет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операнда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присваивает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Положительным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мо-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ментом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let</a:t>
            </a:r>
            <a:r>
              <a:rPr dirty="0" sz="700" spc="-4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считать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то,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идентификации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ей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нужен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доллара;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писать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00" spc="17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sum=x+7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let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искать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переменную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добавлять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7.</a:t>
            </a:r>
            <a:endParaRPr sz="750">
              <a:latin typeface="Book Antiqua"/>
              <a:cs typeface="Book Antiqua"/>
            </a:endParaRPr>
          </a:p>
          <a:p>
            <a:pPr algn="just" marL="12700" marR="26034" indent="97790">
              <a:lnSpc>
                <a:spcPts val="890"/>
              </a:lnSpc>
              <a:spcBef>
                <a:spcPts val="1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70">
                <a:latin typeface="Courier New"/>
                <a:cs typeface="Courier New"/>
              </a:rPr>
              <a:t>let</a:t>
            </a:r>
            <a:r>
              <a:rPr dirty="0" sz="700" spc="-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расширяет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50">
                <a:latin typeface="Book Antiqua"/>
                <a:cs typeface="Book Antiqua"/>
              </a:rPr>
              <a:t>, если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заключены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двойные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круглые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скобки.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способом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создавать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довольно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сложные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выражения.</a:t>
            </a:r>
            <a:endParaRPr sz="750">
              <a:latin typeface="Book Antiqua"/>
              <a:cs typeface="Book Antiqua"/>
            </a:endParaRPr>
          </a:p>
          <a:p>
            <a:pPr algn="just" marL="12700" marR="22860" indent="97790">
              <a:lnSpc>
                <a:spcPts val="89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let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ограничена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простыми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арифметическими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выражениями.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Табл.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  <a:hlinkClick r:id="rId2" action="ppaction://hlinksldjump"/>
              </a:rPr>
              <a:t>10.1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показывает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50">
                <a:latin typeface="Book Antiqua"/>
                <a:cs typeface="Book Antiqua"/>
              </a:rPr>
              <a:t>-</a:t>
            </a:r>
            <a:r>
              <a:rPr dirty="0" sz="750" spc="-10">
                <a:latin typeface="Book Antiqua"/>
                <a:cs typeface="Book Antiqua"/>
              </a:rPr>
              <a:t>операций.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-20">
                <a:latin typeface="Book Antiqua"/>
                <a:cs typeface="Book Antiqua"/>
              </a:rPr>
              <a:t>Подобно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С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может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присваивать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любое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значение,</a:t>
            </a:r>
            <a:r>
              <a:rPr dirty="0" sz="750" spc="-7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произволь- </a:t>
            </a:r>
            <a:r>
              <a:rPr dirty="0" sz="750" spc="15">
                <a:latin typeface="Book Antiqua"/>
                <a:cs typeface="Book Antiqua"/>
              </a:rPr>
              <a:t>ное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выражение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само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имеет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значение,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может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использоваться.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этом</a:t>
            </a:r>
            <a:r>
              <a:rPr dirty="0" sz="750">
                <a:latin typeface="Book Antiqua"/>
                <a:cs typeface="Book Antiqua"/>
              </a:rPr>
              <a:t> «ноль» </a:t>
            </a:r>
            <a:r>
              <a:rPr dirty="0" sz="750" spc="20">
                <a:latin typeface="Book Antiqua"/>
                <a:cs typeface="Book Antiqua"/>
              </a:rPr>
              <a:t>воспринимается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«ложь»,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другое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значение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выражения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«истина».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84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631861" y="607746"/>
            <a:ext cx="3007360" cy="253365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2426970">
              <a:lnSpc>
                <a:spcPct val="100000"/>
              </a:lnSpc>
              <a:spcBef>
                <a:spcPts val="209"/>
              </a:spcBef>
            </a:pPr>
            <a:r>
              <a:rPr dirty="0" sz="650" spc="10" b="1">
                <a:latin typeface="Book Antiqua"/>
                <a:cs typeface="Book Antiqua"/>
              </a:rPr>
              <a:t>Таблица</a:t>
            </a:r>
            <a:r>
              <a:rPr dirty="0" sz="650" spc="135" b="1">
                <a:latin typeface="Book Antiqua"/>
                <a:cs typeface="Book Antiqua"/>
              </a:rPr>
              <a:t> </a:t>
            </a:r>
            <a:r>
              <a:rPr dirty="0" sz="650" spc="35" b="1">
                <a:latin typeface="Book Antiqua"/>
                <a:cs typeface="Book Antiqua"/>
              </a:rPr>
              <a:t>10.1</a:t>
            </a:r>
            <a:endParaRPr sz="6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20" b="1">
                <a:latin typeface="Book Antiqua"/>
                <a:cs typeface="Book Antiqua"/>
              </a:rPr>
              <a:t>Арифметические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операторы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оболочки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-20" b="1">
                <a:latin typeface="Book Antiqua"/>
                <a:cs typeface="Book Antiqua"/>
              </a:rPr>
              <a:t>bash</a:t>
            </a:r>
            <a:endParaRPr sz="650">
              <a:latin typeface="Book Antiqua"/>
              <a:cs typeface="Book Antiqua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683107" y="995350"/>
          <a:ext cx="3930015" cy="47758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/>
                <a:gridCol w="734059"/>
                <a:gridCol w="2572385"/>
              </a:tblGrid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650" spc="-10">
                          <a:latin typeface="Book Antiqua"/>
                          <a:cs typeface="Book Antiqua"/>
                        </a:rPr>
                        <a:t>Оператор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33019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650" spc="-10">
                          <a:latin typeface="Book Antiqua"/>
                          <a:cs typeface="Book Antiqua"/>
                        </a:rPr>
                        <a:t>Синтаксис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33019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650" spc="-10">
                          <a:latin typeface="Book Antiqua"/>
                          <a:cs typeface="Book Antiqua"/>
                        </a:rPr>
                        <a:t>Результат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33019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!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374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600" spc="-20">
                          <a:latin typeface="Courier New"/>
                          <a:cs typeface="Courier New"/>
                        </a:rPr>
                        <a:t>!ехр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374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Если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</a:t>
                      </a:r>
                      <a:r>
                        <a:rPr dirty="0" sz="600" spc="-1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0,</a:t>
                      </a:r>
                      <a:r>
                        <a:rPr dirty="0" sz="650" spc="-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-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3111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!=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9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!=ехр2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Если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не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20">
                          <a:latin typeface="Courier New"/>
                          <a:cs typeface="Courier New"/>
                        </a:rPr>
                        <a:t>ехр2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,</a:t>
                      </a:r>
                      <a:r>
                        <a:rPr dirty="0" sz="650" spc="-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-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%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ехр1%ехр2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остаток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от</a:t>
                      </a:r>
                      <a:r>
                        <a:rPr dirty="0" sz="650" spc="-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деления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%=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var=%exp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остаток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от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деления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&amp;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ехр1&amp;ехр2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10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35">
                          <a:latin typeface="Book Antiqua"/>
                          <a:cs typeface="Book Antiqua"/>
                        </a:rPr>
                        <a:t>AND</a:t>
                      </a:r>
                      <a:r>
                        <a:rPr dirty="0" sz="650" spc="1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выражений</a:t>
                      </a:r>
                      <a:r>
                        <a:rPr dirty="0" sz="650" spc="1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1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&amp;&amp;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ехр1&amp;&amp;ехр2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ехр2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не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равны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нулю,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&amp;=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&amp;=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8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1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35">
                          <a:latin typeface="Book Antiqua"/>
                          <a:cs typeface="Book Antiqua"/>
                        </a:rPr>
                        <a:t>AND</a:t>
                      </a:r>
                      <a:r>
                        <a:rPr dirty="0" sz="650" spc="1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1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*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Умножает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*=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*=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Умножает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значение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присваивает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результат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+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Складывает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+=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+=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Складывает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</a:t>
                      </a:r>
                      <a:r>
                        <a:rPr dirty="0" sz="600" spc="-1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со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значением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3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результат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-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Операция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отрицания</a:t>
                      </a:r>
                      <a:r>
                        <a:rPr dirty="0" sz="650" spc="10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-9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(унарный</a:t>
                      </a:r>
                      <a:r>
                        <a:rPr dirty="0" sz="650" spc="10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минус)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-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expl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Вычитает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00" spc="-13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из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exp1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600" spc="-50">
                          <a:latin typeface="Courier New"/>
                          <a:cs typeface="Courier New"/>
                        </a:rPr>
                        <a:t>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-=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Вычитает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-1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из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значения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присваивает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результат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/</a:t>
                      </a:r>
                      <a:r>
                        <a:rPr dirty="0" sz="600" spc="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Делит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/=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/=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Делит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значение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ре-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зультат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8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&lt;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expl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&lt;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меньше,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чем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,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возвращает 1,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возвра-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щает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&lt;&lt;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&lt;&lt;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Сдвигает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влево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00" spc="-1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бит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&lt;&lt;=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&lt;&lt;=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Побитовый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сдвиг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влево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значения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&lt;=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expl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&lt;=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меньше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или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2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,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иначе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600" spc="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значение</a:t>
                      </a:r>
                      <a:r>
                        <a:rPr dirty="0" sz="650" spc="8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-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8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==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exp1==exp2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,</a:t>
                      </a:r>
                      <a:r>
                        <a:rPr dirty="0" sz="650" spc="-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&gt;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&gt;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1,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9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0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больше,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чем</a:t>
                      </a:r>
                      <a:r>
                        <a:rPr dirty="0" sz="650" spc="9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;</a:t>
                      </a:r>
                      <a:r>
                        <a:rPr dirty="0" sz="650" spc="9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9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&gt;=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&gt;=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1,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больше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или</a:t>
                      </a:r>
                      <a:r>
                        <a:rPr dirty="0" sz="650" spc="8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8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;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8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&gt;&gt;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&gt;&gt;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Сдвигает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вправо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бит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&gt;&gt;=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&gt;&gt;=exp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Побитовый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сдвиг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вправо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значения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^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^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Исключающее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OR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выражений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^=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^=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XOR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|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OR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выражений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|=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|=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результат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операции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XOR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и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||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||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1,</a:t>
                      </a:r>
                      <a:r>
                        <a:rPr dirty="0" sz="650" spc="-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или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exp1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или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exp2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являются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ненулевыми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значениями;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4160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~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0">
                          <a:latin typeface="Courier New"/>
                          <a:cs typeface="Courier New"/>
                        </a:rPr>
                        <a:t>~exp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дополнение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до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581304" y="6014656"/>
            <a:ext cx="4078604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254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облегчения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программирования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записывать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условия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оболочки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bash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двойные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скобки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((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))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 spc="-2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присваивать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результаты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условных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переменным,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зовать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арифметических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вычислений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качестве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условий. Хорошим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примером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сказанного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некоторого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действия,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одновременно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декрементируя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некоторое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041719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991463"/>
            <a:ext cx="4032250" cy="7581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let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x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=5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 spc="-1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000000"/>
              </a:buClr>
              <a:buChar char="&gt;"/>
              <a:tabLst>
                <a:tab pos="147320" algn="l"/>
              </a:tabLst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((</a:t>
            </a:r>
            <a:r>
              <a:rPr dirty="0" sz="700" spc="2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x-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))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0"/>
              </a:spcBef>
              <a:buClr>
                <a:srgbClr val="000000"/>
              </a:buClr>
              <a:buFont typeface="Courier New"/>
              <a:buChar char="&gt;"/>
              <a:tabLst>
                <a:tab pos="147320" algn="l"/>
              </a:tabLst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har char="&gt;"/>
              <a:tabLst>
                <a:tab pos="147320" algn="l"/>
              </a:tabLst>
            </a:pPr>
            <a:r>
              <a:rPr dirty="0" sz="700" spc="-10">
                <a:latin typeface="Courier New"/>
                <a:cs typeface="Courier New"/>
              </a:rPr>
              <a:t>something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000000"/>
              </a:buClr>
              <a:buFont typeface="Courier New"/>
              <a:buChar char="&gt;"/>
              <a:tabLst>
                <a:tab pos="147320" algn="l"/>
              </a:tabLst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3" y="1827695"/>
            <a:ext cx="4078604" cy="1279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12065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пример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показывает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некоторого </a:t>
            </a:r>
            <a:r>
              <a:rPr dirty="0" sz="750" spc="10">
                <a:latin typeface="Book Antiqua"/>
                <a:cs typeface="Book Antiqua"/>
              </a:rPr>
              <a:t>действия 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начальным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значением </a:t>
            </a:r>
            <a:r>
              <a:rPr dirty="0" sz="750" spc="-25">
                <a:latin typeface="Book Antiqua"/>
                <a:cs typeface="Book Antiqua"/>
              </a:rPr>
              <a:t>5,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которое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декрементирует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пор,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 </a:t>
            </a:r>
            <a:r>
              <a:rPr dirty="0" sz="750">
                <a:latin typeface="Book Antiqua"/>
                <a:cs typeface="Book Antiqua"/>
              </a:rPr>
              <a:t>равно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нулю.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При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итерации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something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5"/>
              </a:spcBef>
            </a:pPr>
            <a:r>
              <a:rPr dirty="0" sz="750" spc="-15">
                <a:latin typeface="Book Antiqua"/>
                <a:cs typeface="Book Antiqua"/>
              </a:rPr>
              <a:t>Наиболее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распро</a:t>
            </a:r>
            <a:r>
              <a:rPr dirty="0" sz="750" spc="-15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транённым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является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сокращение,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избавляющееся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слова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про-</a:t>
            </a:r>
            <a:r>
              <a:rPr dirty="0" sz="750" spc="5">
                <a:latin typeface="Book Antiqua"/>
                <a:cs typeface="Book Antiqua"/>
              </a:rPr>
              <a:t> граммах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оболочек.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Если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объявить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целыми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значениями,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то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любое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присвоение </a:t>
            </a:r>
            <a:r>
              <a:rPr dirty="0" sz="750" spc="20">
                <a:latin typeface="Book Antiqua"/>
                <a:cs typeface="Book Antiqua"/>
              </a:rPr>
              <a:t>автоматически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будет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трактоваться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арифметическое</a:t>
            </a:r>
            <a:r>
              <a:rPr dirty="0" sz="750" spc="20">
                <a:latin typeface="Book Antiqua"/>
                <a:cs typeface="Book Antiqua"/>
              </a:rPr>
              <a:t> действие.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typeset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-i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объявления</a:t>
            </a:r>
            <a:r>
              <a:rPr dirty="0" sz="750" spc="-5">
                <a:latin typeface="Book Antiqua"/>
                <a:cs typeface="Book Antiqua"/>
              </a:rPr>
              <a:t> 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присвоения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</a:t>
            </a:r>
            <a:r>
              <a:rPr dirty="0" sz="750" spc="-5">
                <a:latin typeface="Book Antiqua"/>
                <a:cs typeface="Book Antiqua"/>
              </a:rPr>
              <a:t> 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последующем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её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приме-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нении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станет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целой.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Также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использовать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ключевое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слово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integer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(псевдоним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typeset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5">
                <a:latin typeface="Courier New"/>
                <a:cs typeface="Courier New"/>
              </a:rPr>
              <a:t>i</a:t>
            </a:r>
            <a:r>
              <a:rPr dirty="0" sz="750" spc="5">
                <a:latin typeface="Book Antiqua"/>
                <a:cs typeface="Book Antiqua"/>
              </a:rPr>
              <a:t>)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объявлять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таким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образом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целыми.</a:t>
            </a:r>
            <a:r>
              <a:rPr dirty="0" sz="750" spc="-8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Выражения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х=y+z </a:t>
            </a:r>
            <a:r>
              <a:rPr dirty="0" sz="750" spc="-5">
                <a:latin typeface="Book Antiqua"/>
                <a:cs typeface="Book Antiqua"/>
              </a:rPr>
              <a:t>будет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восприниматься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>
                <a:latin typeface="Book Antiqua"/>
                <a:cs typeface="Book Antiqua"/>
              </a:rPr>
              <a:t> случае </a:t>
            </a:r>
            <a:r>
              <a:rPr dirty="0" sz="750" spc="5">
                <a:latin typeface="Book Antiqua"/>
                <a:cs typeface="Book Antiqua"/>
              </a:rPr>
              <a:t>как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арифметические.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read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читать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стандартного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ввода: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3238488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3188233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1581150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"Please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enter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Month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and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Day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of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Birth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BA2121"/>
                </a:solidFill>
                <a:latin typeface="Courier New"/>
                <a:cs typeface="Courier New"/>
              </a:rPr>
              <a:t>?"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read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day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trash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3570033"/>
            <a:ext cx="4078604" cy="2301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mon</a:t>
            </a:r>
            <a:r>
              <a:rPr dirty="0" sz="700" spc="-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day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будут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считаны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введённые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кла-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виатуры,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переменная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trash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нужна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избыточно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введённую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игнорировать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её.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0"/>
              </a:lnSpc>
            </a:pPr>
            <a:r>
              <a:rPr dirty="0" sz="750">
                <a:latin typeface="Book Antiqua"/>
                <a:cs typeface="Book Antiqua"/>
              </a:rPr>
              <a:t>Изъять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переменную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unset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 spc="-10">
                <a:latin typeface="Book Antiqua"/>
                <a:cs typeface="Book Antiqua"/>
              </a:rPr>
              <a:t>Имена </a:t>
            </a:r>
            <a:r>
              <a:rPr dirty="0" sz="750">
                <a:latin typeface="Book Antiqua"/>
                <a:cs typeface="Book Antiqua"/>
              </a:rPr>
              <a:t>некоторых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имеют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смысл.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PATH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(т.е.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$РАТН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осуществляет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поиск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указанной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случае,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указанное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программы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содержит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содержит </a:t>
            </a:r>
            <a:r>
              <a:rPr dirty="0" sz="750">
                <a:latin typeface="Book Antiqua"/>
                <a:cs typeface="Book Antiqua"/>
              </a:rPr>
              <a:t>хотя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последователь-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ность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предписываемая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PATH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нарушается.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случае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того,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абсолютным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относительным, </a:t>
            </a:r>
            <a:r>
              <a:rPr dirty="0" sz="750" spc="-10">
                <a:latin typeface="Book Antiqua"/>
                <a:cs typeface="Book Antiqua"/>
              </a:rPr>
              <a:t>поиск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начинается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соответственно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корневого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40"/>
              </a:spcBef>
            </a:pP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явно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PATH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какое-либо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стандарт-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умолчанию)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следующая: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текущий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/bin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/usr/bin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Именно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такой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процессор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ищет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содержащие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которые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обеспечивают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таких, например,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echo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cat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0"/>
              </a:spcBef>
            </a:pP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списке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являющемся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значением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PATH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деляются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друг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друга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двоеточия.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качестве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примера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приведём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600330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595306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PATH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~/bin:/usr/local/bin/:/bin:/usr/bin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6221247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5">
                <a:latin typeface="Book Antiqua"/>
                <a:cs typeface="Book Antiqua"/>
              </a:rPr>
              <a:t>Переменные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PS1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PS2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предназначены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отображения </a:t>
            </a:r>
            <a:r>
              <a:rPr dirty="0" sz="750" spc="10">
                <a:latin typeface="Book Antiqua"/>
                <a:cs typeface="Book Antiqua"/>
              </a:rPr>
              <a:t>промптера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цессора.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PS1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</a:t>
            </a:r>
            <a:r>
              <a:rPr dirty="0" sz="750">
                <a:latin typeface="Book Antiqua"/>
                <a:cs typeface="Book Antiqua"/>
              </a:rPr>
              <a:t> промптер командного процессора,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 </a:t>
            </a:r>
            <a:r>
              <a:rPr dirty="0" sz="750" spc="-5">
                <a:latin typeface="Book Antiqua"/>
                <a:cs typeface="Book Antiqua"/>
              </a:rPr>
              <a:t>умолчанию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значение</a:t>
            </a:r>
            <a:r>
              <a:rPr dirty="0" sz="750">
                <a:latin typeface="Book Antiqua"/>
                <a:cs typeface="Book Antiqua"/>
              </a:rPr>
              <a:t> равно </a:t>
            </a:r>
            <a:r>
              <a:rPr dirty="0" sz="750" spc="15">
                <a:latin typeface="Book Antiqua"/>
                <a:cs typeface="Book Antiqua"/>
              </a:rPr>
              <a:t>символу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-1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#</a:t>
            </a:r>
            <a:r>
              <a:rPr dirty="0" sz="750" spc="15">
                <a:latin typeface="Book Antiqua"/>
                <a:cs typeface="Book Antiqua"/>
              </a:rPr>
              <a:t>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какая-то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интерактивная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программа,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запущенная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командным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86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78604" cy="56305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54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процессором,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требует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ввода,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используется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промптер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PS2.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Он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умолчанию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имеет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&gt;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5"/>
              </a:lnSpc>
            </a:pPr>
            <a:r>
              <a:rPr dirty="0" sz="750" spc="-10">
                <a:latin typeface="Book Antiqua"/>
                <a:cs typeface="Book Antiqua"/>
              </a:rPr>
              <a:t>Другие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переменные:</a:t>
            </a:r>
            <a:endParaRPr sz="750">
              <a:latin typeface="Book Antiqua"/>
              <a:cs typeface="Book Antiqua"/>
            </a:endParaRPr>
          </a:p>
          <a:p>
            <a:pPr algn="just"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HOME</a:t>
            </a:r>
            <a:r>
              <a:rPr dirty="0" sz="700" spc="-280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пользователя.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Если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вводится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без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тов,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>
                <a:latin typeface="Book Antiqua"/>
                <a:cs typeface="Book Antiqua"/>
              </a:rPr>
              <a:t> происходит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переход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каталог,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указанный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переменной.</a:t>
            </a:r>
            <a:endParaRPr sz="750">
              <a:latin typeface="Book Antiqua"/>
              <a:cs typeface="Book Antiqua"/>
            </a:endParaRPr>
          </a:p>
          <a:p>
            <a:pPr algn="just" marL="144145" marR="12065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IFS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символов,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являющихся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разделителями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командной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например,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пробел,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табуляция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перевод</a:t>
            </a:r>
            <a:r>
              <a:rPr dirty="0" sz="750">
                <a:latin typeface="Book Antiqua"/>
                <a:cs typeface="Book Antiqua"/>
              </a:rPr>
              <a:t> строки </a:t>
            </a:r>
            <a:r>
              <a:rPr dirty="0" sz="750" spc="-5">
                <a:latin typeface="Book Antiqua"/>
                <a:cs typeface="Book Antiqua"/>
              </a:rPr>
              <a:t>(new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line).</a:t>
            </a:r>
            <a:endParaRPr sz="750">
              <a:latin typeface="Book Antiqua"/>
              <a:cs typeface="Book Antiqua"/>
            </a:endParaRPr>
          </a:p>
          <a:p>
            <a:pPr algn="just"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MAIL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выводом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промптера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прове-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ряет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содержимое </a:t>
            </a:r>
            <a:r>
              <a:rPr dirty="0" sz="750" spc="-15">
                <a:latin typeface="Book Antiqua"/>
                <a:cs typeface="Book Antiqua"/>
              </a:rPr>
              <a:t>файла,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5">
                <a:latin typeface="Book Antiqua"/>
                <a:cs typeface="Book Antiqua"/>
              </a:rPr>
              <a:t> которого </a:t>
            </a:r>
            <a:r>
              <a:rPr dirty="0" sz="750">
                <a:latin typeface="Book Antiqua"/>
                <a:cs typeface="Book Antiqua"/>
              </a:rPr>
              <a:t>указано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если содержимое</a:t>
            </a:r>
            <a:r>
              <a:rPr dirty="0" sz="750">
                <a:latin typeface="Book Antiqua"/>
                <a:cs typeface="Book Antiqua"/>
              </a:rPr>
              <a:t> 	этого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файла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изменилось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момента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последнего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ввода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из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него,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то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перед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тем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вывести</a:t>
            </a:r>
            <a:r>
              <a:rPr dirty="0" sz="750">
                <a:latin typeface="Book Antiqua"/>
                <a:cs typeface="Book Antiqua"/>
              </a:rPr>
              <a:t> 	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терминал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промптер,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процессор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выводит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терминал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сообщение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You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have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mail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(у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Вас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есть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почта).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80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TERM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терминала.</a:t>
            </a:r>
            <a:endParaRPr sz="750">
              <a:latin typeface="Book Antiqua"/>
              <a:cs typeface="Book Antiqua"/>
            </a:endParaRPr>
          </a:p>
          <a:p>
            <a:pPr algn="just" marL="144145" marR="2540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LOGNAME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регистрационное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имя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пользователя,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которое </a:t>
            </a:r>
            <a:r>
              <a:rPr dirty="0" sz="750" spc="15">
                <a:latin typeface="Book Antiqua"/>
                <a:cs typeface="Book Antiqua"/>
              </a:rPr>
              <a:t>устанавливается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	</a:t>
            </a:r>
            <a:r>
              <a:rPr dirty="0" sz="750" spc="15">
                <a:latin typeface="Book Antiqua"/>
                <a:cs typeface="Book Antiqua"/>
              </a:rPr>
              <a:t>автоматически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входе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систему.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процессоре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ещё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Значе-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просмотреть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set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750">
              <a:latin typeface="Book Antiqua"/>
              <a:cs typeface="Book Antiqua"/>
            </a:endParaRPr>
          </a:p>
          <a:p>
            <a:pPr algn="just" lvl="2" marL="460375" indent="-447675">
              <a:lnSpc>
                <a:spcPct val="100000"/>
              </a:lnSpc>
              <a:buAutoNum type="arabicPeriod" startAt="4"/>
              <a:tabLst>
                <a:tab pos="460375" algn="l"/>
              </a:tabLst>
            </a:pPr>
            <a:r>
              <a:rPr dirty="0" sz="850" b="1">
                <a:latin typeface="Book Antiqua"/>
                <a:cs typeface="Book Antiqua"/>
              </a:rPr>
              <a:t>Метасимволы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их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экранирование</a:t>
            </a:r>
            <a:endParaRPr sz="850">
              <a:latin typeface="Book Antiqua"/>
              <a:cs typeface="Book Antiqua"/>
            </a:endParaRPr>
          </a:p>
          <a:p>
            <a:pPr marL="12700" marR="2540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-10">
                <a:latin typeface="Book Antiqua"/>
                <a:cs typeface="Book Antiqua"/>
              </a:rPr>
              <a:t>При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перечислении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имён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символы: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85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*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произвольной,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пустой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строке;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?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одинарному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символу;</a:t>
            </a:r>
            <a:endParaRPr sz="750">
              <a:latin typeface="Book Antiqua"/>
              <a:cs typeface="Book Antiqua"/>
            </a:endParaRPr>
          </a:p>
          <a:p>
            <a:pPr lvl="3" marL="144145" marR="26034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[c1-c1]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символу,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лексикографически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находящемуся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между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символами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c1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с2.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69"/>
              </a:lnSpc>
            </a:pPr>
            <a:r>
              <a:rPr dirty="0" sz="750" spc="-10">
                <a:latin typeface="Book Antiqua"/>
                <a:cs typeface="Book Antiqua"/>
              </a:rPr>
              <a:t>Например,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 spc="10">
                <a:latin typeface="Courier New"/>
                <a:cs typeface="Courier New"/>
              </a:rPr>
              <a:t>echo</a:t>
            </a:r>
            <a:r>
              <a:rPr dirty="0" sz="700" spc="7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*</a:t>
            </a:r>
            <a:r>
              <a:rPr dirty="0" sz="700" spc="-15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—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текущего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каталога,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представляет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собой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простейший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аналог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ls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69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*.c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последними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двумя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совпадающими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.c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3" marL="144145" marR="26034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echo</a:t>
            </a:r>
            <a:r>
              <a:rPr dirty="0" sz="700" spc="6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prog.?</a:t>
            </a:r>
            <a:r>
              <a:rPr dirty="0" sz="700" spc="-24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выведет все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состоящие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пяти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шести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первыми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пятью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являются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prog.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3"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[a-z]*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произвольному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начинаю-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щемуся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строчной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буквы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латинского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алфавита.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20">
                <a:latin typeface="Book Antiqua"/>
                <a:cs typeface="Book Antiqua"/>
              </a:rPr>
              <a:t>Такие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символы,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'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&lt;</a:t>
            </a:r>
            <a:r>
              <a:rPr dirty="0" sz="700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&gt;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*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?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|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\</a:t>
            </a:r>
            <a:r>
              <a:rPr dirty="0" sz="700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"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&amp;</a:t>
            </a:r>
            <a:r>
              <a:rPr dirty="0" sz="750" spc="20">
                <a:latin typeface="Book Antiqua"/>
                <a:cs typeface="Book Antiqua"/>
              </a:rPr>
              <a:t>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являются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метасимволами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имеют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мандного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процессора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смысл. Снятие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смысла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метасимвола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называется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экранированием</a:t>
            </a:r>
            <a:r>
              <a:rPr dirty="0" sz="750" spc="10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метасимвола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Экранирование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осуществлено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мощью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предшествующего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метасимволу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\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который,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свою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очередь,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является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метасимволом.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0"/>
              </a:spcBef>
            </a:pP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экранирования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группы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метасимволов </a:t>
            </a:r>
            <a:r>
              <a:rPr dirty="0" sz="750" spc="10">
                <a:latin typeface="Book Antiqua"/>
                <a:cs typeface="Book Antiqua"/>
              </a:rPr>
              <a:t>нужно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заключить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её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одинарные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кавыч-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ки.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Строка,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заключённая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двойные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кавычки,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экранирует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метасимволы,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кроме</a:t>
            </a:r>
            <a:endParaRPr sz="750">
              <a:latin typeface="Book Antiqua"/>
              <a:cs typeface="Book Antiqua"/>
            </a:endParaRPr>
          </a:p>
          <a:p>
            <a:pPr algn="just" marL="12700">
              <a:lnSpc>
                <a:spcPts val="869"/>
              </a:lnSpc>
            </a:pPr>
            <a:r>
              <a:rPr dirty="0" sz="700">
                <a:latin typeface="Courier New"/>
                <a:cs typeface="Courier New"/>
              </a:rPr>
              <a:t>$,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'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,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\,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"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endParaRPr sz="750">
              <a:latin typeface="Book Antiqua"/>
              <a:cs typeface="Book Antiqua"/>
            </a:endParaRPr>
          </a:p>
          <a:p>
            <a:pPr algn="just" lvl="3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 spc="10">
                <a:latin typeface="Courier New"/>
                <a:cs typeface="Courier New"/>
              </a:rPr>
              <a:t>echo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\*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 экран символ </a:t>
            </a:r>
            <a:r>
              <a:rPr dirty="0" sz="700" spc="-25">
                <a:latin typeface="Courier New"/>
                <a:cs typeface="Courier New"/>
              </a:rPr>
              <a:t>*</a:t>
            </a:r>
            <a:r>
              <a:rPr dirty="0" sz="750" spc="-25">
                <a:latin typeface="Book Antiqua"/>
                <a:cs typeface="Book Antiqua"/>
              </a:rPr>
              <a:t>,</a:t>
            </a:r>
            <a:endParaRPr sz="750">
              <a:latin typeface="Book Antiqua"/>
              <a:cs typeface="Book Antiqua"/>
            </a:endParaRPr>
          </a:p>
          <a:p>
            <a:pPr algn="just" lvl="3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 spc="10">
                <a:latin typeface="Courier New"/>
                <a:cs typeface="Courier New"/>
              </a:rPr>
              <a:t>echo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ab’*\|*’cd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 экран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ab*\|*cd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700">
              <a:latin typeface="Book Antiqua"/>
              <a:cs typeface="Book Antiqua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10.2.5.</a:t>
            </a:r>
            <a:r>
              <a:rPr dirty="0" sz="850" spc="23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Командные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файлы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функции</a:t>
            </a:r>
            <a:endParaRPr sz="850">
              <a:latin typeface="Book Antiqua"/>
              <a:cs typeface="Book Antiqua"/>
            </a:endParaRPr>
          </a:p>
          <a:p>
            <a:pPr marL="12700" marR="26034" indent="97790">
              <a:lnSpc>
                <a:spcPct val="100000"/>
              </a:lnSpc>
              <a:spcBef>
                <a:spcPts val="550"/>
              </a:spcBef>
            </a:pPr>
            <a:r>
              <a:rPr dirty="0" sz="750" spc="10">
                <a:latin typeface="Book Antiqua"/>
                <a:cs typeface="Book Antiqua"/>
              </a:rPr>
              <a:t>Последовательность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помещена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текстовый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файл.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Такой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называется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командным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Далее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6414898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6364656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bash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командный_файл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latin typeface="Courier New"/>
                <a:cs typeface="Courier New"/>
              </a:rPr>
              <a:t>аргументы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298" y="653389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Чтобы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вводить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каждый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последовательности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символов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bash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необходимо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из-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менить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защиты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этому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файлу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выполнению.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сделано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15532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10507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+x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имя_файла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373263"/>
            <a:ext cx="4078604" cy="38068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Теперь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вызывать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свой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10">
                <a:latin typeface="Book Antiqua"/>
                <a:cs typeface="Book Antiqua"/>
              </a:rPr>
              <a:t>выполнение,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просто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вводя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терминала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так,</a:t>
            </a:r>
            <a:r>
              <a:rPr dirty="0" sz="750" spc="-7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как-будто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он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является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выполняемой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программой.</a:t>
            </a:r>
            <a:r>
              <a:rPr dirty="0" sz="750" spc="-7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Командный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процессор </a:t>
            </a:r>
            <a:r>
              <a:rPr dirty="0" sz="750" spc="20">
                <a:latin typeface="Book Antiqua"/>
                <a:cs typeface="Book Antiqua"/>
              </a:rPr>
              <a:t>распознает,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что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Вашем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самом </a:t>
            </a:r>
            <a:r>
              <a:rPr dirty="0" sz="750" spc="15">
                <a:latin typeface="Book Antiqua"/>
                <a:cs typeface="Book Antiqua"/>
              </a:rPr>
              <a:t>деле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хранится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выполняемая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программа,</a:t>
            </a:r>
            <a:r>
              <a:rPr dirty="0" sz="750" spc="5">
                <a:latin typeface="Book Antiqua"/>
                <a:cs typeface="Book Antiqua"/>
              </a:rPr>
              <a:t> а</a:t>
            </a:r>
            <a:r>
              <a:rPr dirty="0" sz="750">
                <a:latin typeface="Book Antiqua"/>
                <a:cs typeface="Book Antiqua"/>
              </a:rPr>
              <a:t> программа,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написанная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языке</a:t>
            </a:r>
            <a:r>
              <a:rPr dirty="0" sz="750">
                <a:latin typeface="Book Antiqua"/>
                <a:cs typeface="Book Antiqua"/>
              </a:rPr>
              <a:t> программирования </a:t>
            </a:r>
            <a:r>
              <a:rPr dirty="0" sz="750" spc="-5">
                <a:latin typeface="Book Antiqua"/>
                <a:cs typeface="Book Antiqua"/>
              </a:rPr>
              <a:t>оболочки,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осуществит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её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интер-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претацию.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-10">
                <a:latin typeface="Book Antiqua"/>
                <a:cs typeface="Book Antiqua"/>
              </a:rPr>
              <a:t>Группу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объединить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функцию.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существует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ключевое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function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функции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заключённых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фигур-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скобки.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Удалить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функцию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unset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c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5">
                <a:latin typeface="Courier New"/>
                <a:cs typeface="Courier New"/>
              </a:rPr>
              <a:t>f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75"/>
              </a:lnSpc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typeset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четыре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функциями: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перечисляет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определённые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текущий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функции;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-ft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последующем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инициирует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трассировку;</a:t>
            </a:r>
            <a:endParaRPr sz="750">
              <a:latin typeface="Book Antiqua"/>
              <a:cs typeface="Book Antiqua"/>
            </a:endParaRPr>
          </a:p>
          <a:p>
            <a:pPr algn="just"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-fx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экспортирует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все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перечисленные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функции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любые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дочерние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обо-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	</a:t>
            </a:r>
            <a:r>
              <a:rPr dirty="0" sz="750" spc="15">
                <a:latin typeface="Book Antiqua"/>
                <a:cs typeface="Book Antiqua"/>
              </a:rPr>
              <a:t>лочек;</a:t>
            </a:r>
            <a:endParaRPr sz="750">
              <a:latin typeface="Book Antiqua"/>
              <a:cs typeface="Book Antiqua"/>
            </a:endParaRPr>
          </a:p>
          <a:p>
            <a:pPr algn="just"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-fu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обозначает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указанные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функции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автоматически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загружаемые.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Автоматиче-</a:t>
            </a:r>
            <a:r>
              <a:rPr dirty="0" sz="750" spc="5">
                <a:latin typeface="Book Antiqua"/>
                <a:cs typeface="Book Antiqua"/>
              </a:rPr>
              <a:t> 	ски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загружаемые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функции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хранятся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командных</a:t>
            </a:r>
            <a:r>
              <a:rPr dirty="0" sz="750">
                <a:latin typeface="Book Antiqua"/>
                <a:cs typeface="Book Antiqua"/>
              </a:rPr>
              <a:t> файлах,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</a:t>
            </a:r>
            <a:r>
              <a:rPr dirty="0" sz="750">
                <a:latin typeface="Book Antiqua"/>
                <a:cs typeface="Book Antiqua"/>
              </a:rPr>
              <a:t> при их </a:t>
            </a:r>
            <a:r>
              <a:rPr dirty="0" sz="750" spc="35">
                <a:latin typeface="Book Antiqua"/>
                <a:cs typeface="Book Antiqua"/>
              </a:rPr>
              <a:t>вызове</a:t>
            </a:r>
            <a:r>
              <a:rPr dirty="0" sz="750">
                <a:latin typeface="Book Antiqua"/>
                <a:cs typeface="Book Antiqua"/>
              </a:rPr>
              <a:t> оболочка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просматривает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FPATH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отыскивая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файл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одноимёнными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именами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функ-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ций,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загружает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вызывает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750">
              <a:latin typeface="Book Antiqua"/>
              <a:cs typeface="Book Antiqua"/>
            </a:endParaRPr>
          </a:p>
          <a:p>
            <a:pPr marL="12700" marR="374650">
              <a:lnSpc>
                <a:spcPts val="980"/>
              </a:lnSpc>
            </a:pPr>
            <a:r>
              <a:rPr dirty="0" sz="850" spc="50" b="1">
                <a:latin typeface="Book Antiqua"/>
                <a:cs typeface="Book Antiqua"/>
              </a:rPr>
              <a:t>10.2.6.</a:t>
            </a:r>
            <a:r>
              <a:rPr dirty="0" sz="850" spc="24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Передача</a:t>
            </a:r>
            <a:r>
              <a:rPr dirty="0" sz="850" spc="5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параметров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командные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файлы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и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специальные переменные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570"/>
              </a:spcBef>
            </a:pP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вызове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 spc="-5">
                <a:latin typeface="Book Antiqua"/>
                <a:cs typeface="Book Antiqua"/>
              </a:rPr>
              <a:t> файла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параметры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ему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могут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быть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переданы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точно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таким</a:t>
            </a:r>
            <a:r>
              <a:rPr dirty="0" sz="750" spc="15">
                <a:latin typeface="Book Antiqua"/>
                <a:cs typeface="Book Antiqua"/>
              </a:rPr>
              <a:t> же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образом,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выполняемой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программе.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С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точки </a:t>
            </a:r>
            <a:r>
              <a:rPr dirty="0" sz="750" spc="20">
                <a:latin typeface="Book Antiqua"/>
                <a:cs typeface="Book Antiqua"/>
              </a:rPr>
              <a:t>зрения</a:t>
            </a:r>
            <a:r>
              <a:rPr dirty="0" sz="750" spc="15">
                <a:latin typeface="Book Antiqua"/>
                <a:cs typeface="Book Antiqua"/>
              </a:rPr>
              <a:t> командного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файла </a:t>
            </a:r>
            <a:r>
              <a:rPr dirty="0" sz="750" spc="15">
                <a:latin typeface="Book Antiqua"/>
                <a:cs typeface="Book Antiqua"/>
              </a:rPr>
              <a:t>эти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параметры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являются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позиционными.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является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метасимволом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ко-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мандного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процессора.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Он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используется,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частности,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ссылки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параметры,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точнее,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получения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файле. </a:t>
            </a:r>
            <a:r>
              <a:rPr dirty="0" sz="750" spc="15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можно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передать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до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девяти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параметров.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использовании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где-</a:t>
            </a:r>
            <a:r>
              <a:rPr dirty="0" sz="750" spc="5">
                <a:latin typeface="Book Antiqua"/>
                <a:cs typeface="Book Antiqua"/>
              </a:rPr>
              <a:t>либо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командном</a:t>
            </a:r>
            <a:r>
              <a:rPr dirty="0" sz="750">
                <a:latin typeface="Book Antiqua"/>
                <a:cs typeface="Book Antiqua"/>
              </a:rPr>
              <a:t> файле </a:t>
            </a:r>
            <a:r>
              <a:rPr dirty="0" sz="750" spc="10">
                <a:latin typeface="Book Antiqua"/>
                <a:cs typeface="Book Antiqua"/>
              </a:rPr>
              <a:t>комбинации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символов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$i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где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900" spc="-55">
                <a:latin typeface="Cambria"/>
                <a:cs typeface="Cambria"/>
              </a:rPr>
              <a:t>0</a:t>
            </a:r>
            <a:r>
              <a:rPr dirty="0" sz="900" spc="175">
                <a:latin typeface="Cambria"/>
                <a:cs typeface="Cambria"/>
              </a:rPr>
              <a:t> </a:t>
            </a:r>
            <a:r>
              <a:rPr dirty="0" sz="900" spc="195">
                <a:latin typeface="Cambria"/>
                <a:cs typeface="Cambria"/>
              </a:rPr>
              <a:t>&lt;</a:t>
            </a:r>
            <a:r>
              <a:rPr dirty="0" sz="900" spc="175">
                <a:latin typeface="Cambria"/>
                <a:cs typeface="Cambria"/>
              </a:rPr>
              <a:t> </a:t>
            </a:r>
            <a:r>
              <a:rPr dirty="0" sz="900" spc="20">
                <a:latin typeface="Cambria"/>
                <a:cs typeface="Cambria"/>
              </a:rPr>
              <a:t>𝑖</a:t>
            </a:r>
            <a:r>
              <a:rPr dirty="0" sz="900" spc="180">
                <a:latin typeface="Cambria"/>
                <a:cs typeface="Cambria"/>
              </a:rPr>
              <a:t> </a:t>
            </a:r>
            <a:r>
              <a:rPr dirty="0" sz="900" spc="195">
                <a:latin typeface="Cambria"/>
                <a:cs typeface="Cambria"/>
              </a:rPr>
              <a:t>&lt;</a:t>
            </a:r>
            <a:r>
              <a:rPr dirty="0" sz="900" spc="175">
                <a:latin typeface="Cambria"/>
                <a:cs typeface="Cambria"/>
              </a:rPr>
              <a:t> </a:t>
            </a:r>
            <a:r>
              <a:rPr dirty="0" sz="900" spc="-30">
                <a:latin typeface="Cambria"/>
                <a:cs typeface="Cambria"/>
              </a:rPr>
              <a:t>10</a:t>
            </a:r>
            <a:r>
              <a:rPr dirty="0" sz="750" spc="-3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вместо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неё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будет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осуществлена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подстановка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значения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параметра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порядковым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номером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i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т.е.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аргумента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командного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порядковым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номером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i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Использование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комбинации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символов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$0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</a:t>
            </a:r>
            <a:r>
              <a:rPr dirty="0" sz="750" spc="-20">
                <a:latin typeface="Book Antiqua"/>
                <a:cs typeface="Book Antiqua"/>
              </a:rPr>
              <a:t>о</a:t>
            </a:r>
            <a:r>
              <a:rPr dirty="0" sz="750">
                <a:latin typeface="Book Antiqua"/>
                <a:cs typeface="Book Antiqua"/>
              </a:rPr>
              <a:t>дит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вместо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неё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имени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данного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файла.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Рассмотрим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10">
                <a:latin typeface="Book Antiqua"/>
                <a:cs typeface="Book Antiqua"/>
              </a:rPr>
              <a:t>примере.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ct val="100000"/>
              </a:lnSpc>
              <a:spcBef>
                <a:spcPts val="5"/>
              </a:spcBef>
            </a:pPr>
            <a:r>
              <a:rPr dirty="0" sz="750">
                <a:latin typeface="Book Antiqua"/>
                <a:cs typeface="Book Antiqua"/>
              </a:rPr>
              <a:t>Пусть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файлу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where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следующий</a:t>
            </a:r>
            <a:r>
              <a:rPr dirty="0" sz="750" spc="-10">
                <a:latin typeface="Book Antiqua"/>
                <a:cs typeface="Book Antiqua"/>
              </a:rPr>
              <a:t> конвейер: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5311128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5260886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who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$1</a:t>
            </a:r>
            <a:r>
              <a:rPr dirty="0" sz="700" spc="-25">
                <a:latin typeface="Courier New"/>
                <a:cs typeface="Courier New"/>
              </a:rPr>
              <a:t>.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5529072"/>
            <a:ext cx="4078604" cy="1052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12065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введёте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where</a:t>
            </a:r>
            <a:r>
              <a:rPr dirty="0" sz="700" spc="1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andy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случае,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пользователь,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зарегистрированный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ОС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UNIX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andy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работает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ОС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UNIX,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терминал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будет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содержащая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номер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терминала,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используемого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пользователем.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пользователь не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работает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ОС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UNIX,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 терминал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ничего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выведено.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grep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производит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контекстный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тексте, поступающем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стандартного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ввода,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нахождения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последовательности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переданные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качестве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аргументов,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стандарт-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фильтр,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обеспечивающий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со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0" y="653389"/>
            <a:ext cx="407670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1016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стандартного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andy</a:t>
            </a:r>
            <a:r>
              <a:rPr dirty="0" sz="750" spc="-10">
                <a:latin typeface="Book Antiqua"/>
                <a:cs typeface="Book Antiqua"/>
              </a:rPr>
              <a:t>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вывод.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ходе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интерпретации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процессором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</a:t>
            </a:r>
            <a:endParaRPr sz="750">
              <a:latin typeface="Book Antiqua"/>
              <a:cs typeface="Book Antiqua"/>
            </a:endParaRPr>
          </a:p>
          <a:p>
            <a:pPr algn="just" marL="12700" marR="5080">
              <a:lnSpc>
                <a:spcPts val="890"/>
              </a:lnSpc>
              <a:spcBef>
                <a:spcPts val="35"/>
              </a:spcBef>
            </a:pPr>
            <a:r>
              <a:rPr dirty="0" sz="700" spc="-35">
                <a:latin typeface="Courier New"/>
                <a:cs typeface="Courier New"/>
              </a:rPr>
              <a:t>$1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осуществляется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подстановка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первого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единственного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параметра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andy</a:t>
            </a:r>
            <a:r>
              <a:rPr dirty="0" sz="750" spc="-1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предположить,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пользователь,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зарегистрированный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ОС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UNIX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andy</a:t>
            </a:r>
            <a:r>
              <a:rPr dirty="0" sz="750" spc="-10">
                <a:latin typeface="Book Antiqua"/>
                <a:cs typeface="Book Antiqua"/>
              </a:rPr>
              <a:t>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данный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работает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ОС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UNIX,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-10">
                <a:latin typeface="Book Antiqua"/>
                <a:cs typeface="Book Antiqua"/>
              </a:rPr>
              <a:t> на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увидите</a:t>
            </a:r>
            <a:r>
              <a:rPr dirty="0" sz="750" spc="-10">
                <a:latin typeface="Book Antiqua"/>
                <a:cs typeface="Book Antiqua"/>
              </a:rPr>
              <a:t> примерно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496150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445895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where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andy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  <a:tabLst>
                <a:tab pos="1076325" algn="l"/>
              </a:tabLst>
            </a:pPr>
            <a:r>
              <a:rPr dirty="0" sz="700">
                <a:latin typeface="Courier New"/>
                <a:cs typeface="Courier New"/>
              </a:rPr>
              <a:t>andy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ttyG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Jan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14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	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09</a:t>
            </a:r>
            <a:r>
              <a:rPr dirty="0" sz="700" spc="-10">
                <a:latin typeface="Courier New"/>
                <a:cs typeface="Courier New"/>
              </a:rPr>
              <a:t>:12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50">
                <a:latin typeface="Courier New"/>
                <a:cs typeface="Courier New"/>
              </a:rPr>
              <a:t>$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9462" y="1941296"/>
            <a:ext cx="34994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Определим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функцию,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которая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изменяет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печатает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2216011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2165756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clist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000000"/>
              </a:buClr>
              <a:buChar char="&gt;"/>
              <a:tabLst>
                <a:tab pos="147320" algn="l"/>
              </a:tabLst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$1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har char="&gt;"/>
              <a:tabLst>
                <a:tab pos="147320" algn="l"/>
              </a:tabLst>
            </a:pP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0"/>
              </a:spcBef>
              <a:buClr>
                <a:srgbClr val="000000"/>
              </a:buClr>
              <a:buChar char="&gt;"/>
              <a:tabLst>
                <a:tab pos="147320" algn="l"/>
              </a:tabLst>
            </a:pP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2774772"/>
            <a:ext cx="4078604" cy="36652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10489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Теперь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clist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изменён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содержимое.</a:t>
            </a:r>
            <a:endParaRPr sz="750">
              <a:latin typeface="Book Antiqua"/>
              <a:cs typeface="Book Antiqua"/>
            </a:endParaRPr>
          </a:p>
          <a:p>
            <a:pPr algn="just" marL="12700" marR="26034" indent="97790">
              <a:lnSpc>
                <a:spcPts val="890"/>
              </a:lnSpc>
              <a:spcBef>
                <a:spcPts val="35"/>
              </a:spcBef>
            </a:pPr>
            <a:r>
              <a:rPr dirty="0" sz="750" spc="-10">
                <a:latin typeface="Book Antiqua"/>
                <a:cs typeface="Book Antiqua"/>
              </a:rPr>
              <a:t>Команда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shift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удалять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сдвигает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места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предыдущих.</a:t>
            </a:r>
            <a:endParaRPr sz="750">
              <a:latin typeface="Book Antiqua"/>
              <a:cs typeface="Book Antiqua"/>
            </a:endParaRPr>
          </a:p>
          <a:p>
            <a:pPr algn="just" marL="12700" marR="26034" indent="97790">
              <a:lnSpc>
                <a:spcPts val="89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использовании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комбинации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00" spc="-120">
                <a:latin typeface="Courier New"/>
                <a:cs typeface="Courier New"/>
              </a:rPr>
              <a:t>$#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неё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осуществлена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числа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параметров,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указанных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 вызове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75"/>
              </a:lnSpc>
            </a:pPr>
            <a:r>
              <a:rPr dirty="0" sz="750" spc="10">
                <a:latin typeface="Book Antiqua"/>
                <a:cs typeface="Book Antiqua"/>
              </a:rPr>
              <a:t>Вот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ещё несколько специальных переменных,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используемых в командных </a:t>
            </a:r>
            <a:r>
              <a:rPr dirty="0" sz="750" spc="-10">
                <a:latin typeface="Book Antiqua"/>
                <a:cs typeface="Book Antiqua"/>
              </a:rPr>
              <a:t>файлах: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$*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отображается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командная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оболочки;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$?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код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$$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уникальный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идентификатор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рамках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процессор;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$!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рамках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последняя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вызванная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нение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69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$-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флагов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процессора;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${#*}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возвращает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количество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$*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${#name}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возвращает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длины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name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${name[n]}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обращение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n-му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элементу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массива;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${name[*]}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перечисляет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элементы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разделённые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пробелом;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${name[@]}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самое,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учитывать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пробелы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самих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менных;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${name:-value}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 значение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name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определено,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заме-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нено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value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69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${name:value}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проверяется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факт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существования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переменной;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${name=value}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name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определено,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присваивается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value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marR="12065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${name?value}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останавливает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выполнение,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определено,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value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ошибке;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${name+value}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противоположно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${name-value}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ременная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определена,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подставляется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value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marR="26034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${name#pattern}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—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представляет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name</a:t>
            </a:r>
            <a:r>
              <a:rPr dirty="0" sz="700" spc="-14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удалённым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самым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коротким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левым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образцом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(pattern);</a:t>
            </a:r>
            <a:endParaRPr sz="750">
              <a:latin typeface="Book Antiqua"/>
              <a:cs typeface="Book Antiqua"/>
            </a:endParaRPr>
          </a:p>
          <a:p>
            <a:pPr marL="144145" marR="25400" indent="-117475">
              <a:lnSpc>
                <a:spcPts val="890"/>
              </a:lnSpc>
              <a:spcBef>
                <a:spcPts val="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${#name[*]}</a:t>
            </a:r>
            <a:r>
              <a:rPr dirty="0" sz="700" spc="-12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${#name[@]}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—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выражения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возвращают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количество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элементов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name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1304" y="392412"/>
            <a:ext cx="4078604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3035" algn="l"/>
              </a:tabLst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25">
                <a:latin typeface="Book Antiqua"/>
                <a:cs typeface="Book Antiqua"/>
              </a:rPr>
              <a:t>89</a:t>
            </a:r>
            <a:endParaRPr sz="6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10.2.7.</a:t>
            </a:r>
            <a:r>
              <a:rPr dirty="0" sz="850" spc="40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Использование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getopts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Весьма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которая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осу-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ществляет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синтаксический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анализ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строки,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выделяя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флаги,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объявления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переменных.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Синтаксис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следующий: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0405" y="134254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004" y="129230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getopts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option-string</a:t>
            </a:r>
            <a:r>
              <a:rPr dirty="0" sz="700" spc="48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variable</a:t>
            </a:r>
            <a:r>
              <a:rPr dirty="0" sz="700" spc="484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arg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...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304" y="1560487"/>
            <a:ext cx="4078604" cy="1279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12065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10" i="1">
                <a:latin typeface="Book Antiqua"/>
                <a:cs typeface="Book Antiqua"/>
              </a:rPr>
              <a:t>Флаги</a:t>
            </a:r>
            <a:r>
              <a:rPr dirty="0" sz="750" spc="-3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>
                <a:latin typeface="Book Antiqua"/>
                <a:cs typeface="Book Antiqua"/>
              </a:rPr>
              <a:t> опции </a:t>
            </a:r>
            <a:r>
              <a:rPr dirty="0" sz="750" spc="5">
                <a:latin typeface="Book Antiqua"/>
                <a:cs typeface="Book Antiqua"/>
              </a:rPr>
              <a:t>командной</a:t>
            </a:r>
            <a:r>
              <a:rPr dirty="0" sz="750">
                <a:latin typeface="Book Antiqua"/>
                <a:cs typeface="Book Antiqua"/>
              </a:rPr>
              <a:t> строки,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 </a:t>
            </a:r>
            <a:r>
              <a:rPr dirty="0" sz="750" spc="10">
                <a:latin typeface="Book Antiqua"/>
                <a:cs typeface="Book Antiqua"/>
              </a:rPr>
              <a:t>помеченные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знаком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минус;</a:t>
            </a:r>
            <a:r>
              <a:rPr dirty="0" sz="750">
                <a:latin typeface="Book Antiqua"/>
                <a:cs typeface="Book Antiqua"/>
              </a:rPr>
              <a:t> Например, 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флагом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может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являться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10">
                <a:latin typeface="Courier New"/>
                <a:cs typeface="Courier New"/>
              </a:rPr>
              <a:t>F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Иногда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флаги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имеют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аргументы,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связанные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ними.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 </a:t>
            </a:r>
            <a:r>
              <a:rPr dirty="0" sz="750" spc="5">
                <a:latin typeface="Book Antiqua"/>
                <a:cs typeface="Book Antiqua"/>
              </a:rPr>
              <a:t>интерпретируют</a:t>
            </a:r>
            <a:r>
              <a:rPr dirty="0" sz="750" spc="-5">
                <a:latin typeface="Book Antiqua"/>
                <a:cs typeface="Book Antiqua"/>
              </a:rPr>
              <a:t> флаги,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соответствующим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образом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изменяя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своё</a:t>
            </a:r>
            <a:r>
              <a:rPr dirty="0" sz="750" spc="15">
                <a:latin typeface="Book Antiqua"/>
                <a:cs typeface="Book Antiqua"/>
              </a:rPr>
              <a:t> поведение.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0"/>
              </a:spcBef>
            </a:pPr>
            <a:r>
              <a:rPr dirty="0" sz="750" spc="-15">
                <a:latin typeface="Book Antiqua"/>
                <a:cs typeface="Book Antiqua"/>
              </a:rPr>
              <a:t>Строка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опций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option-string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возможных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букв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чисел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соответствующего </a:t>
            </a:r>
            <a:r>
              <a:rPr dirty="0" sz="750" spc="-15">
                <a:latin typeface="Book Antiqua"/>
                <a:cs typeface="Book Antiqua"/>
              </a:rPr>
              <a:t>флага.</a:t>
            </a:r>
            <a:r>
              <a:rPr dirty="0" sz="750" spc="-9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Если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ожидается,</a:t>
            </a:r>
            <a:r>
              <a:rPr dirty="0" sz="750" spc="-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некоторый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флаг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сопровождаться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некоторым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аргументом, </a:t>
            </a:r>
            <a:r>
              <a:rPr dirty="0" sz="750" spc="20">
                <a:latin typeface="Book Antiqua"/>
                <a:cs typeface="Book Antiqua"/>
              </a:rPr>
              <a:t>то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за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символом,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обозначающим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этот </a:t>
            </a:r>
            <a:r>
              <a:rPr dirty="0" sz="750" spc="-15">
                <a:latin typeface="Book Antiqua"/>
                <a:cs typeface="Book Antiqua"/>
              </a:rPr>
              <a:t>флаг, </a:t>
            </a:r>
            <a:r>
              <a:rPr dirty="0" sz="750" spc="5">
                <a:latin typeface="Book Antiqua"/>
                <a:cs typeface="Book Antiqua"/>
              </a:rPr>
              <a:t>должно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следовать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двоеточие.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Соответству-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ющей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переменной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присваивается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буква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данной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опции.</a:t>
            </a:r>
            <a:r>
              <a:rPr dirty="0" sz="750">
                <a:latin typeface="Book Antiqua"/>
                <a:cs typeface="Book Antiqua"/>
              </a:rPr>
              <a:t> 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может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распознать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аргумент,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она </a:t>
            </a:r>
            <a:r>
              <a:rPr dirty="0" sz="750" spc="10">
                <a:latin typeface="Book Antiqua"/>
                <a:cs typeface="Book Antiqua"/>
              </a:rPr>
              <a:t>возвращает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истину.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Принято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включать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getopts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цикл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анализировать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введённые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данные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оператора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case</a:t>
            </a:r>
            <a:r>
              <a:rPr dirty="0" sz="750" spc="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Предположим,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распознать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командную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следующего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формата: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405" y="297128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4004" y="2921038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testprog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-ifile_in.txt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-ofile_out.doc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-t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50">
                <a:latin typeface="Courier New"/>
                <a:cs typeface="Courier New"/>
              </a:rPr>
              <a:t>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1304" y="3189224"/>
            <a:ext cx="31210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Вот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00" spc="-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случае: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94004" y="3413683"/>
            <a:ext cx="4032250" cy="1212215"/>
          </a:xfrm>
          <a:custGeom>
            <a:avLst/>
            <a:gdLst/>
            <a:ahLst/>
            <a:cxnLst/>
            <a:rect l="l" t="t" r="r" b="b"/>
            <a:pathLst>
              <a:path w="4032250" h="1212214">
                <a:moveTo>
                  <a:pt x="4031996" y="0"/>
                </a:moveTo>
                <a:lnTo>
                  <a:pt x="0" y="0"/>
                </a:lnTo>
                <a:lnTo>
                  <a:pt x="0" y="1211999"/>
                </a:lnTo>
                <a:lnTo>
                  <a:pt x="4031996" y="1211999"/>
                </a:lnTo>
                <a:lnTo>
                  <a:pt x="403199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71335" y="3463938"/>
            <a:ext cx="83820" cy="11137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1951" y="3427372"/>
            <a:ext cx="1707514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3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getopts</a:t>
            </a:r>
            <a:r>
              <a:rPr dirty="0" sz="700" spc="3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o:i:Ltr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optletter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case</a:t>
            </a:r>
            <a:r>
              <a:rPr dirty="0" sz="700" spc="3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$optletter</a:t>
            </a:r>
            <a:r>
              <a:rPr dirty="0" sz="700" spc="30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34464" y="3654588"/>
            <a:ext cx="778510" cy="2489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R="5080">
              <a:lnSpc>
                <a:spcPct val="106500"/>
              </a:lnSpc>
              <a:spcBef>
                <a:spcPts val="60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oval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$OPTARG</a:t>
            </a:r>
            <a:r>
              <a:rPr dirty="0" sz="700" spc="-10">
                <a:latin typeface="Courier New"/>
                <a:cs typeface="Courier New"/>
              </a:rPr>
              <a:t>;;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ival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$OPTARG</a:t>
            </a:r>
            <a:r>
              <a:rPr dirty="0" sz="700" spc="-10">
                <a:latin typeface="Courier New"/>
                <a:cs typeface="Courier New"/>
              </a:rPr>
              <a:t>;;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23886" y="3654588"/>
            <a:ext cx="504825" cy="5892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R="5715">
              <a:lnSpc>
                <a:spcPct val="106500"/>
              </a:lnSpc>
              <a:spcBef>
                <a:spcPts val="60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oflag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iflag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Lflag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tflag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rflag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23886" y="4222634"/>
            <a:ext cx="165290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Illegal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option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$optletter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1951" y="3654588"/>
            <a:ext cx="231775" cy="930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25">
                <a:latin typeface="Courier New"/>
                <a:cs typeface="Courier New"/>
              </a:rPr>
              <a:t>o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i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L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t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r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R="5080">
              <a:lnSpc>
                <a:spcPct val="106500"/>
              </a:lnSpc>
            </a:pPr>
            <a:r>
              <a:rPr dirty="0" sz="700" spc="-25">
                <a:latin typeface="Courier New"/>
                <a:cs typeface="Courier New"/>
              </a:rPr>
              <a:t>*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 </a:t>
            </a: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esac 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304" y="4704346"/>
            <a:ext cx="4078604" cy="18643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635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Функция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включает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две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специальные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переменные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среды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OPTARG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 </a:t>
            </a:r>
            <a:r>
              <a:rPr dirty="0" sz="700" spc="5">
                <a:latin typeface="Courier New"/>
                <a:cs typeface="Courier New"/>
              </a:rPr>
              <a:t>OPTIND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ожидается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дополнительное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значение,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OPTARG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устанавливается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этого </a:t>
            </a:r>
            <a:r>
              <a:rPr dirty="0" sz="750" spc="10">
                <a:latin typeface="Book Antiqua"/>
                <a:cs typeface="Book Antiqua"/>
              </a:rPr>
              <a:t>аргумента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(будет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равна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file_in.txt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опции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 </a:t>
            </a:r>
            <a:r>
              <a:rPr dirty="0" sz="700">
                <a:latin typeface="Courier New"/>
                <a:cs typeface="Courier New"/>
              </a:rPr>
              <a:t>file_out.doc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опции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o</a:t>
            </a:r>
            <a:r>
              <a:rPr dirty="0" sz="750" spc="15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OPTIND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числовым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индексом</a:t>
            </a:r>
            <a:r>
              <a:rPr dirty="0" sz="750">
                <a:latin typeface="Book Antiqua"/>
                <a:cs typeface="Book Antiqua"/>
              </a:rPr>
              <a:t> на упомянутый </a:t>
            </a:r>
            <a:r>
              <a:rPr dirty="0" sz="750" spc="5">
                <a:latin typeface="Book Antiqua"/>
                <a:cs typeface="Book Antiqua"/>
              </a:rPr>
              <a:t>аргумент.</a:t>
            </a:r>
            <a:endParaRPr sz="750">
              <a:latin typeface="Book Antiqua"/>
              <a:cs typeface="Book Antiqua"/>
            </a:endParaRPr>
          </a:p>
          <a:p>
            <a:pPr algn="just" marL="12700" marR="12065" indent="97790">
              <a:lnSpc>
                <a:spcPts val="890"/>
              </a:lnSpc>
              <a:spcBef>
                <a:spcPts val="20"/>
              </a:spcBef>
            </a:pPr>
            <a:r>
              <a:rPr dirty="0" sz="750">
                <a:latin typeface="Book Antiqua"/>
                <a:cs typeface="Book Antiqua"/>
              </a:rPr>
              <a:t>Функция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getopts</a:t>
            </a:r>
            <a:r>
              <a:rPr dirty="0" sz="700" spc="-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понимает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массив,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следовательно,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можно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функции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синтаксического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анализа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функций,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 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анализа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введённых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пользователем </a:t>
            </a:r>
            <a:r>
              <a:rPr dirty="0" sz="750" spc="-10">
                <a:latin typeface="Book Antiqua"/>
                <a:cs typeface="Book Antiqua"/>
              </a:rPr>
              <a:t>данных.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750">
              <a:latin typeface="Book Antiqua"/>
              <a:cs typeface="Book Antiqua"/>
            </a:endParaRPr>
          </a:p>
          <a:p>
            <a:pPr marL="110489" indent="-98425">
              <a:lnSpc>
                <a:spcPct val="100000"/>
              </a:lnSpc>
              <a:spcBef>
                <a:spcPts val="5"/>
              </a:spcBef>
            </a:pPr>
            <a:r>
              <a:rPr dirty="0" sz="850" spc="10" b="1">
                <a:latin typeface="Book Antiqua"/>
                <a:cs typeface="Book Antiqua"/>
              </a:rPr>
              <a:t>10.2.8.</a:t>
            </a:r>
            <a:r>
              <a:rPr dirty="0" sz="850" spc="26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Управление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последовательностью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действий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командных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файлах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0"/>
              </a:spcBef>
            </a:pPr>
            <a:r>
              <a:rPr dirty="0" sz="750">
                <a:latin typeface="Book Antiqua"/>
                <a:cs typeface="Book Antiqua"/>
              </a:rPr>
              <a:t>Часто </a:t>
            </a:r>
            <a:r>
              <a:rPr dirty="0" sz="750" spc="20">
                <a:latin typeface="Book Antiqua"/>
                <a:cs typeface="Book Antiqua"/>
              </a:rPr>
              <a:t>бывает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необходимо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обеспечить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проведение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каких-</a:t>
            </a:r>
            <a:r>
              <a:rPr dirty="0" sz="750">
                <a:latin typeface="Book Antiqua"/>
                <a:cs typeface="Book Antiqua"/>
              </a:rPr>
              <a:t>либо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действий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циклически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управление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дальнейшими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действиями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 проверки </a:t>
            </a:r>
            <a:r>
              <a:rPr dirty="0" sz="750" spc="10">
                <a:latin typeface="Book Antiqua"/>
                <a:cs typeface="Book Antiqua"/>
              </a:rPr>
              <a:t>некото-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условия.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решения</a:t>
            </a:r>
            <a:r>
              <a:rPr dirty="0" sz="750">
                <a:latin typeface="Book Antiqua"/>
                <a:cs typeface="Book Antiqua"/>
              </a:rPr>
              <a:t> п</a:t>
            </a:r>
            <a:r>
              <a:rPr dirty="0" sz="750" spc="-20">
                <a:latin typeface="Book Antiqua"/>
                <a:cs typeface="Book Antiqua"/>
              </a:rPr>
              <a:t>о</a:t>
            </a:r>
            <a:r>
              <a:rPr dirty="0" sz="750">
                <a:latin typeface="Book Antiqua"/>
                <a:cs typeface="Book Antiqua"/>
              </a:rPr>
              <a:t>добных </a:t>
            </a:r>
            <a:r>
              <a:rPr dirty="0" sz="750" spc="10">
                <a:latin typeface="Book Antiqua"/>
                <a:cs typeface="Book Antiqua"/>
              </a:rPr>
              <a:t>задач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язык</a:t>
            </a:r>
            <a:r>
              <a:rPr dirty="0" sz="750">
                <a:latin typeface="Book Antiqua"/>
                <a:cs typeface="Book Antiqua"/>
              </a:rPr>
              <a:t> программирования bash предоставляет </a:t>
            </a:r>
            <a:r>
              <a:rPr dirty="0" sz="750" spc="15">
                <a:latin typeface="Book Antiqua"/>
                <a:cs typeface="Book Antiqua"/>
              </a:rPr>
              <a:t>возможность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использовать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такие</a:t>
            </a:r>
            <a:r>
              <a:rPr dirty="0" sz="750">
                <a:latin typeface="Book Antiqua"/>
                <a:cs typeface="Book Antiqua"/>
              </a:rPr>
              <a:t> управляющие конструкции,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как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for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case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while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С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точки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зрения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процессора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управляющие</a:t>
            </a:r>
            <a:r>
              <a:rPr dirty="0" sz="750" spc="-5">
                <a:latin typeface="Book Antiqua"/>
                <a:cs typeface="Book Antiqua"/>
              </a:rPr>
              <a:t> конструкции </a:t>
            </a:r>
            <a:r>
              <a:rPr dirty="0" sz="750" spc="10">
                <a:latin typeface="Book Antiqua"/>
                <a:cs typeface="Book Antiqua"/>
              </a:rPr>
              <a:t>являются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обыч-</a:t>
            </a:r>
            <a:r>
              <a:rPr dirty="0" sz="750" spc="5">
                <a:latin typeface="Book Antiqua"/>
                <a:cs typeface="Book Antiqua"/>
              </a:rPr>
              <a:t> ными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использоваться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при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создании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командных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файлов,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при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78604" cy="938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работе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интерактивном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реализующие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подобные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конструкции,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су-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являются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операторами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Поэтому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описании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языка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оператор</a:t>
            </a:r>
            <a:r>
              <a:rPr dirty="0" sz="750" spc="20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использоваться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наравне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термином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команда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0"/>
              </a:spcBef>
            </a:pP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UNIX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возвращают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пользовано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принятия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решения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дальнейших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действиях.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test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специально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командных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файлах.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Единственная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заключается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выработке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72336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67311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file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941296"/>
            <a:ext cx="4057650" cy="13989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возвращает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нулевой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i="1">
                <a:latin typeface="Book Antiqua"/>
                <a:cs typeface="Book Antiqua"/>
              </a:rPr>
              <a:t>истина</a:t>
            </a:r>
            <a:r>
              <a:rPr dirty="0" sz="750">
                <a:latin typeface="Book Antiqua"/>
                <a:cs typeface="Book Antiqua"/>
              </a:rPr>
              <a:t>),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существует,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ненулевой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50" spc="10" i="1">
                <a:latin typeface="Book Antiqua"/>
                <a:cs typeface="Book Antiqua"/>
              </a:rPr>
              <a:t>ложь</a:t>
            </a:r>
            <a:r>
              <a:rPr dirty="0" sz="750" spc="10">
                <a:latin typeface="Book Antiqua"/>
                <a:cs typeface="Book Antiqua"/>
              </a:rPr>
              <a:t>)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противном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случае: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85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1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–— истина, если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истина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существует;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-i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чтению;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-w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-e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исполняемая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программа;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-d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каталогом.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10.2.8.1.</a:t>
            </a:r>
            <a:r>
              <a:rPr dirty="0" sz="750" spc="265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Оператор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цикла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25" b="1">
                <a:latin typeface="Book Antiqua"/>
                <a:cs typeface="Book Antiqua"/>
              </a:rPr>
              <a:t>for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3471622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3421367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значений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4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299" y="3916769"/>
            <a:ext cx="4078604" cy="11658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каждом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следующем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выполнении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оператора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цикла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переменная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 i="1">
                <a:latin typeface="Book Antiqua"/>
                <a:cs typeface="Book Antiqua"/>
              </a:rPr>
              <a:t>имя</a:t>
            </a:r>
            <a:r>
              <a:rPr dirty="0" sz="750" spc="30" i="1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прини-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мает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следующее</a:t>
            </a:r>
            <a:r>
              <a:rPr dirty="0" sz="750" spc="20">
                <a:latin typeface="Book Antiqua"/>
                <a:cs typeface="Book Antiqua"/>
              </a:rPr>
              <a:t> значение </a:t>
            </a:r>
            <a:r>
              <a:rPr dirty="0" sz="750" spc="30">
                <a:latin typeface="Book Antiqua"/>
                <a:cs typeface="Book Antiqua"/>
              </a:rPr>
              <a:t>из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значений,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задаваемых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списком </a:t>
            </a:r>
            <a:r>
              <a:rPr dirty="0" sz="750" spc="25" i="1">
                <a:latin typeface="Book Antiqua"/>
                <a:cs typeface="Book Antiqua"/>
              </a:rPr>
              <a:t>список</a:t>
            </a:r>
            <a:r>
              <a:rPr dirty="0" sz="750" spc="20" i="1">
                <a:latin typeface="Book Antiqua"/>
                <a:cs typeface="Book Antiqua"/>
              </a:rPr>
              <a:t> </a:t>
            </a:r>
            <a:r>
              <a:rPr dirty="0" sz="750" spc="25" i="1">
                <a:latin typeface="Book Antiqua"/>
                <a:cs typeface="Book Antiqua"/>
              </a:rPr>
              <a:t>-</a:t>
            </a:r>
            <a:r>
              <a:rPr dirty="0" sz="750" spc="35" i="1">
                <a:latin typeface="Book Antiqua"/>
                <a:cs typeface="Book Antiqua"/>
              </a:rPr>
              <a:t>значений</a:t>
            </a:r>
            <a:r>
              <a:rPr dirty="0" sz="750" spc="35">
                <a:latin typeface="Book Antiqua"/>
                <a:cs typeface="Book Antiqua"/>
              </a:rPr>
              <a:t>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Вообще </a:t>
            </a:r>
            <a:r>
              <a:rPr dirty="0" sz="750" spc="5">
                <a:latin typeface="Book Antiqua"/>
                <a:cs typeface="Book Antiqua"/>
              </a:rPr>
              <a:t>говоря,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</a:t>
            </a:r>
            <a:r>
              <a:rPr dirty="0" sz="750" spc="25" i="1">
                <a:latin typeface="Book Antiqua"/>
                <a:cs typeface="Book Antiqua"/>
              </a:rPr>
              <a:t>значений</a:t>
            </a:r>
            <a:r>
              <a:rPr dirty="0" sz="750" i="1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необязательным.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>
                <a:latin typeface="Book Antiqua"/>
                <a:cs typeface="Book Antiqua"/>
              </a:rPr>
              <a:t> отсутствии оператор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выполняется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всех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позиционных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параметров</a:t>
            </a:r>
            <a:r>
              <a:rPr dirty="0" sz="750">
                <a:latin typeface="Book Antiqua"/>
                <a:cs typeface="Book Antiqua"/>
              </a:rPr>
              <a:t> или,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иначе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говоря,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аргумен-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тов.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Таким </a:t>
            </a:r>
            <a:r>
              <a:rPr dirty="0" sz="750" spc="10">
                <a:latin typeface="Book Antiqua"/>
                <a:cs typeface="Book Antiqua"/>
              </a:rPr>
              <a:t>образом,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эквивалентен</a:t>
            </a:r>
            <a:r>
              <a:rPr dirty="0" sz="750" spc="-5">
                <a:latin typeface="Book Antiqua"/>
                <a:cs typeface="Book Antiqua"/>
              </a:rPr>
              <a:t> оператору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in</a:t>
            </a:r>
            <a:r>
              <a:rPr dirty="0" sz="700" spc="10">
                <a:latin typeface="Courier New"/>
                <a:cs typeface="Courier New"/>
              </a:rPr>
              <a:t> $*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Выполнение </a:t>
            </a:r>
            <a:r>
              <a:rPr dirty="0" sz="750">
                <a:latin typeface="Book Antiqua"/>
                <a:cs typeface="Book Antiqua"/>
              </a:rPr>
              <a:t>оператора </a:t>
            </a:r>
            <a:r>
              <a:rPr dirty="0" sz="750" spc="-5">
                <a:latin typeface="Book Antiqua"/>
                <a:cs typeface="Book Antiqua"/>
              </a:rPr>
              <a:t>цикла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завершается,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когда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</a:t>
            </a:r>
            <a:r>
              <a:rPr dirty="0" sz="750" spc="25" i="1">
                <a:latin typeface="Book Antiqua"/>
                <a:cs typeface="Book Antiqua"/>
              </a:rPr>
              <a:t>значений</a:t>
            </a:r>
            <a:r>
              <a:rPr dirty="0" sz="750" i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15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черпан.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Последователь-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ность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(операторов),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задаваемая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списком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5" i="1">
                <a:latin typeface="Book Antiqua"/>
                <a:cs typeface="Book Antiqua"/>
              </a:rPr>
              <a:t>список-</a:t>
            </a:r>
            <a:r>
              <a:rPr dirty="0" sz="750" spc="45" i="1">
                <a:latin typeface="Book Antiqua"/>
                <a:cs typeface="Book Antiqua"/>
              </a:rPr>
              <a:t>команд</a:t>
            </a:r>
            <a:r>
              <a:rPr dirty="0" sz="750" spc="45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состоит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из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 </a:t>
            </a:r>
            <a:r>
              <a:rPr dirty="0" sz="750" spc="5">
                <a:latin typeface="Book Antiqua"/>
                <a:cs typeface="Book Antiqua"/>
              </a:rPr>
              <a:t>более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>
                <a:latin typeface="Book Antiqua"/>
                <a:cs typeface="Book Antiqua"/>
              </a:rPr>
              <a:t> оболочки,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отделённых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друг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</a:t>
            </a:r>
            <a:r>
              <a:rPr dirty="0" sz="750" spc="-10">
                <a:latin typeface="Book Antiqua"/>
                <a:cs typeface="Book Antiqua"/>
              </a:rPr>
              <a:t>р</a:t>
            </a:r>
            <a:r>
              <a:rPr dirty="0" sz="750">
                <a:latin typeface="Book Antiqua"/>
                <a:cs typeface="Book Antiqua"/>
              </a:rPr>
              <a:t>уга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символов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newline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;</a:t>
            </a:r>
            <a:r>
              <a:rPr dirty="0" sz="750" spc="1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55"/>
              </a:lnSpc>
            </a:pPr>
            <a:r>
              <a:rPr dirty="0" sz="750">
                <a:latin typeface="Book Antiqua"/>
                <a:cs typeface="Book Antiqua"/>
              </a:rPr>
              <a:t>Рассмотрим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for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оператора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5213960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5163705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alpha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beta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gamma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A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5659107"/>
            <a:ext cx="19132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405" y="5933835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5883580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3712845">
              <a:lnSpc>
                <a:spcPct val="106500"/>
              </a:lnSpc>
              <a:spcBef>
                <a:spcPts val="170"/>
              </a:spcBef>
            </a:pPr>
            <a:r>
              <a:rPr dirty="0" sz="700" spc="-10">
                <a:latin typeface="Courier New"/>
                <a:cs typeface="Courier New"/>
              </a:rPr>
              <a:t>alpha </a:t>
            </a:r>
            <a:r>
              <a:rPr dirty="0" sz="700" spc="-20">
                <a:latin typeface="Courier New"/>
                <a:cs typeface="Courier New"/>
              </a:rPr>
              <a:t>beta </a:t>
            </a:r>
            <a:r>
              <a:rPr dirty="0" sz="700" spc="-10">
                <a:latin typeface="Courier New"/>
                <a:cs typeface="Courier New"/>
              </a:rPr>
              <a:t>gamma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304" y="6378981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Предположим,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хотите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найти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файлах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содержащих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исходные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написанных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вхождения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91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-25">
                <a:latin typeface="Book Antiqua"/>
                <a:cs typeface="Book Antiqua"/>
              </a:rPr>
              <a:t>функции</a:t>
            </a:r>
            <a:r>
              <a:rPr dirty="0" sz="750">
                <a:latin typeface="Book Antiqua"/>
                <a:cs typeface="Book Antiqua"/>
              </a:rPr>
              <a:t> с некоторым именем.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 можно сделать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 помощью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такой </a:t>
            </a:r>
            <a:r>
              <a:rPr dirty="0" sz="750" spc="-10">
                <a:latin typeface="Book Antiqua"/>
                <a:cs typeface="Book Antiqua"/>
              </a:rPr>
              <a:t>последовательности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041719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991463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algn="ctr" marR="367474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i</a:t>
            </a:r>
            <a:endParaRPr sz="700">
              <a:latin typeface="Courier New"/>
              <a:cs typeface="Courier New"/>
            </a:endParaRPr>
          </a:p>
          <a:p>
            <a:pPr algn="ctr" marR="362013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endParaRPr sz="700">
              <a:latin typeface="Courier New"/>
              <a:cs typeface="Courier New"/>
            </a:endParaRPr>
          </a:p>
          <a:p>
            <a:pPr algn="ctr" marR="3073400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$i</a:t>
            </a:r>
            <a:r>
              <a:rPr dirty="0" sz="700" spc="465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*.c</a:t>
            </a:r>
            <a:endParaRPr sz="700">
              <a:latin typeface="Courier New"/>
              <a:cs typeface="Courier New"/>
            </a:endParaRPr>
          </a:p>
          <a:p>
            <a:pPr algn="ctr" marR="3729354">
              <a:lnSpc>
                <a:spcPct val="100000"/>
              </a:lnSpc>
              <a:spcBef>
                <a:spcPts val="50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600479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Поместив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эту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findref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198879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938553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findref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'hash('</a:t>
            </a:r>
            <a:r>
              <a:rPr dirty="0" sz="700" spc="484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'insert('</a:t>
            </a:r>
            <a:r>
              <a:rPr dirty="0" sz="700" spc="484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A2121"/>
                </a:solidFill>
                <a:latin typeface="Courier New"/>
                <a:cs typeface="Courier New"/>
              </a:rPr>
              <a:t>'symbol('</a:t>
            </a:r>
            <a:r>
              <a:rPr dirty="0" sz="700" spc="-10">
                <a:latin typeface="Courier New"/>
                <a:cs typeface="Courier New"/>
              </a:rPr>
              <a:t>,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2206739"/>
            <a:ext cx="4078604" cy="12852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вывести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 spc="-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все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строки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из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-8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текущего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каталога,</a:t>
            </a:r>
            <a:r>
              <a:rPr dirty="0" sz="750" spc="-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которых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оканчи-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ваются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.с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содержащие </a:t>
            </a:r>
            <a:r>
              <a:rPr dirty="0" sz="750" spc="-5">
                <a:latin typeface="Book Antiqua"/>
                <a:cs typeface="Book Antiqua"/>
              </a:rPr>
              <a:t>ссылки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функции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hash(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)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insert(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)</a:t>
            </a:r>
            <a:r>
              <a:rPr dirty="0" sz="700" spc="-245">
                <a:latin typeface="Courier New"/>
                <a:cs typeface="Courier New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symbol(</a:t>
            </a:r>
            <a:r>
              <a:rPr dirty="0" sz="700" spc="10">
                <a:latin typeface="Courier New"/>
                <a:cs typeface="Courier New"/>
              </a:rPr>
              <a:t> )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'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вышеприведённом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снятия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специ-</a:t>
            </a:r>
            <a:r>
              <a:rPr dirty="0" sz="750" spc="5">
                <a:latin typeface="Book Antiqua"/>
                <a:cs typeface="Book Antiqua"/>
              </a:rPr>
              <a:t> ального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смысла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(</a:t>
            </a:r>
            <a:r>
              <a:rPr dirty="0" sz="750" spc="1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10.2.8.2.</a:t>
            </a:r>
            <a:r>
              <a:rPr dirty="0" sz="750" spc="29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Оператор</a:t>
            </a:r>
            <a:r>
              <a:rPr dirty="0" sz="750" spc="8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выбора</a:t>
            </a:r>
            <a:r>
              <a:rPr dirty="0" sz="750" spc="80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case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выбора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case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реализует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возможность</a:t>
            </a:r>
            <a:r>
              <a:rPr dirty="0" sz="750" spc="2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ветвления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произвольное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число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ветвей. Эта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обеспечивается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большинстве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современных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языков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мирования,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предполагающих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структурного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подхода.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case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3623450"/>
            <a:ext cx="54610" cy="5454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3573195"/>
            <a:ext cx="4032250" cy="64452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case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endParaRPr sz="700">
              <a:latin typeface="Courier New"/>
              <a:cs typeface="Courier New"/>
            </a:endParaRPr>
          </a:p>
          <a:p>
            <a:pPr marL="37465" marR="267398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шаблон1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 spc="7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команд;; </a:t>
            </a:r>
            <a:r>
              <a:rPr dirty="0" sz="700">
                <a:latin typeface="Courier New"/>
                <a:cs typeface="Courier New"/>
              </a:rPr>
              <a:t>шаблон2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 spc="7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команд;;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...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esac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4295812"/>
            <a:ext cx="4078604" cy="11658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case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сводится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тому,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что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выполняется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последователь- </a:t>
            </a:r>
            <a:r>
              <a:rPr dirty="0" sz="750" spc="15">
                <a:latin typeface="Book Antiqua"/>
                <a:cs typeface="Book Antiqua"/>
              </a:rPr>
              <a:t>ность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(операторов),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задаваемая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списком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 i="1">
                <a:latin typeface="Book Antiqua"/>
                <a:cs typeface="Book Antiqua"/>
              </a:rPr>
              <a:t>список-</a:t>
            </a:r>
            <a:r>
              <a:rPr dirty="0" sz="750" spc="45" i="1">
                <a:latin typeface="Book Antiqua"/>
                <a:cs typeface="Book Antiqua"/>
              </a:rPr>
              <a:t>команд</a:t>
            </a:r>
            <a:r>
              <a:rPr dirty="0" sz="750" spc="45">
                <a:latin typeface="Book Antiqua"/>
                <a:cs typeface="Book Antiqua"/>
              </a:rPr>
              <a:t>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строке,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 </a:t>
            </a:r>
            <a:r>
              <a:rPr dirty="0" sz="750" spc="5">
                <a:latin typeface="Book Antiqua"/>
                <a:cs typeface="Book Antiqua"/>
              </a:rPr>
              <a:t>которой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имя</a:t>
            </a:r>
            <a:r>
              <a:rPr dirty="0" sz="750" i="1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совпадает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шаблоном</a:t>
            </a:r>
            <a:r>
              <a:rPr dirty="0" sz="750" spc="3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Поскольку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метасимвол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*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соответству-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произвольной,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том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числе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пустой,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последовательности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символов,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его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можно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использовать</a:t>
            </a:r>
            <a:r>
              <a:rPr dirty="0" sz="750" spc="50">
                <a:latin typeface="Book Antiqua"/>
                <a:cs typeface="Book Antiqua"/>
              </a:rPr>
              <a:t> 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качестве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45" i="1">
                <a:latin typeface="Book Antiqua"/>
                <a:cs typeface="Book Antiqua"/>
              </a:rPr>
              <a:t>шаблона</a:t>
            </a:r>
            <a:r>
              <a:rPr dirty="0" sz="750" spc="65" i="1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последней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служебным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словом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esac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случае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реализуются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все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действия,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которые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необходимо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произвести,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если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 </a:t>
            </a:r>
            <a:r>
              <a:rPr dirty="0" sz="750" spc="15">
                <a:latin typeface="Book Antiqua"/>
                <a:cs typeface="Book Antiqua"/>
              </a:rPr>
              <a:t>переменной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 i="1">
                <a:latin typeface="Book Antiqua"/>
                <a:cs typeface="Book Antiqua"/>
              </a:rPr>
              <a:t>имя</a:t>
            </a:r>
            <a:r>
              <a:rPr dirty="0" sz="750" spc="10" i="1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совпадает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одним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из</a:t>
            </a:r>
            <a:r>
              <a:rPr dirty="0" sz="750" spc="10">
                <a:latin typeface="Book Antiqua"/>
                <a:cs typeface="Book Antiqua"/>
              </a:rPr>
              <a:t> шаблонов,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заданных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предшествующих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строках.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55"/>
              </a:lnSpc>
            </a:pPr>
            <a:r>
              <a:rPr dirty="0" sz="750">
                <a:latin typeface="Book Antiqua"/>
                <a:cs typeface="Book Antiqua"/>
              </a:rPr>
              <a:t>Рассмотрим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case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оператора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405" y="5593005"/>
            <a:ext cx="54610" cy="886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5542750"/>
            <a:ext cx="4032250" cy="98488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alpha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beta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gamma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case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r>
              <a:rPr dirty="0" sz="700" spc="20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endParaRPr sz="700">
              <a:latin typeface="Courier New"/>
              <a:cs typeface="Courier New"/>
            </a:endParaRPr>
          </a:p>
          <a:p>
            <a:pPr marL="365760" marR="2947670">
              <a:lnSpc>
                <a:spcPct val="106500"/>
              </a:lnSpc>
              <a:tabLst>
                <a:tab pos="802640" algn="l"/>
              </a:tabLst>
            </a:pPr>
            <a:r>
              <a:rPr dirty="0" sz="700">
                <a:latin typeface="Courier New"/>
                <a:cs typeface="Courier New"/>
              </a:rPr>
              <a:t>alpha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 spc="3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B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a;; beta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	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В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с;; </a:t>
            </a:r>
            <a:r>
              <a:rPr dirty="0" sz="700">
                <a:latin typeface="Courier New"/>
                <a:cs typeface="Courier New"/>
              </a:rPr>
              <a:t>gamma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 spc="3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В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25">
                <a:latin typeface="Courier New"/>
                <a:cs typeface="Courier New"/>
              </a:rPr>
              <a:t>e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esac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0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$B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19132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928104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877862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algn="just" marL="37465" marR="3931285">
              <a:lnSpc>
                <a:spcPct val="106500"/>
              </a:lnSpc>
              <a:spcBef>
                <a:spcPts val="170"/>
              </a:spcBef>
            </a:pPr>
            <a:r>
              <a:rPr dirty="0" sz="700" spc="-50">
                <a:latin typeface="Courier New"/>
                <a:cs typeface="Courier New"/>
              </a:rPr>
              <a:t>а c 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463316"/>
            <a:ext cx="3631565" cy="40005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750" spc="50" b="1">
                <a:latin typeface="Book Antiqua"/>
                <a:cs typeface="Book Antiqua"/>
              </a:rPr>
              <a:t>10.2.8.3.</a:t>
            </a:r>
            <a:r>
              <a:rPr dirty="0" sz="750" spc="24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Условный</a:t>
            </a:r>
            <a:r>
              <a:rPr dirty="0" sz="750" spc="5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оператор</a:t>
            </a:r>
            <a:r>
              <a:rPr dirty="0" sz="750" spc="55" b="1">
                <a:latin typeface="Book Antiqua"/>
                <a:cs typeface="Book Antiqua"/>
              </a:rPr>
              <a:t> </a:t>
            </a:r>
            <a:r>
              <a:rPr dirty="0" sz="750" spc="-25" b="1">
                <a:latin typeface="Book Antiqua"/>
                <a:cs typeface="Book Antiqua"/>
              </a:rPr>
              <a:t>if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условный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1994714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944459"/>
            <a:ext cx="4032250" cy="7581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  <a:tabLst>
                <a:tab pos="311150" algn="l"/>
              </a:tabLst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	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5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marL="37465" marR="2893060">
              <a:lnSpc>
                <a:spcPct val="106500"/>
              </a:lnSpc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elif</a:t>
            </a:r>
            <a:r>
              <a:rPr dirty="0" sz="700" spc="6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5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}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else</a:t>
            </a:r>
            <a:r>
              <a:rPr dirty="0" sz="700" spc="6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 </a:t>
            </a: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2780690"/>
            <a:ext cx="4078604" cy="15068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условного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125">
                <a:latin typeface="Courier New"/>
                <a:cs typeface="Courier New"/>
              </a:rPr>
              <a:t>if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сводится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тому,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сначала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довательность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список-команд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содержащей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Затем,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последняя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выполненная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последова-</a:t>
            </a:r>
            <a:r>
              <a:rPr dirty="0" sz="750" spc="20">
                <a:latin typeface="Book Antiqua"/>
                <a:cs typeface="Book Antiqua"/>
              </a:rPr>
              <a:t> тельности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возвращает</a:t>
            </a:r>
            <a:r>
              <a:rPr dirty="0" sz="750" spc="10">
                <a:latin typeface="Book Antiqua"/>
                <a:cs typeface="Book Antiqua"/>
              </a:rPr>
              <a:t> нулевой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завершения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</a:t>
            </a:r>
            <a:r>
              <a:rPr dirty="0" sz="750" spc="20" i="1">
                <a:latin typeface="Book Antiqua"/>
                <a:cs typeface="Book Antiqua"/>
              </a:rPr>
              <a:t>истина</a:t>
            </a:r>
            <a:r>
              <a:rPr dirty="0" sz="750" spc="20">
                <a:latin typeface="Book Antiqua"/>
                <a:cs typeface="Book Antiqua"/>
              </a:rPr>
              <a:t>),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будет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список-команд</a:t>
            </a:r>
            <a:r>
              <a:rPr dirty="0" sz="750" spc="11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жащей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then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Фраза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elif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проверяется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когда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предыдущая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была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ложной.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содержащая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служебное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else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необязатель-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ной.</a:t>
            </a:r>
            <a:r>
              <a:rPr dirty="0" sz="750" spc="-10">
                <a:latin typeface="Book Antiqua"/>
                <a:cs typeface="Book Antiqua"/>
              </a:rPr>
              <a:t> Если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присутствует,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задаёт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список-команд</a:t>
            </a:r>
            <a:r>
              <a:rPr dirty="0" sz="750" spc="30" i="1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содержащей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else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условии,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последняя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(операто-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ров),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которую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список-команд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содержащей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-125">
                <a:latin typeface="Courier New"/>
                <a:cs typeface="Courier New"/>
              </a:rPr>
              <a:t>if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elif</a:t>
            </a:r>
            <a:r>
              <a:rPr dirty="0" sz="750" spc="-10">
                <a:latin typeface="Book Antiqua"/>
                <a:cs typeface="Book Antiqua"/>
              </a:rPr>
              <a:t>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возвращает </a:t>
            </a:r>
            <a:r>
              <a:rPr dirty="0" sz="750">
                <a:latin typeface="Book Antiqua"/>
                <a:cs typeface="Book Antiqua"/>
              </a:rPr>
              <a:t>ненулевой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</a:t>
            </a:r>
            <a:r>
              <a:rPr dirty="0" sz="750" spc="-10" i="1">
                <a:latin typeface="Book Antiqua"/>
                <a:cs typeface="Book Antiqua"/>
              </a:rPr>
              <a:t>ложь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35"/>
              </a:lnSpc>
            </a:pPr>
            <a:r>
              <a:rPr dirty="0" sz="750">
                <a:latin typeface="Book Antiqua"/>
                <a:cs typeface="Book Antiqua"/>
              </a:rPr>
              <a:t>Рассмотрим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1335" y="4418699"/>
            <a:ext cx="83820" cy="1341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4368444"/>
            <a:ext cx="4032250" cy="143954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*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-d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r>
              <a:rPr dirty="0" sz="700">
                <a:latin typeface="Courier New"/>
                <a:cs typeface="Courier New"/>
              </a:rPr>
              <a:t>: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directory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0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else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r>
              <a:rPr dirty="0" sz="700">
                <a:latin typeface="Courier New"/>
                <a:cs typeface="Courier New"/>
              </a:rPr>
              <a:t>: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and</a:t>
            </a:r>
            <a:endParaRPr sz="700">
              <a:latin typeface="Courier New"/>
              <a:cs typeface="Courier New"/>
            </a:endParaRPr>
          </a:p>
          <a:p>
            <a:pPr marL="474980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-w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endParaRPr sz="700">
              <a:latin typeface="Courier New"/>
              <a:cs typeface="Courier New"/>
            </a:endParaRPr>
          </a:p>
          <a:p>
            <a:pPr marL="474980" marR="2510155">
              <a:lnSpc>
                <a:spcPct val="106500"/>
              </a:lnSpc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writeable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elif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-r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$A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readable</a:t>
            </a:r>
            <a:endParaRPr sz="700">
              <a:latin typeface="Courier New"/>
              <a:cs typeface="Courier New"/>
            </a:endParaRPr>
          </a:p>
          <a:p>
            <a:pPr marL="474980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else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neither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readable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nor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writeable</a:t>
            </a:r>
            <a:endParaRPr sz="700">
              <a:latin typeface="Courier New"/>
              <a:cs typeface="Courier New"/>
            </a:endParaRPr>
          </a:p>
          <a:p>
            <a:pPr marL="474980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</a:t>
            </a:r>
            <a:endParaRPr sz="700">
              <a:latin typeface="Courier New"/>
              <a:cs typeface="Courier New"/>
            </a:endParaRPr>
          </a:p>
          <a:p>
            <a:pPr marL="37465" marR="3767454" indent="109220">
              <a:lnSpc>
                <a:spcPct val="106500"/>
              </a:lnSpc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 </a:t>
            </a: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5886323"/>
            <a:ext cx="4078604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5">
                <a:latin typeface="Book Antiqua"/>
                <a:cs typeface="Book Antiqua"/>
              </a:rPr>
              <a:t>Первая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обеспечивает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последую- </a:t>
            </a:r>
            <a:r>
              <a:rPr dirty="0" sz="750" spc="-15">
                <a:latin typeface="Book Antiqua"/>
                <a:cs typeface="Book Antiqua"/>
              </a:rPr>
              <a:t>щих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действий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цикле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имён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 </a:t>
            </a:r>
            <a:r>
              <a:rPr dirty="0" sz="750" spc="15">
                <a:latin typeface="Book Antiqua"/>
                <a:cs typeface="Book Antiqua"/>
              </a:rPr>
              <a:t>из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текущего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каталога.</a:t>
            </a:r>
            <a:r>
              <a:rPr dirty="0" sz="750" spc="-40">
                <a:latin typeface="Book Antiqua"/>
                <a:cs typeface="Book Antiqua"/>
              </a:rPr>
              <a:t> При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переменная </a:t>
            </a:r>
            <a:r>
              <a:rPr dirty="0" sz="700">
                <a:latin typeface="Courier New"/>
                <a:cs typeface="Courier New"/>
              </a:rPr>
              <a:t>А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каждом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шаге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последовательно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принимает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равные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именам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этих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файлов.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Первая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содержащая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служебное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слово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проверяет,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является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 </a:t>
            </a:r>
            <a:r>
              <a:rPr dirty="0" sz="750" spc="-5">
                <a:latin typeface="Book Antiqua"/>
                <a:cs typeface="Book Antiqua"/>
              </a:rPr>
              <a:t>файл,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имя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кото-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представляет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собой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текущее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значение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переменной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А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каталогом.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этот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каталогом,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 </a:t>
            </a:r>
            <a:r>
              <a:rPr dirty="0" sz="750" spc="5">
                <a:latin typeface="Book Antiqua"/>
                <a:cs typeface="Book Antiqua"/>
              </a:rPr>
              <a:t>стандартный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выводятся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сообщение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78604" cy="29889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54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каталогом.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приведённом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обеспечиваются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третьей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ts val="890"/>
              </a:lnSpc>
              <a:spcBef>
                <a:spcPts val="30"/>
              </a:spcBef>
            </a:pPr>
            <a:r>
              <a:rPr dirty="0" sz="750">
                <a:latin typeface="Book Antiqua"/>
                <a:cs typeface="Book Antiqua"/>
              </a:rPr>
              <a:t>Оставшиеся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выполняются только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 том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проверка того,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файл,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представляет</a:t>
            </a:r>
            <a:r>
              <a:rPr dirty="0" sz="750" spc="-10">
                <a:latin typeface="Book Antiqua"/>
                <a:cs typeface="Book Antiqua"/>
              </a:rPr>
              <a:t> собой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А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каталогом,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даёт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отрицательный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ответ.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означает,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собой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текущее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А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обычным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файлом.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обычным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файлом,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стандартный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вывод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выводятся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этого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сообщение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том,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что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файл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 является обычным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файлом.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Эти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 приведённом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выше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примере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обеспечиваются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результате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четвёртой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строки.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Особенностью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echo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флага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благодаря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чему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выводимая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echo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дополнена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newline</a:t>
            </a:r>
            <a:r>
              <a:rPr dirty="0" sz="700" spc="-8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(перевод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строки), что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впоследствии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дополнить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показано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примере.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Вторая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строка,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содержащая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проверяет,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собой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А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дополняется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сообщением.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этот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недоступен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проверяется,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чтению.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дей-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ствия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обеспечиваются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седьмой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строки.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чтению,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дополняется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соответствующим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сообщением.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недоступен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чтению,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также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дополняется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сообщением.</a:t>
            </a:r>
            <a:r>
              <a:rPr dirty="0" sz="750" spc="-35">
                <a:latin typeface="Book Antiqua"/>
                <a:cs typeface="Book Antiqua"/>
              </a:rPr>
              <a:t> Эти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обеспечиваются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девятой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10.2.8.4.</a:t>
            </a:r>
            <a:r>
              <a:rPr dirty="0" sz="750" spc="26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Операторы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цикла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while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и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until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3771583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3721328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947670">
              <a:lnSpc>
                <a:spcPct val="106500"/>
              </a:lnSpc>
              <a:spcBef>
                <a:spcPts val="170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6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48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 </a:t>
            </a: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4214838"/>
            <a:ext cx="4078604" cy="16205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while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сводится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тому,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сначала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довательность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список-команд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содержащей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последняя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выполненная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следовательности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нулевой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50" spc="10" i="1">
                <a:latin typeface="Book Antiqua"/>
                <a:cs typeface="Book Antiqua"/>
              </a:rPr>
              <a:t>истина</a:t>
            </a:r>
            <a:r>
              <a:rPr dirty="0" sz="750" spc="10">
                <a:latin typeface="Book Antiqua"/>
                <a:cs typeface="Book Antiqua"/>
              </a:rPr>
              <a:t>),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выполняется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последовательность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(операторов),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которую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задаёт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</a:t>
            </a:r>
            <a:r>
              <a:rPr dirty="0" sz="750" spc="50" i="1">
                <a:latin typeface="Book Antiqua"/>
                <a:cs typeface="Book Antiqua"/>
              </a:rPr>
              <a:t>команд</a:t>
            </a:r>
            <a:r>
              <a:rPr dirty="0" sz="750" spc="125" i="1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строке,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держащей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do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2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чего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осуществляется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безусловный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осуществлён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тогда,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когда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няя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задаёт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</a:t>
            </a:r>
            <a:r>
              <a:rPr dirty="0" sz="750" spc="50" i="1">
                <a:latin typeface="Book Antiqua"/>
                <a:cs typeface="Book Antiqua"/>
              </a:rPr>
              <a:t>команд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строке, содержащей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служебное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слово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while</a:t>
            </a:r>
            <a:r>
              <a:rPr dirty="0" sz="750" spc="10">
                <a:latin typeface="Book Antiqua"/>
                <a:cs typeface="Book Antiqua"/>
              </a:rPr>
              <a:t>, возвратит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ненулевой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код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</a:t>
            </a:r>
            <a:r>
              <a:rPr dirty="0" sz="750" spc="-10" i="1">
                <a:latin typeface="Book Antiqua"/>
                <a:cs typeface="Book Antiqua"/>
              </a:rPr>
              <a:t>ложь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44"/>
              </a:lnSpc>
            </a:pPr>
            <a:r>
              <a:rPr dirty="0" sz="750">
                <a:latin typeface="Book Antiqua"/>
                <a:cs typeface="Book Antiqua"/>
              </a:rPr>
              <a:t>Приведённый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ниже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фрагмент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иллюстрирует</a:t>
            </a:r>
            <a:r>
              <a:rPr dirty="0" sz="750">
                <a:latin typeface="Book Antiqua"/>
                <a:cs typeface="Book Antiqua"/>
              </a:rPr>
              <a:t> использование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опера-</a:t>
            </a:r>
            <a:endParaRPr sz="750">
              <a:latin typeface="Book Antiqua"/>
              <a:cs typeface="Book Antiqua"/>
            </a:endParaRPr>
          </a:p>
          <a:p>
            <a:pPr algn="just" marL="12700" marR="508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реализуется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ожидание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события,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состоящего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удалении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определённым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наступления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события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производятся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даль-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нейшие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действия: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5964556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5914301"/>
            <a:ext cx="4032250" cy="7581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47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lockfile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sleep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30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waiting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semaphore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0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</a:pPr>
            <a:r>
              <a:rPr dirty="0" sz="700">
                <a:latin typeface="Courier New"/>
                <a:cs typeface="Courier New"/>
              </a:rPr>
              <a:t>:create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the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semaphore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file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94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71335" y="738582"/>
            <a:ext cx="8382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688327"/>
            <a:ext cx="4032250" cy="7581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700">
              <a:latin typeface="Times New Roman"/>
              <a:cs typeface="Times New Roman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lockfile</a:t>
            </a:r>
            <a:endParaRPr sz="700">
              <a:latin typeface="Courier New"/>
              <a:cs typeface="Courier New"/>
            </a:endParaRPr>
          </a:p>
          <a:p>
            <a:pPr marL="37465" marR="815975">
              <a:lnSpc>
                <a:spcPct val="213000"/>
              </a:lnSpc>
            </a:pPr>
            <a:r>
              <a:rPr dirty="0" sz="700">
                <a:latin typeface="Courier New"/>
                <a:cs typeface="Courier New"/>
              </a:rPr>
              <a:t>:further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commands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and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after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them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delete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the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semaphore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file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lockfile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304" y="1519174"/>
            <a:ext cx="4076700" cy="8248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413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Командный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продемонстрированный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сути, </a:t>
            </a:r>
            <a:r>
              <a:rPr dirty="0" sz="750" spc="-10">
                <a:latin typeface="Book Antiqua"/>
                <a:cs typeface="Book Antiqua"/>
              </a:rPr>
              <a:t>является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простейшей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реализацией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механизма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синхронизации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взаимодействующих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семафоров.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5"/>
              </a:spcBef>
            </a:pP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while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служебного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слова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while</a:t>
            </a:r>
            <a:r>
              <a:rPr dirty="0" sz="700" spc="-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until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условие,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осуществляется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выход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цикла,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меняется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противоположное.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until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идентичны.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75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until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405" y="2470151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2419896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algn="ctr" marR="2909570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until</a:t>
            </a:r>
            <a:r>
              <a:rPr dirty="0" sz="700" spc="6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algn="ctr" marR="2854960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4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algn="ctr" marR="3729354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1304" y="2909913"/>
            <a:ext cx="4078604" cy="938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UNIX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совместно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управляющими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конструкциями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языка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программирования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bash: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true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всегда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воз- </a:t>
            </a:r>
            <a:r>
              <a:rPr dirty="0" sz="750" spc="10">
                <a:latin typeface="Book Antiqua"/>
                <a:cs typeface="Book Antiqua"/>
              </a:rPr>
              <a:t>вращает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равный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нулю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(т.е.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истина</a:t>
            </a:r>
            <a:r>
              <a:rPr dirty="0" sz="750" spc="10">
                <a:latin typeface="Book Antiqua"/>
                <a:cs typeface="Book Antiqua"/>
              </a:rPr>
              <a:t>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false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всегда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 завершения,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 равный </a:t>
            </a:r>
            <a:r>
              <a:rPr dirty="0" sz="750">
                <a:latin typeface="Book Antiqua"/>
                <a:cs typeface="Book Antiqua"/>
              </a:rPr>
              <a:t>нулю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(т.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ложь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ts val="890"/>
              </a:lnSpc>
              <a:spcBef>
                <a:spcPts val="20"/>
              </a:spcBef>
            </a:pPr>
            <a:r>
              <a:rPr dirty="0" sz="750" spc="-10">
                <a:latin typeface="Book Antiqua"/>
                <a:cs typeface="Book Antiqua"/>
              </a:rPr>
              <a:t>Ниже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примера,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иллюстрирующие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бесконечные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циклы,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будут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выполняться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тех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пор,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ЭВМ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сломается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выключена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(ну,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крайней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мере,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тех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пор,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нажмёте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соответствующую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специальному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INTERRUPT):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0405" y="3974504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4004" y="3924249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true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andy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0405" y="4569994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4004" y="4519739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until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false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mike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1304" y="5097739"/>
            <a:ext cx="4078604" cy="96837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750" spc="50" b="1">
                <a:latin typeface="Book Antiqua"/>
                <a:cs typeface="Book Antiqua"/>
              </a:rPr>
              <a:t>10.2.8.5.</a:t>
            </a:r>
            <a:r>
              <a:rPr dirty="0" sz="750" spc="265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Прерывание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циклов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ct val="100000"/>
              </a:lnSpc>
              <a:spcBef>
                <a:spcPts val="570"/>
              </a:spcBef>
            </a:pPr>
            <a:r>
              <a:rPr dirty="0" sz="750" spc="10">
                <a:latin typeface="Book Antiqua"/>
                <a:cs typeface="Book Antiqua"/>
              </a:rPr>
              <a:t>Два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несложных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способа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позволяют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вам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прерывать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циклы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оболочке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bash.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break</a:t>
            </a:r>
            <a:r>
              <a:rPr dirty="0" sz="700" spc="-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завершает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цикла,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continue</a:t>
            </a:r>
            <a:r>
              <a:rPr dirty="0" sz="700" spc="-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данную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итерацию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блока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операторов.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break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полезна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while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ситуациях, когда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стаёт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правильным.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бесконечного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while</a:t>
            </a:r>
            <a:r>
              <a:rPr dirty="0" sz="700" spc="-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прерыванием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момент,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когда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перестаёт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существовать: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0405" y="6191772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4004" y="6141516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true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dirty="0" sz="700" spc="45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!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$file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0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0405" y="738582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688327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break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sleep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10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0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5830" y="1291094"/>
            <a:ext cx="4084320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778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continue</a:t>
            </a:r>
            <a:r>
              <a:rPr dirty="0" sz="700" spc="-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ситуациях,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когда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нет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необходимости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вы- </a:t>
            </a:r>
            <a:r>
              <a:rPr dirty="0" sz="750" spc="10">
                <a:latin typeface="Book Antiqua"/>
                <a:cs typeface="Book Antiqua"/>
              </a:rPr>
              <a:t>полнять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блок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операторов, 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захотеть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продолжить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проверять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данный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блок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других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условных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выражениях.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игнорирования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endParaRPr sz="750">
              <a:latin typeface="Book Antiqua"/>
              <a:cs typeface="Book Antiqua"/>
            </a:endParaRPr>
          </a:p>
          <a:p>
            <a:pPr algn="just" marL="12700">
              <a:lnSpc>
                <a:spcPts val="885"/>
              </a:lnSpc>
            </a:pPr>
            <a:r>
              <a:rPr dirty="0" sz="700">
                <a:latin typeface="Courier New"/>
                <a:cs typeface="Courier New"/>
              </a:rPr>
              <a:t>/dev/null</a:t>
            </a:r>
            <a:r>
              <a:rPr dirty="0" sz="700" spc="-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списке: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1335" y="1900391"/>
            <a:ext cx="83820" cy="11137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1850136"/>
            <a:ext cx="4032250" cy="121221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file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$filelist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$i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 marL="638810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((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$i</a:t>
            </a:r>
            <a:r>
              <a:rPr dirty="0" sz="700" spc="475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&lt;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${#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filelist</a:t>
            </a:r>
            <a:r>
              <a:rPr dirty="0" sz="700">
                <a:latin typeface="Courier New"/>
                <a:cs typeface="Courier New"/>
              </a:rPr>
              <a:t>[*]</a:t>
            </a: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}</a:t>
            </a:r>
            <a:r>
              <a:rPr dirty="0" sz="700" spc="30" b="1">
                <a:solidFill>
                  <a:srgbClr val="A35977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))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0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endParaRPr sz="700">
              <a:latin typeface="Courier New"/>
              <a:cs typeface="Courier New"/>
            </a:endParaRPr>
          </a:p>
          <a:p>
            <a:pPr marL="201930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2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$file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==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A2121"/>
                </a:solidFill>
                <a:latin typeface="Courier New"/>
                <a:cs typeface="Courier New"/>
              </a:rPr>
              <a:t>"dev/null"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 marL="201930" marR="3384550" indent="-55244">
              <a:lnSpc>
                <a:spcPct val="106500"/>
              </a:lnSpc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then </a:t>
            </a:r>
            <a:r>
              <a:rPr dirty="0" sz="700" spc="-10" b="1">
                <a:solidFill>
                  <a:srgbClr val="007F00"/>
                </a:solidFill>
                <a:latin typeface="Courier New"/>
                <a:cs typeface="Courier New"/>
              </a:rPr>
              <a:t>continue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action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7367" y="3134550"/>
            <a:ext cx="4082415" cy="3569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Эта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пропускает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нужное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продолжает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тестировать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остальные.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10.3.</a:t>
            </a:r>
            <a:r>
              <a:rPr dirty="0" sz="850" spc="210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Написать скрипт,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делать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резервную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копию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самого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себя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(то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есть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содержится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исходный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другую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backup </a:t>
            </a:r>
            <a:r>
              <a:rPr dirty="0" sz="700" spc="-10">
                <a:latin typeface="Courier New"/>
                <a:cs typeface="Courier New"/>
              </a:rPr>
              <a:t>	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вашем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домашнем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каталоге.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должен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архивироваться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одним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ар-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хиваторов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zip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bzip2</a:t>
            </a:r>
            <a:r>
              <a:rPr dirty="0" sz="700" spc="-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tar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Способ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архивации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узнать,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изучив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справку.</a:t>
            </a:r>
            <a:endParaRPr sz="750">
              <a:latin typeface="Book Antiqua"/>
              <a:cs typeface="Book Antiqua"/>
            </a:endParaRPr>
          </a:p>
          <a:p>
            <a:pPr algn="just" marL="147955" marR="2540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Написать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обрабатывающего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произвольное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число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аргументов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строки,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превышающее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десять.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скрипт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распечатывать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переданных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аргументов.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15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Написать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файл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аналог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(без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самой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ко-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манды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команды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dir</a:t>
            </a:r>
            <a:r>
              <a:rPr dirty="0" sz="750" spc="5">
                <a:latin typeface="Book Antiqua"/>
                <a:cs typeface="Book Antiqua"/>
              </a:rPr>
              <a:t>).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Требуется,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он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выдавал</a:t>
            </a:r>
            <a:r>
              <a:rPr dirty="0" sz="750" spc="-10">
                <a:latin typeface="Book Antiqua"/>
                <a:cs typeface="Book Antiqua"/>
              </a:rPr>
              <a:t> информацию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нужном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выводил</a:t>
            </a:r>
            <a:r>
              <a:rPr dirty="0" sz="750">
                <a:latin typeface="Book Antiqua"/>
                <a:cs typeface="Book Antiqua"/>
              </a:rPr>
              <a:t> информацию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возможностях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доступа</a:t>
            </a:r>
            <a:r>
              <a:rPr dirty="0" sz="750">
                <a:latin typeface="Book Antiqua"/>
                <a:cs typeface="Book Antiqua"/>
              </a:rPr>
              <a:t> к </a:t>
            </a:r>
            <a:r>
              <a:rPr dirty="0" sz="750" spc="-5">
                <a:latin typeface="Book Antiqua"/>
                <a:cs typeface="Book Antiqua"/>
              </a:rPr>
              <a:t>файлам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15"/>
              </a:spcBef>
              <a:buAutoNum type="arabicPeriod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Написать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файл,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получает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качестве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.txt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.doc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.jpg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.pdf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т.д.)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вычисляет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количество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таких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50">
                <a:latin typeface="Book Antiqua"/>
                <a:cs typeface="Book Antiqua"/>
              </a:rPr>
              <a:t> 	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директории.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передаётся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виде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мандной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spc="50" b="1">
                <a:latin typeface="Book Antiqua"/>
                <a:cs typeface="Book Antiqua"/>
              </a:rPr>
              <a:t>10.4.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60045" marR="26034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96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5056" y="653389"/>
            <a:ext cx="4133215" cy="2370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5.</a:t>
            </a:r>
            <a:r>
              <a:rPr dirty="0" sz="750" spc="3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68580">
              <a:lnSpc>
                <a:spcPct val="100000"/>
              </a:lnSpc>
            </a:pPr>
            <a:r>
              <a:rPr dirty="0" sz="850" spc="50" b="1">
                <a:latin typeface="Book Antiqua"/>
                <a:cs typeface="Book Antiqua"/>
              </a:rPr>
              <a:t>10.5.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200025" marR="5080" indent="-13589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Объясните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понятие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оболочек.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Чем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отличаются?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85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POSIX?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определяются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bash?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Каково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назначение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read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10">
                <a:latin typeface="Book Antiqua"/>
                <a:cs typeface="Book Antiqua"/>
              </a:rPr>
              <a:t>Какие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арифметические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 применять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 программирования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bash?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означает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((</a:t>
            </a:r>
            <a:r>
              <a:rPr dirty="0" sz="700" spc="9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))</a:t>
            </a:r>
            <a:r>
              <a:rPr dirty="0" sz="750" spc="-25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00025" indent="-125730">
              <a:lnSpc>
                <a:spcPts val="894"/>
              </a:lnSpc>
              <a:buAutoNum type="arabicPeriod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известны?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метасимволы?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экранировать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метасимволы?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создавать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запускать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определяются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bash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Каким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образом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выяснить,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файлом?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Каково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назначение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typeset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unset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передаются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bash</a:t>
            </a:r>
            <a:r>
              <a:rPr dirty="0" sz="700" spc="-17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назначение.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2026-03-20T17:47:13Z</dcterms:created>
  <dcterms:modified xsi:type="dcterms:W3CDTF">2026-03-20T17:47:13Z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