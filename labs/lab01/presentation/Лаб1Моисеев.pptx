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7483" y="694435"/>
            <a:ext cx="550291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64663" y="5104916"/>
            <a:ext cx="4086859" cy="4683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ythonhosted.org/pyglet/api/pyglet.window.key-module.html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lierdakil/pandoc-crossref" TargetMode="External"/><Relationship Id="rId3" Type="http://schemas.openxmlformats.org/officeDocument/2006/relationships/hyperlink" Target="https://github.com/lierdakil/pandoc-crossref/releases" TargetMode="External"/><Relationship Id="rId4" Type="http://schemas.openxmlformats.org/officeDocument/2006/relationships/hyperlink" Target="https://github.com/jgm/pandoc/releases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09268" y="560940"/>
            <a:ext cx="5217160" cy="10261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5930" marR="330200" indent="81915">
              <a:lnSpc>
                <a:spcPct val="156200"/>
              </a:lnSpc>
              <a:spcBef>
                <a:spcPts val="5"/>
              </a:spcBef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физико-математических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прикладной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20926" y="2907537"/>
            <a:ext cx="3817620" cy="1203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762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 marL="57785">
              <a:lnSpc>
                <a:spcPct val="100000"/>
              </a:lnSpc>
              <a:spcBef>
                <a:spcPts val="1165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5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44780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600" spc="-9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2798" y="6308216"/>
            <a:ext cx="3042285" cy="764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38100">
              <a:lnSpc>
                <a:spcPct val="100000"/>
              </a:lnSpc>
              <a:spcBef>
                <a:spcPts val="9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3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97122" y="8723527"/>
            <a:ext cx="776605" cy="64770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  <a:spcBef>
                <a:spcPts val="890"/>
              </a:spcBef>
            </a:pPr>
            <a:r>
              <a:rPr dirty="0" sz="1300">
                <a:latin typeface="Times New Roman"/>
                <a:cs typeface="Times New Roman"/>
              </a:rPr>
              <a:t>2026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7483" y="694435"/>
            <a:ext cx="18846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Цель</a:t>
            </a:r>
            <a:r>
              <a:rPr dirty="0" spc="-35"/>
              <a:t> </a:t>
            </a:r>
            <a:r>
              <a:rPr dirty="0" spc="-10"/>
              <a:t>работы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1076604"/>
            <a:ext cx="6083935" cy="38773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69900" marR="190500" indent="-228600">
              <a:lnSpc>
                <a:spcPct val="109000"/>
              </a:lnSpc>
              <a:spcBef>
                <a:spcPts val="130"/>
              </a:spcBef>
              <a:buSzPct val="95238"/>
              <a:buFont typeface="Segoe UI Symbol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Целью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данной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является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приобретение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практических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навыков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установки операционной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виртуальную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машину,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минимально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необходимых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дальнейшей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сервисов.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Clr>
                <a:srgbClr val="202429"/>
              </a:buClr>
              <a:buFont typeface="Segoe UI Symbol"/>
              <a:buChar char="•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Установка</a:t>
            </a:r>
            <a:r>
              <a:rPr dirty="0" sz="1200" spc="-3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Linux</a:t>
            </a:r>
            <a:r>
              <a:rPr dirty="0" sz="1200" spc="-4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200" spc="-40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429"/>
                </a:solidFill>
                <a:latin typeface="Arial"/>
                <a:cs typeface="Arial"/>
              </a:rPr>
              <a:t>Virtualbox</a:t>
            </a:r>
            <a:endParaRPr sz="1200">
              <a:latin typeface="Arial"/>
              <a:cs typeface="Arial"/>
            </a:endParaRPr>
          </a:p>
          <a:p>
            <a:pPr lvl="1" marL="1614170" indent="-449580">
              <a:lnSpc>
                <a:spcPct val="100000"/>
              </a:lnSpc>
              <a:spcBef>
                <a:spcPts val="80"/>
              </a:spcBef>
              <a:buFont typeface="Arial MT"/>
              <a:buAutoNum type="arabicPeriod"/>
              <a:tabLst>
                <a:tab pos="1614170" algn="l"/>
                <a:tab pos="406844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Выполнение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дисплейном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классе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	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Загрузите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дисплейном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классе</a:t>
            </a:r>
            <a:endParaRPr sz="1050">
              <a:latin typeface="Microsoft Sans Serif"/>
              <a:cs typeface="Microsoft Sans Serif"/>
            </a:endParaRPr>
          </a:p>
          <a:p>
            <a:pPr marL="1614170">
              <a:lnSpc>
                <a:spcPct val="100000"/>
              </a:lnSpc>
              <a:spcBef>
                <a:spcPts val="180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операционную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систему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Linux.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Осуществите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вход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систему.</a:t>
            </a:r>
            <a:endParaRPr sz="1050">
              <a:latin typeface="Microsoft Sans Serif"/>
              <a:cs typeface="Microsoft Sans Serif"/>
            </a:endParaRPr>
          </a:p>
          <a:p>
            <a:pPr marL="935990" indent="-228600">
              <a:lnSpc>
                <a:spcPct val="100000"/>
              </a:lnSpc>
              <a:spcBef>
                <a:spcPts val="105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виртуальных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машин</a:t>
            </a:r>
            <a:endParaRPr sz="1050">
              <a:latin typeface="Microsoft Sans Serif"/>
              <a:cs typeface="Microsoft Sans Serif"/>
            </a:endParaRPr>
          </a:p>
          <a:p>
            <a:pPr lvl="1" marL="1311910" indent="-147320">
              <a:lnSpc>
                <a:spcPct val="100000"/>
              </a:lnSpc>
              <a:spcBef>
                <a:spcPts val="204"/>
              </a:spcBef>
              <a:buAutoNum type="arabicPeriod"/>
              <a:tabLst>
                <a:tab pos="131191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необходимых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каталогов</a:t>
            </a:r>
            <a:endParaRPr sz="1050">
              <a:latin typeface="Microsoft Sans Serif"/>
              <a:cs typeface="Microsoft Sans Serif"/>
            </a:endParaRPr>
          </a:p>
          <a:p>
            <a:pPr lvl="2" marL="1850389" indent="-228600">
              <a:lnSpc>
                <a:spcPct val="100000"/>
              </a:lnSpc>
              <a:spcBef>
                <a:spcPts val="515"/>
              </a:spcBef>
              <a:buSzPct val="95238"/>
              <a:buFont typeface="Wingdings"/>
              <a:buChar char=""/>
              <a:tabLst>
                <a:tab pos="1850389" algn="l"/>
              </a:tabLst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r>
              <a:rPr dirty="0" baseline="5291" sz="1575" spc="-5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терминал.</a:t>
            </a:r>
            <a:r>
              <a:rPr dirty="0" baseline="5291" sz="1575" spc="-6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Перейдите</a:t>
            </a:r>
            <a:r>
              <a:rPr dirty="0" baseline="5291" sz="1575" spc="-4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baseline="5291" sz="1575" spc="-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каталог</a:t>
            </a:r>
            <a:r>
              <a:rPr dirty="0" baseline="5291" sz="1575" spc="-4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/var/tmp</a:t>
            </a:r>
            <a:r>
              <a:rPr dirty="0" baseline="5291" sz="1575" spc="-15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baseline="5291" sz="1575">
              <a:latin typeface="Arial MT"/>
              <a:cs typeface="Arial MT"/>
            </a:endParaRPr>
          </a:p>
          <a:p>
            <a:pPr lvl="2" marL="1850389" indent="-228600">
              <a:lnSpc>
                <a:spcPct val="100000"/>
              </a:lnSpc>
              <a:spcBef>
                <a:spcPts val="195"/>
              </a:spcBef>
              <a:buFont typeface="Wingdings"/>
              <a:buChar char=""/>
              <a:tabLst>
                <a:tab pos="1850389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cd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/var/tmp</a:t>
            </a:r>
            <a:endParaRPr sz="1000">
              <a:latin typeface="Consolas"/>
              <a:cs typeface="Consolas"/>
            </a:endParaRPr>
          </a:p>
          <a:p>
            <a:pPr lvl="2" marL="1851025" marR="5080" indent="-229235">
              <a:lnSpc>
                <a:spcPts val="1350"/>
              </a:lnSpc>
              <a:spcBef>
                <a:spcPts val="50"/>
              </a:spcBef>
              <a:buSzPct val="95238"/>
              <a:buFont typeface="Wingdings"/>
              <a:buChar char=""/>
              <a:tabLst>
                <a:tab pos="185102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Создайте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именем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(совпадающий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логином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студента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дисплейном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классе).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этого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использовать</a:t>
            </a:r>
            <a:endParaRPr sz="1050">
              <a:latin typeface="Microsoft Sans Serif"/>
              <a:cs typeface="Microsoft Sans Serif"/>
            </a:endParaRPr>
          </a:p>
          <a:p>
            <a:pPr marL="1851025">
              <a:lnSpc>
                <a:spcPct val="100000"/>
              </a:lnSpc>
              <a:spcBef>
                <a:spcPts val="3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команду:</a:t>
            </a:r>
            <a:endParaRPr sz="1050">
              <a:latin typeface="Microsoft Sans Serif"/>
              <a:cs typeface="Microsoft Sans Serif"/>
            </a:endParaRPr>
          </a:p>
          <a:p>
            <a:pPr lvl="2" marL="1850389" indent="-228600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1850389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mkdir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/var/tmp/`id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un`</a:t>
            </a:r>
            <a:endParaRPr sz="1000">
              <a:latin typeface="Consolas"/>
              <a:cs typeface="Consolas"/>
            </a:endParaRPr>
          </a:p>
          <a:p>
            <a:pPr lvl="2" marL="1851025" marR="132080" indent="-229235">
              <a:lnSpc>
                <a:spcPct val="111400"/>
              </a:lnSpc>
              <a:spcBef>
                <a:spcPts val="70"/>
              </a:spcBef>
              <a:buSzPct val="95238"/>
              <a:buFont typeface="Wingdings"/>
              <a:buChar char=""/>
              <a:tabLst>
                <a:tab pos="185102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Проверьте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в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свойствах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VirtualBox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b="1">
                <a:solidFill>
                  <a:srgbClr val="202429"/>
                </a:solidFill>
                <a:latin typeface="Arial"/>
                <a:cs typeface="Arial"/>
              </a:rPr>
              <a:t>месторасположение каталога </a:t>
            </a:r>
            <a:r>
              <a:rPr dirty="0" sz="1050" b="1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-3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02429"/>
                </a:solidFill>
                <a:latin typeface="Arial"/>
                <a:cs typeface="Arial"/>
              </a:rPr>
              <a:t>виртуальных</a:t>
            </a:r>
            <a:r>
              <a:rPr dirty="0" sz="1050" spc="-3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202429"/>
                </a:solidFill>
                <a:latin typeface="Arial"/>
                <a:cs typeface="Arial"/>
              </a:rPr>
              <a:t>машин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lvl="2" marL="1850389" indent="-228600">
              <a:lnSpc>
                <a:spcPct val="100000"/>
              </a:lnSpc>
              <a:spcBef>
                <a:spcPts val="135"/>
              </a:spcBef>
              <a:buFont typeface="Wingdings"/>
              <a:buChar char=""/>
              <a:tabLst>
                <a:tab pos="1850389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/var/tmp/имя_пользователя</a:t>
            </a:r>
            <a:endParaRPr sz="1000">
              <a:latin typeface="Consolas"/>
              <a:cs typeface="Consolas"/>
            </a:endParaRPr>
          </a:p>
          <a:p>
            <a:pPr lvl="2" marL="1851025" marR="352425" indent="-229235">
              <a:lnSpc>
                <a:spcPct val="111000"/>
              </a:lnSpc>
              <a:spcBef>
                <a:spcPts val="505"/>
              </a:spcBef>
              <a:buSzPct val="95238"/>
              <a:buFont typeface="Wingdings"/>
              <a:buChar char=""/>
              <a:tabLst>
                <a:tab pos="1851025" algn="l"/>
              </a:tabLst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Здесь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имя_пользователя</a:t>
            </a:r>
            <a:r>
              <a:rPr dirty="0" sz="900" spc="-20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66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логин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(учётная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запись)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студента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75">
                <a:solidFill>
                  <a:srgbClr val="202429"/>
                </a:solidFill>
                <a:latin typeface="Microsoft Sans Serif"/>
                <a:cs typeface="Microsoft Sans Serif"/>
              </a:rPr>
              <a:t>в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дисплейном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классе.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Если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указан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другой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каталог,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то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требуется изменить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его.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49882" y="4942458"/>
            <a:ext cx="1377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202429"/>
                </a:solidFill>
                <a:latin typeface="Arial MT"/>
                <a:cs typeface="Arial MT"/>
              </a:rPr>
              <a:t>2.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99461" y="4942458"/>
            <a:ext cx="170116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Папка виртуальных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машин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64663" y="5104916"/>
            <a:ext cx="4086860" cy="468376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204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Значения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endParaRPr sz="105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11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>
                <a:solidFill>
                  <a:srgbClr val="202429"/>
                </a:solidFill>
                <a:latin typeface="Arial MT"/>
                <a:cs typeface="Arial MT"/>
              </a:rPr>
              <a:t>Linux:</a:t>
            </a:r>
            <a:r>
              <a:rPr dirty="0" sz="1050" spc="-40">
                <a:solidFill>
                  <a:srgbClr val="202429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$HOME/VirtualBox</a:t>
            </a:r>
            <a:r>
              <a:rPr dirty="0" sz="900" spc="-5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VMs</a:t>
            </a:r>
            <a:r>
              <a:rPr dirty="0" sz="1050" spc="-2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13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Графический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интерфейс</a:t>
            </a:r>
            <a:endParaRPr sz="105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меню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Файл</a:t>
            </a:r>
            <a:r>
              <a:rPr dirty="0" sz="1050">
                <a:solidFill>
                  <a:srgbClr val="202429"/>
                </a:solidFill>
                <a:latin typeface="Arial MT"/>
                <a:cs typeface="Arial MT"/>
              </a:rPr>
              <a:t>,</a:t>
            </a:r>
            <a:r>
              <a:rPr dirty="0" sz="1050" spc="-55">
                <a:solidFill>
                  <a:srgbClr val="202429"/>
                </a:solidFill>
                <a:latin typeface="Arial MT"/>
                <a:cs typeface="Arial MT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Настройки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135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Общие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,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поле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Папка</a:t>
            </a:r>
            <a:r>
              <a:rPr dirty="0" sz="1050" spc="-30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050" spc="-2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машин</a:t>
            </a:r>
            <a:r>
              <a:rPr dirty="0" sz="1050" spc="-3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по</a:t>
            </a:r>
            <a:r>
              <a:rPr dirty="0" sz="1050" spc="-2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умолчанию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новое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значение,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например</a:t>
            </a:r>
            <a:endParaRPr sz="1050">
              <a:latin typeface="Microsoft Sans Serif"/>
              <a:cs typeface="Microsoft Sans Serif"/>
            </a:endParaRPr>
          </a:p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/var/tmp/имя_пользователя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ОК,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чтобы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сохранить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изменения.</a:t>
            </a:r>
            <a:endParaRPr sz="105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Командная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строка</a:t>
            </a:r>
            <a:endParaRPr sz="1050">
              <a:latin typeface="Microsoft Sans Serif"/>
              <a:cs typeface="Microsoft Sans Serif"/>
            </a:endParaRPr>
          </a:p>
          <a:p>
            <a:pPr marL="241300" marR="100965" indent="-229235">
              <a:lnSpc>
                <a:spcPct val="107600"/>
              </a:lnSpc>
              <a:spcBef>
                <a:spcPts val="15"/>
              </a:spcBef>
              <a:buSzPct val="95238"/>
              <a:buFont typeface="Wingdings"/>
              <a:buChar char=""/>
              <a:tabLst>
                <a:tab pos="24257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Зададим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отображение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информации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настройках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VirtualBox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английском.</a:t>
            </a:r>
            <a:endParaRPr sz="1050">
              <a:latin typeface="Microsoft Sans Serif"/>
              <a:cs typeface="Microsoft Sans Serif"/>
            </a:endParaRPr>
          </a:p>
          <a:p>
            <a:pPr marL="241300" marR="5080" indent="-229235">
              <a:lnSpc>
                <a:spcPct val="107600"/>
              </a:lnSpc>
              <a:spcBef>
                <a:spcPts val="20"/>
              </a:spcBef>
              <a:buSzPct val="95238"/>
              <a:buFont typeface="Wingdings"/>
              <a:buChar char=""/>
              <a:tabLst>
                <a:tab pos="24257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Поэтому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следует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задать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кодировку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отображения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свойств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	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VirtualBox:</a:t>
            </a:r>
            <a:endParaRPr sz="105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24193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setproperty</a:t>
            </a:r>
            <a:r>
              <a:rPr dirty="0" sz="1000" spc="-7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language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C</a:t>
            </a:r>
            <a:endParaRPr sz="1000">
              <a:latin typeface="Consolas"/>
              <a:cs typeface="Consolas"/>
            </a:endParaRPr>
          </a:p>
          <a:p>
            <a:pPr marL="241935" indent="-229235">
              <a:lnSpc>
                <a:spcPct val="100000"/>
              </a:lnSpc>
              <a:spcBef>
                <a:spcPts val="18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Установим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папку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виртуальных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endParaRPr sz="1050">
              <a:latin typeface="Microsoft Sans Serif"/>
              <a:cs typeface="Microsoft Sans Serif"/>
            </a:endParaRPr>
          </a:p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/var/tmp/имя_пользователя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241935" indent="-229235">
              <a:lnSpc>
                <a:spcPct val="100000"/>
              </a:lnSpc>
              <a:spcBef>
                <a:spcPts val="114"/>
              </a:spcBef>
              <a:buFont typeface="Wingdings"/>
              <a:buChar char=""/>
              <a:tabLst>
                <a:tab pos="24193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8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setproperty</a:t>
            </a:r>
            <a:r>
              <a:rPr dirty="0" sz="1000" spc="-9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machinefolder</a:t>
            </a:r>
            <a:r>
              <a:rPr dirty="0" sz="1000" spc="-8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/var/tmp/$(id</a:t>
            </a:r>
            <a:r>
              <a:rPr dirty="0" sz="1000" spc="-7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un)</a:t>
            </a:r>
            <a:endParaRPr sz="1000">
              <a:latin typeface="Consolas"/>
              <a:cs typeface="Consolas"/>
            </a:endParaRPr>
          </a:p>
          <a:p>
            <a:pPr marL="241300" marR="351155" indent="-229235">
              <a:lnSpc>
                <a:spcPts val="1360"/>
              </a:lnSpc>
              <a:spcBef>
                <a:spcPts val="45"/>
              </a:spcBef>
              <a:buSzPct val="95238"/>
              <a:buFont typeface="Wingdings"/>
              <a:buChar char=""/>
              <a:tabLst>
                <a:tab pos="24257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Поверьте,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папка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виртуальных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машин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 	изменена:</a:t>
            </a:r>
            <a:endParaRPr sz="1050">
              <a:latin typeface="Microsoft Sans Serif"/>
              <a:cs typeface="Microsoft Sans Serif"/>
            </a:endParaRPr>
          </a:p>
          <a:p>
            <a:pPr marL="241300" marR="484505" indent="-229235">
              <a:lnSpc>
                <a:spcPct val="100000"/>
              </a:lnSpc>
              <a:spcBef>
                <a:spcPts val="40"/>
              </a:spcBef>
              <a:buFont typeface="Wingdings"/>
              <a:buChar char=""/>
              <a:tabLst>
                <a:tab pos="24257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list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systemproperties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grep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"Default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	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machine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folder:"</a:t>
            </a:r>
            <a:endParaRPr sz="1000">
              <a:latin typeface="Consolas"/>
              <a:cs typeface="Consolas"/>
            </a:endParaRPr>
          </a:p>
          <a:p>
            <a:pPr marL="241935" indent="-229235">
              <a:lnSpc>
                <a:spcPct val="100000"/>
              </a:lnSpc>
              <a:spcBef>
                <a:spcPts val="24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Следующая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команда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выдаст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только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каталог:</a:t>
            </a:r>
            <a:endParaRPr sz="1050">
              <a:latin typeface="Microsoft Sans Serif"/>
              <a:cs typeface="Microsoft Sans Serif"/>
            </a:endParaRPr>
          </a:p>
          <a:p>
            <a:pPr marL="241300" marR="482600" indent="-229235">
              <a:lnSpc>
                <a:spcPct val="101000"/>
              </a:lnSpc>
              <a:spcBef>
                <a:spcPts val="100"/>
              </a:spcBef>
              <a:buFont typeface="Wingdings"/>
              <a:buChar char=""/>
              <a:tabLst>
                <a:tab pos="24257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list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systemproperties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grep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"Default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	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machine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folder:"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cut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d":"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f2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tr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'</a:t>
            </a:r>
            <a:endParaRPr sz="1000">
              <a:latin typeface="Consolas"/>
              <a:cs typeface="Consolas"/>
            </a:endParaRPr>
          </a:p>
          <a:p>
            <a:pPr marL="241935" indent="-229235">
              <a:lnSpc>
                <a:spcPct val="100000"/>
              </a:lnSpc>
              <a:spcBef>
                <a:spcPts val="190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Установочный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образ</a:t>
            </a:r>
            <a:endParaRPr sz="105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114"/>
              </a:spcBef>
              <a:buSzPct val="95238"/>
              <a:buFont typeface="Wingdings"/>
              <a:buChar char=""/>
              <a:tabLst>
                <a:tab pos="24193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Перенесите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установочный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образ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папку</a:t>
            </a:r>
            <a:endParaRPr sz="1050">
              <a:latin typeface="Microsoft Sans Serif"/>
              <a:cs typeface="Microsoft Sans Serif"/>
            </a:endParaRPr>
          </a:p>
          <a:p>
            <a:pPr marL="242570">
              <a:lnSpc>
                <a:spcPct val="100000"/>
              </a:lnSpc>
              <a:spcBef>
                <a:spcPts val="85"/>
              </a:spcBef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/var/tmp/имя_пользователя/iso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62582" y="1670050"/>
            <a:ext cx="1123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202429"/>
                </a:solidFill>
                <a:latin typeface="Arial MT"/>
                <a:cs typeface="Arial MT"/>
              </a:rPr>
              <a:t>3.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62582" y="2604261"/>
            <a:ext cx="1123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202429"/>
                </a:solidFill>
                <a:latin typeface="Arial MT"/>
                <a:cs typeface="Arial MT"/>
              </a:rPr>
              <a:t>4.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49882" y="3657727"/>
            <a:ext cx="1377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202429"/>
                </a:solidFill>
                <a:latin typeface="Arial MT"/>
                <a:cs typeface="Arial MT"/>
              </a:rPr>
              <a:t>5.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62582" y="693826"/>
            <a:ext cx="4925060" cy="31502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143000" marR="210185" indent="-228600">
              <a:lnSpc>
                <a:spcPct val="103600"/>
              </a:lnSpc>
              <a:spcBef>
                <a:spcPts val="130"/>
              </a:spcBef>
              <a:buFont typeface="Wingdings"/>
              <a:buChar char=""/>
              <a:tabLst>
                <a:tab pos="11430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mkdir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"$(vboxmanage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list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systemproperties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grep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'Default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machine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folder:'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cut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d':'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f2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tr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'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')/iso"</a:t>
            </a:r>
            <a:endParaRPr sz="1000">
              <a:latin typeface="Consolas"/>
              <a:cs typeface="Consolas"/>
            </a:endParaRPr>
          </a:p>
          <a:p>
            <a:pPr algn="just" marL="1143635" marR="5080" indent="-229235">
              <a:lnSpc>
                <a:spcPct val="101000"/>
              </a:lnSpc>
              <a:spcBef>
                <a:spcPts val="60"/>
              </a:spcBef>
              <a:buFont typeface="Wingdings"/>
              <a:buChar char=""/>
              <a:tabLst>
                <a:tab pos="114490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mv</a:t>
            </a:r>
            <a:r>
              <a:rPr dirty="0" sz="1000" spc="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Fedora-Sway-Live-x86_64-39-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1.5.iso</a:t>
            </a:r>
            <a:r>
              <a:rPr dirty="0" sz="1000" spc="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"$(vboxmanage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	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list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systemproperties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grep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'Default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machine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folder:'</a:t>
            </a:r>
            <a:endParaRPr sz="1000">
              <a:latin typeface="Consolas"/>
              <a:cs typeface="Consolas"/>
            </a:endParaRPr>
          </a:p>
          <a:p>
            <a:pPr algn="just" marL="1143000">
              <a:lnSpc>
                <a:spcPct val="100000"/>
              </a:lnSpc>
              <a:spcBef>
                <a:spcPts val="60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cut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d':'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f2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tr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')/iso"</a:t>
            </a:r>
            <a:endParaRPr sz="1000">
              <a:latin typeface="Consolas"/>
              <a:cs typeface="Consolas"/>
            </a:endParaRPr>
          </a:p>
          <a:p>
            <a:pPr marL="449580">
              <a:lnSpc>
                <a:spcPct val="100000"/>
              </a:lnSpc>
              <a:spcBef>
                <a:spcPts val="190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хост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клавиши</a:t>
            </a:r>
            <a:endParaRPr sz="1050">
              <a:latin typeface="Microsoft Sans Serif"/>
              <a:cs typeface="Microsoft Sans Serif"/>
            </a:endParaRPr>
          </a:p>
          <a:p>
            <a:pPr marL="227965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2279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Хост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клавишей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умолчанию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является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правый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Ctrl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228600" marR="132080" indent="-228600">
              <a:lnSpc>
                <a:spcPct val="114300"/>
              </a:lnSpc>
              <a:spcBef>
                <a:spcPts val="335"/>
              </a:spcBef>
              <a:buSzPct val="95238"/>
              <a:buFont typeface="Wingdings"/>
              <a:buChar char=""/>
              <a:tabLst>
                <a:tab pos="228600" algn="l"/>
              </a:tabLst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baseline="5291" sz="1575" spc="-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r>
              <a:rPr dirty="0" baseline="5291" sz="1575" spc="-4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дисплейных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классах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 клавише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правый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Ctrl</a:t>
            </a:r>
            <a:r>
              <a:rPr dirty="0" sz="900" spc="-2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находится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переключатель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языка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ввода.</a:t>
            </a:r>
            <a:endParaRPr sz="1050">
              <a:latin typeface="Microsoft Sans Serif"/>
              <a:cs typeface="Microsoft Sans Serif"/>
            </a:endParaRPr>
          </a:p>
          <a:p>
            <a:pPr marL="227965" marR="2453005" indent="-227965">
              <a:lnSpc>
                <a:spcPct val="109500"/>
              </a:lnSpc>
              <a:buSzPct val="95238"/>
              <a:buFont typeface="Wingdings"/>
              <a:buChar char=""/>
              <a:tabLst>
                <a:tab pos="44958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значения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могут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конфликтовать. 	Графический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интерфейс</a:t>
            </a:r>
            <a:endParaRPr sz="1050">
              <a:latin typeface="Microsoft Sans Serif"/>
              <a:cs typeface="Microsoft Sans Serif"/>
            </a:endParaRPr>
          </a:p>
          <a:p>
            <a:pPr lvl="1" marL="1517650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151765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меню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Файл</a:t>
            </a:r>
            <a:r>
              <a:rPr dirty="0" sz="1050">
                <a:solidFill>
                  <a:srgbClr val="202429"/>
                </a:solidFill>
                <a:latin typeface="Arial MT"/>
                <a:cs typeface="Arial MT"/>
              </a:rPr>
              <a:t>,</a:t>
            </a:r>
            <a:r>
              <a:rPr dirty="0" sz="1050" spc="-55">
                <a:solidFill>
                  <a:srgbClr val="202429"/>
                </a:solidFill>
                <a:latin typeface="Arial MT"/>
                <a:cs typeface="Arial MT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Настройки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1167130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116713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Ввод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,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вкладка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Виртуальная</a:t>
            </a:r>
            <a:r>
              <a:rPr dirty="0" sz="1050" spc="-30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машина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840740" indent="-227965">
              <a:lnSpc>
                <a:spcPct val="100000"/>
              </a:lnSpc>
              <a:spcBef>
                <a:spcPts val="130"/>
              </a:spcBef>
              <a:buSzPct val="95238"/>
              <a:buFont typeface="Wingdings"/>
              <a:buChar char=""/>
              <a:tabLst>
                <a:tab pos="84074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Сочетание</a:t>
            </a:r>
            <a:r>
              <a:rPr dirty="0" sz="1050" spc="-2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клавиш</a:t>
            </a:r>
            <a:r>
              <a:rPr dirty="0" sz="1050" spc="-20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Хост-комбинация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lvl="1" marL="1572260" indent="-227965">
              <a:lnSpc>
                <a:spcPct val="100000"/>
              </a:lnSpc>
              <a:spcBef>
                <a:spcPts val="125"/>
              </a:spcBef>
              <a:buSzPct val="95238"/>
              <a:buFont typeface="Wingdings"/>
              <a:buChar char=""/>
              <a:tabLst>
                <a:tab pos="157226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новое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сочетание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клавиш.</a:t>
            </a:r>
            <a:endParaRPr sz="1050">
              <a:latin typeface="Microsoft Sans Serif"/>
              <a:cs typeface="Microsoft Sans Serif"/>
            </a:endParaRPr>
          </a:p>
          <a:p>
            <a:pPr marL="449580" marR="930275" indent="889635">
              <a:lnSpc>
                <a:spcPct val="109500"/>
              </a:lnSpc>
              <a:buSzPct val="95238"/>
              <a:buFont typeface="Wingdings"/>
              <a:buChar char=""/>
              <a:tabLst>
                <a:tab pos="133921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ОК,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чтобы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сохранить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изменения.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Командная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строка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6627" y="3817798"/>
            <a:ext cx="6146800" cy="591566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841500" indent="-228600">
              <a:lnSpc>
                <a:spcPct val="100000"/>
              </a:lnSpc>
              <a:spcBef>
                <a:spcPts val="225"/>
              </a:spcBef>
              <a:buSzPct val="95238"/>
              <a:buFont typeface="Wingdings"/>
              <a:buChar char=""/>
              <a:tabLst>
                <a:tab pos="18415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Проверьте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текущую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комбинацию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хост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клавиши:</a:t>
            </a:r>
            <a:endParaRPr sz="1050">
              <a:latin typeface="Microsoft Sans Serif"/>
              <a:cs typeface="Microsoft Sans Serif"/>
            </a:endParaRPr>
          </a:p>
          <a:p>
            <a:pPr marL="1841500" indent="-228600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18415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getextradata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7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GUI/Input/HostKeyCombination</a:t>
            </a:r>
            <a:endParaRPr sz="1000">
              <a:latin typeface="Consolas"/>
              <a:cs typeface="Consolas"/>
            </a:endParaRPr>
          </a:p>
          <a:p>
            <a:pPr marL="1842135" marR="250825" indent="-229235">
              <a:lnSpc>
                <a:spcPct val="107600"/>
              </a:lnSpc>
              <a:spcBef>
                <a:spcPts val="130"/>
              </a:spcBef>
              <a:buSzPct val="95238"/>
              <a:buFont typeface="Wingdings"/>
              <a:buChar char=""/>
              <a:tabLst>
                <a:tab pos="184213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установлена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комбинация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83D8B"/>
                </a:solidFill>
                <a:latin typeface="Consolas"/>
                <a:cs typeface="Consolas"/>
              </a:rPr>
              <a:t>65508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,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соответствующая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правой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Ctrl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1841500" indent="-228600">
              <a:lnSpc>
                <a:spcPct val="100000"/>
              </a:lnSpc>
              <a:spcBef>
                <a:spcPts val="130"/>
              </a:spcBef>
              <a:buSzPct val="95238"/>
              <a:buFont typeface="Wingdings"/>
              <a:buChar char=""/>
              <a:tabLst>
                <a:tab pos="18415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нужную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клавишу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(в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примере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Menu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):</a:t>
            </a:r>
            <a:endParaRPr sz="1050">
              <a:latin typeface="Arial MT"/>
              <a:cs typeface="Arial MT"/>
            </a:endParaRPr>
          </a:p>
          <a:p>
            <a:pPr marL="1842135" marR="175260" indent="-229235">
              <a:lnSpc>
                <a:spcPct val="101000"/>
              </a:lnSpc>
              <a:spcBef>
                <a:spcPts val="85"/>
              </a:spcBef>
              <a:buFont typeface="Wingdings"/>
              <a:buChar char=""/>
              <a:tabLst>
                <a:tab pos="184213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setextradata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7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GUI/Input/HostKeyCombination 65383</a:t>
            </a:r>
            <a:endParaRPr sz="1000">
              <a:latin typeface="Consolas"/>
              <a:cs typeface="Consolas"/>
            </a:endParaRPr>
          </a:p>
          <a:p>
            <a:pPr marL="1842135" marR="316865" indent="-229235">
              <a:lnSpc>
                <a:spcPts val="1340"/>
              </a:lnSpc>
              <a:spcBef>
                <a:spcPts val="60"/>
              </a:spcBef>
              <a:buSzPct val="95238"/>
              <a:buFont typeface="Wingdings"/>
              <a:buChar char=""/>
              <a:tabLst>
                <a:tab pos="184213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Комбинации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можно,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например,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посмотреть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странице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https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://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pythonhosted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.org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/pyglet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/api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/pyglet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.window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.key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module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.htm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l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  <a:hlinkClick r:id="rId2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22606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машины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	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использования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графического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интерфейса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endParaRPr sz="1050">
              <a:latin typeface="Microsoft Sans Serif"/>
              <a:cs typeface="Microsoft Sans Serif"/>
            </a:endParaRPr>
          </a:p>
          <a:p>
            <a:pPr marL="698500">
              <a:lnSpc>
                <a:spcPct val="100000"/>
              </a:lnSpc>
              <a:spcBef>
                <a:spcPts val="18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менеджер</a:t>
            </a:r>
            <a:r>
              <a:rPr dirty="0" sz="1050" spc="-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виртуальных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машин,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введя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VirtualBox</a:t>
            </a:r>
            <a:r>
              <a:rPr dirty="0" sz="1000" spc="-7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&amp;</a:t>
            </a:r>
            <a:endParaRPr sz="1000">
              <a:latin typeface="Consolas"/>
              <a:cs typeface="Consolas"/>
            </a:endParaRPr>
          </a:p>
          <a:p>
            <a:pPr marL="927100" marR="699135" indent="-228600">
              <a:lnSpc>
                <a:spcPct val="107600"/>
              </a:lnSpc>
              <a:spcBef>
                <a:spcPts val="9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Создайте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новую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виртуальную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машину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графическом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интерфейсе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в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строке.</a:t>
            </a:r>
            <a:endParaRPr sz="1050">
              <a:latin typeface="Microsoft Sans Serif"/>
              <a:cs typeface="Microsoft Sans Serif"/>
            </a:endParaRPr>
          </a:p>
          <a:p>
            <a:pPr lvl="1" marL="1383665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1383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endParaRPr sz="1050">
              <a:latin typeface="Microsoft Sans Serif"/>
              <a:cs typeface="Microsoft Sans Serif"/>
            </a:endParaRPr>
          </a:p>
          <a:p>
            <a:pPr lvl="1" marL="1383665" indent="-227965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1383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createvm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name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ostype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Fedora_64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endParaRPr sz="100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  <a:spcBef>
                <a:spcPts val="60"/>
              </a:spcBef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-register</a:t>
            </a:r>
            <a:endParaRPr sz="1000">
              <a:latin typeface="Consolas"/>
              <a:cs typeface="Consolas"/>
            </a:endParaRPr>
          </a:p>
          <a:p>
            <a:pPr marL="927100" marR="636270" indent="-228600">
              <a:lnSpc>
                <a:spcPts val="1360"/>
              </a:lnSpc>
              <a:spcBef>
                <a:spcPts val="4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машины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(ваш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логин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дисплейном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классе),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тип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операционной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Arial MT"/>
                <a:cs typeface="Arial MT"/>
              </a:rPr>
              <a:t>Linux,</a:t>
            </a:r>
            <a:r>
              <a:rPr dirty="0" sz="1050" spc="-20">
                <a:solidFill>
                  <a:srgbClr val="202429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Fedora.</a:t>
            </a:r>
            <a:endParaRPr sz="1050">
              <a:latin typeface="Arial MT"/>
              <a:cs typeface="Arial MT"/>
            </a:endParaRPr>
          </a:p>
          <a:p>
            <a:pPr marL="927100" indent="-228600">
              <a:lnSpc>
                <a:spcPct val="100000"/>
              </a:lnSpc>
              <a:spcBef>
                <a:spcPts val="5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размер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основной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памяти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машины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от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2048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МБ.</a:t>
            </a:r>
            <a:endParaRPr sz="1050">
              <a:latin typeface="Microsoft Sans Serif"/>
              <a:cs typeface="Microsoft Sans Serif"/>
            </a:endParaRPr>
          </a:p>
          <a:p>
            <a:pPr lvl="1" marL="1383665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1383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endParaRPr sz="1050">
              <a:latin typeface="Microsoft Sans Serif"/>
              <a:cs typeface="Microsoft Sans Serif"/>
            </a:endParaRPr>
          </a:p>
          <a:p>
            <a:pPr lvl="1" marL="1384300" marR="143510" indent="-228600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13843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modifyvm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memory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2048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acpi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on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-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nic1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nat</a:t>
            </a:r>
            <a:endParaRPr sz="1000">
              <a:latin typeface="Consolas"/>
              <a:cs typeface="Consolas"/>
            </a:endParaRPr>
          </a:p>
          <a:p>
            <a:pPr marL="927100" indent="-228600">
              <a:lnSpc>
                <a:spcPct val="100000"/>
              </a:lnSpc>
              <a:spcBef>
                <a:spcPts val="22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Задайте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конфигурацию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жёсткого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диска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загрузочный,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VDI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(VirtualBox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Disk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Image),</a:t>
            </a:r>
            <a:endParaRPr sz="1050">
              <a:latin typeface="Microsoft Sans Serif"/>
              <a:cs typeface="Microsoft Sans Serif"/>
            </a:endParaRPr>
          </a:p>
          <a:p>
            <a:pPr marL="927100" marR="275590">
              <a:lnSpc>
                <a:spcPct val="123800"/>
              </a:lnSpc>
              <a:spcBef>
                <a:spcPts val="204"/>
              </a:spcBef>
              <a:tabLst>
                <a:tab pos="3609975" algn="l"/>
              </a:tabLst>
            </a:pP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динамический</a:t>
            </a:r>
            <a:r>
              <a:rPr dirty="0" baseline="5291" sz="1575" spc="-89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виртуальный</a:t>
            </a:r>
            <a:r>
              <a:rPr dirty="0" baseline="5291" sz="1575" spc="-9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диск.</a:t>
            </a:r>
            <a:r>
              <a:rPr dirty="0" baseline="5291" sz="1575" spc="-8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	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Задайте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размер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диска</a:t>
            </a:r>
            <a:r>
              <a:rPr dirty="0" baseline="5291" sz="1575" spc="-4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66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80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ГБ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(или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больше),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его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расположение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данном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случае</a:t>
            </a:r>
            <a:endParaRPr sz="105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85"/>
              </a:spcBef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/var/tmp/имя_пользователя/имя_машины/имя_машины.vdi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lvl="1" marL="1383665" indent="-227965">
              <a:lnSpc>
                <a:spcPct val="100000"/>
              </a:lnSpc>
              <a:spcBef>
                <a:spcPts val="130"/>
              </a:spcBef>
              <a:buSzPct val="95238"/>
              <a:buFont typeface="Wingdings"/>
              <a:buChar char=""/>
              <a:tabLst>
                <a:tab pos="1383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endParaRPr sz="1050">
              <a:latin typeface="Microsoft Sans Serif"/>
              <a:cs typeface="Microsoft Sans Serif"/>
            </a:endParaRPr>
          </a:p>
          <a:p>
            <a:pPr lvl="1" marL="1384300" marR="5080" indent="-228600">
              <a:lnSpc>
                <a:spcPct val="101000"/>
              </a:lnSpc>
              <a:spcBef>
                <a:spcPts val="90"/>
              </a:spcBef>
              <a:buFont typeface="Wingdings"/>
              <a:buChar char=""/>
              <a:tabLst>
                <a:tab pos="13843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createhd</a:t>
            </a:r>
            <a:r>
              <a:rPr dirty="0" sz="1000" spc="-7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filename</a:t>
            </a:r>
            <a:r>
              <a:rPr dirty="0" sz="1000" spc="-7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"$(vboxmanage</a:t>
            </a:r>
            <a:r>
              <a:rPr dirty="0" sz="1000" spc="-7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list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systemproperties</a:t>
            </a:r>
            <a:r>
              <a:rPr dirty="0" sz="1000" spc="-7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|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grep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'Default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machine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folder:'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cut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d':'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f2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tr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')/$(id 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intro/$(id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intro.vdi"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size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80000</a:t>
            </a:r>
            <a:endParaRPr sz="1000">
              <a:latin typeface="Consolas"/>
              <a:cs typeface="Consolas"/>
            </a:endParaRPr>
          </a:p>
          <a:p>
            <a:pPr marL="927100" marR="430530" indent="-228600">
              <a:lnSpc>
                <a:spcPts val="1360"/>
              </a:lnSpc>
              <a:spcBef>
                <a:spcPts val="4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VirtualBox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Вашей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машины.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Добавьте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новый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привод оптических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дисков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образ.</a:t>
            </a:r>
            <a:endParaRPr sz="1050">
              <a:latin typeface="Microsoft Sans Serif"/>
              <a:cs typeface="Microsoft Sans Serif"/>
            </a:endParaRPr>
          </a:p>
          <a:p>
            <a:pPr lvl="1" marL="1841500" indent="-228600">
              <a:lnSpc>
                <a:spcPct val="100000"/>
              </a:lnSpc>
              <a:spcBef>
                <a:spcPts val="55"/>
              </a:spcBef>
              <a:buSzPct val="95238"/>
              <a:buFont typeface="Wingdings"/>
              <a:buChar char=""/>
              <a:tabLst>
                <a:tab pos="18415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endParaRPr sz="1050">
              <a:latin typeface="Microsoft Sans Serif"/>
              <a:cs typeface="Microsoft Sans Serif"/>
            </a:endParaRPr>
          </a:p>
          <a:p>
            <a:pPr lvl="1" marL="1841500" indent="-228600">
              <a:lnSpc>
                <a:spcPct val="100000"/>
              </a:lnSpc>
              <a:spcBef>
                <a:spcPts val="110"/>
              </a:spcBef>
              <a:buSzPct val="95238"/>
              <a:buFont typeface="Wingdings"/>
              <a:buChar char=""/>
              <a:tabLst>
                <a:tab pos="18415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Подключите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загрузку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DVD: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6388" y="703579"/>
            <a:ext cx="5923915" cy="6094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136015" indent="-228600">
              <a:lnSpc>
                <a:spcPct val="100000"/>
              </a:lnSpc>
              <a:spcBef>
                <a:spcPts val="95"/>
              </a:spcBef>
              <a:buFont typeface="Wingdings"/>
              <a:buChar char=""/>
              <a:tabLst>
                <a:tab pos="113601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modifyvm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boot1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dvd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Wingdings"/>
                <a:cs typeface="Wingdings"/>
              </a:rPr>
              <a:t></a:t>
            </a:r>
            <a:endParaRPr sz="1000">
              <a:latin typeface="Wingdings"/>
              <a:cs typeface="Wingdings"/>
            </a:endParaRPr>
          </a:p>
          <a:p>
            <a:pPr marL="1621790">
              <a:lnSpc>
                <a:spcPct val="100000"/>
              </a:lnSpc>
              <a:spcBef>
                <a:spcPts val="20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Добавьте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IDE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контроллер:</a:t>
            </a:r>
            <a:endParaRPr sz="1050">
              <a:latin typeface="Microsoft Sans Serif"/>
              <a:cs typeface="Microsoft Sans Serif"/>
            </a:endParaRPr>
          </a:p>
          <a:p>
            <a:pPr marL="1621790" marR="521970" indent="-229235">
              <a:lnSpc>
                <a:spcPct val="101000"/>
              </a:lnSpc>
              <a:spcBef>
                <a:spcPts val="30"/>
              </a:spcBef>
              <a:buFont typeface="Wingdings"/>
              <a:buChar char=""/>
              <a:tabLst>
                <a:tab pos="162179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storagectl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name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"IDE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Controller"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ide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controller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PIIX4</a:t>
            </a:r>
            <a:endParaRPr sz="1000">
              <a:latin typeface="Consolas"/>
              <a:cs typeface="Consolas"/>
            </a:endParaRPr>
          </a:p>
          <a:p>
            <a:pPr marL="1621790" marR="657860" indent="-229235">
              <a:lnSpc>
                <a:spcPts val="1340"/>
              </a:lnSpc>
              <a:spcBef>
                <a:spcPts val="60"/>
              </a:spcBef>
              <a:buSzPct val="95238"/>
              <a:buFont typeface="Wingdings"/>
              <a:buChar char=""/>
              <a:tabLst>
                <a:tab pos="16217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созданный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вами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VDI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качестве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первого виртуального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жесткого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диска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новой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машины:</a:t>
            </a:r>
            <a:endParaRPr sz="1050">
              <a:latin typeface="Microsoft Sans Serif"/>
              <a:cs typeface="Microsoft Sans Serif"/>
            </a:endParaRPr>
          </a:p>
          <a:p>
            <a:pPr marL="1621790" marR="25400" indent="-229235">
              <a:lnSpc>
                <a:spcPct val="104299"/>
              </a:lnSpc>
              <a:spcBef>
                <a:spcPts val="5"/>
              </a:spcBef>
              <a:buFont typeface="Wingdings"/>
              <a:buChar char=""/>
              <a:tabLst>
                <a:tab pos="162179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storageattach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--storagectl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"IDE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Controller"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port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0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device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0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type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hdd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--medium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"$(vboxmanage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list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systemproperties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grep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'Default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machine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folder:'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cut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d':'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f2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tr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')/$(id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un)_os-intro/$(id</a:t>
            </a:r>
            <a:endParaRPr sz="1000">
              <a:latin typeface="Consolas"/>
              <a:cs typeface="Consolas"/>
            </a:endParaRPr>
          </a:p>
          <a:p>
            <a:pPr marL="1629410">
              <a:lnSpc>
                <a:spcPct val="100000"/>
              </a:lnSpc>
              <a:spcBef>
                <a:spcPts val="10"/>
              </a:spcBef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-un)_os-intro.vdi"</a:t>
            </a:r>
            <a:endParaRPr sz="1000">
              <a:latin typeface="Consolas"/>
              <a:cs typeface="Consolas"/>
            </a:endParaRPr>
          </a:p>
          <a:p>
            <a:pPr marL="1621790" indent="-228600">
              <a:lnSpc>
                <a:spcPct val="100000"/>
              </a:lnSpc>
              <a:spcBef>
                <a:spcPts val="225"/>
              </a:spcBef>
              <a:buSzPct val="95238"/>
              <a:buFont typeface="Wingdings"/>
              <a:buChar char=""/>
              <a:tabLst>
                <a:tab pos="162179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Подключите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ISO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файл:</a:t>
            </a:r>
            <a:endParaRPr sz="1050">
              <a:latin typeface="Microsoft Sans Serif"/>
              <a:cs typeface="Microsoft Sans Serif"/>
            </a:endParaRPr>
          </a:p>
          <a:p>
            <a:pPr marL="1621790" marR="32384" indent="-229235">
              <a:lnSpc>
                <a:spcPct val="102299"/>
              </a:lnSpc>
              <a:spcBef>
                <a:spcPts val="85"/>
              </a:spcBef>
              <a:buFont typeface="Wingdings"/>
              <a:buChar char=""/>
              <a:tabLst>
                <a:tab pos="162179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storageattach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--storagectl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"IDE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Controller"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port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0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device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1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type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dvddrive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--medium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"$(vboxmanage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list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systemproperties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grep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'Default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machine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folder:'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 cut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d':'</a:t>
            </a:r>
            <a:r>
              <a:rPr dirty="0" sz="1000" spc="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f2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 tr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')/iso/Fedora-Sway- Livex86_64-39-1.5.iso"</a:t>
            </a:r>
            <a:endParaRPr sz="1000">
              <a:latin typeface="Consolas"/>
              <a:cs typeface="Consolas"/>
            </a:endParaRPr>
          </a:p>
          <a:p>
            <a:pPr marL="707390" marR="874394" indent="-228600">
              <a:lnSpc>
                <a:spcPts val="1360"/>
              </a:lnSpc>
              <a:spcBef>
                <a:spcPts val="30"/>
              </a:spcBef>
              <a:buSzPct val="95238"/>
              <a:buFont typeface="Courier New"/>
              <a:buChar char="o"/>
              <a:tabLst>
                <a:tab pos="7073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собственной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технике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используйте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скачанный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образ операционной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Fedora.</a:t>
            </a:r>
            <a:endParaRPr sz="1050">
              <a:latin typeface="Microsoft Sans Serif"/>
              <a:cs typeface="Microsoft Sans Serif"/>
            </a:endParaRPr>
          </a:p>
          <a:p>
            <a:pPr marL="707390" indent="-228600">
              <a:lnSpc>
                <a:spcPct val="100000"/>
              </a:lnSpc>
              <a:spcBef>
                <a:spcPts val="55"/>
              </a:spcBef>
              <a:buSzPct val="95238"/>
              <a:buFont typeface="Courier New"/>
              <a:buChar char="o"/>
              <a:tabLst>
                <a:tab pos="7073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качестве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графического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контроллера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поставьте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VMSVGA.</a:t>
            </a:r>
            <a:endParaRPr sz="1050">
              <a:latin typeface="Microsoft Sans Serif"/>
              <a:cs typeface="Microsoft Sans Serif"/>
            </a:endParaRPr>
          </a:p>
          <a:p>
            <a:pPr lvl="1" marL="1163955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116395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endParaRPr sz="1050">
              <a:latin typeface="Microsoft Sans Serif"/>
              <a:cs typeface="Microsoft Sans Serif"/>
            </a:endParaRPr>
          </a:p>
          <a:p>
            <a:pPr algn="ctr" lvl="1" marL="1151255" indent="-227965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115125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modifyvm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--graphicscontroller=vmsvga</a:t>
            </a:r>
            <a:endParaRPr sz="1000">
              <a:latin typeface="Consolas"/>
              <a:cs typeface="Consolas"/>
            </a:endParaRPr>
          </a:p>
          <a:p>
            <a:pPr lvl="2" marL="1275080" indent="-110489">
              <a:lnSpc>
                <a:spcPct val="100000"/>
              </a:lnSpc>
              <a:spcBef>
                <a:spcPts val="20"/>
              </a:spcBef>
              <a:buSzPct val="95238"/>
              <a:buFont typeface="Courier New"/>
              <a:buChar char="o"/>
              <a:tabLst>
                <a:tab pos="127508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Включите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ускорение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Arial MT"/>
                <a:cs typeface="Arial MT"/>
              </a:rPr>
              <a:t>3D.</a:t>
            </a:r>
            <a:endParaRPr sz="1050">
              <a:latin typeface="Arial MT"/>
              <a:cs typeface="Arial MT"/>
            </a:endParaRPr>
          </a:p>
          <a:p>
            <a:pPr lvl="1" marL="1163955" indent="-227965">
              <a:lnSpc>
                <a:spcPct val="100000"/>
              </a:lnSpc>
              <a:spcBef>
                <a:spcPts val="240"/>
              </a:spcBef>
              <a:buSzPct val="95238"/>
              <a:buFont typeface="Wingdings"/>
              <a:buChar char=""/>
              <a:tabLst>
                <a:tab pos="116395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endParaRPr sz="1050">
              <a:latin typeface="Microsoft Sans Serif"/>
              <a:cs typeface="Microsoft Sans Serif"/>
            </a:endParaRPr>
          </a:p>
          <a:p>
            <a:pPr lvl="1" marL="1164590" marR="17780" indent="-228600">
              <a:lnSpc>
                <a:spcPts val="1460"/>
              </a:lnSpc>
              <a:spcBef>
                <a:spcPts val="5"/>
              </a:spcBef>
              <a:buFont typeface="Wingdings"/>
              <a:buChar char=""/>
              <a:tabLst>
                <a:tab pos="116459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modifyvm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--accelerate-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3d=on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Если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есть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проблемы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отображении,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загрузитесь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режиме базовой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графики.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1164590" marR="97155">
              <a:lnSpc>
                <a:spcPts val="1390"/>
              </a:lnSpc>
              <a:spcBef>
                <a:spcPts val="6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Включите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общий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буфер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обмена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перетаскивание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объектов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между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хостом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гостевой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ОС.</a:t>
            </a:r>
            <a:endParaRPr sz="1050">
              <a:latin typeface="Microsoft Sans Serif"/>
              <a:cs typeface="Microsoft Sans Serif"/>
            </a:endParaRPr>
          </a:p>
          <a:p>
            <a:pPr lvl="1" marL="1163955" indent="-227965">
              <a:lnSpc>
                <a:spcPct val="100000"/>
              </a:lnSpc>
              <a:spcBef>
                <a:spcPts val="75"/>
              </a:spcBef>
              <a:buSzPct val="95238"/>
              <a:buFont typeface="Wingdings"/>
              <a:buChar char=""/>
              <a:tabLst>
                <a:tab pos="116395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endParaRPr sz="1050">
              <a:latin typeface="Microsoft Sans Serif"/>
              <a:cs typeface="Microsoft Sans Serif"/>
            </a:endParaRPr>
          </a:p>
          <a:p>
            <a:pPr lvl="1" marL="1164590" marR="770255" indent="-228600">
              <a:lnSpc>
                <a:spcPct val="101000"/>
              </a:lnSpc>
              <a:spcBef>
                <a:spcPts val="100"/>
              </a:spcBef>
              <a:buFont typeface="Wingdings"/>
              <a:buChar char=""/>
              <a:tabLst>
                <a:tab pos="116459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modifyvm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-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clipboardmode=bidirectional</a:t>
            </a:r>
            <a:r>
              <a:rPr dirty="0" sz="1000" spc="1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drag-and-drop=bidirectional</a:t>
            </a:r>
            <a:endParaRPr sz="1000">
              <a:latin typeface="Consolas"/>
              <a:cs typeface="Consolas"/>
            </a:endParaRPr>
          </a:p>
          <a:p>
            <a:pPr algn="r" marL="227965" marR="3523615" indent="-227965">
              <a:lnSpc>
                <a:spcPct val="100000"/>
              </a:lnSpc>
              <a:spcBef>
                <a:spcPts val="225"/>
              </a:spcBef>
              <a:buSzPct val="95238"/>
              <a:buFont typeface="Courier New"/>
              <a:buChar char="o"/>
              <a:tabLst>
                <a:tab pos="2279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Включите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поддержку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UEFI.</a:t>
            </a:r>
            <a:endParaRPr sz="1050">
              <a:latin typeface="Microsoft Sans Serif"/>
              <a:cs typeface="Microsoft Sans Serif"/>
            </a:endParaRPr>
          </a:p>
          <a:p>
            <a:pPr algn="r" lvl="1" marL="227965" marR="3469004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2279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командной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строке:</a:t>
            </a:r>
            <a:endParaRPr sz="1050">
              <a:latin typeface="Microsoft Sans Serif"/>
              <a:cs typeface="Microsoft Sans Serif"/>
            </a:endParaRPr>
          </a:p>
          <a:p>
            <a:pPr lvl="1" marL="1163955" indent="-227965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116395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modifyvm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--firmware=efi</a:t>
            </a:r>
            <a:endParaRPr sz="1000">
              <a:latin typeface="Consolas"/>
              <a:cs typeface="Consolas"/>
            </a:endParaRPr>
          </a:p>
          <a:p>
            <a:pPr marL="160020" indent="-147320">
              <a:lnSpc>
                <a:spcPct val="100000"/>
              </a:lnSpc>
              <a:spcBef>
                <a:spcPts val="204"/>
              </a:spcBef>
              <a:buAutoNum type="arabicPeriod" startAt="3"/>
              <a:tabLst>
                <a:tab pos="16002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После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установки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машины</a:t>
            </a:r>
            <a:endParaRPr sz="1050">
              <a:latin typeface="Microsoft Sans Serif"/>
              <a:cs typeface="Microsoft Sans Serif"/>
            </a:endParaRPr>
          </a:p>
          <a:p>
            <a:pPr lvl="1" marL="704850" indent="-226060">
              <a:lnSpc>
                <a:spcPct val="100000"/>
              </a:lnSpc>
              <a:spcBef>
                <a:spcPts val="120"/>
              </a:spcBef>
              <a:buFont typeface="Arial MT"/>
              <a:buAutoNum type="arabicPeriod"/>
              <a:tabLst>
                <a:tab pos="70485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Установка драйверов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VirtualBox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753736" y="8894826"/>
            <a:ext cx="165163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Перегрузите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виртуальную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49882" y="6772427"/>
            <a:ext cx="4840605" cy="265049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5"/>
              </a:spcBef>
              <a:buSzPct val="95238"/>
              <a:buFont typeface="Wingdings"/>
              <a:buChar char="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Войдите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заданной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вами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учётной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записью.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комбинацию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Win+Enter</a:t>
            </a:r>
            <a:r>
              <a:rPr dirty="0" sz="1050" spc="-30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запуска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терминала.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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терминальный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мультиплексор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Arial"/>
                <a:cs typeface="Arial"/>
              </a:rPr>
              <a:t>tmux</a:t>
            </a:r>
            <a:r>
              <a:rPr dirty="0" sz="1050" spc="-2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240665" algn="l"/>
              </a:tabLst>
            </a:pP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tmux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204"/>
              </a:spcBef>
              <a:buSzPct val="95238"/>
              <a:buFont typeface="Wingdings"/>
              <a:buChar char="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Переключитесь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роль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супер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i</a:t>
            </a:r>
            <a:endParaRPr sz="1000">
              <a:latin typeface="Consolas"/>
              <a:cs typeface="Consolas"/>
            </a:endParaRPr>
          </a:p>
          <a:p>
            <a:pPr marL="241300" marR="5080" indent="-228600">
              <a:lnSpc>
                <a:spcPct val="112400"/>
              </a:lnSpc>
              <a:spcBef>
                <a:spcPts val="50"/>
              </a:spcBef>
              <a:buSzPct val="95238"/>
              <a:buFont typeface="Wingdings"/>
              <a:buChar char="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средства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разработки: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429"/>
                </a:solidFill>
                <a:latin typeface="Wingdings"/>
                <a:cs typeface="Wingdings"/>
              </a:rPr>
              <a:t></a:t>
            </a:r>
            <a:r>
              <a:rPr dirty="0" sz="1000" spc="5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group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development-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tools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Wingdings"/>
                <a:cs typeface="Wingdings"/>
              </a:rPr>
              <a:t></a:t>
            </a:r>
            <a:r>
              <a:rPr dirty="0" sz="1000" spc="-5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пакет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Arial"/>
                <a:cs typeface="Arial"/>
              </a:rPr>
              <a:t>DKMS</a:t>
            </a:r>
            <a:r>
              <a:rPr dirty="0" sz="1050" spc="-2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"/>
              </a:spcBef>
              <a:buFont typeface="Wingdings"/>
              <a:buChar char="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dkms</a:t>
            </a:r>
            <a:endParaRPr sz="1000">
              <a:latin typeface="Consolas"/>
              <a:cs typeface="Consolas"/>
            </a:endParaRPr>
          </a:p>
          <a:p>
            <a:pPr marL="241300" marR="398145" indent="-228600">
              <a:lnSpc>
                <a:spcPts val="1340"/>
              </a:lnSpc>
              <a:spcBef>
                <a:spcPts val="60"/>
              </a:spcBef>
              <a:buSzPct val="95238"/>
              <a:buFont typeface="Wingdings"/>
              <a:buChar char="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меню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машины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подключите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образ</a:t>
            </a:r>
            <a:r>
              <a:rPr dirty="0" sz="1050" spc="-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диска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дополнений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гостевой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ОС.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5"/>
              </a:spcBef>
              <a:buSzPct val="95238"/>
              <a:buFont typeface="Wingdings"/>
              <a:buChar char="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Подмонтируйте диск: </a:t>
            </a:r>
            <a:r>
              <a:rPr dirty="0" sz="1000">
                <a:solidFill>
                  <a:srgbClr val="202429"/>
                </a:solidFill>
                <a:latin typeface="Wingdings"/>
                <a:cs typeface="Wingdings"/>
              </a:rPr>
              <a:t></a:t>
            </a:r>
            <a:r>
              <a:rPr dirty="0" sz="1000" spc="5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mount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/dev/sr0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/media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Wingdings"/>
                <a:cs typeface="Wingdings"/>
              </a:rPr>
              <a:t></a:t>
            </a:r>
            <a:r>
              <a:rPr dirty="0" sz="1000" spc="5">
                <a:solidFill>
                  <a:srgbClr val="202429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драйвера: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229"/>
              </a:spcBef>
              <a:buFont typeface="Wingdings"/>
              <a:buChar char=""/>
              <a:tabLst>
                <a:tab pos="240665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/media/VBoxLinuxAdditions.run</a:t>
            </a:r>
            <a:r>
              <a:rPr dirty="0" sz="1000" spc="10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Wingdings"/>
                <a:cs typeface="Wingdings"/>
              </a:rPr>
              <a:t></a:t>
            </a:r>
            <a:endParaRPr sz="1000">
              <a:latin typeface="Wingdings"/>
              <a:cs typeface="Wingdings"/>
            </a:endParaRPr>
          </a:p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машину: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240665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reboot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92682" y="9422079"/>
            <a:ext cx="19399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02429"/>
                </a:solidFill>
                <a:latin typeface="Arial MT"/>
                <a:cs typeface="Arial MT"/>
              </a:rPr>
              <a:t>2.</a:t>
            </a:r>
            <a:r>
              <a:rPr dirty="0" sz="1050" spc="145">
                <a:solidFill>
                  <a:srgbClr val="202429"/>
                </a:solidFill>
                <a:latin typeface="Arial MT"/>
                <a:cs typeface="Arial MT"/>
              </a:rPr>
              <a:t> 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Подключение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общей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папки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49882" y="734060"/>
            <a:ext cx="1384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Wingdings"/>
                <a:cs typeface="Wingdings"/>
              </a:rPr>
              <a:t>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49882" y="712113"/>
            <a:ext cx="4991735" cy="16002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315"/>
              </a:spcBef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Внутри</a:t>
            </a:r>
            <a:r>
              <a:rPr dirty="0" baseline="5291" sz="1575" spc="-4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машины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добавьте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своего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группу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vboxsf</a:t>
            </a:r>
            <a:endParaRPr sz="900">
              <a:latin typeface="Consolas"/>
              <a:cs typeface="Consolas"/>
            </a:endParaRPr>
          </a:p>
          <a:p>
            <a:pPr marL="241300">
              <a:lnSpc>
                <a:spcPts val="1240"/>
              </a:lnSpc>
              <a:spcBef>
                <a:spcPts val="215"/>
              </a:spcBef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(вместо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username</a:t>
            </a:r>
            <a:r>
              <a:rPr dirty="0" sz="900" spc="-2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ваш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логин):</a:t>
            </a:r>
            <a:endParaRPr baseline="5291" sz="1575">
              <a:latin typeface="Microsoft Sans Serif"/>
              <a:cs typeface="Microsoft Sans Serif"/>
            </a:endParaRPr>
          </a:p>
          <a:p>
            <a:pPr marL="240665" indent="-227965">
              <a:lnSpc>
                <a:spcPts val="1180"/>
              </a:lnSpc>
              <a:buFont typeface="Wingdings"/>
              <a:buChar char="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gpasswd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username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vboxsf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200"/>
              </a:spcBef>
              <a:buSzPct val="95238"/>
              <a:buFont typeface="Wingdings"/>
              <a:buChar char="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хостовой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подключите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разделяемую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папку:</a:t>
            </a:r>
            <a:endParaRPr sz="1050">
              <a:latin typeface="Microsoft Sans Serif"/>
              <a:cs typeface="Microsoft Sans Serif"/>
            </a:endParaRPr>
          </a:p>
          <a:p>
            <a:pPr marL="241300" marR="410845" indent="-228600">
              <a:lnSpc>
                <a:spcPct val="101000"/>
              </a:lnSpc>
              <a:spcBef>
                <a:spcPts val="100"/>
              </a:spcBef>
              <a:buFont typeface="Wingdings"/>
              <a:buChar char=""/>
              <a:tabLst>
                <a:tab pos="2413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vboxmanage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sharedfolder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"$(id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un)_os-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intro"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name=work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-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hostpath=work</a:t>
            </a:r>
            <a:r>
              <a:rPr dirty="0" sz="1000" spc="-8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--automount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225"/>
              </a:spcBef>
              <a:buSzPct val="95238"/>
              <a:buFont typeface="Wingdings"/>
              <a:buChar char="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Перегрузите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виртуальную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машину: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Wingdings"/>
              <a:buChar char=""/>
              <a:tabLst>
                <a:tab pos="240665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reboot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250"/>
              </a:spcBef>
              <a:buSzPct val="95238"/>
              <a:buFont typeface="Wingdings"/>
              <a:buChar char="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Папка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будет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монтироваться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/media/sf_work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7483" y="2590545"/>
            <a:ext cx="6158865" cy="4801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Установка</a:t>
            </a:r>
            <a:r>
              <a:rPr dirty="0" sz="1650" spc="-85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операционной</a:t>
            </a:r>
            <a:r>
              <a:rPr dirty="0" sz="1650" spc="-8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92C3C"/>
                </a:solidFill>
                <a:latin typeface="Arial"/>
                <a:cs typeface="Arial"/>
              </a:rPr>
              <a:t>системы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Запуск</a:t>
            </a:r>
            <a:r>
              <a:rPr dirty="0" sz="1200" spc="-40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приложения</a:t>
            </a:r>
            <a:r>
              <a:rPr dirty="0" sz="1200" spc="-4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для</a:t>
            </a:r>
            <a:r>
              <a:rPr dirty="0" sz="1200" spc="-40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установки</a:t>
            </a:r>
            <a:r>
              <a:rPr dirty="0" sz="1200" spc="-2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429"/>
                </a:solidFill>
                <a:latin typeface="Arial"/>
                <a:cs typeface="Arial"/>
              </a:rPr>
              <a:t>системы</a:t>
            </a: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136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Загрузите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LiveCD.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Появится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интерфейс</a:t>
            </a:r>
            <a:r>
              <a:rPr dirty="0" sz="1050" spc="-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начальной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конфигурации.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Enter</a:t>
            </a:r>
            <a:r>
              <a:rPr dirty="0" sz="1050" spc="-30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создания конфигурации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умолчанию.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0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Enter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,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чтобы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выбрать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качестве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модификатора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клавишу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Win</a:t>
            </a:r>
            <a:r>
              <a:rPr dirty="0" sz="1050" spc="-2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(она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же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клавиша</a:t>
            </a:r>
            <a:endParaRPr sz="105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Super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).</a:t>
            </a:r>
            <a:endParaRPr sz="105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файле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конфигурации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эта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клавиша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будет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обозначена 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как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$Mod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12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комбинацию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Win+Enter</a:t>
            </a:r>
            <a:r>
              <a:rPr dirty="0" sz="1050" spc="-3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запуска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терминала.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liveinst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перехода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раскладке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окон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табами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 </a:t>
            </a:r>
            <a:r>
              <a:rPr dirty="0" sz="1050" spc="-10" i="1">
                <a:solidFill>
                  <a:srgbClr val="202429"/>
                </a:solidFill>
                <a:latin typeface="Arial"/>
                <a:cs typeface="Arial"/>
              </a:rPr>
              <a:t>Win+w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15"/>
              </a:spcBef>
              <a:buClr>
                <a:srgbClr val="202429"/>
              </a:buClr>
              <a:buFont typeface="Microsoft Sans Serif"/>
              <a:buChar char="•"/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Установка</a:t>
            </a:r>
            <a:r>
              <a:rPr dirty="0" sz="1200" spc="-3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системы</a:t>
            </a:r>
            <a:r>
              <a:rPr dirty="0" sz="1200" spc="-3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на</a:t>
            </a:r>
            <a:r>
              <a:rPr dirty="0" sz="1200" spc="-20" b="1">
                <a:solidFill>
                  <a:srgbClr val="202429"/>
                </a:solidFill>
                <a:latin typeface="Arial"/>
                <a:cs typeface="Arial"/>
              </a:rPr>
              <a:t> диск</a:t>
            </a:r>
            <a:endParaRPr sz="1200">
              <a:latin typeface="Arial"/>
              <a:cs typeface="Arial"/>
            </a:endParaRPr>
          </a:p>
          <a:p>
            <a:pPr marL="469900" marR="5080" indent="-228600">
              <a:lnSpc>
                <a:spcPct val="109100"/>
              </a:lnSpc>
              <a:spcBef>
                <a:spcPts val="133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язык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интерфейса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перейдите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настройкам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установки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операционной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системы.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Segoe UI Symbol"/>
                <a:cs typeface="Segoe UI Symbol"/>
              </a:rPr>
              <a:t>•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необходимости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скорректируйте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часовой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пояс,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раскладку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клавиатуры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(рекомендуется</a:t>
            </a:r>
            <a:r>
              <a:rPr dirty="0" sz="1050" spc="5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качестве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языка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указать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английский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язык).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Место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установки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оставьте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без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изменения.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пароль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root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пароль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Вашего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Задайте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сетевое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Вашего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компьютера.</a:t>
            </a:r>
            <a:endParaRPr sz="1050">
              <a:latin typeface="Microsoft Sans Serif"/>
              <a:cs typeface="Microsoft Sans Serif"/>
            </a:endParaRPr>
          </a:p>
          <a:p>
            <a:pPr marL="469900" marR="744855" indent="-228600">
              <a:lnSpc>
                <a:spcPct val="106700"/>
              </a:lnSpc>
              <a:spcBef>
                <a:spcPts val="3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После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завершения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операционной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корректно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перезапустите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виртуальную</a:t>
            </a:r>
            <a:r>
              <a:rPr dirty="0" sz="1050" spc="-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машину.</a:t>
            </a:r>
            <a:endParaRPr sz="1050">
              <a:latin typeface="Microsoft Sans Serif"/>
              <a:cs typeface="Microsoft Sans Serif"/>
            </a:endParaRPr>
          </a:p>
          <a:p>
            <a:pPr marL="469900" marR="629285" indent="-228600">
              <a:lnSpc>
                <a:spcPct val="107600"/>
              </a:lnSpc>
              <a:spcBef>
                <a:spcPts val="2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VirtualBox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оптический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диск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должен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отключиться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автоматически,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но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если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не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произошло,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то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необходимо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отключить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носитель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информации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с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образом.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7483" y="7664576"/>
            <a:ext cx="1799589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После</a:t>
            </a:r>
            <a:r>
              <a:rPr dirty="0" sz="1650" spc="-25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92C3C"/>
                </a:solidFill>
                <a:latin typeface="Arial"/>
                <a:cs typeface="Arial"/>
              </a:rPr>
              <a:t>установки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7483" y="8025536"/>
            <a:ext cx="5706745" cy="1834514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1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Войдите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заданной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вами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учётной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записью.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комбинацию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Win+Enter</a:t>
            </a:r>
            <a:r>
              <a:rPr dirty="0" sz="1050" spc="-3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запуска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терминала.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Переключитесь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роль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супер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пользователя:</a:t>
            </a:r>
            <a:endParaRPr sz="1050">
              <a:latin typeface="Microsoft Sans Serif"/>
              <a:cs typeface="Microsoft Sans Serif"/>
            </a:endParaRPr>
          </a:p>
          <a:p>
            <a:pPr marL="327660" indent="-86360">
              <a:lnSpc>
                <a:spcPct val="100000"/>
              </a:lnSpc>
              <a:spcBef>
                <a:spcPts val="114"/>
              </a:spcBef>
              <a:buFont typeface="Segoe UI Symbol"/>
              <a:buChar char="•"/>
              <a:tabLst>
                <a:tab pos="32766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200" spc="-10" b="1">
                <a:solidFill>
                  <a:srgbClr val="202429"/>
                </a:solidFill>
                <a:latin typeface="Arial"/>
                <a:cs typeface="Arial"/>
              </a:rPr>
              <a:t>Обновления</a:t>
            </a: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средства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разработки: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group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development-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tools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8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Обновить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пакеты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update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Повышение</a:t>
            </a:r>
            <a:r>
              <a:rPr dirty="0" sz="1200" spc="-70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комфорта</a:t>
            </a:r>
            <a:r>
              <a:rPr dirty="0" sz="1200" spc="-6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429"/>
                </a:solidFill>
                <a:latin typeface="Arial"/>
                <a:cs typeface="Arial"/>
              </a:rPr>
              <a:t>работы</a:t>
            </a:r>
            <a:endParaRPr sz="1200">
              <a:latin typeface="Arial"/>
              <a:cs typeface="Arial"/>
            </a:endParaRPr>
          </a:p>
          <a:p>
            <a:pPr lvl="1" marL="920750" indent="-450850">
              <a:lnSpc>
                <a:spcPct val="100000"/>
              </a:lnSpc>
              <a:spcBef>
                <a:spcPts val="175"/>
              </a:spcBef>
              <a:buSzPct val="95238"/>
              <a:buChar char="•"/>
              <a:tabLst>
                <a:tab pos="92075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Программы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удобства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консоли: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429"/>
                </a:solidFill>
                <a:latin typeface="Segoe UI Symbol"/>
                <a:cs typeface="Segoe UI Symbol"/>
              </a:rPr>
              <a:t>•</a:t>
            </a:r>
            <a:r>
              <a:rPr dirty="0" sz="1000" spc="-10">
                <a:solidFill>
                  <a:srgbClr val="202429"/>
                </a:solidFill>
                <a:latin typeface="Segoe UI Symbol"/>
                <a:cs typeface="Segoe UI Symbol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tmux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mc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54988" y="690972"/>
            <a:ext cx="5422265" cy="16116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463550" indent="-450850">
              <a:lnSpc>
                <a:spcPct val="100000"/>
              </a:lnSpc>
              <a:spcBef>
                <a:spcPts val="204"/>
              </a:spcBef>
              <a:buSzPct val="95238"/>
              <a:buChar char="•"/>
              <a:tabLst>
                <a:tab pos="463550" algn="l"/>
              </a:tabLst>
            </a:pP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Другой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вариант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консоли:</a:t>
            </a:r>
            <a:endParaRPr sz="1050">
              <a:latin typeface="Microsoft Sans Serif"/>
              <a:cs typeface="Microsoft Sans Serif"/>
            </a:endParaRPr>
          </a:p>
          <a:p>
            <a:pPr marL="463550" indent="-450850">
              <a:lnSpc>
                <a:spcPct val="100000"/>
              </a:lnSpc>
              <a:spcBef>
                <a:spcPts val="115"/>
              </a:spcBef>
              <a:buFont typeface="Microsoft Sans Serif"/>
              <a:buChar char="•"/>
              <a:tabLst>
                <a:tab pos="46355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kitty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Автоматическое</a:t>
            </a:r>
            <a:r>
              <a:rPr dirty="0" sz="1200" spc="-30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429"/>
                </a:solidFill>
                <a:latin typeface="Arial"/>
                <a:cs typeface="Arial"/>
              </a:rPr>
              <a:t>обновление</a:t>
            </a:r>
            <a:endParaRPr sz="1200">
              <a:latin typeface="Arial"/>
              <a:cs typeface="Arial"/>
            </a:endParaRPr>
          </a:p>
          <a:p>
            <a:pPr marL="463550" indent="-450850">
              <a:lnSpc>
                <a:spcPct val="100000"/>
              </a:lnSpc>
              <a:spcBef>
                <a:spcPts val="1325"/>
              </a:spcBef>
              <a:buSzPct val="95238"/>
              <a:buChar char="•"/>
              <a:tabLst>
                <a:tab pos="46355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необходимости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использовать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автоматическое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обновление.</a:t>
            </a:r>
            <a:endParaRPr sz="1050">
              <a:latin typeface="Microsoft Sans Serif"/>
              <a:cs typeface="Microsoft Sans Serif"/>
            </a:endParaRPr>
          </a:p>
          <a:p>
            <a:pPr marL="463550" indent="-45085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355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Установка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программного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обеспечения:</a:t>
            </a:r>
            <a:endParaRPr sz="1050">
              <a:latin typeface="Microsoft Sans Serif"/>
              <a:cs typeface="Microsoft Sans Serif"/>
            </a:endParaRPr>
          </a:p>
          <a:p>
            <a:pPr marL="463550" indent="-450850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46355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dnf-automatic</a:t>
            </a:r>
            <a:endParaRPr sz="1000">
              <a:latin typeface="Consolas"/>
              <a:cs typeface="Consolas"/>
            </a:endParaRPr>
          </a:p>
          <a:p>
            <a:pPr marL="463550" indent="-450850">
              <a:lnSpc>
                <a:spcPct val="100000"/>
              </a:lnSpc>
              <a:spcBef>
                <a:spcPts val="80"/>
              </a:spcBef>
              <a:buSzPct val="95238"/>
              <a:buChar char="•"/>
              <a:tabLst>
                <a:tab pos="46355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Задаёте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необходимую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конфигурацию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файле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/etc/dnf/automatic.conf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463550" indent="-45085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6355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таймер:</a:t>
            </a:r>
            <a:endParaRPr sz="1050">
              <a:latin typeface="Microsoft Sans Serif"/>
              <a:cs typeface="Microsoft Sans Serif"/>
            </a:endParaRPr>
          </a:p>
          <a:p>
            <a:pPr marL="463550" indent="-450850">
              <a:lnSpc>
                <a:spcPct val="100000"/>
              </a:lnSpc>
              <a:spcBef>
                <a:spcPts val="114"/>
              </a:spcBef>
              <a:buFont typeface="Microsoft Sans Serif"/>
              <a:buChar char="•"/>
              <a:tabLst>
                <a:tab pos="46355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systemctl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enable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now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dnf-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automatic.timer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Отключение</a:t>
            </a:r>
            <a:r>
              <a:rPr dirty="0" sz="1200" spc="-2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429"/>
                </a:solidFill>
                <a:latin typeface="Arial"/>
                <a:cs typeface="Arial"/>
              </a:rPr>
              <a:t>SELinux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67688" y="2450337"/>
            <a:ext cx="444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06041" y="2442717"/>
            <a:ext cx="48710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данном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курсе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мы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будем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рассматривать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работу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системой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безопасности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9088" y="2614929"/>
            <a:ext cx="5353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SELinux.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67688" y="2736240"/>
            <a:ext cx="44450" cy="64452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8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06041" y="2725573"/>
            <a:ext cx="3027680" cy="65532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Поэтому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отключим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его.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baseline="5291" sz="1575" spc="5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файле</a:t>
            </a:r>
            <a:r>
              <a:rPr dirty="0" baseline="5291" sz="1575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/etc/selinux/config</a:t>
            </a:r>
            <a:r>
              <a:rPr dirty="0" sz="900" spc="-18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замените</a:t>
            </a:r>
            <a:r>
              <a:rPr dirty="0" baseline="5291" sz="1575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значение</a:t>
            </a:r>
            <a:endParaRPr baseline="5291" sz="1575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SELINUX=enforcing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64132" y="3365118"/>
            <a:ext cx="1284605" cy="500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значение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SELINUX=permissive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54988" y="3859809"/>
            <a:ext cx="69850" cy="36385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06041" y="3852758"/>
            <a:ext cx="2214245" cy="37084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Перегрузите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виртуальную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машину: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systemctl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reboot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97483" y="4313046"/>
            <a:ext cx="357441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Настройка</a:t>
            </a:r>
            <a:r>
              <a:rPr dirty="0" sz="1650" spc="-5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раскладки</a:t>
            </a:r>
            <a:r>
              <a:rPr dirty="0" sz="1650" spc="-5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92C3C"/>
                </a:solidFill>
                <a:latin typeface="Arial"/>
                <a:cs typeface="Arial"/>
              </a:rPr>
              <a:t>клавиатуры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26388" y="4672100"/>
            <a:ext cx="69850" cy="88963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64132" y="4673624"/>
            <a:ext cx="5647690" cy="458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2644" marR="655320">
              <a:lnSpc>
                <a:spcPct val="109500"/>
              </a:lnSpc>
              <a:spcBef>
                <a:spcPts val="100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Войдите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заданной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вами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установке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учётной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записью. Нажмите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комбинацию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Win+Enter</a:t>
            </a:r>
            <a:r>
              <a:rPr dirty="0" sz="1050" spc="-30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запуска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терминала.</a:t>
            </a:r>
            <a:endParaRPr sz="1050">
              <a:latin typeface="Microsoft Sans Serif"/>
              <a:cs typeface="Microsoft Sans Serif"/>
            </a:endParaRPr>
          </a:p>
          <a:p>
            <a:pPr marL="842644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терминальный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мультиплексор </a:t>
            </a:r>
            <a:r>
              <a:rPr dirty="0" sz="1050" spc="-20" i="1">
                <a:solidFill>
                  <a:srgbClr val="202429"/>
                </a:solidFill>
                <a:latin typeface="Arial"/>
                <a:cs typeface="Arial"/>
              </a:rPr>
              <a:t>tmux</a:t>
            </a:r>
            <a:r>
              <a:rPr dirty="0" sz="1050" spc="-2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842644">
              <a:lnSpc>
                <a:spcPct val="100000"/>
              </a:lnSpc>
              <a:spcBef>
                <a:spcPts val="125"/>
              </a:spcBef>
            </a:pP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tmux</a:t>
            </a:r>
            <a:endParaRPr sz="10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90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Создайте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конфигурационный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~/.config/sway/config.d/95-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system-</a:t>
            </a:r>
            <a:endParaRPr sz="9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229"/>
              </a:spcBef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keyboardconfig.conf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842644">
              <a:lnSpc>
                <a:spcPct val="100000"/>
              </a:lnSpc>
              <a:spcBef>
                <a:spcPts val="229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mkdir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~/.config/sway</a:t>
            </a:r>
            <a:endParaRPr sz="10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8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touch</a:t>
            </a:r>
            <a:r>
              <a:rPr dirty="0" sz="1000" spc="1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~/.config/sway/config.d/95-system-keyboard-config.conf</a:t>
            </a:r>
            <a:endParaRPr sz="10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8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Отредактируйте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конфигурационный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~/.config/sway/config.d/95-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system-</a:t>
            </a:r>
            <a:endParaRPr sz="9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keyboardconfig.conf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842644">
              <a:lnSpc>
                <a:spcPct val="100000"/>
              </a:lnSpc>
              <a:spcBef>
                <a:spcPts val="229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exec_always</a:t>
            </a:r>
            <a:r>
              <a:rPr dirty="0" sz="1000" spc="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/usr/libexec/sway-systemd/locale1-xkb-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--oneshot</a:t>
            </a:r>
            <a:endParaRPr sz="10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8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Переключитесь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роль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супер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пользователя:</a:t>
            </a:r>
            <a:endParaRPr sz="1050">
              <a:latin typeface="Microsoft Sans Serif"/>
              <a:cs typeface="Microsoft Sans Serif"/>
            </a:endParaRPr>
          </a:p>
          <a:p>
            <a:pPr marL="842644">
              <a:lnSpc>
                <a:spcPct val="100000"/>
              </a:lnSpc>
              <a:spcBef>
                <a:spcPts val="120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i</a:t>
            </a:r>
            <a:endParaRPr sz="10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Отредактируйте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конфигурационный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/etc/X11/xorg.conf.d/00-</a:t>
            </a:r>
            <a:endParaRPr sz="9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keyboard.conf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842644" marR="2840355">
              <a:lnSpc>
                <a:spcPct val="107000"/>
              </a:lnSpc>
              <a:spcBef>
                <a:spcPts val="150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Section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"InputClass"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Identifier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"system-keyboard"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MatchIsKeyboard</a:t>
            </a:r>
            <a:r>
              <a:rPr dirty="0" sz="1000" spc="-10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"on"</a:t>
            </a:r>
            <a:endParaRPr sz="1000">
              <a:latin typeface="Consolas"/>
              <a:cs typeface="Consolas"/>
            </a:endParaRPr>
          </a:p>
          <a:p>
            <a:pPr marL="842644" marR="2698750">
              <a:lnSpc>
                <a:spcPct val="107000"/>
              </a:lnSpc>
              <a:spcBef>
                <a:spcPts val="1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Option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"XkbLayout"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"us,ru"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Option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"XkbVariant"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",winkeys"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Option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"XkbOptions"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"grp:rctrl_toggle,compose:ralt,terminate:ctrl_alt_bksp"</a:t>
            </a:r>
            <a:endParaRPr sz="1000">
              <a:latin typeface="Consolas"/>
              <a:cs typeface="Consolas"/>
            </a:endParaRPr>
          </a:p>
          <a:p>
            <a:pPr marL="842644">
              <a:lnSpc>
                <a:spcPct val="100000"/>
              </a:lnSpc>
              <a:spcBef>
                <a:spcPts val="219"/>
              </a:spcBef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EndSection</a:t>
            </a:r>
            <a:endParaRPr sz="1000">
              <a:latin typeface="Consolas"/>
              <a:cs typeface="Consolas"/>
            </a:endParaRPr>
          </a:p>
          <a:p>
            <a:pPr marL="842644" marR="229870">
              <a:lnSpc>
                <a:spcPct val="114300"/>
              </a:lnSpc>
              <a:spcBef>
                <a:spcPts val="295"/>
              </a:spcBef>
            </a:pP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baseline="5291" sz="1575" spc="-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этого</a:t>
            </a:r>
            <a:r>
              <a:rPr dirty="0" baseline="5291" sz="1575" spc="-4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использовать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файловый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менеджер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mc</a:t>
            </a:r>
            <a:r>
              <a:rPr dirty="0" sz="900" spc="-2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его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встроенный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редактор.</a:t>
            </a:r>
            <a:endParaRPr sz="1050">
              <a:latin typeface="Microsoft Sans Serif"/>
              <a:cs typeface="Microsoft Sans Serif"/>
            </a:endParaRPr>
          </a:p>
          <a:p>
            <a:pPr marL="842644">
              <a:lnSpc>
                <a:spcPct val="100000"/>
              </a:lnSpc>
              <a:spcBef>
                <a:spcPts val="120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Перегрузите виртуальную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машину: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systemctl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reboot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26388" y="5745251"/>
            <a:ext cx="69850" cy="5207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26388" y="6443243"/>
            <a:ext cx="69850" cy="7035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26388" y="7330211"/>
            <a:ext cx="69850" cy="100584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26388" y="8446160"/>
            <a:ext cx="69850" cy="44005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26388" y="9079229"/>
            <a:ext cx="69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700531"/>
            <a:ext cx="519176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Установка</a:t>
            </a:r>
            <a:r>
              <a:rPr dirty="0" sz="1650" spc="-5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имени</a:t>
            </a:r>
            <a:r>
              <a:rPr dirty="0" sz="1650" spc="-5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пользователя</a:t>
            </a:r>
            <a:r>
              <a:rPr dirty="0" sz="1650" spc="-5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и</a:t>
            </a:r>
            <a:r>
              <a:rPr dirty="0" sz="1650" spc="-45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названия</a:t>
            </a:r>
            <a:r>
              <a:rPr dirty="0" sz="1650" spc="-55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92C3C"/>
                </a:solidFill>
                <a:latin typeface="Arial"/>
                <a:cs typeface="Arial"/>
              </a:rPr>
              <a:t>хоста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26388" y="1064412"/>
            <a:ext cx="5853430" cy="294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7600"/>
              </a:lnSpc>
              <a:spcBef>
                <a:spcPts val="100"/>
              </a:spcBef>
              <a:buSzPct val="95238"/>
              <a:buChar char="•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Если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виртуальной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машины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задали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хоста,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не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удовлетворяющее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соглашению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именовании,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то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вам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необходимо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исправить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это.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05"/>
              </a:spcBef>
              <a:buSzPct val="95238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виртуальную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машину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залогиньтесь.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комбинацию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Win+Enter</a:t>
            </a:r>
            <a:r>
              <a:rPr dirty="0" sz="1050" spc="-3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запуска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терминала.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терминальный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мультиплексор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Arial"/>
                <a:cs typeface="Arial"/>
              </a:rPr>
              <a:t>tmux</a:t>
            </a:r>
            <a:r>
              <a:rPr dirty="0" sz="1050" spc="-2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tmux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80"/>
              </a:spcBef>
              <a:buSzPct val="95238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Переключитесь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роль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супер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i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490"/>
              </a:spcBef>
              <a:buSzPct val="95238"/>
              <a:buChar char="•"/>
              <a:tabLst>
                <a:tab pos="240665" algn="l"/>
              </a:tabLst>
            </a:pP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Создайте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 (вместо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username</a:t>
            </a:r>
            <a:r>
              <a:rPr dirty="0" sz="900" spc="-2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ваш логин в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дисплейном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классе):</a:t>
            </a:r>
            <a:endParaRPr baseline="5291" sz="1575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209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adduser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wheel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username</a:t>
            </a:r>
            <a:endParaRPr sz="1000">
              <a:latin typeface="Consolas"/>
              <a:cs typeface="Consolas"/>
            </a:endParaRPr>
          </a:p>
          <a:p>
            <a:pPr marL="241300" marR="274320" indent="-228600">
              <a:lnSpc>
                <a:spcPct val="114300"/>
              </a:lnSpc>
              <a:spcBef>
                <a:spcPts val="295"/>
              </a:spcBef>
              <a:buSzPct val="95238"/>
              <a:buChar char="•"/>
              <a:tabLst>
                <a:tab pos="241300" algn="l"/>
              </a:tabLst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Задайте</a:t>
            </a:r>
            <a:r>
              <a:rPr dirty="0" baseline="5291" sz="1575" spc="-6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пароль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(вместо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username</a:t>
            </a:r>
            <a:r>
              <a:rPr dirty="0" sz="900" spc="-2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ваш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логин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baseline="5291" sz="1575" spc="-4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дисплейном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классе):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passwd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username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480"/>
              </a:spcBef>
              <a:buSzPct val="95238"/>
              <a:buChar char="•"/>
              <a:tabLst>
                <a:tab pos="240665" algn="l"/>
              </a:tabLst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baseline="5291" sz="1575" spc="-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хоста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(вместо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username</a:t>
            </a:r>
            <a:r>
              <a:rPr dirty="0" sz="900" spc="-21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ваш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логин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дисплейном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классе):</a:t>
            </a:r>
            <a:endParaRPr baseline="5291" sz="1575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hostnamectl</a:t>
            </a:r>
            <a:r>
              <a:rPr dirty="0" sz="1000" spc="-6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set-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hostname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username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85"/>
              </a:spcBef>
              <a:buSzPct val="95238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Проверьте,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хоста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установлено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верно: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hostnamectl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7483" y="4157598"/>
            <a:ext cx="5535930" cy="54038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8415" marR="5080" indent="-6350">
              <a:lnSpc>
                <a:spcPct val="104200"/>
              </a:lnSpc>
              <a:spcBef>
                <a:spcPts val="20"/>
              </a:spcBef>
            </a:pP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Установка</a:t>
            </a:r>
            <a:r>
              <a:rPr dirty="0" sz="1650" spc="-7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программного</a:t>
            </a:r>
            <a:r>
              <a:rPr dirty="0" sz="1650" spc="-7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обеспечения</a:t>
            </a:r>
            <a:r>
              <a:rPr dirty="0" sz="1650" spc="-6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292C3C"/>
                </a:solidFill>
                <a:latin typeface="Arial"/>
                <a:cs typeface="Arial"/>
              </a:rPr>
              <a:t>для</a:t>
            </a:r>
            <a:r>
              <a:rPr dirty="0" sz="1650" spc="-80" b="1">
                <a:solidFill>
                  <a:srgbClr val="292C3C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292C3C"/>
                </a:solidFill>
                <a:latin typeface="Arial"/>
                <a:cs typeface="Arial"/>
              </a:rPr>
              <a:t>создания документации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4783" y="4778780"/>
            <a:ext cx="6078855" cy="224663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482600" indent="-228600">
              <a:lnSpc>
                <a:spcPct val="100000"/>
              </a:lnSpc>
              <a:spcBef>
                <a:spcPts val="215"/>
              </a:spcBef>
              <a:buSzPct val="95238"/>
              <a:buChar char="•"/>
              <a:tabLst>
                <a:tab pos="4826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комбинацию </a:t>
            </a:r>
            <a:r>
              <a:rPr dirty="0" sz="1050" i="1">
                <a:solidFill>
                  <a:srgbClr val="202429"/>
                </a:solidFill>
                <a:latin typeface="Arial"/>
                <a:cs typeface="Arial"/>
              </a:rPr>
              <a:t>Win+Enter</a:t>
            </a:r>
            <a:r>
              <a:rPr dirty="0" sz="1050" spc="-35" i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запуска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терминала.</a:t>
            </a:r>
            <a:endParaRPr sz="1050">
              <a:latin typeface="Microsoft Sans Serif"/>
              <a:cs typeface="Microsoft Sans Serif"/>
            </a:endParaRPr>
          </a:p>
          <a:p>
            <a:pPr marL="482600" indent="-228600">
              <a:lnSpc>
                <a:spcPct val="100000"/>
              </a:lnSpc>
              <a:spcBef>
                <a:spcPts val="120"/>
              </a:spcBef>
              <a:buSzPct val="95238"/>
              <a:buChar char="•"/>
              <a:tabLst>
                <a:tab pos="4826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Запустите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терминальный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мультиплексор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Arial"/>
                <a:cs typeface="Arial"/>
              </a:rPr>
              <a:t>tmux</a:t>
            </a:r>
            <a:r>
              <a:rPr dirty="0" sz="1050" spc="-2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482600" indent="-228600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482600" algn="l"/>
              </a:tabLst>
            </a:pP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tmux</a:t>
            </a:r>
            <a:endParaRPr sz="1000">
              <a:latin typeface="Consolas"/>
              <a:cs typeface="Consolas"/>
            </a:endParaRPr>
          </a:p>
          <a:p>
            <a:pPr marL="482600" indent="-228600">
              <a:lnSpc>
                <a:spcPct val="100000"/>
              </a:lnSpc>
              <a:spcBef>
                <a:spcPts val="80"/>
              </a:spcBef>
              <a:buSzPct val="95238"/>
              <a:buChar char="•"/>
              <a:tabLst>
                <a:tab pos="4826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Переключитесь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роль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супер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пользователя:</a:t>
            </a:r>
            <a:endParaRPr sz="1050">
              <a:latin typeface="Microsoft Sans Serif"/>
              <a:cs typeface="Microsoft Sans Serif"/>
            </a:endParaRPr>
          </a:p>
          <a:p>
            <a:pPr marL="482600" indent="-228600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4826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i</a:t>
            </a:r>
            <a:endParaRPr sz="1000">
              <a:latin typeface="Consolas"/>
              <a:cs typeface="Consolas"/>
            </a:endParaRPr>
          </a:p>
          <a:p>
            <a:pPr marL="25400">
              <a:lnSpc>
                <a:spcPct val="100000"/>
              </a:lnSpc>
              <a:spcBef>
                <a:spcPts val="365"/>
              </a:spcBef>
            </a:pP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Работа</a:t>
            </a:r>
            <a:r>
              <a:rPr dirty="0" sz="1200" spc="-30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с</a:t>
            </a:r>
            <a:r>
              <a:rPr dirty="0" sz="1200" spc="-20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языком</a:t>
            </a:r>
            <a:r>
              <a:rPr dirty="0" sz="1200" spc="-25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02429"/>
                </a:solidFill>
                <a:latin typeface="Arial"/>
                <a:cs typeface="Arial"/>
              </a:rPr>
              <a:t>разметки</a:t>
            </a:r>
            <a:r>
              <a:rPr dirty="0" sz="1200" spc="-20" b="1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202429"/>
                </a:solidFill>
                <a:latin typeface="Arial"/>
                <a:cs typeface="Arial"/>
              </a:rPr>
              <a:t>Markdown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Arial"/>
              <a:cs typeface="Arial"/>
            </a:endParaRPr>
          </a:p>
          <a:p>
            <a:pPr marL="482600" indent="-228600">
              <a:lnSpc>
                <a:spcPct val="100000"/>
              </a:lnSpc>
              <a:buSzPct val="95238"/>
              <a:buChar char="•"/>
              <a:tabLst>
                <a:tab pos="482600" algn="l"/>
              </a:tabLst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Средство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pandoc</a:t>
            </a:r>
            <a:r>
              <a:rPr dirty="0" sz="900" spc="-2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baseline="5291" sz="1575" spc="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с 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языком</a:t>
            </a:r>
            <a:r>
              <a:rPr dirty="0" baseline="5291" sz="1575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разметки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Markdown.</a:t>
            </a:r>
            <a:endParaRPr baseline="5291" sz="1575">
              <a:latin typeface="Microsoft Sans Serif"/>
              <a:cs typeface="Microsoft Sans Serif"/>
            </a:endParaRPr>
          </a:p>
          <a:p>
            <a:pPr marL="482600" indent="-228600">
              <a:lnSpc>
                <a:spcPct val="100000"/>
              </a:lnSpc>
              <a:spcBef>
                <a:spcPts val="204"/>
              </a:spcBef>
              <a:buSzPct val="95238"/>
              <a:buChar char="•"/>
              <a:tabLst>
                <a:tab pos="4826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Установка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помощью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менеджера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пакетов:</a:t>
            </a:r>
            <a:endParaRPr sz="1050">
              <a:latin typeface="Microsoft Sans Serif"/>
              <a:cs typeface="Microsoft Sans Serif"/>
            </a:endParaRPr>
          </a:p>
          <a:p>
            <a:pPr marL="482600" indent="-228600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4826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pandoc</a:t>
            </a:r>
            <a:endParaRPr sz="1000">
              <a:latin typeface="Consolas"/>
              <a:cs typeface="Consolas"/>
            </a:endParaRPr>
          </a:p>
          <a:p>
            <a:pPr marL="482600" indent="-228600">
              <a:lnSpc>
                <a:spcPct val="100000"/>
              </a:lnSpc>
              <a:spcBef>
                <a:spcPts val="80"/>
              </a:spcBef>
              <a:buSzPct val="95238"/>
              <a:buChar char="•"/>
              <a:tabLst>
                <a:tab pos="4826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перекрёстными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ссылками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мы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используем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пакет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pandoc-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crossref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  <a:p>
            <a:pPr marL="720090">
              <a:lnSpc>
                <a:spcPct val="100000"/>
              </a:lnSpc>
              <a:spcBef>
                <a:spcPts val="530"/>
              </a:spcBef>
              <a:tabLst>
                <a:tab pos="948690" algn="l"/>
                <a:tab pos="5430520" algn="l"/>
              </a:tabLst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	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Пакет</a:t>
            </a:r>
            <a:r>
              <a:rPr dirty="0" baseline="5291" sz="1575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6172" sz="1350" spc="-30">
                <a:solidFill>
                  <a:srgbClr val="E83D8B"/>
                </a:solidFill>
                <a:latin typeface="Consolas"/>
                <a:cs typeface="Consolas"/>
              </a:rPr>
              <a:t>pandoc-crossref</a:t>
            </a:r>
            <a:r>
              <a:rPr dirty="0" baseline="6172" sz="1350" spc="-277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baseline="5291" sz="1575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стандартном</a:t>
            </a:r>
            <a:r>
              <a:rPr dirty="0" baseline="5291" sz="1575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репозитории</a:t>
            </a:r>
            <a:r>
              <a:rPr dirty="0" baseline="5291" sz="1575" spc="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отсутствует.</a:t>
            </a:r>
            <a:r>
              <a:rPr dirty="0" baseline="5291" sz="1575" spc="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	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Придётся</a:t>
            </a:r>
            <a:endParaRPr baseline="5291" sz="1575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21282" y="6994931"/>
            <a:ext cx="4889500" cy="6172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65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ставить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вручную,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скачав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сайта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https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://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github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.com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/lierdaki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l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/pandoc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2"/>
              </a:rPr>
              <a:t>crossref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  <a:hlinkClick r:id="rId2"/>
              </a:rPr>
              <a:t>.</a:t>
            </a:r>
            <a:r>
              <a:rPr dirty="0" sz="1050" spc="500">
                <a:solidFill>
                  <a:srgbClr val="202429"/>
                </a:solidFill>
                <a:latin typeface="Arial MT"/>
                <a:cs typeface="Arial MT"/>
              </a:rPr>
              <a:t> 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установке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pandoc-crossref</a:t>
            </a:r>
            <a:r>
              <a:rPr dirty="0" sz="900" spc="-20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следует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обращать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внимание,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какой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версии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pandoc</a:t>
            </a:r>
            <a:r>
              <a:rPr dirty="0" sz="900" spc="-19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он</a:t>
            </a:r>
            <a:r>
              <a:rPr dirty="0" baseline="5291" sz="1575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скомпилён.</a:t>
            </a:r>
            <a:endParaRPr baseline="5291" sz="1575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92682" y="7259192"/>
            <a:ext cx="101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6388" y="7629525"/>
            <a:ext cx="69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02429"/>
                </a:solidFill>
                <a:latin typeface="Microsoft Sans Serif"/>
                <a:cs typeface="Microsoft Sans Serif"/>
              </a:rPr>
              <a:t>•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29588" y="7556906"/>
            <a:ext cx="3700145" cy="68326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Лучше</a:t>
            </a:r>
            <a:r>
              <a:rPr dirty="0" baseline="5291" sz="1575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установить</a:t>
            </a:r>
            <a:r>
              <a:rPr dirty="0" baseline="5291" sz="1575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pandoc</a:t>
            </a:r>
            <a:r>
              <a:rPr dirty="0" sz="900" spc="-19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baseline="5291" sz="1575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6172" sz="1350" spc="-30">
                <a:solidFill>
                  <a:srgbClr val="E83D8B"/>
                </a:solidFill>
                <a:latin typeface="Consolas"/>
                <a:cs typeface="Consolas"/>
              </a:rPr>
              <a:t>pandoc-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crossref</a:t>
            </a:r>
            <a:r>
              <a:rPr dirty="0" sz="900" spc="-2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вручную.</a:t>
            </a:r>
            <a:endParaRPr baseline="5291" sz="1575">
              <a:latin typeface="Microsoft Sans Serif"/>
              <a:cs typeface="Microsoft Sans Serif"/>
            </a:endParaRPr>
          </a:p>
          <a:p>
            <a:pPr marL="504190" indent="-228600">
              <a:lnSpc>
                <a:spcPct val="100000"/>
              </a:lnSpc>
              <a:spcBef>
                <a:spcPts val="615"/>
              </a:spcBef>
              <a:buSzPct val="95238"/>
              <a:buFont typeface="Courier New"/>
              <a:buChar char="o"/>
              <a:tabLst>
                <a:tab pos="504190" algn="l"/>
              </a:tabLst>
            </a:pP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Скачайте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необходимую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версию</a:t>
            </a:r>
            <a:r>
              <a:rPr dirty="0" baseline="5291" sz="1575" spc="-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6172" sz="1350" spc="-22">
                <a:solidFill>
                  <a:srgbClr val="E83D8B"/>
                </a:solidFill>
                <a:latin typeface="Consolas"/>
                <a:cs typeface="Consolas"/>
              </a:rPr>
              <a:t>pandoc-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crossref</a:t>
            </a:r>
            <a:endParaRPr sz="900">
              <a:latin typeface="Consolas"/>
              <a:cs typeface="Consolas"/>
            </a:endParaRPr>
          </a:p>
          <a:p>
            <a:pPr marL="504190">
              <a:lnSpc>
                <a:spcPct val="100000"/>
              </a:lnSpc>
              <a:spcBef>
                <a:spcPts val="170"/>
              </a:spcBef>
            </a:pP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  <a:hlinkClick r:id="rId3"/>
              </a:rPr>
              <a:t>(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https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://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github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.com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/lierdaki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l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/pandoc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crossref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3"/>
              </a:rPr>
              <a:t>/releases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  <a:hlinkClick r:id="rId3"/>
              </a:rPr>
              <a:t>).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54582" y="8226704"/>
            <a:ext cx="5458460" cy="45212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278765" indent="-227965">
              <a:lnSpc>
                <a:spcPct val="100000"/>
              </a:lnSpc>
              <a:spcBef>
                <a:spcPts val="515"/>
              </a:spcBef>
              <a:buSzPct val="95238"/>
              <a:buFont typeface="Courier New"/>
              <a:buChar char="o"/>
              <a:tabLst>
                <a:tab pos="278765" algn="l"/>
              </a:tabLst>
            </a:pP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Посмотрите,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 какой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версии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30">
                <a:solidFill>
                  <a:srgbClr val="202429"/>
                </a:solidFill>
                <a:latin typeface="Microsoft Sans Serif"/>
                <a:cs typeface="Microsoft Sans Serif"/>
              </a:rPr>
              <a:t>откомпилён</a:t>
            </a:r>
            <a:r>
              <a:rPr dirty="0" baseline="5291" sz="1575" spc="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6172" sz="1350" spc="-30">
                <a:solidFill>
                  <a:srgbClr val="E83D8B"/>
                </a:solidFill>
                <a:latin typeface="Consolas"/>
                <a:cs typeface="Consolas"/>
              </a:rPr>
              <a:t>pandoc-</a:t>
            </a:r>
            <a:r>
              <a:rPr dirty="0" baseline="6172" sz="1350" spc="-15">
                <a:solidFill>
                  <a:srgbClr val="E83D8B"/>
                </a:solidFill>
                <a:latin typeface="Consolas"/>
                <a:cs typeface="Consolas"/>
              </a:rPr>
              <a:t>crossref</a:t>
            </a:r>
            <a:r>
              <a:rPr dirty="0" baseline="5291" sz="1575" spc="-15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baseline="5291" sz="1575">
              <a:latin typeface="Arial MT"/>
              <a:cs typeface="Arial MT"/>
            </a:endParaRPr>
          </a:p>
          <a:p>
            <a:pPr marL="278765" indent="-227965">
              <a:lnSpc>
                <a:spcPct val="100000"/>
              </a:lnSpc>
              <a:spcBef>
                <a:spcPts val="420"/>
              </a:spcBef>
              <a:buSzPct val="95238"/>
              <a:buFont typeface="Courier New"/>
              <a:buChar char="o"/>
              <a:tabLst>
                <a:tab pos="278765" algn="l"/>
              </a:tabLst>
            </a:pP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Скачайте</a:t>
            </a:r>
            <a:r>
              <a:rPr dirty="0" baseline="5291" sz="1575" spc="-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соответствующую</a:t>
            </a:r>
            <a:r>
              <a:rPr dirty="0" baseline="5291" sz="1575" spc="-37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версию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pandoc</a:t>
            </a:r>
            <a:r>
              <a:rPr dirty="0" sz="900" spc="-2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Arial MT"/>
                <a:cs typeface="Arial MT"/>
                <a:hlinkClick r:id="rId4"/>
              </a:rPr>
              <a:t>(</a:t>
            </a:r>
            <a:r>
              <a:rPr dirty="0" u="sng" baseline="5291" sz="1575" spc="-1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4"/>
              </a:rPr>
              <a:t>https</a:t>
            </a:r>
            <a:r>
              <a:rPr dirty="0" u="sng" baseline="5291" sz="1575" spc="-1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4"/>
              </a:rPr>
              <a:t>://</a:t>
            </a:r>
            <a:r>
              <a:rPr dirty="0" u="sng" baseline="5291" sz="1575" spc="-1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4"/>
              </a:rPr>
              <a:t>github</a:t>
            </a:r>
            <a:r>
              <a:rPr dirty="0" u="sng" baseline="5291" sz="1575" spc="-1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4"/>
              </a:rPr>
              <a:t>.com</a:t>
            </a:r>
            <a:r>
              <a:rPr dirty="0" u="sng" baseline="5291" sz="1575" spc="-1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4"/>
              </a:rPr>
              <a:t>/jgm</a:t>
            </a:r>
            <a:r>
              <a:rPr dirty="0" u="sng" baseline="5291" sz="1575" spc="-1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4"/>
              </a:rPr>
              <a:t>/pandoc</a:t>
            </a:r>
            <a:r>
              <a:rPr dirty="0" u="sng" baseline="5291" sz="1575" spc="-1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Arial MT"/>
                <a:cs typeface="Arial MT"/>
                <a:hlinkClick r:id="rId4"/>
              </a:rPr>
              <a:t>/releases</a:t>
            </a:r>
            <a:r>
              <a:rPr dirty="0" baseline="5291" sz="1575" spc="-15">
                <a:solidFill>
                  <a:srgbClr val="202429"/>
                </a:solidFill>
                <a:latin typeface="Arial MT"/>
                <a:cs typeface="Arial MT"/>
                <a:hlinkClick r:id="rId4"/>
              </a:rPr>
              <a:t>)</a:t>
            </a:r>
            <a:r>
              <a:rPr dirty="0" baseline="5291" sz="1575" spc="-15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baseline="5291" sz="1575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92682" y="8674760"/>
            <a:ext cx="101600" cy="68262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just" marL="12700" marR="5080">
              <a:lnSpc>
                <a:spcPct val="145500"/>
              </a:lnSpc>
              <a:spcBef>
                <a:spcPts val="35"/>
              </a:spcBef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 o 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21282" y="8664092"/>
            <a:ext cx="4805680" cy="68262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Распакуйте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архивы.</a:t>
            </a:r>
            <a:endParaRPr sz="1050">
              <a:latin typeface="Microsoft Sans Serif"/>
              <a:cs typeface="Microsoft Sans Serif"/>
            </a:endParaRPr>
          </a:p>
          <a:p>
            <a:pPr marL="12700" marR="5080">
              <a:lnSpc>
                <a:spcPts val="1810"/>
              </a:lnSpc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программы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собраны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виде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статически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линкованных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бинарных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файлов.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Поместите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их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/usr/local/bin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679333"/>
            <a:ext cx="3152775" cy="75819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00" spc="-10" b="1">
                <a:solidFill>
                  <a:srgbClr val="202429"/>
                </a:solidFill>
                <a:latin typeface="Arial"/>
                <a:cs typeface="Arial"/>
              </a:rPr>
              <a:t>texlive</a:t>
            </a:r>
            <a:endParaRPr sz="1200">
              <a:latin typeface="Arial"/>
              <a:cs typeface="Arial"/>
            </a:endParaRPr>
          </a:p>
          <a:p>
            <a:pPr marL="327660" indent="-86360">
              <a:lnSpc>
                <a:spcPct val="100000"/>
              </a:lnSpc>
              <a:spcBef>
                <a:spcPts val="175"/>
              </a:spcBef>
              <a:buSzPct val="95238"/>
              <a:buFont typeface="Segoe UI Symbol"/>
              <a:buChar char="•"/>
              <a:tabLst>
                <a:tab pos="32766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Установим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дистрибутив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Arial MT"/>
                <a:cs typeface="Arial MT"/>
              </a:rPr>
              <a:t>TeXlive:</a:t>
            </a:r>
            <a:r>
              <a:rPr dirty="0" sz="1050" spc="-30">
                <a:solidFill>
                  <a:srgbClr val="202429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sudo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y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texlive-scheme-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full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1619757"/>
            <a:ext cx="2782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solidFill>
                  <a:srgbClr val="202429"/>
                </a:solidFill>
                <a:latin typeface="Microsoft Sans Serif"/>
                <a:cs typeface="Microsoft Sans Serif"/>
              </a:rPr>
              <a:t>Домашнее</a:t>
            </a:r>
            <a:r>
              <a:rPr dirty="0" sz="2400" spc="-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задание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388" y="1995575"/>
            <a:ext cx="5872480" cy="1221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7600"/>
              </a:lnSpc>
              <a:spcBef>
                <a:spcPts val="100"/>
              </a:spcBef>
              <a:buSzPct val="95238"/>
              <a:buChar char="•"/>
              <a:tabLst>
                <a:tab pos="241300" algn="l"/>
              </a:tabLst>
            </a:pP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Дождитесь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загрузки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графического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окружения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откройте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терминал.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окне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терминала проанализируйте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последовательность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загрузки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системы,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выполнив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команду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dmesg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Можно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просто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просмотреть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вывод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этой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команды: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dmesg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less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80"/>
              </a:spcBef>
              <a:buSzPct val="95238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использовать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поиск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помощью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grep</a:t>
            </a:r>
            <a:r>
              <a:rPr dirty="0" sz="1050" spc="-1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0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dmesg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grep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"то,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что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ищем"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05"/>
              </a:spcBef>
              <a:buSzPct val="95238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Получите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следующую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информацию.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92682" y="3182391"/>
            <a:ext cx="2703830" cy="39243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240665" algn="l"/>
              </a:tabLst>
            </a:pP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Версия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ядра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Linux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(Linux</a:t>
            </a:r>
            <a:r>
              <a:rPr dirty="0" sz="105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version).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8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процессора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(Detected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Mhz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processor).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04157" y="3182391"/>
            <a:ext cx="52705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Частота Модель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7483" y="3583965"/>
            <a:ext cx="4570730" cy="3488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5990" marR="732790">
              <a:lnSpc>
                <a:spcPct val="123800"/>
              </a:lnSpc>
              <a:spcBef>
                <a:spcPts val="95"/>
              </a:spcBef>
              <a:tabLst>
                <a:tab pos="2719705" algn="l"/>
              </a:tabLst>
            </a:pP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процессора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 (CPU0).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	</a:t>
            </a:r>
            <a:r>
              <a:rPr dirty="0" baseline="5291" sz="1575">
                <a:solidFill>
                  <a:srgbClr val="202429"/>
                </a:solidFill>
                <a:latin typeface="Microsoft Sans Serif"/>
                <a:cs typeface="Microsoft Sans Serif"/>
              </a:rPr>
              <a:t>Объём</a:t>
            </a:r>
            <a:r>
              <a:rPr dirty="0" baseline="5291" sz="1575" spc="-22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baseline="5291" sz="1575" spc="-15">
                <a:solidFill>
                  <a:srgbClr val="202429"/>
                </a:solidFill>
                <a:latin typeface="Microsoft Sans Serif"/>
                <a:cs typeface="Microsoft Sans Serif"/>
              </a:rPr>
              <a:t>доступной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оперативной памяти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(Memory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available).</a:t>
            </a:r>
            <a:endParaRPr sz="1050">
              <a:latin typeface="Microsoft Sans Serif"/>
              <a:cs typeface="Microsoft Sans Serif"/>
            </a:endParaRPr>
          </a:p>
          <a:p>
            <a:pPr marL="935990" indent="-228600">
              <a:lnSpc>
                <a:spcPct val="100000"/>
              </a:lnSpc>
              <a:spcBef>
                <a:spcPts val="120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Тип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обнаруженного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гипервизора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(Hypervisor</a:t>
            </a:r>
            <a:r>
              <a:rPr dirty="0" sz="1050" spc="-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detected).</a:t>
            </a:r>
            <a:endParaRPr sz="1050">
              <a:latin typeface="Microsoft Sans Serif"/>
              <a:cs typeface="Microsoft Sans Serif"/>
            </a:endParaRPr>
          </a:p>
          <a:p>
            <a:pPr marL="935990" indent="-228600">
              <a:lnSpc>
                <a:spcPct val="100000"/>
              </a:lnSpc>
              <a:spcBef>
                <a:spcPts val="120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Тип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файловой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корневого</a:t>
            </a:r>
            <a:r>
              <a:rPr dirty="0" sz="1050" spc="-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раздела.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935990" marR="271780" indent="434340">
              <a:lnSpc>
                <a:spcPct val="107600"/>
              </a:lnSpc>
              <a:spcBef>
                <a:spcPts val="75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Последовательность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монтирования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файловых систем.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266700" indent="-266700">
              <a:lnSpc>
                <a:spcPct val="100000"/>
              </a:lnSpc>
              <a:buSzPct val="95833"/>
              <a:buAutoNum type="arabicPeriod"/>
              <a:tabLst>
                <a:tab pos="266700" algn="l"/>
              </a:tabLst>
            </a:pP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Версия</a:t>
            </a:r>
            <a:r>
              <a:rPr dirty="0" sz="2400" spc="-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ядра</a:t>
            </a:r>
            <a:r>
              <a:rPr dirty="0" sz="240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02429"/>
                </a:solidFill>
                <a:latin typeface="Microsoft Sans Serif"/>
                <a:cs typeface="Microsoft Sans Serif"/>
              </a:rPr>
              <a:t>Linux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000">
                <a:latin typeface="Times New Roman"/>
                <a:cs typeface="Times New Roman"/>
              </a:rPr>
              <a:t>dmesg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|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grep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"Linux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version"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000">
              <a:latin typeface="Times New Roman"/>
              <a:cs typeface="Times New Roman"/>
            </a:endParaRPr>
          </a:p>
          <a:p>
            <a:pPr marL="266700" indent="-266700">
              <a:lnSpc>
                <a:spcPct val="100000"/>
              </a:lnSpc>
              <a:buSzPct val="95833"/>
              <a:buFont typeface="Arial MT"/>
              <a:buAutoNum type="arabicPeriod" startAt="2"/>
              <a:tabLst>
                <a:tab pos="266700" algn="l"/>
              </a:tabLst>
            </a:pP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Модель</a:t>
            </a:r>
            <a:r>
              <a:rPr dirty="0" sz="2400" spc="-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240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частота</a:t>
            </a:r>
            <a:r>
              <a:rPr dirty="0" sz="240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процессора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000">
                <a:latin typeface="Calibri"/>
                <a:cs typeface="Calibri"/>
              </a:rPr>
              <a:t>Эти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данные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выводятся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одной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или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соседними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строками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при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инициализации</a:t>
            </a:r>
            <a:r>
              <a:rPr dirty="0" sz="1000" spc="-20">
                <a:latin typeface="Calibri"/>
                <a:cs typeface="Calibri"/>
              </a:rPr>
              <a:t> CPU:</a:t>
            </a:r>
            <a:endParaRPr sz="10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50"/>
              </a:spcBef>
            </a:pPr>
            <a:r>
              <a:rPr dirty="0" sz="1000">
                <a:latin typeface="Times New Roman"/>
                <a:cs typeface="Times New Roman"/>
              </a:rPr>
              <a:t>dmesg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|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grep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-</a:t>
            </a:r>
            <a:r>
              <a:rPr dirty="0" sz="1000">
                <a:latin typeface="Times New Roman"/>
                <a:cs typeface="Times New Roman"/>
              </a:rPr>
              <a:t>i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"CPU0"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imes New Roman"/>
                <a:cs typeface="Times New Roman"/>
              </a:rPr>
              <a:t>#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для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поиска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частоты: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Times New Roman"/>
                <a:cs typeface="Times New Roman"/>
              </a:rPr>
              <a:t>dmesg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|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grep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-</a:t>
            </a:r>
            <a:r>
              <a:rPr dirty="0" sz="1000">
                <a:latin typeface="Times New Roman"/>
                <a:cs typeface="Times New Roman"/>
              </a:rPr>
              <a:t>i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"MHz"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7483" y="7251572"/>
            <a:ext cx="5821045" cy="1310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5904">
              <a:lnSpc>
                <a:spcPct val="100000"/>
              </a:lnSpc>
              <a:spcBef>
                <a:spcPts val="100"/>
              </a:spcBef>
              <a:buSzPct val="95833"/>
              <a:buAutoNum type="arabicPeriod" startAt="3"/>
              <a:tabLst>
                <a:tab pos="266700" algn="l"/>
              </a:tabLst>
            </a:pP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Объём</a:t>
            </a:r>
            <a:r>
              <a:rPr dirty="0" sz="2400" spc="-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доступной</a:t>
            </a:r>
            <a:r>
              <a:rPr dirty="0" sz="2400" spc="-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оперативной</a:t>
            </a:r>
            <a:r>
              <a:rPr dirty="0" sz="2400" spc="-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памяти</a:t>
            </a:r>
            <a:endParaRPr sz="2400">
              <a:latin typeface="Microsoft Sans Serif"/>
              <a:cs typeface="Microsoft Sans Serif"/>
            </a:endParaRPr>
          </a:p>
          <a:p>
            <a:pPr marL="272415" indent="-255904">
              <a:lnSpc>
                <a:spcPct val="100000"/>
              </a:lnSpc>
              <a:spcBef>
                <a:spcPts val="85"/>
              </a:spcBef>
              <a:buSzPct val="95833"/>
              <a:buAutoNum type="arabicPeriod" startAt="3"/>
              <a:tabLst>
                <a:tab pos="272415" algn="l"/>
              </a:tabLst>
            </a:pP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Тип</a:t>
            </a:r>
            <a:r>
              <a:rPr dirty="0" sz="2400" spc="-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5">
                <a:solidFill>
                  <a:srgbClr val="202429"/>
                </a:solidFill>
                <a:latin typeface="Microsoft Sans Serif"/>
                <a:cs typeface="Microsoft Sans Serif"/>
              </a:rPr>
              <a:t>обнаруженного </a:t>
            </a:r>
            <a:r>
              <a:rPr dirty="0" sz="2400" spc="-10">
                <a:solidFill>
                  <a:srgbClr val="202429"/>
                </a:solidFill>
                <a:latin typeface="Microsoft Sans Serif"/>
                <a:cs typeface="Microsoft Sans Serif"/>
              </a:rPr>
              <a:t>гипервизора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imes New Roman"/>
                <a:cs typeface="Times New Roman"/>
              </a:rPr>
              <a:t>dmesg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|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grep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-</a:t>
            </a:r>
            <a:r>
              <a:rPr dirty="0" sz="1000">
                <a:latin typeface="Times New Roman"/>
                <a:cs typeface="Times New Roman"/>
              </a:rPr>
              <a:t>i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"Memory:"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Times New Roman"/>
                <a:cs typeface="Times New Roman"/>
              </a:rPr>
              <a:t>dmesg |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grep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-</a:t>
            </a:r>
            <a:r>
              <a:rPr dirty="0" sz="1000">
                <a:latin typeface="Times New Roman"/>
                <a:cs typeface="Times New Roman"/>
              </a:rPr>
              <a:t>i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"Hypervisor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detected"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7483" y="694435"/>
            <a:ext cx="55029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0750" algn="l"/>
                <a:tab pos="2719705" algn="l"/>
                <a:tab pos="4068445" algn="l"/>
              </a:tabLst>
            </a:pPr>
            <a:r>
              <a:rPr dirty="0" spc="-10"/>
              <a:t>5.Тип</a:t>
            </a:r>
            <a:r>
              <a:rPr dirty="0"/>
              <a:t>	</a:t>
            </a:r>
            <a:r>
              <a:rPr dirty="0" spc="-10"/>
              <a:t>файловой</a:t>
            </a:r>
            <a:r>
              <a:rPr dirty="0"/>
              <a:t>	</a:t>
            </a:r>
            <a:r>
              <a:rPr dirty="0" spc="-10"/>
              <a:t>системы</a:t>
            </a:r>
            <a:r>
              <a:rPr dirty="0"/>
              <a:t>	</a:t>
            </a:r>
            <a:r>
              <a:rPr dirty="0" spc="-20"/>
              <a:t>корневого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1071117"/>
            <a:ext cx="6078855" cy="460375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8415" marR="1302385">
              <a:lnSpc>
                <a:spcPct val="103299"/>
              </a:lnSpc>
              <a:spcBef>
                <a:spcPts val="5"/>
              </a:spcBef>
              <a:tabLst>
                <a:tab pos="1370330" algn="l"/>
                <a:tab pos="1820545" algn="l"/>
              </a:tabLst>
            </a:pPr>
            <a:r>
              <a:rPr dirty="0" sz="240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раздела</a:t>
            </a: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	</a:t>
            </a:r>
            <a:r>
              <a:rPr dirty="0" sz="2400" spc="-50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2400">
                <a:solidFill>
                  <a:srgbClr val="202429"/>
                </a:solidFill>
                <a:latin typeface="Microsoft Sans Serif"/>
                <a:cs typeface="Microsoft Sans Serif"/>
              </a:rPr>
              <a:t>	</a:t>
            </a:r>
            <a:r>
              <a:rPr dirty="0" sz="240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последовательность монтирования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000">
                <a:latin typeface="Calibri"/>
                <a:cs typeface="Calibri"/>
              </a:rPr>
              <a:t>Процесс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монтирования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можно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отследить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по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ключевому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слову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"Mounting": </a:t>
            </a:r>
            <a:r>
              <a:rPr dirty="0" sz="1000" spc="-10">
                <a:latin typeface="Times New Roman"/>
                <a:cs typeface="Times New Roman"/>
              </a:rPr>
              <a:t>dmesg</a:t>
            </a:r>
            <a:endParaRPr sz="10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45"/>
              </a:spcBef>
            </a:pPr>
            <a:r>
              <a:rPr dirty="0" sz="1000">
                <a:latin typeface="Times New Roman"/>
                <a:cs typeface="Times New Roman"/>
              </a:rPr>
              <a:t>|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grep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-</a:t>
            </a:r>
            <a:r>
              <a:rPr dirty="0" sz="1000">
                <a:latin typeface="Times New Roman"/>
                <a:cs typeface="Times New Roman"/>
              </a:rPr>
              <a:t>i</a:t>
            </a:r>
            <a:r>
              <a:rPr dirty="0" sz="1000" spc="-10">
                <a:latin typeface="Times New Roman"/>
                <a:cs typeface="Times New Roman"/>
              </a:rPr>
              <a:t> "Mounting"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>
                <a:latin typeface="Times New Roman"/>
                <a:cs typeface="Times New Roman"/>
              </a:rPr>
              <a:t>#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посмотреть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конкретно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тип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корневой</a:t>
            </a:r>
            <a:r>
              <a:rPr dirty="0" sz="1000" spc="-25">
                <a:latin typeface="Times New Roman"/>
                <a:cs typeface="Times New Roman"/>
              </a:rPr>
              <a:t> ФС: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000">
                <a:latin typeface="Times New Roman"/>
                <a:cs typeface="Times New Roman"/>
              </a:rPr>
              <a:t>dmesg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|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grep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"EXT4-</a:t>
            </a:r>
            <a:r>
              <a:rPr dirty="0" sz="1000">
                <a:latin typeface="Times New Roman"/>
                <a:cs typeface="Times New Roman"/>
              </a:rPr>
              <a:t>fs"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#</a:t>
            </a:r>
            <a:r>
              <a:rPr dirty="0" sz="1000" spc="-10">
                <a:latin typeface="Times New Roman"/>
                <a:cs typeface="Times New Roman"/>
              </a:rPr>
              <a:t> (замените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на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xfs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btrfs,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если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используете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их)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0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dirty="0" sz="2400" spc="-120">
                <a:solidFill>
                  <a:srgbClr val="202429"/>
                </a:solidFill>
                <a:latin typeface="Arial Black"/>
                <a:cs typeface="Arial Black"/>
              </a:rPr>
              <a:t>Контрольные</a:t>
            </a:r>
            <a:r>
              <a:rPr dirty="0" sz="2400" spc="-110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202429"/>
                </a:solidFill>
                <a:latin typeface="Arial Black"/>
                <a:cs typeface="Arial Black"/>
              </a:rPr>
              <a:t>вопросы</a:t>
            </a:r>
            <a:endParaRPr sz="2400">
              <a:latin typeface="Arial Black"/>
              <a:cs typeface="Arial Black"/>
            </a:endParaRPr>
          </a:p>
          <a:p>
            <a:pPr marL="476250" indent="-226060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7625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Какую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информацию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содержит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учётная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запись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пользователя?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20242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lvl="1" marL="935990" marR="5080" indent="-228600">
              <a:lnSpc>
                <a:spcPct val="113300"/>
              </a:lnSpc>
              <a:spcBef>
                <a:spcPts val="5"/>
              </a:spcBef>
              <a:buFont typeface="Symbol"/>
              <a:buChar char=""/>
              <a:tabLst>
                <a:tab pos="93599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Учётная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запись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(аккаунт)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содержит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данные,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необходимые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идентификации</a:t>
            </a:r>
            <a:r>
              <a:rPr dirty="0" sz="1050" spc="5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авторизации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системе:</a:t>
            </a:r>
            <a:endParaRPr sz="1050">
              <a:latin typeface="Microsoft Sans Serif"/>
              <a:cs typeface="Microsoft Sans Serif"/>
            </a:endParaRPr>
          </a:p>
          <a:p>
            <a:pPr lvl="1" marL="935990" indent="-228600">
              <a:lnSpc>
                <a:spcPct val="100000"/>
              </a:lnSpc>
              <a:spcBef>
                <a:spcPts val="165"/>
              </a:spcBef>
              <a:buFont typeface="Symbol"/>
              <a:buChar char="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sz="1050" spc="1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(Login):</a:t>
            </a:r>
            <a:r>
              <a:rPr dirty="0" sz="1050" spc="1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уникальный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строковый</a:t>
            </a:r>
            <a:r>
              <a:rPr dirty="0" sz="105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идентификатор.</a:t>
            </a:r>
            <a:endParaRPr sz="1050">
              <a:latin typeface="Microsoft Sans Serif"/>
              <a:cs typeface="Microsoft Sans Serif"/>
            </a:endParaRPr>
          </a:p>
          <a:p>
            <a:pPr lvl="1" marL="935990" indent="-228600">
              <a:lnSpc>
                <a:spcPct val="100000"/>
              </a:lnSpc>
              <a:spcBef>
                <a:spcPts val="170"/>
              </a:spcBef>
              <a:buFont typeface="Symbol"/>
              <a:buChar char="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Идентификатор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(UID):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числовой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код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системе.</a:t>
            </a:r>
            <a:endParaRPr sz="1050">
              <a:latin typeface="Microsoft Sans Serif"/>
              <a:cs typeface="Microsoft Sans Serif"/>
            </a:endParaRPr>
          </a:p>
          <a:p>
            <a:pPr lvl="1" marL="935990" marR="678815" indent="-228600">
              <a:lnSpc>
                <a:spcPts val="1440"/>
              </a:lnSpc>
              <a:spcBef>
                <a:spcPts val="65"/>
              </a:spcBef>
              <a:buFont typeface="Symbol"/>
              <a:buChar char="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Идентификатор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основной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группы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(GID):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группа,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которой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приписан пользователь.</a:t>
            </a:r>
            <a:endParaRPr sz="1050">
              <a:latin typeface="Microsoft Sans Serif"/>
              <a:cs typeface="Microsoft Sans Serif"/>
            </a:endParaRPr>
          </a:p>
          <a:p>
            <a:pPr lvl="1" marL="93599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93599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Пароль: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зашифрованном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виде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(обычно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файле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/etc/shadow).</a:t>
            </a:r>
            <a:endParaRPr sz="1050">
              <a:latin typeface="Microsoft Sans Serif"/>
              <a:cs typeface="Microsoft Sans Serif"/>
            </a:endParaRPr>
          </a:p>
          <a:p>
            <a:pPr lvl="1" marL="935990" indent="-228600">
              <a:lnSpc>
                <a:spcPct val="100000"/>
              </a:lnSpc>
              <a:spcBef>
                <a:spcPts val="170"/>
              </a:spcBef>
              <a:buFont typeface="Symbol"/>
              <a:buChar char="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Домашний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каталог: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путь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папке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(например,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/home/user).</a:t>
            </a:r>
            <a:endParaRPr sz="1050">
              <a:latin typeface="Microsoft Sans Serif"/>
              <a:cs typeface="Microsoft Sans Serif"/>
            </a:endParaRPr>
          </a:p>
          <a:p>
            <a:pPr lvl="1" marL="935990" marR="960119" indent="-228600">
              <a:lnSpc>
                <a:spcPct val="113300"/>
              </a:lnSpc>
              <a:buFont typeface="Symbol"/>
              <a:buChar char="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Командная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оболочка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(Shell):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программа,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запускаемая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входе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(например,</a:t>
            </a:r>
            <a:r>
              <a:rPr dirty="0" sz="1050" spc="2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/bin/bash).</a:t>
            </a:r>
            <a:endParaRPr sz="1050">
              <a:latin typeface="Microsoft Sans Serif"/>
              <a:cs typeface="Microsoft Sans Serif"/>
            </a:endParaRPr>
          </a:p>
          <a:p>
            <a:pPr lvl="1" marL="93599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Комментарий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202429"/>
                </a:solidFill>
                <a:latin typeface="Microsoft Sans Serif"/>
                <a:cs typeface="Microsoft Sans Serif"/>
              </a:rPr>
              <a:t>(GECOS):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полное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контактные</a:t>
            </a:r>
            <a:r>
              <a:rPr dirty="0" sz="105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данные.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35532" y="6207632"/>
            <a:ext cx="5869305" cy="3565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23876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команды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терминала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приведите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примеры: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202429"/>
              </a:buClr>
              <a:buFont typeface="Microsoft Sans Serif"/>
              <a:buAutoNum type="arabicPeriod" startAt="2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Справка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команде: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2" marL="697865" indent="-228600">
              <a:lnSpc>
                <a:spcPct val="100000"/>
              </a:lnSpc>
              <a:buFont typeface="Courier New"/>
              <a:buChar char="o"/>
              <a:tabLst>
                <a:tab pos="697865" algn="l"/>
              </a:tabLst>
            </a:pP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man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&lt;команда&gt;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(подробное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руководство)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man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ls</a:t>
            </a:r>
            <a:endParaRPr sz="1050">
              <a:latin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Microsoft Sans Serif"/>
              <a:cs typeface="Microsoft Sans Serif"/>
            </a:endParaRPr>
          </a:p>
          <a:p>
            <a:pPr lvl="2" marL="697865" indent="-22860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&lt;команда&gt;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--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help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(краткая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справка)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mkdir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--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help</a:t>
            </a:r>
            <a:endParaRPr sz="1050">
              <a:latin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Перемещение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файловой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системе: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4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2" marL="697865" indent="-228600">
              <a:lnSpc>
                <a:spcPct val="100000"/>
              </a:lnSpc>
              <a:buFont typeface="Courier New"/>
              <a:buChar char="o"/>
              <a:tabLst>
                <a:tab pos="6978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cd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&lt;путь&gt;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cd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/var/log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(перейти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log),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cd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..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(на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уровень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выше)</a:t>
            </a:r>
            <a:endParaRPr sz="1050">
              <a:latin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Просмотр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содержимого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каталога: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2" marL="697865" indent="-22860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ls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ls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la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(показать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все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файлы,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включая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скрытые,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длинным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списком)</a:t>
            </a:r>
            <a:endParaRPr sz="1050">
              <a:latin typeface="Microsoft Sans Serif"/>
              <a:cs typeface="Microsoft Sans Serif"/>
            </a:endParaRPr>
          </a:p>
          <a:p>
            <a:pPr lvl="2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Определение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объёма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каталога: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35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2" marL="697865" indent="-22860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du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du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sh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/home/user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(вывести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суммарный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endParaRPr sz="1050">
              <a:latin typeface="Microsoft Sans Serif"/>
              <a:cs typeface="Microsoft Sans Serif"/>
            </a:endParaRPr>
          </a:p>
          <a:p>
            <a:pPr marL="697865">
              <a:lnSpc>
                <a:spcPct val="100000"/>
              </a:lnSpc>
              <a:spcBef>
                <a:spcPts val="550"/>
              </a:spcBef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«человекочитаемом»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формате)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35532" y="769111"/>
            <a:ext cx="5920740" cy="2816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Создание/удаление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каталогов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файлов: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697865" indent="-22860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mkdir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mkdir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new_folder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(создать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папку)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Microsoft Sans Serif"/>
              <a:cs typeface="Microsoft Sans Serif"/>
            </a:endParaRPr>
          </a:p>
          <a:p>
            <a:pPr lvl="1" marL="697865" indent="-228600">
              <a:lnSpc>
                <a:spcPct val="100000"/>
              </a:lnSpc>
              <a:buFont typeface="Courier New"/>
              <a:buChar char="o"/>
              <a:tabLst>
                <a:tab pos="6978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touch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touch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file.txt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(создать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пустой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файл)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Microsoft Sans Serif"/>
              <a:cs typeface="Microsoft Sans Serif"/>
            </a:endParaRPr>
          </a:p>
          <a:p>
            <a:pPr lvl="1" marL="697865" indent="-228600">
              <a:lnSpc>
                <a:spcPct val="100000"/>
              </a:lnSpc>
              <a:buFont typeface="Courier New"/>
              <a:buChar char="o"/>
              <a:tabLst>
                <a:tab pos="697865" algn="l"/>
              </a:tabLst>
            </a:pP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rm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rm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file.txt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(удалить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файл),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rm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r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folder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(рекурсивно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удалить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папку)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Задание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прав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файл/каталог:</a:t>
            </a:r>
            <a:endParaRPr sz="1050">
              <a:latin typeface="Microsoft Sans Serif"/>
              <a:cs typeface="Microsoft Sans Serif"/>
            </a:endParaRPr>
          </a:p>
          <a:p>
            <a:pPr lvl="1" marL="697865" marR="5080" indent="-228600">
              <a:lnSpc>
                <a:spcPct val="143800"/>
              </a:lnSpc>
              <a:spcBef>
                <a:spcPts val="87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chmod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chmod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755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script.sh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(владельцу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всё,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остальным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чтение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и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запуск)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Просмотр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истории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команд: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697865" indent="-228600">
              <a:lnSpc>
                <a:spcPct val="100000"/>
              </a:lnSpc>
              <a:buFont typeface="Courier New"/>
              <a:buChar char="o"/>
              <a:tabLst>
                <a:tab pos="6978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history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history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10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(показать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последние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10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введенных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команд)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6627" y="4053966"/>
            <a:ext cx="6143625" cy="2422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7359" indent="-226060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467359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такое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файловая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система?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Приведите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примеры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краткой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характеристикой.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202429"/>
              </a:buClr>
              <a:buFont typeface="Microsoft Sans Serif"/>
              <a:buAutoNum type="arabicPeriod" startAt="3"/>
            </a:pPr>
            <a:endParaRPr sz="1050">
              <a:latin typeface="Microsoft Sans Serif"/>
              <a:cs typeface="Microsoft Sans Serif"/>
            </a:endParaRPr>
          </a:p>
          <a:p>
            <a:pPr marL="12700" marR="654050">
              <a:lnSpc>
                <a:spcPct val="142900"/>
              </a:lnSpc>
              <a:spcBef>
                <a:spcPts val="5"/>
              </a:spcBef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Файловая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система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порядок,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определяющий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способ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организации,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хранения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и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именования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данных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носителях.</a:t>
            </a:r>
            <a:endParaRPr sz="1050">
              <a:latin typeface="Microsoft Sans Serif"/>
              <a:cs typeface="Microsoft Sans Serif"/>
            </a:endParaRPr>
          </a:p>
          <a:p>
            <a:pPr lvl="1" marL="469900" marR="241300" indent="-228600">
              <a:lnSpc>
                <a:spcPts val="1810"/>
              </a:lnSpc>
              <a:spcBef>
                <a:spcPts val="14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ext4: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стандарт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Linux.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Поддерживает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журналирование,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что предотвращает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сбои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внезапном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отключении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питания.</a:t>
            </a:r>
            <a:endParaRPr sz="1050">
              <a:latin typeface="Microsoft Sans Serif"/>
              <a:cs typeface="Microsoft Sans Serif"/>
            </a:endParaRPr>
          </a:p>
          <a:p>
            <a:pPr lvl="1" marL="469900" marR="5080" indent="-228600">
              <a:lnSpc>
                <a:spcPct val="144000"/>
              </a:lnSpc>
              <a:spcBef>
                <a:spcPts val="72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-60">
                <a:solidFill>
                  <a:srgbClr val="202429"/>
                </a:solidFill>
                <a:latin typeface="Microsoft Sans Serif"/>
                <a:cs typeface="Microsoft Sans Serif"/>
              </a:rPr>
              <a:t>NTFS: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основная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202429"/>
                </a:solidFill>
                <a:latin typeface="Microsoft Sans Serif"/>
                <a:cs typeface="Microsoft Sans Serif"/>
              </a:rPr>
              <a:t>ФС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Windows.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Поддерживает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разграничение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прав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доступа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сжатие данных.</a:t>
            </a:r>
            <a:endParaRPr sz="1050">
              <a:latin typeface="Microsoft Sans Serif"/>
              <a:cs typeface="Microsoft Sans Serif"/>
            </a:endParaRPr>
          </a:p>
          <a:p>
            <a:pPr lvl="1" marL="469900" marR="361950" indent="-228600">
              <a:lnSpc>
                <a:spcPct val="143800"/>
              </a:lnSpc>
              <a:spcBef>
                <a:spcPts val="87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FAT32: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старая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универсальная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система.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Главный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минус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ограничение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размер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одного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файла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4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ГБ.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6627" y="6945248"/>
            <a:ext cx="6001385" cy="1736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7359" indent="-226060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467359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Как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посмотреть,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какие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файловые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подмонтированы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ОС?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202429"/>
              </a:buClr>
              <a:buFont typeface="Microsoft Sans Serif"/>
              <a:buAutoNum type="arabicPeriod" startAt="4"/>
            </a:pPr>
            <a:endParaRPr sz="1050">
              <a:latin typeface="Microsoft Sans Serif"/>
              <a:cs typeface="Microsoft Sans Serif"/>
            </a:endParaRPr>
          </a:p>
          <a:p>
            <a:pPr marL="12700" marR="5080">
              <a:lnSpc>
                <a:spcPct val="142900"/>
              </a:lnSpc>
              <a:spcBef>
                <a:spcPts val="5"/>
              </a:spcBef>
            </a:pP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получения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списка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всех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активных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(примонтированных)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файловых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используются команды:</a:t>
            </a:r>
            <a:endParaRPr sz="1050">
              <a:latin typeface="Microsoft Sans Serif"/>
              <a:cs typeface="Microsoft Sans Serif"/>
            </a:endParaRPr>
          </a:p>
          <a:p>
            <a:pPr lvl="1" marL="469900" indent="-228600">
              <a:lnSpc>
                <a:spcPct val="100000"/>
              </a:lnSpc>
              <a:spcBef>
                <a:spcPts val="55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mount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(выводит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детальный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список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параметрами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монтирования)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469900" indent="-228600">
              <a:lnSpc>
                <a:spcPct val="100000"/>
              </a:lnSpc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df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h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(показывает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список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разделов,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их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тип,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свободное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место)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469900" indent="-228600">
              <a:lnSpc>
                <a:spcPct val="100000"/>
              </a:lnSpc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findmnt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(выводит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дерево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монтирования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удобном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виде)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6627" y="9213341"/>
            <a:ext cx="3503295" cy="591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5.</a:t>
            </a:r>
            <a:r>
              <a:rPr dirty="0" sz="1050" spc="235">
                <a:solidFill>
                  <a:srgbClr val="202429"/>
                </a:solidFill>
                <a:latin typeface="Microsoft Sans Serif"/>
                <a:cs typeface="Microsoft Sans Serif"/>
              </a:rPr>
              <a:t> 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Как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удалить зависший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процесс?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Сначала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нужно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найти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идентификатор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процесса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(PID).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35532" y="769111"/>
            <a:ext cx="5756910" cy="17868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3876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Найдите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процесс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через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top,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htop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ps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aux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305">
                <a:solidFill>
                  <a:srgbClr val="202429"/>
                </a:solidFill>
                <a:latin typeface="Microsoft Sans Serif"/>
                <a:cs typeface="Microsoft Sans Serif"/>
              </a:rPr>
              <a:t>|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grep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name.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238760" indent="-22606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3876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Завершите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его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командой</a:t>
            </a:r>
            <a:r>
              <a:rPr dirty="0" sz="105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kill: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lvl="1" marL="695325" indent="-226060">
              <a:lnSpc>
                <a:spcPct val="100000"/>
              </a:lnSpc>
              <a:buAutoNum type="arabicPeriod"/>
              <a:tabLst>
                <a:tab pos="69532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kill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&lt;PID&gt;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попытка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«мягкого»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завершения.</a:t>
            </a:r>
            <a:endParaRPr sz="1050">
              <a:latin typeface="Microsoft Sans Serif"/>
              <a:cs typeface="Microsoft Sans Serif"/>
            </a:endParaRPr>
          </a:p>
          <a:p>
            <a:pPr lvl="1" marL="695325" marR="5080" indent="-226060">
              <a:lnSpc>
                <a:spcPct val="143800"/>
              </a:lnSpc>
              <a:spcBef>
                <a:spcPts val="875"/>
              </a:spcBef>
              <a:buAutoNum type="arabicPeriod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kill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9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&lt;PID&gt;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принудительное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немедленное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завершение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(используйте,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если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первое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помогло).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lvl="1" marL="695325" indent="-226060">
              <a:lnSpc>
                <a:spcPct val="100000"/>
              </a:lnSpc>
              <a:buAutoNum type="arabicPeriod"/>
              <a:tabLst>
                <a:tab pos="69532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killall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&lt;имя_программы&gt;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убить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все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процессы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данным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названием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3364442"/>
            <a:ext cx="6179185" cy="129222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400" spc="-10">
                <a:solidFill>
                  <a:srgbClr val="202429"/>
                </a:solidFill>
                <a:latin typeface="Microsoft Sans Serif"/>
                <a:cs typeface="Microsoft Sans Serif"/>
              </a:rPr>
              <a:t>Вывод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300">
                <a:latin typeface="Times New Roman"/>
                <a:cs typeface="Times New Roman"/>
              </a:rPr>
              <a:t>В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рамках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данной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работы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мы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приобрели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практические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навыки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установки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операционной</a:t>
            </a:r>
            <a:endParaRPr sz="1300">
              <a:latin typeface="Times New Roman"/>
              <a:cs typeface="Times New Roman"/>
            </a:endParaRPr>
          </a:p>
          <a:p>
            <a:pPr marL="18415" marR="764540">
              <a:lnSpc>
                <a:spcPts val="2360"/>
              </a:lnSpc>
              <a:spcBef>
                <a:spcPts val="95"/>
              </a:spcBef>
            </a:pPr>
            <a:r>
              <a:rPr dirty="0" sz="1300">
                <a:latin typeface="Times New Roman"/>
                <a:cs typeface="Times New Roman"/>
              </a:rPr>
              <a:t>системы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на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виртуальную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машину,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настройки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минимально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необходимых</a:t>
            </a:r>
            <a:r>
              <a:rPr dirty="0" sz="1300" spc="-50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для </a:t>
            </a:r>
            <a:r>
              <a:rPr dirty="0" sz="1300" spc="-10">
                <a:latin typeface="Times New Roman"/>
                <a:cs typeface="Times New Roman"/>
              </a:rPr>
              <a:t>дальнейшей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работы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сервисов.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Милана Тимофеева</dc:creator>
  <dcterms:created xsi:type="dcterms:W3CDTF">2026-03-07T17:50:54Z</dcterms:created>
  <dcterms:modified xsi:type="dcterms:W3CDTF">2026-03-07T17:50:54Z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2026-03-07T00:00:00Z</vt:filetime>
  </property>
  <property fmtid="{D5CDD505-2E9C-101B-9397-08002B2CF9AE}" pid="5" name="Producer">
    <vt:lpwstr>Microsoft® Word LTSC</vt:lpwstr>
  </property>
</Properties>
</file>