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copr.fedorainfracloud.org/coprs/elegos/gitflow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git@github.com" TargetMode="External"/><Relationship Id="rId3" Type="http://schemas.openxmlformats.org/officeDocument/2006/relationships/hyperlink" Target="https://spdx.org/licenses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username@gmail.com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10792" y="694435"/>
            <a:ext cx="5217160" cy="1066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5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55930" marR="330200" indent="66675">
              <a:lnSpc>
                <a:spcPct val="195400"/>
              </a:lnSpc>
              <a:spcBef>
                <a:spcPts val="180"/>
              </a:spcBef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физико-математических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прикладной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05685" y="3743071"/>
            <a:ext cx="3834129" cy="1223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645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1464310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600" spc="-9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2130" y="8463533"/>
            <a:ext cx="30105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13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13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88660" y="9192005"/>
            <a:ext cx="15640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6627" y="2884677"/>
            <a:ext cx="4549140" cy="2985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59639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 marL="1594485">
              <a:lnSpc>
                <a:spcPct val="100000"/>
              </a:lnSpc>
              <a:spcBef>
                <a:spcPts val="1490"/>
              </a:spcBef>
            </a:pPr>
            <a:r>
              <a:rPr dirty="0" sz="1300">
                <a:latin typeface="Times New Roman"/>
                <a:cs typeface="Times New Roman"/>
              </a:rPr>
              <a:t>2026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spc="-105">
                <a:solidFill>
                  <a:srgbClr val="202429"/>
                </a:solidFill>
                <a:latin typeface="Arial Black"/>
                <a:cs typeface="Arial Black"/>
              </a:rPr>
              <a:t>Цель</a:t>
            </a:r>
            <a:r>
              <a:rPr dirty="0" sz="1600" spc="-110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202429"/>
                </a:solidFill>
                <a:latin typeface="Arial Black"/>
                <a:cs typeface="Arial Black"/>
              </a:rPr>
              <a:t>работы</a:t>
            </a:r>
            <a:endParaRPr sz="1600">
              <a:latin typeface="Arial Black"/>
              <a:cs typeface="Arial Black"/>
            </a:endParaRPr>
          </a:p>
          <a:p>
            <a:pPr marL="469900" indent="-228600">
              <a:lnSpc>
                <a:spcPct val="100000"/>
              </a:lnSpc>
              <a:spcBef>
                <a:spcPts val="179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Получение</a:t>
            </a:r>
            <a:r>
              <a:rPr dirty="0" sz="1050" spc="1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навыков</a:t>
            </a:r>
            <a:r>
              <a:rPr dirty="0" sz="1050" spc="1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правильной</a:t>
            </a:r>
            <a:r>
              <a:rPr dirty="0" sz="1050" spc="4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работы</a:t>
            </a:r>
            <a:r>
              <a:rPr dirty="0" sz="1050" spc="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с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 репозиториями</a:t>
            </a:r>
            <a:r>
              <a:rPr dirty="0" sz="1050" spc="4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Arial"/>
                <a:cs typeface="Arial"/>
              </a:rPr>
              <a:t>git.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75">
                <a:solidFill>
                  <a:srgbClr val="202429"/>
                </a:solidFill>
                <a:latin typeface="Arial Black"/>
                <a:cs typeface="Arial Black"/>
              </a:rPr>
              <a:t>выполнения</a:t>
            </a:r>
            <a:r>
              <a:rPr dirty="0" sz="1600" spc="-40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202429"/>
                </a:solidFill>
                <a:latin typeface="Arial Black"/>
                <a:cs typeface="Arial Black"/>
              </a:rPr>
              <a:t>работы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650">
                <a:solidFill>
                  <a:srgbClr val="292C3C"/>
                </a:solidFill>
                <a:latin typeface="Arial"/>
                <a:cs typeface="Arial"/>
              </a:rPr>
              <a:t>Установка</a:t>
            </a:r>
            <a:r>
              <a:rPr dirty="0" sz="1650" spc="145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292C3C"/>
                </a:solidFill>
                <a:latin typeface="Arial"/>
                <a:cs typeface="Arial"/>
              </a:rPr>
              <a:t>программного</a:t>
            </a:r>
            <a:r>
              <a:rPr dirty="0" sz="1650" spc="150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292C3C"/>
                </a:solidFill>
                <a:latin typeface="Arial"/>
                <a:cs typeface="Arial"/>
              </a:rPr>
              <a:t>обеспечения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1200" spc="-60">
                <a:solidFill>
                  <a:srgbClr val="202429"/>
                </a:solidFill>
                <a:latin typeface="Arial Black"/>
                <a:cs typeface="Arial Black"/>
              </a:rPr>
              <a:t>Установка</a:t>
            </a:r>
            <a:r>
              <a:rPr dirty="0" sz="1200" spc="10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202429"/>
                </a:solidFill>
                <a:latin typeface="Arial Black"/>
                <a:cs typeface="Arial Black"/>
              </a:rPr>
              <a:t>git-</a:t>
            </a:r>
            <a:r>
              <a:rPr dirty="0" sz="1200" spc="-20">
                <a:solidFill>
                  <a:srgbClr val="202429"/>
                </a:solidFill>
                <a:latin typeface="Arial Black"/>
                <a:cs typeface="Arial Black"/>
              </a:rPr>
              <a:t>flow</a:t>
            </a:r>
            <a:endParaRPr sz="1200">
              <a:latin typeface="Arial Black"/>
              <a:cs typeface="Arial Black"/>
            </a:endParaRPr>
          </a:p>
          <a:p>
            <a:pPr marL="469900" indent="-228600">
              <a:lnSpc>
                <a:spcPct val="100000"/>
              </a:lnSpc>
              <a:spcBef>
                <a:spcPts val="31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Linux</a:t>
            </a:r>
            <a:endParaRPr sz="10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8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Fedora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49882" y="5845835"/>
            <a:ext cx="4988560" cy="77978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5"/>
              </a:spcBef>
              <a:buSzPct val="95238"/>
              <a:buFont typeface="Wingdings"/>
              <a:buChar char="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Установка</a:t>
            </a:r>
            <a:r>
              <a:rPr dirty="0" sz="1050" spc="10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из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коллекции</a:t>
            </a:r>
            <a:endParaRPr sz="10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275"/>
              </a:spcBef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репозиториев</a:t>
            </a:r>
            <a:r>
              <a:rPr dirty="0" sz="1050" spc="370">
                <a:solidFill>
                  <a:srgbClr val="202429"/>
                </a:solidFill>
                <a:latin typeface="Arial"/>
                <a:cs typeface="Arial"/>
              </a:rPr>
              <a:t> 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Copr</a:t>
            </a:r>
            <a:r>
              <a:rPr dirty="0" sz="1050" spc="375" i="1">
                <a:solidFill>
                  <a:srgbClr val="202429"/>
                </a:solidFill>
                <a:latin typeface="Trebuchet MS"/>
                <a:cs typeface="Trebuchet MS"/>
              </a:rPr>
              <a:t> 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  <a:hlinkClick r:id="rId2"/>
              </a:rPr>
              <a:t>(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"/>
                <a:cs typeface="Arial"/>
                <a:hlinkClick r:id="rId2"/>
              </a:rPr>
              <a:t>https://copr.fedorainfracloud.org/coprs/elegos/gitflow/</a:t>
            </a:r>
            <a:endParaRPr sz="10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285"/>
              </a:spcBef>
            </a:pPr>
            <a:r>
              <a:rPr dirty="0" sz="1050" spc="-25">
                <a:solidFill>
                  <a:srgbClr val="202429"/>
                </a:solidFill>
                <a:latin typeface="Arial"/>
                <a:cs typeface="Arial"/>
              </a:rPr>
              <a:t>):</a:t>
            </a:r>
            <a:endParaRPr sz="1050">
              <a:latin typeface="Arial"/>
              <a:cs typeface="Arial"/>
            </a:endParaRPr>
          </a:p>
          <a:p>
            <a:pPr marL="614680">
              <a:lnSpc>
                <a:spcPct val="100000"/>
              </a:lnSpc>
              <a:spcBef>
                <a:spcPts val="12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#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Enable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the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copr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repository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49882" y="6448425"/>
            <a:ext cx="83820" cy="701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Wingdings"/>
                <a:cs typeface="Wingdings"/>
              </a:rPr>
              <a:t>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000" spc="-50">
                <a:solidFill>
                  <a:srgbClr val="202429"/>
                </a:solidFill>
                <a:latin typeface="Wingdings"/>
                <a:cs typeface="Wingdings"/>
              </a:rPr>
              <a:t>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000" spc="-50">
                <a:solidFill>
                  <a:srgbClr val="202429"/>
                </a:solidFill>
                <a:latin typeface="Wingdings"/>
                <a:cs typeface="Wingdings"/>
              </a:rPr>
              <a:t>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52242" y="6710552"/>
            <a:ext cx="2122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copr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enable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elegos/gitflow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52242" y="6972680"/>
            <a:ext cx="1214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#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gitflow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9327" y="7234808"/>
            <a:ext cx="5940425" cy="888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44980" indent="-60198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74498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gitflow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dirty="0" sz="1200" spc="-60">
                <a:solidFill>
                  <a:srgbClr val="202429"/>
                </a:solidFill>
                <a:latin typeface="Arial Black"/>
                <a:cs typeface="Arial Black"/>
              </a:rPr>
              <a:t>Установка</a:t>
            </a:r>
            <a:r>
              <a:rPr dirty="0" sz="1200" spc="-25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Arial Black"/>
                <a:cs typeface="Arial Black"/>
              </a:rPr>
              <a:t>Node.js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23100"/>
              </a:lnSpc>
              <a:spcBef>
                <a:spcPts val="25"/>
              </a:spcBef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050" spc="1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Node.js</a:t>
            </a:r>
            <a:r>
              <a:rPr dirty="0" sz="1050" spc="1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базируется</a:t>
            </a:r>
            <a:r>
              <a:rPr dirty="0" sz="1050" spc="17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программное</a:t>
            </a:r>
            <a:r>
              <a:rPr dirty="0" sz="1050" spc="1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обеспечение</a:t>
            </a:r>
            <a:r>
              <a:rPr dirty="0" sz="1050" spc="1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1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семантического</a:t>
            </a:r>
            <a:r>
              <a:rPr dirty="0" sz="1050" spc="1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версионирования</a:t>
            </a:r>
            <a:r>
              <a:rPr dirty="0" sz="1050" spc="1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5">
                <a:solidFill>
                  <a:srgbClr val="202429"/>
                </a:solidFill>
                <a:latin typeface="Arial"/>
                <a:cs typeface="Arial"/>
              </a:rPr>
              <a:t>и 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общепринятых</a:t>
            </a:r>
            <a:r>
              <a:rPr dirty="0" sz="1050" spc="-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коммитов.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5532" y="8279879"/>
            <a:ext cx="1638300" cy="66929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0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Fedora</a:t>
            </a:r>
            <a:endParaRPr sz="1050">
              <a:latin typeface="Arial"/>
              <a:cs typeface="Arial"/>
            </a:endParaRPr>
          </a:p>
          <a:p>
            <a:pPr marL="365760" indent="-35306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36576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nodejs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000" spc="-50">
                <a:solidFill>
                  <a:srgbClr val="202429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89050" y="8771381"/>
            <a:ext cx="11442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pnpm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6627" y="9008352"/>
            <a:ext cx="6045200" cy="64897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200" spc="-65">
                <a:solidFill>
                  <a:srgbClr val="202429"/>
                </a:solidFill>
                <a:latin typeface="Arial Black"/>
                <a:cs typeface="Arial Black"/>
              </a:rPr>
              <a:t>Настройка</a:t>
            </a:r>
            <a:r>
              <a:rPr dirty="0" sz="1200" spc="-35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Arial Black"/>
                <a:cs typeface="Arial Black"/>
              </a:rPr>
              <a:t>Node.js</a:t>
            </a:r>
            <a:endParaRPr sz="1200">
              <a:latin typeface="Arial Black"/>
              <a:cs typeface="Arial Black"/>
            </a:endParaRPr>
          </a:p>
          <a:p>
            <a:pPr marL="12700" marR="5080">
              <a:lnSpc>
                <a:spcPct val="121900"/>
              </a:lnSpc>
              <a:spcBef>
                <a:spcPts val="40"/>
              </a:spcBef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работы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Node.js</a:t>
            </a:r>
            <a:r>
              <a:rPr dirty="0" sz="1050" spc="10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добавим</a:t>
            </a:r>
            <a:r>
              <a:rPr dirty="0" sz="1050" spc="114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каталог</a:t>
            </a:r>
            <a:r>
              <a:rPr dirty="0" sz="1050" spc="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</a:t>
            </a:r>
            <a:r>
              <a:rPr dirty="0" sz="1050" spc="10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исполняемыми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файлами,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устанавливаемыми</a:t>
            </a:r>
            <a:r>
              <a:rPr dirty="0" sz="1050" spc="14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yarn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,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202429"/>
                </a:solidFill>
                <a:latin typeface="Arial"/>
                <a:cs typeface="Arial"/>
              </a:rPr>
              <a:t>в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переменную</a:t>
            </a:r>
            <a:r>
              <a:rPr dirty="0" sz="1050" spc="2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PATH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6627" y="686040"/>
            <a:ext cx="5940425" cy="3742054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34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Запустите:</a:t>
            </a:r>
            <a:endParaRPr sz="1050">
              <a:latin typeface="Arial"/>
              <a:cs typeface="Arial"/>
            </a:endParaRPr>
          </a:p>
          <a:p>
            <a:pPr marL="594995" indent="-35369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59499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pnpm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setup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019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Перелогиньтесь,</a:t>
            </a:r>
            <a:r>
              <a:rPr dirty="0" sz="1050" spc="1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или</a:t>
            </a:r>
            <a:r>
              <a:rPr dirty="0" sz="1050" spc="1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выполните:</a:t>
            </a:r>
            <a:endParaRPr sz="1050">
              <a:latin typeface="Arial"/>
              <a:cs typeface="Arial"/>
            </a:endParaRPr>
          </a:p>
          <a:p>
            <a:pPr marL="594995" indent="-353695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59499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source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~/.bashrc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 spc="-50">
                <a:solidFill>
                  <a:srgbClr val="202429"/>
                </a:solidFill>
                <a:latin typeface="Arial Black"/>
                <a:cs typeface="Arial Black"/>
              </a:rPr>
              <a:t>Общепринятые</a:t>
            </a:r>
            <a:r>
              <a:rPr dirty="0" sz="1200" spc="20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Arial Black"/>
                <a:cs typeface="Arial Black"/>
              </a:rPr>
              <a:t>коммиты</a:t>
            </a:r>
            <a:endParaRPr sz="1200">
              <a:latin typeface="Arial Black"/>
              <a:cs typeface="Arial Black"/>
            </a:endParaRPr>
          </a:p>
          <a:p>
            <a:pPr marL="467359" indent="-22606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7359" algn="l"/>
              </a:tabLst>
            </a:pP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commitizen</a:t>
            </a:r>
            <a:endParaRPr sz="10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8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Данная</a:t>
            </a:r>
            <a:r>
              <a:rPr dirty="0" sz="1050" spc="14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программа</a:t>
            </a:r>
            <a:r>
              <a:rPr dirty="0" sz="1050" spc="1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используется</a:t>
            </a:r>
            <a:r>
              <a:rPr dirty="0" sz="1050" spc="16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1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помощи</a:t>
            </a:r>
            <a:r>
              <a:rPr dirty="0" sz="1050" spc="1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1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форматировании</a:t>
            </a:r>
            <a:r>
              <a:rPr dirty="0" sz="1050" spc="1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коммитов.</a:t>
            </a:r>
            <a:endParaRPr sz="1050">
              <a:latin typeface="Arial"/>
              <a:cs typeface="Arial"/>
            </a:endParaRPr>
          </a:p>
          <a:p>
            <a:pPr lvl="1" marL="1175385" indent="-476884">
              <a:lnSpc>
                <a:spcPct val="100000"/>
              </a:lnSpc>
              <a:spcBef>
                <a:spcPts val="130"/>
              </a:spcBef>
              <a:buFont typeface="Courier New"/>
              <a:buChar char="o"/>
              <a:tabLst>
                <a:tab pos="11753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pnpm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commitizen</a:t>
            </a:r>
            <a:endParaRPr sz="1000">
              <a:latin typeface="Consolas"/>
              <a:cs typeface="Consolas"/>
            </a:endParaRPr>
          </a:p>
          <a:p>
            <a:pPr lvl="1" marL="927100" marR="34290" indent="-228600">
              <a:lnSpc>
                <a:spcPct val="122900"/>
              </a:lnSpc>
              <a:spcBef>
                <a:spcPts val="73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При</a:t>
            </a:r>
            <a:r>
              <a:rPr dirty="0" sz="1050" spc="4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этом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устанавливается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скрипт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git-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cz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,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 который</a:t>
            </a:r>
            <a:r>
              <a:rPr dirty="0" sz="1050" spc="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мы</a:t>
            </a:r>
            <a:r>
              <a:rPr dirty="0" sz="1050" spc="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и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будем</a:t>
            </a:r>
            <a:r>
              <a:rPr dirty="0" sz="1050" spc="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использовать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-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коммитов.</a:t>
            </a:r>
            <a:endParaRPr sz="1050">
              <a:latin typeface="Arial"/>
              <a:cs typeface="Arial"/>
            </a:endParaRPr>
          </a:p>
          <a:p>
            <a:pPr marL="467359" indent="-22606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467359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standard-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changelog</a:t>
            </a:r>
            <a:endParaRPr sz="10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9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Данная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программа</a:t>
            </a:r>
            <a:r>
              <a:rPr dirty="0" sz="1050" spc="114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используется</a:t>
            </a:r>
            <a:r>
              <a:rPr dirty="0" sz="1050" spc="1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1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помощи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1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создании</a:t>
            </a:r>
            <a:r>
              <a:rPr dirty="0" sz="1050" spc="14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логов.</a:t>
            </a:r>
            <a:endParaRPr sz="1050">
              <a:latin typeface="Arial"/>
              <a:cs typeface="Arial"/>
            </a:endParaRPr>
          </a:p>
          <a:p>
            <a:pPr lvl="1" marL="1175385" indent="-476884">
              <a:lnSpc>
                <a:spcPct val="100000"/>
              </a:lnSpc>
              <a:spcBef>
                <a:spcPts val="125"/>
              </a:spcBef>
              <a:buFont typeface="Courier New"/>
              <a:buChar char="o"/>
              <a:tabLst>
                <a:tab pos="11753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pnpm add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standard-changelog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650" spc="65">
                <a:solidFill>
                  <a:srgbClr val="292C3C"/>
                </a:solidFill>
                <a:latin typeface="Arial"/>
                <a:cs typeface="Arial"/>
              </a:rPr>
              <a:t>Практический</a:t>
            </a:r>
            <a:r>
              <a:rPr dirty="0" sz="1650" spc="-35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292C3C"/>
                </a:solidFill>
                <a:latin typeface="Arial"/>
                <a:cs typeface="Arial"/>
              </a:rPr>
              <a:t>сценарий</a:t>
            </a:r>
            <a:r>
              <a:rPr dirty="0" sz="1650" spc="-25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292C3C"/>
                </a:solidFill>
                <a:latin typeface="Arial"/>
                <a:cs typeface="Arial"/>
              </a:rPr>
              <a:t>использования</a:t>
            </a:r>
            <a:r>
              <a:rPr dirty="0" sz="1650" spc="-25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25">
                <a:solidFill>
                  <a:srgbClr val="292C3C"/>
                </a:solidFill>
                <a:latin typeface="Arial"/>
                <a:cs typeface="Arial"/>
              </a:rPr>
              <a:t>git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1200" spc="-85">
                <a:solidFill>
                  <a:srgbClr val="202429"/>
                </a:solidFill>
                <a:latin typeface="Arial Black"/>
                <a:cs typeface="Arial Black"/>
              </a:rPr>
              <a:t>Создание</a:t>
            </a:r>
            <a:r>
              <a:rPr dirty="0" sz="1200" spc="-25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202429"/>
                </a:solidFill>
                <a:latin typeface="Arial Black"/>
                <a:cs typeface="Arial Black"/>
              </a:rPr>
              <a:t>репозитория</a:t>
            </a:r>
            <a:r>
              <a:rPr dirty="0" sz="1200" spc="-20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200" spc="-25">
                <a:solidFill>
                  <a:srgbClr val="202429"/>
                </a:solidFill>
                <a:latin typeface="Arial Black"/>
                <a:cs typeface="Arial Black"/>
              </a:rPr>
              <a:t>git</a:t>
            </a:r>
            <a:endParaRPr sz="1200">
              <a:latin typeface="Arial Black"/>
              <a:cs typeface="Arial Black"/>
            </a:endParaRPr>
          </a:p>
          <a:p>
            <a:pPr marL="241300">
              <a:lnSpc>
                <a:spcPct val="100000"/>
              </a:lnSpc>
              <a:spcBef>
                <a:spcPts val="320"/>
              </a:spcBef>
            </a:pP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1.</a:t>
            </a:r>
            <a:r>
              <a:rPr dirty="0" sz="1050" spc="215">
                <a:solidFill>
                  <a:srgbClr val="202429"/>
                </a:solidFill>
                <a:latin typeface="Arial"/>
                <a:cs typeface="Arial"/>
              </a:rPr>
              <a:t>  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Подключение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репозитория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к</a:t>
            </a:r>
            <a:r>
              <a:rPr dirty="0" sz="1050" spc="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github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69694" y="5071998"/>
            <a:ext cx="4494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remote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origin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  <a:hlinkClick r:id="rId2"/>
              </a:rPr>
              <a:t>git@github.com:&lt;use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rname&gt;/git-extended.git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92682" y="4400829"/>
            <a:ext cx="5003165" cy="111061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5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Создайте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репозиторий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050" spc="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GitHub.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примера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назовём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его</a:t>
            </a:r>
            <a:r>
              <a:rPr dirty="0" sz="1050" spc="114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git-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extended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Делаем</a:t>
            </a:r>
            <a:r>
              <a:rPr dirty="0" sz="1050" spc="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первый</a:t>
            </a:r>
            <a:r>
              <a:rPr dirty="0" sz="1050" spc="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коммит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и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выкладываем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github:</a:t>
            </a:r>
            <a:endParaRPr sz="1050">
              <a:latin typeface="Arial"/>
              <a:cs typeface="Arial"/>
            </a:endParaRPr>
          </a:p>
          <a:p>
            <a:pPr marL="489584" indent="-476884">
              <a:lnSpc>
                <a:spcPct val="100000"/>
              </a:lnSpc>
              <a:spcBef>
                <a:spcPts val="120"/>
              </a:spcBef>
              <a:buFont typeface="Courier New"/>
              <a:buChar char="o"/>
              <a:tabLst>
                <a:tab pos="489584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commit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"first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commit"</a:t>
            </a:r>
            <a:endParaRPr sz="1000">
              <a:latin typeface="Consolas"/>
              <a:cs typeface="Consolas"/>
            </a:endParaRPr>
          </a:p>
          <a:p>
            <a:pPr marL="12700" marR="4906645">
              <a:lnSpc>
                <a:spcPct val="172000"/>
              </a:lnSpc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 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69694" y="5334126"/>
            <a:ext cx="1770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push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u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origin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master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35532" y="5579135"/>
            <a:ext cx="4298315" cy="87630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385"/>
              </a:spcBef>
              <a:buAutoNum type="arabicPeriod" startAt="2"/>
              <a:tabLst>
                <a:tab pos="238760" algn="l"/>
              </a:tabLst>
            </a:pP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Конфигурация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общепринятых</a:t>
            </a:r>
            <a:r>
              <a:rPr dirty="0" sz="1050" spc="7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коммитов</a:t>
            </a:r>
            <a:endParaRPr sz="105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9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Конфигурация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10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пакетов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Node.js</a:t>
            </a:r>
            <a:endParaRPr sz="1050">
              <a:latin typeface="Arial"/>
              <a:cs typeface="Arial"/>
            </a:endParaRPr>
          </a:p>
          <a:p>
            <a:pPr lvl="1" marL="946785" indent="-477520">
              <a:lnSpc>
                <a:spcPct val="100000"/>
              </a:lnSpc>
              <a:spcBef>
                <a:spcPts val="120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pnpm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init</a:t>
            </a:r>
            <a:endParaRPr sz="1000">
              <a:latin typeface="Consolas"/>
              <a:cs typeface="Consolas"/>
            </a:endParaRPr>
          </a:p>
          <a:p>
            <a:pPr marL="697865">
              <a:lnSpc>
                <a:spcPct val="100000"/>
              </a:lnSpc>
              <a:spcBef>
                <a:spcPts val="1020"/>
              </a:spcBef>
            </a:pP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Необходимо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заполнить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несколько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параметров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пакета.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92682" y="6609359"/>
            <a:ext cx="5307965" cy="117348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375"/>
              </a:spcBef>
              <a:buSzPct val="95238"/>
              <a:buFont typeface="Wingdings"/>
              <a:buChar char="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Название</a:t>
            </a:r>
            <a:r>
              <a:rPr dirty="0" sz="1050" spc="17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пакета.</a:t>
            </a:r>
            <a:endParaRPr sz="1050">
              <a:latin typeface="Arial"/>
              <a:cs typeface="Arial"/>
            </a:endParaRPr>
          </a:p>
          <a:p>
            <a:pPr marL="697865" indent="-227965">
              <a:lnSpc>
                <a:spcPct val="100000"/>
              </a:lnSpc>
              <a:spcBef>
                <a:spcPts val="275"/>
              </a:spcBef>
              <a:buSzPct val="95238"/>
              <a:buFont typeface="Wingdings"/>
              <a:buChar char=""/>
              <a:tabLst>
                <a:tab pos="697865" algn="l"/>
              </a:tabLst>
            </a:pP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Лицензия</a:t>
            </a:r>
            <a:r>
              <a:rPr dirty="0" sz="1050" spc="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пакета.</a:t>
            </a:r>
            <a:r>
              <a:rPr dirty="0" sz="1050" spc="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Список</a:t>
            </a:r>
            <a:r>
              <a:rPr dirty="0" sz="1050" spc="6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лицензий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npm: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"/>
                <a:cs typeface="Arial"/>
                <a:hlinkClick r:id="rId3"/>
              </a:rPr>
              <a:t>https://spdx.org/licenses/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  <a:hlinkClick r:id="rId3"/>
              </a:rPr>
              <a:t>.</a:t>
            </a:r>
            <a:endParaRPr sz="105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285"/>
              </a:spcBef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Предлагается</a:t>
            </a:r>
            <a:r>
              <a:rPr dirty="0" sz="1050" spc="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выбирать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лицензию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CC-BY-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4.0</a:t>
            </a:r>
            <a:r>
              <a:rPr dirty="0" sz="1050" spc="-20">
                <a:solidFill>
                  <a:srgbClr val="202429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80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Сконфигурим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формат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коммитов.</a:t>
            </a:r>
            <a:r>
              <a:rPr dirty="0" sz="1050" spc="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 этого добавим</a:t>
            </a:r>
            <a:r>
              <a:rPr dirty="0" sz="1050" spc="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202429"/>
                </a:solidFill>
                <a:latin typeface="Arial"/>
                <a:cs typeface="Arial"/>
              </a:rPr>
              <a:t>в</a:t>
            </a:r>
            <a:endParaRPr sz="10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285"/>
              </a:spcBef>
            </a:pP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файл</a:t>
            </a:r>
            <a:r>
              <a:rPr dirty="0" sz="1050" spc="10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package.json</a:t>
            </a:r>
            <a:r>
              <a:rPr dirty="0" sz="900" spc="-7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команду</a:t>
            </a:r>
            <a:r>
              <a:rPr dirty="0" sz="1050" spc="114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формирования</a:t>
            </a:r>
            <a:r>
              <a:rPr dirty="0" sz="1050" spc="114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коммитов:</a:t>
            </a:r>
            <a:endParaRPr sz="1050">
              <a:latin typeface="Arial"/>
              <a:cs typeface="Arial"/>
            </a:endParaRPr>
          </a:p>
          <a:p>
            <a:pPr marL="489584">
              <a:lnSpc>
                <a:spcPct val="100000"/>
              </a:lnSpc>
              <a:spcBef>
                <a:spcPts val="13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"config":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{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92682" y="7605140"/>
            <a:ext cx="101600" cy="1224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algn="just" marL="12700" marR="5080">
              <a:lnSpc>
                <a:spcPct val="171700"/>
              </a:lnSpc>
              <a:spcBef>
                <a:spcPts val="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 o o 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29382" y="7867650"/>
            <a:ext cx="10706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"commitizen":</a:t>
            </a:r>
            <a:r>
              <a:rPr dirty="0" sz="1000" spc="-10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{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09798" y="8129777"/>
            <a:ext cx="24669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"path":</a:t>
            </a:r>
            <a:r>
              <a:rPr dirty="0" sz="1000" spc="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"cz-conventional-changelog"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29382" y="8390381"/>
            <a:ext cx="95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}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69694" y="8652509"/>
            <a:ext cx="95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}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21282" y="8932926"/>
            <a:ext cx="3387090" cy="796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Таким</a:t>
            </a:r>
            <a:r>
              <a:rPr dirty="0" sz="1050" spc="1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образом,</a:t>
            </a:r>
            <a:r>
              <a:rPr dirty="0" sz="1050" spc="12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файл</a:t>
            </a:r>
            <a:r>
              <a:rPr dirty="0" sz="1050" spc="12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package.json</a:t>
            </a:r>
            <a:r>
              <a:rPr dirty="0" sz="900" spc="-7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приобретает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Arial"/>
                <a:cs typeface="Arial"/>
              </a:rPr>
              <a:t>вид: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{</a:t>
            </a:r>
            <a:endParaRPr sz="1000">
              <a:latin typeface="Consolas"/>
              <a:cs typeface="Consolas"/>
            </a:endParaRPr>
          </a:p>
          <a:p>
            <a:pPr marL="292735">
              <a:lnSpc>
                <a:spcPct val="100000"/>
              </a:lnSpc>
              <a:spcBef>
                <a:spcPts val="86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"name":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"git-extended",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35532" y="697484"/>
            <a:ext cx="4970780" cy="7754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7853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"version":</a:t>
            </a:r>
            <a:r>
              <a:rPr dirty="0" sz="1000" spc="-7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"1.0.0",</a:t>
            </a:r>
            <a:endParaRPr sz="1000">
              <a:latin typeface="Consolas"/>
              <a:cs typeface="Consolas"/>
            </a:endParaRPr>
          </a:p>
          <a:p>
            <a:pPr marL="978535" marR="429259">
              <a:lnSpc>
                <a:spcPts val="2070"/>
              </a:lnSpc>
              <a:spcBef>
                <a:spcPts val="204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"description":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"Git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repo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for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educational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purposes",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"main":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"index.js",</a:t>
            </a:r>
            <a:endParaRPr sz="1000">
              <a:latin typeface="Consolas"/>
              <a:cs typeface="Consolas"/>
            </a:endParaRPr>
          </a:p>
          <a:p>
            <a:pPr marL="978535">
              <a:lnSpc>
                <a:spcPct val="100000"/>
              </a:lnSpc>
              <a:spcBef>
                <a:spcPts val="650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"repository":</a:t>
            </a:r>
            <a:r>
              <a:rPr dirty="0" sz="1000" spc="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"git@github.com:username/git-extended.git",</a:t>
            </a:r>
            <a:endParaRPr sz="1000">
              <a:latin typeface="Consolas"/>
              <a:cs typeface="Consolas"/>
            </a:endParaRPr>
          </a:p>
          <a:p>
            <a:pPr marL="978535" marR="777875">
              <a:lnSpc>
                <a:spcPct val="172000"/>
              </a:lnSpc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"author":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"Name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Surname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&lt;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  <a:hlinkClick r:id="rId2"/>
              </a:rPr>
              <a:t>username@gmail.com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&gt;",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"license":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"CC-BY-4.0",</a:t>
            </a:r>
            <a:endParaRPr sz="1000">
              <a:latin typeface="Consolas"/>
              <a:cs typeface="Consolas"/>
            </a:endParaRPr>
          </a:p>
          <a:p>
            <a:pPr marL="978535">
              <a:lnSpc>
                <a:spcPct val="100000"/>
              </a:lnSpc>
              <a:spcBef>
                <a:spcPts val="860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"config":</a:t>
            </a:r>
            <a:r>
              <a:rPr dirty="0" sz="1000" spc="-7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{</a:t>
            </a:r>
            <a:endParaRPr sz="1000">
              <a:latin typeface="Consolas"/>
              <a:cs typeface="Consolas"/>
            </a:endParaRPr>
          </a:p>
          <a:p>
            <a:pPr marL="1257300">
              <a:lnSpc>
                <a:spcPct val="100000"/>
              </a:lnSpc>
              <a:spcBef>
                <a:spcPts val="86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"commitizen":</a:t>
            </a:r>
            <a:r>
              <a:rPr dirty="0" sz="1000" spc="-10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{</a:t>
            </a:r>
            <a:endParaRPr sz="1000">
              <a:latin typeface="Consolas"/>
              <a:cs typeface="Consolas"/>
            </a:endParaRPr>
          </a:p>
          <a:p>
            <a:pPr marL="1537970">
              <a:lnSpc>
                <a:spcPct val="100000"/>
              </a:lnSpc>
              <a:spcBef>
                <a:spcPts val="86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"path":</a:t>
            </a:r>
            <a:r>
              <a:rPr dirty="0" sz="1000" spc="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"cz-conventional-changelog"</a:t>
            </a:r>
            <a:endParaRPr sz="1000">
              <a:latin typeface="Consolas"/>
              <a:cs typeface="Consolas"/>
            </a:endParaRPr>
          </a:p>
          <a:p>
            <a:pPr marL="1257300">
              <a:lnSpc>
                <a:spcPct val="100000"/>
              </a:lnSpc>
              <a:spcBef>
                <a:spcPts val="865"/>
              </a:spcBef>
            </a:pP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}</a:t>
            </a:r>
            <a:endParaRPr sz="1000">
              <a:latin typeface="Consolas"/>
              <a:cs typeface="Consolas"/>
            </a:endParaRPr>
          </a:p>
          <a:p>
            <a:pPr marL="978535">
              <a:lnSpc>
                <a:spcPct val="100000"/>
              </a:lnSpc>
              <a:spcBef>
                <a:spcPts val="865"/>
              </a:spcBef>
            </a:pP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}</a:t>
            </a:r>
            <a:endParaRPr sz="1000">
              <a:latin typeface="Consolas"/>
              <a:cs typeface="Consolas"/>
            </a:endParaRPr>
          </a:p>
          <a:p>
            <a:pPr marL="697865">
              <a:lnSpc>
                <a:spcPct val="100000"/>
              </a:lnSpc>
              <a:spcBef>
                <a:spcPts val="865"/>
              </a:spcBef>
            </a:pP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}</a:t>
            </a:r>
            <a:endParaRPr sz="1000">
              <a:latin typeface="Consolas"/>
              <a:cs typeface="Consolas"/>
            </a:endParaRPr>
          </a:p>
          <a:p>
            <a:pPr marL="697865" indent="-228600">
              <a:lnSpc>
                <a:spcPct val="100000"/>
              </a:lnSpc>
              <a:spcBef>
                <a:spcPts val="102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Добавим</a:t>
            </a:r>
            <a:r>
              <a:rPr dirty="0" sz="1050" spc="1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новые</a:t>
            </a:r>
            <a:r>
              <a:rPr dirty="0" sz="1050" spc="1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файлы:</a:t>
            </a:r>
            <a:endParaRPr sz="1050">
              <a:latin typeface="Arial"/>
              <a:cs typeface="Arial"/>
            </a:endParaRPr>
          </a:p>
          <a:p>
            <a:pPr marL="946785" indent="-477520">
              <a:lnSpc>
                <a:spcPct val="100000"/>
              </a:lnSpc>
              <a:spcBef>
                <a:spcPts val="130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.</a:t>
            </a:r>
            <a:endParaRPr sz="1000">
              <a:latin typeface="Consolas"/>
              <a:cs typeface="Consolas"/>
            </a:endParaRPr>
          </a:p>
          <a:p>
            <a:pPr marL="697865" indent="-228600">
              <a:lnSpc>
                <a:spcPct val="100000"/>
              </a:lnSpc>
              <a:spcBef>
                <a:spcPts val="1019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Выполним</a:t>
            </a:r>
            <a:r>
              <a:rPr dirty="0" sz="1050" spc="25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коммит:</a:t>
            </a:r>
            <a:endParaRPr sz="1050">
              <a:latin typeface="Arial"/>
              <a:cs typeface="Arial"/>
            </a:endParaRPr>
          </a:p>
          <a:p>
            <a:pPr marL="946785" indent="-477520">
              <a:lnSpc>
                <a:spcPct val="100000"/>
              </a:lnSpc>
              <a:spcBef>
                <a:spcPts val="120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cz</a:t>
            </a:r>
            <a:endParaRPr sz="1000">
              <a:latin typeface="Consolas"/>
              <a:cs typeface="Consolas"/>
            </a:endParaRPr>
          </a:p>
          <a:p>
            <a:pPr marL="697865" indent="-228600">
              <a:lnSpc>
                <a:spcPct val="100000"/>
              </a:lnSpc>
              <a:spcBef>
                <a:spcPts val="1019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Отправим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050" spc="114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github:</a:t>
            </a:r>
            <a:endParaRPr sz="1050">
              <a:latin typeface="Arial"/>
              <a:cs typeface="Arial"/>
            </a:endParaRPr>
          </a:p>
          <a:p>
            <a:pPr marL="946785" indent="-477520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push</a:t>
            </a:r>
            <a:endParaRPr sz="1000">
              <a:latin typeface="Consolas"/>
              <a:cs typeface="Consolas"/>
            </a:endParaRPr>
          </a:p>
          <a:p>
            <a:pPr marL="238760" indent="-226060">
              <a:lnSpc>
                <a:spcPct val="100000"/>
              </a:lnSpc>
              <a:spcBef>
                <a:spcPts val="1015"/>
              </a:spcBef>
              <a:buAutoNum type="arabicPeriod" startAt="3"/>
              <a:tabLst>
                <a:tab pos="238760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Конфигурация</a:t>
            </a:r>
            <a:r>
              <a:rPr dirty="0" sz="1050" spc="27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git-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flow</a:t>
            </a:r>
            <a:endParaRPr sz="105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8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Инициализируем</a:t>
            </a:r>
            <a:r>
              <a:rPr dirty="0" sz="1050" spc="170">
                <a:solidFill>
                  <a:srgbClr val="202429"/>
                </a:solidFill>
                <a:latin typeface="Arial"/>
                <a:cs typeface="Arial"/>
              </a:rPr>
              <a:t> 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git-</a:t>
            </a:r>
            <a:r>
              <a:rPr dirty="0" sz="1050" spc="-20">
                <a:solidFill>
                  <a:srgbClr val="202429"/>
                </a:solidFill>
                <a:latin typeface="Arial"/>
                <a:cs typeface="Arial"/>
              </a:rPr>
              <a:t>flow</a:t>
            </a:r>
            <a:endParaRPr sz="1050">
              <a:latin typeface="Arial"/>
              <a:cs typeface="Arial"/>
            </a:endParaRPr>
          </a:p>
          <a:p>
            <a:pPr lvl="1" marL="946785" indent="-477520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flow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init</a:t>
            </a:r>
            <a:endParaRPr sz="1000">
              <a:latin typeface="Consolas"/>
              <a:cs typeface="Consolas"/>
            </a:endParaRPr>
          </a:p>
          <a:p>
            <a:pPr marL="697865">
              <a:lnSpc>
                <a:spcPct val="100000"/>
              </a:lnSpc>
              <a:spcBef>
                <a:spcPts val="1015"/>
              </a:spcBef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Префикс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ярлыков</a:t>
            </a:r>
            <a:r>
              <a:rPr dirty="0" sz="1050" spc="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установим</a:t>
            </a:r>
            <a:r>
              <a:rPr dirty="0" sz="1050" spc="6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E83D8B"/>
                </a:solidFill>
                <a:latin typeface="Consolas"/>
                <a:cs typeface="Consolas"/>
              </a:rPr>
              <a:t>v</a:t>
            </a:r>
            <a:r>
              <a:rPr dirty="0" sz="1050" spc="-25">
                <a:solidFill>
                  <a:srgbClr val="202429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5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Проверьте,</a:t>
            </a:r>
            <a:r>
              <a:rPr dirty="0" sz="1050" spc="6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что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Вы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ветке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develop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lvl="1" marL="946785" indent="-477520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branch</a:t>
            </a:r>
            <a:endParaRPr sz="1000">
              <a:latin typeface="Consolas"/>
              <a:cs typeface="Consolas"/>
            </a:endParaRPr>
          </a:p>
          <a:p>
            <a:pPr lvl="1" marL="697865" indent="-228600">
              <a:lnSpc>
                <a:spcPct val="100000"/>
              </a:lnSpc>
              <a:spcBef>
                <a:spcPts val="1015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Загрузите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весь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репозиторий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хранилище:</a:t>
            </a:r>
            <a:endParaRPr sz="1050">
              <a:latin typeface="Arial"/>
              <a:cs typeface="Arial"/>
            </a:endParaRPr>
          </a:p>
          <a:p>
            <a:pPr lvl="1" marL="946785" indent="-477520">
              <a:lnSpc>
                <a:spcPct val="100000"/>
              </a:lnSpc>
              <a:spcBef>
                <a:spcPts val="125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push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all</a:t>
            </a:r>
            <a:endParaRPr sz="1000">
              <a:latin typeface="Consolas"/>
              <a:cs typeface="Consolas"/>
            </a:endParaRPr>
          </a:p>
          <a:p>
            <a:pPr lvl="1" marL="697865" indent="-228600">
              <a:lnSpc>
                <a:spcPct val="100000"/>
              </a:lnSpc>
              <a:spcBef>
                <a:spcPts val="1015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Установите</a:t>
            </a:r>
            <a:r>
              <a:rPr dirty="0" sz="1050" spc="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Arial"/>
                <a:cs typeface="Arial"/>
              </a:rPr>
              <a:t>внешнюю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ветку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как</a:t>
            </a:r>
            <a:r>
              <a:rPr dirty="0" sz="1050" spc="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вышестоящую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для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этой</a:t>
            </a:r>
            <a:r>
              <a:rPr dirty="0" sz="1050" spc="-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ветки:</a:t>
            </a:r>
            <a:endParaRPr sz="1050">
              <a:latin typeface="Arial"/>
              <a:cs typeface="Arial"/>
            </a:endParaRPr>
          </a:p>
          <a:p>
            <a:pPr lvl="1" marL="946785" indent="-477520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branch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set-upstream-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to=origin/develop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develop</a:t>
            </a:r>
            <a:endParaRPr sz="1000">
              <a:latin typeface="Consolas"/>
              <a:cs typeface="Consolas"/>
            </a:endParaRPr>
          </a:p>
          <a:p>
            <a:pPr lvl="1" marL="697865" indent="-228600">
              <a:lnSpc>
                <a:spcPct val="100000"/>
              </a:lnSpc>
              <a:spcBef>
                <a:spcPts val="1019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Создадим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релиз</a:t>
            </a:r>
            <a:r>
              <a:rPr dirty="0" sz="1050" spc="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</a:t>
            </a:r>
            <a:r>
              <a:rPr dirty="0" sz="1050" spc="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версией</a:t>
            </a:r>
            <a:r>
              <a:rPr dirty="0" sz="1050" spc="6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Arial"/>
                <a:cs typeface="Arial"/>
              </a:rPr>
              <a:t>1.0.0</a:t>
            </a:r>
            <a:endParaRPr sz="1050">
              <a:latin typeface="Arial"/>
              <a:cs typeface="Arial"/>
            </a:endParaRPr>
          </a:p>
          <a:p>
            <a:pPr lvl="1" marL="946785" indent="-477520">
              <a:lnSpc>
                <a:spcPct val="100000"/>
              </a:lnSpc>
              <a:spcBef>
                <a:spcPts val="125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flow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release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start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1.0.0</a:t>
            </a:r>
            <a:endParaRPr sz="1000">
              <a:latin typeface="Consolas"/>
              <a:cs typeface="Consolas"/>
            </a:endParaRPr>
          </a:p>
          <a:p>
            <a:pPr lvl="1" marL="697865" indent="-228600">
              <a:lnSpc>
                <a:spcPct val="100000"/>
              </a:lnSpc>
              <a:spcBef>
                <a:spcPts val="1015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Создадим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журнал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40">
                <a:solidFill>
                  <a:srgbClr val="202429"/>
                </a:solidFill>
                <a:latin typeface="Arial"/>
                <a:cs typeface="Arial"/>
              </a:rPr>
              <a:t>изменений</a:t>
            </a:r>
            <a:endParaRPr sz="1050">
              <a:latin typeface="Arial"/>
              <a:cs typeface="Arial"/>
            </a:endParaRPr>
          </a:p>
          <a:p>
            <a:pPr lvl="1" marL="946785" indent="-477520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standard-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changelog</a:t>
            </a:r>
            <a:r>
              <a:rPr dirty="0" sz="1000" spc="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--first-release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92682" y="8536553"/>
            <a:ext cx="2722245" cy="63627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50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Добавим</a:t>
            </a:r>
            <a:r>
              <a:rPr dirty="0" sz="1050" spc="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журнал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изменений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индекс</a:t>
            </a:r>
            <a:endParaRPr sz="1050">
              <a:latin typeface="Arial"/>
              <a:cs typeface="Arial"/>
            </a:endParaRPr>
          </a:p>
          <a:p>
            <a:pPr marL="489584" indent="-476884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489584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CHANGELOG.md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69694" y="8995409"/>
            <a:ext cx="3025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commit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am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'chore(site):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changelog'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92682" y="9258970"/>
            <a:ext cx="2974975" cy="66040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35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Зальём</a:t>
            </a:r>
            <a:r>
              <a:rPr dirty="0" sz="1050" spc="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релизную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ветку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основную</a:t>
            </a:r>
            <a:r>
              <a:rPr dirty="0" sz="1050" spc="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Arial"/>
                <a:cs typeface="Arial"/>
              </a:rPr>
              <a:t>ветку</a:t>
            </a:r>
            <a:endParaRPr sz="1050">
              <a:latin typeface="Arial"/>
              <a:cs typeface="Arial"/>
            </a:endParaRPr>
          </a:p>
          <a:p>
            <a:pPr marL="489584" indent="-476884">
              <a:lnSpc>
                <a:spcPct val="100000"/>
              </a:lnSpc>
              <a:spcBef>
                <a:spcPts val="125"/>
              </a:spcBef>
              <a:buFont typeface="Courier New"/>
              <a:buChar char="o"/>
              <a:tabLst>
                <a:tab pos="489584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flow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release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finish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1.0.0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015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Отправим</a:t>
            </a:r>
            <a:r>
              <a:rPr dirty="0" sz="1050" spc="1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данные</a:t>
            </a:r>
            <a:r>
              <a:rPr dirty="0" sz="1050" spc="10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050" spc="1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github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92682" y="697484"/>
            <a:ext cx="101600" cy="439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69694" y="697484"/>
            <a:ext cx="10039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push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all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69694" y="959611"/>
            <a:ext cx="10737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push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tags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92682" y="1615185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92682" y="1204619"/>
            <a:ext cx="5182870" cy="58801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5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Создадим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релиз</a:t>
            </a:r>
            <a:r>
              <a:rPr dirty="0" sz="1050" spc="1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050" spc="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github.</a:t>
            </a:r>
            <a:r>
              <a:rPr dirty="0" sz="1050" spc="1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этого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будем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использовать утилиты</a:t>
            </a:r>
            <a:r>
              <a:rPr dirty="0" sz="1050" spc="1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работы</a:t>
            </a:r>
            <a:r>
              <a:rPr dirty="0" sz="1050" spc="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202429"/>
                </a:solidFill>
                <a:latin typeface="Arial"/>
                <a:cs typeface="Arial"/>
              </a:rPr>
              <a:t>с</a:t>
            </a:r>
            <a:endParaRPr sz="10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290"/>
              </a:spcBef>
            </a:pP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github:</a:t>
            </a:r>
            <a:endParaRPr sz="1050">
              <a:latin typeface="Arial"/>
              <a:cs typeface="Arial"/>
            </a:endParaRPr>
          </a:p>
          <a:p>
            <a:pPr marL="489584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gh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release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create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v1.0.0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CHANGELOG.md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06627" y="1852099"/>
            <a:ext cx="3989704" cy="81851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200" spc="-65">
                <a:solidFill>
                  <a:srgbClr val="202429"/>
                </a:solidFill>
                <a:latin typeface="Arial Black"/>
                <a:cs typeface="Arial Black"/>
              </a:rPr>
              <a:t>Работа </a:t>
            </a:r>
            <a:r>
              <a:rPr dirty="0" sz="1200" spc="-190">
                <a:solidFill>
                  <a:srgbClr val="202429"/>
                </a:solidFill>
                <a:latin typeface="Arial Black"/>
                <a:cs typeface="Arial Black"/>
              </a:rPr>
              <a:t>с</a:t>
            </a:r>
            <a:r>
              <a:rPr dirty="0" sz="1200" spc="-45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202429"/>
                </a:solidFill>
                <a:latin typeface="Arial Black"/>
                <a:cs typeface="Arial Black"/>
              </a:rPr>
              <a:t>репозиторием</a:t>
            </a:r>
            <a:r>
              <a:rPr dirty="0" sz="1200" spc="-55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1200" spc="-25">
                <a:solidFill>
                  <a:srgbClr val="202429"/>
                </a:solidFill>
                <a:latin typeface="Arial Black"/>
                <a:cs typeface="Arial Black"/>
              </a:rPr>
              <a:t>git</a:t>
            </a:r>
            <a:endParaRPr sz="1200">
              <a:latin typeface="Arial Black"/>
              <a:cs typeface="Arial Black"/>
            </a:endParaRPr>
          </a:p>
          <a:p>
            <a:pPr marL="467359" indent="-22606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7359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Разработка</a:t>
            </a:r>
            <a:r>
              <a:rPr dirty="0" sz="1050" spc="4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новой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функциональности</a:t>
            </a:r>
            <a:endParaRPr sz="10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7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Создадим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ветку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новой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функциональности:</a:t>
            </a:r>
            <a:endParaRPr sz="1050">
              <a:latin typeface="Arial"/>
              <a:cs typeface="Arial"/>
            </a:endParaRPr>
          </a:p>
          <a:p>
            <a:pPr lvl="1" marL="1175385" indent="-476884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11753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flow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feature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start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feature_branch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92682" y="3342259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92682" y="2739288"/>
            <a:ext cx="4974590" cy="78041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5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Далее,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продолжаем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работу</a:t>
            </a:r>
            <a:r>
              <a:rPr dirty="0" sz="1050" spc="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c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git</a:t>
            </a:r>
            <a:r>
              <a:rPr dirty="0" sz="1050" spc="7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как</a:t>
            </a:r>
            <a:r>
              <a:rPr dirty="0" sz="1050" spc="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обычно.</a:t>
            </a:r>
            <a:endParaRPr sz="1050">
              <a:latin typeface="Arial"/>
              <a:cs typeface="Arial"/>
            </a:endParaRPr>
          </a:p>
          <a:p>
            <a:pPr marL="241300" marR="5080" indent="-228600">
              <a:lnSpc>
                <a:spcPts val="1550"/>
              </a:lnSpc>
              <a:spcBef>
                <a:spcPts val="85"/>
              </a:spcBef>
              <a:buSzPct val="95238"/>
              <a:buFont typeface="Courier New"/>
              <a:buChar char="o"/>
              <a:tabLst>
                <a:tab pos="241300" algn="l"/>
              </a:tabLst>
            </a:pP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По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Arial"/>
                <a:cs typeface="Arial"/>
              </a:rPr>
              <a:t>окончании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разработки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новой</a:t>
            </a:r>
            <a:r>
              <a:rPr dirty="0" sz="1050" spc="4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функциональности</a:t>
            </a:r>
            <a:r>
              <a:rPr dirty="0" sz="1050" spc="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следующим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шагом следует</a:t>
            </a:r>
            <a:r>
              <a:rPr dirty="0" sz="1050" spc="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объединить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ветку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feature_branch</a:t>
            </a:r>
            <a:r>
              <a:rPr dirty="0" sz="900" spc="-9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c</a:t>
            </a:r>
            <a:r>
              <a:rPr dirty="0" sz="1050" spc="10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develop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489584">
              <a:lnSpc>
                <a:spcPct val="100000"/>
              </a:lnSpc>
              <a:spcBef>
                <a:spcPts val="20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flow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feature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finish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feature_branch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35532" y="3587013"/>
            <a:ext cx="5144770" cy="124206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385"/>
              </a:spcBef>
              <a:buAutoNum type="arabicPeriod" startAt="2"/>
              <a:tabLst>
                <a:tab pos="238760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Создание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релиза</a:t>
            </a:r>
            <a:r>
              <a:rPr dirty="0" sz="1050" spc="1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git-</a:t>
            </a:r>
            <a:r>
              <a:rPr dirty="0" sz="1050" spc="-20">
                <a:solidFill>
                  <a:srgbClr val="202429"/>
                </a:solidFill>
                <a:latin typeface="Arial"/>
                <a:cs typeface="Arial"/>
              </a:rPr>
              <a:t>flow</a:t>
            </a:r>
            <a:endParaRPr sz="105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9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Создадим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релиз</a:t>
            </a:r>
            <a:r>
              <a:rPr dirty="0" sz="1050" spc="5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</a:t>
            </a:r>
            <a:r>
              <a:rPr dirty="0" sz="1050" spc="6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версией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1.2.3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lvl="1" marL="946785" indent="-477520">
              <a:lnSpc>
                <a:spcPct val="100000"/>
              </a:lnSpc>
              <a:spcBef>
                <a:spcPts val="130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flow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release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start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1.2.3</a:t>
            </a:r>
            <a:endParaRPr sz="1000">
              <a:latin typeface="Consolas"/>
              <a:cs typeface="Consolas"/>
            </a:endParaRPr>
          </a:p>
          <a:p>
            <a:pPr lvl="1" marL="697865" indent="-228600">
              <a:lnSpc>
                <a:spcPct val="100000"/>
              </a:lnSpc>
              <a:spcBef>
                <a:spcPts val="1019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Обновите</a:t>
            </a:r>
            <a:r>
              <a:rPr dirty="0" sz="1050" spc="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номер</a:t>
            </a:r>
            <a:r>
              <a:rPr dirty="0" sz="1050" spc="6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версии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6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файле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package.json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.</a:t>
            </a:r>
            <a:r>
              <a:rPr dirty="0" sz="1050" spc="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Установите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её</a:t>
            </a:r>
            <a:r>
              <a:rPr dirty="0" sz="1050" spc="6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1.2.3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75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Создадим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журнал</a:t>
            </a:r>
            <a:r>
              <a:rPr dirty="0" sz="1050" spc="7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40">
                <a:solidFill>
                  <a:srgbClr val="202429"/>
                </a:solidFill>
                <a:latin typeface="Arial"/>
                <a:cs typeface="Arial"/>
              </a:rPr>
              <a:t>изменений</a:t>
            </a:r>
            <a:endParaRPr sz="1050">
              <a:latin typeface="Arial"/>
              <a:cs typeface="Arial"/>
            </a:endParaRPr>
          </a:p>
          <a:p>
            <a:pPr lvl="1" marL="946785" indent="-477520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946785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standard-changelog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92682" y="4914986"/>
            <a:ext cx="2722880" cy="63309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35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Добавим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журнал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изменений</a:t>
            </a:r>
            <a:r>
              <a:rPr dirty="0" sz="1050" spc="10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индекс</a:t>
            </a:r>
            <a:endParaRPr sz="1050">
              <a:latin typeface="Arial"/>
              <a:cs typeface="Arial"/>
            </a:endParaRPr>
          </a:p>
          <a:p>
            <a:pPr marL="489584" indent="-476884">
              <a:lnSpc>
                <a:spcPct val="100000"/>
              </a:lnSpc>
              <a:spcBef>
                <a:spcPts val="125"/>
              </a:spcBef>
              <a:buFont typeface="Courier New"/>
              <a:buChar char="o"/>
              <a:tabLst>
                <a:tab pos="489584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CHANGELOG.md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92682" y="5370702"/>
            <a:ext cx="3710940" cy="1355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9584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commit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am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'chore(site):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update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changelog'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019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Зальём</a:t>
            </a:r>
            <a:r>
              <a:rPr dirty="0" sz="1050" spc="8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релизную</a:t>
            </a:r>
            <a:r>
              <a:rPr dirty="0" sz="1050" spc="9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ветку</a:t>
            </a:r>
            <a:r>
              <a:rPr dirty="0" sz="1050" spc="8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в</a:t>
            </a:r>
            <a:r>
              <a:rPr dirty="0" sz="1050" spc="10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основную</a:t>
            </a:r>
            <a:r>
              <a:rPr dirty="0" sz="1050" spc="9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Arial"/>
                <a:cs typeface="Arial"/>
              </a:rPr>
              <a:t>ветку</a:t>
            </a:r>
            <a:endParaRPr sz="1050">
              <a:latin typeface="Arial"/>
              <a:cs typeface="Arial"/>
            </a:endParaRPr>
          </a:p>
          <a:p>
            <a:pPr marL="489584" indent="-476884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489584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flow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release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finish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1.2.3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015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Отправим</a:t>
            </a:r>
            <a:r>
              <a:rPr dirty="0" sz="1050" spc="1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данные</a:t>
            </a:r>
            <a:r>
              <a:rPr dirty="0" sz="1050" spc="11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050" spc="12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github</a:t>
            </a:r>
            <a:endParaRPr sz="1050">
              <a:latin typeface="Arial"/>
              <a:cs typeface="Arial"/>
            </a:endParaRPr>
          </a:p>
          <a:p>
            <a:pPr marL="489584" indent="-476884">
              <a:lnSpc>
                <a:spcPct val="100000"/>
              </a:lnSpc>
              <a:spcBef>
                <a:spcPts val="125"/>
              </a:spcBef>
              <a:buFont typeface="Courier New"/>
              <a:buChar char="o"/>
              <a:tabLst>
                <a:tab pos="489584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push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all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869694" y="6549008"/>
            <a:ext cx="10737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push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tags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64132" y="6829425"/>
            <a:ext cx="4859020" cy="1273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105"/>
              </a:spcBef>
              <a:buSzPct val="95238"/>
              <a:buFont typeface="Courier New"/>
              <a:buChar char="o"/>
              <a:tabLst>
                <a:tab pos="469265" algn="l"/>
              </a:tabLst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Создадим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релиз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050" spc="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github</a:t>
            </a:r>
            <a:r>
              <a:rPr dirty="0" sz="1050" spc="4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с</a:t>
            </a:r>
            <a:r>
              <a:rPr dirty="0" sz="1050" spc="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комментарием</a:t>
            </a:r>
            <a:r>
              <a:rPr dirty="0" sz="1050" spc="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из</a:t>
            </a:r>
            <a:r>
              <a:rPr dirty="0" sz="1050" spc="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журнала</a:t>
            </a:r>
            <a:r>
              <a:rPr dirty="0" sz="1050" spc="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изменений: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5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gh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release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create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v1.2.3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CHANGELOG.md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solidFill>
                  <a:srgbClr val="202429"/>
                </a:solidFill>
                <a:latin typeface="Arial"/>
                <a:cs typeface="Arial"/>
              </a:rPr>
              <a:t>Вывод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Получили</a:t>
            </a:r>
            <a:r>
              <a:rPr dirty="0" sz="1050" spc="1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навыки</a:t>
            </a:r>
            <a:r>
              <a:rPr dirty="0" sz="1050" spc="2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Arial"/>
                <a:cs typeface="Arial"/>
              </a:rPr>
              <a:t>правильной</a:t>
            </a:r>
            <a:r>
              <a:rPr dirty="0" sz="1050" spc="1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работы</a:t>
            </a:r>
            <a:r>
              <a:rPr dirty="0" sz="1050" spc="35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Arial"/>
                <a:cs typeface="Arial"/>
              </a:rPr>
              <a:t>с</a:t>
            </a:r>
            <a:r>
              <a:rPr dirty="0" sz="1050" spc="2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Arial"/>
                <a:cs typeface="Arial"/>
              </a:rPr>
              <a:t>репозиториями</a:t>
            </a:r>
            <a:r>
              <a:rPr dirty="0" sz="1050" spc="3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Arial"/>
                <a:cs typeface="Arial"/>
              </a:rPr>
              <a:t>git.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Милана Тимофеева</dc:creator>
  <dcterms:created xsi:type="dcterms:W3CDTF">2026-03-07T18:37:59Z</dcterms:created>
  <dcterms:modified xsi:type="dcterms:W3CDTF">2026-03-07T18:37:59Z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2026-03-07T00:00:00Z</vt:filetime>
  </property>
  <property fmtid="{D5CDD505-2E9C-101B-9397-08002B2CF9AE}" pid="5" name="Producer">
    <vt:lpwstr>3-Heights(TM) PDF Security Shell 4.8.25.2 (http://www.pdf-tools.com)</vt:lpwstr>
  </property>
</Properties>
</file>