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4436" y="603388"/>
            <a:ext cx="5823584" cy="883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7483" y="1849271"/>
            <a:ext cx="6165850" cy="624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esystem.rudn.ru/mod/notes/public/20201218123900-%D1%80%D0%B0%D0%B1%D0%BE%D1%82%D0%B0_%D1%81_pgp.md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settings/keys" TargetMode="External"/><Relationship Id="rId3" Type="http://schemas.openxmlformats.org/officeDocument/2006/relationships/hyperlink" Target="https://docs.github.com/en/github/authenticating-to-github/managing-commit-signature-verification/displaying-verification-statuses-for-all-of-your-commits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system.rudn.ru/mod/notes/public/20210128184700-%D0%B2%D0%B5%D1%80%D0%B8%D1%84%D0%B8%D0%BA%D0%B0%D1%86%D0%B8%D1%8F_%D0%BA%D0%BE%D0%BC%D0%BC%D0%B8%D1%82%D0%BE%D0%B2_git_%D1%81_%D0%BF%D0%BE%D0%BC%D0%BE%D1%89%D1%8C%D1%8E_gpg.md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" TargetMode="External"/><Relationship Id="rId3" Type="http://schemas.openxmlformats.org/officeDocument/2006/relationships/hyperlink" Target="https://github.com/settings/keys" TargetMode="External"/><Relationship Id="rId4" Type="http://schemas.openxmlformats.org/officeDocument/2006/relationships/hyperlink" Target="https://esystem.rudn.ru/mod/notes/public/20210116125100-%D1%80%D0%B0%D0%B1%D0%BE%D1%87%D0%B5%D0%B5_%D0%BF%D1%80%D0%BE%D1%81%D1%82%D1%80%D0%B0%D0%BD%D1%81%D1%82%D0%B2%D0%BE_%D0%B4%D0%BB%D1%8F_%D0%BB%D0%B0%D0%B1%D0%BE%D1%80%D0%B0%D1%82%D0%BE%D1%80%D0%BD%D0%BE%D0%B8_%D1%80%D0%B0%D0%B1%D0%BE%D1%82%D1%8B.md" TargetMode="External"/><Relationship Id="rId5" Type="http://schemas.openxmlformats.org/officeDocument/2006/relationships/hyperlink" Target="https://github.com/yamadharma/course-directory-student-template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git@github.com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00124" y="563987"/>
            <a:ext cx="5217160" cy="104902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5930" marR="330200" indent="91440">
              <a:lnSpc>
                <a:spcPts val="2620"/>
              </a:lnSpc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физико-математических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прикладной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20926" y="2982213"/>
            <a:ext cx="3817620" cy="1377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762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 marL="60325">
              <a:lnSpc>
                <a:spcPct val="100000"/>
              </a:lnSpc>
              <a:spcBef>
                <a:spcPts val="1505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44780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600" spc="-9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2798" y="7126604"/>
            <a:ext cx="3121660" cy="800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130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1300">
              <a:latin typeface="Times New Roman"/>
              <a:cs typeface="Times New Roman"/>
            </a:endParaRPr>
          </a:p>
          <a:p>
            <a:pPr marL="1570355">
              <a:lnSpc>
                <a:spcPct val="100000"/>
              </a:lnSpc>
              <a:spcBef>
                <a:spcPts val="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97122" y="706627"/>
            <a:ext cx="776605" cy="539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L="5080">
              <a:lnSpc>
                <a:spcPct val="100000"/>
              </a:lnSpc>
              <a:spcBef>
                <a:spcPts val="925"/>
              </a:spcBef>
            </a:pPr>
            <a:r>
              <a:rPr dirty="0" sz="1300">
                <a:latin typeface="Times New Roman"/>
                <a:cs typeface="Times New Roman"/>
              </a:rPr>
              <a:t>2026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7483" y="1260093"/>
            <a:ext cx="208978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>
                <a:latin typeface="Arial Black"/>
                <a:cs typeface="Arial Black"/>
              </a:rPr>
              <a:t>Цель</a:t>
            </a:r>
            <a:r>
              <a:rPr dirty="0" spc="-180">
                <a:latin typeface="Arial Black"/>
                <a:cs typeface="Arial Black"/>
              </a:rPr>
              <a:t> </a:t>
            </a:r>
            <a:r>
              <a:rPr dirty="0" spc="-70">
                <a:latin typeface="Arial Black"/>
                <a:cs typeface="Arial Black"/>
              </a:rPr>
              <a:t>работы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92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7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pc="20"/>
              <a:t>Изучить</a:t>
            </a:r>
            <a:r>
              <a:rPr dirty="0" spc="80"/>
              <a:t> </a:t>
            </a:r>
            <a:r>
              <a:rPr dirty="0" spc="20"/>
              <a:t>идеологию</a:t>
            </a:r>
            <a:r>
              <a:rPr dirty="0" spc="70"/>
              <a:t> </a:t>
            </a:r>
            <a:r>
              <a:rPr dirty="0" spc="75"/>
              <a:t>и</a:t>
            </a:r>
            <a:r>
              <a:rPr dirty="0" spc="70"/>
              <a:t> </a:t>
            </a:r>
            <a:r>
              <a:rPr dirty="0" spc="20"/>
              <a:t>применение</a:t>
            </a:r>
            <a:r>
              <a:rPr dirty="0" spc="65"/>
              <a:t> </a:t>
            </a:r>
            <a:r>
              <a:rPr dirty="0" spc="10"/>
              <a:t>средств</a:t>
            </a:r>
            <a:r>
              <a:rPr dirty="0" spc="85"/>
              <a:t> </a:t>
            </a:r>
            <a:r>
              <a:rPr dirty="0" spc="20"/>
              <a:t>контроля</a:t>
            </a:r>
            <a:r>
              <a:rPr dirty="0" spc="70"/>
              <a:t> </a:t>
            </a:r>
            <a:r>
              <a:rPr dirty="0" spc="-10"/>
              <a:t>версий.</a:t>
            </a:r>
          </a:p>
          <a:p>
            <a:pPr marL="469900" indent="-228600">
              <a:lnSpc>
                <a:spcPct val="100000"/>
              </a:lnSpc>
              <a:spcBef>
                <a:spcPts val="18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/>
              <a:t>Освоить</a:t>
            </a:r>
            <a:r>
              <a:rPr dirty="0" spc="70"/>
              <a:t> </a:t>
            </a:r>
            <a:r>
              <a:rPr dirty="0"/>
              <a:t>умения</a:t>
            </a:r>
            <a:r>
              <a:rPr dirty="0" spc="75"/>
              <a:t> </a:t>
            </a:r>
            <a:r>
              <a:rPr dirty="0" spc="55"/>
              <a:t>по</a:t>
            </a:r>
            <a:r>
              <a:rPr dirty="0" spc="90"/>
              <a:t> </a:t>
            </a:r>
            <a:r>
              <a:rPr dirty="0"/>
              <a:t>работе</a:t>
            </a:r>
            <a:r>
              <a:rPr dirty="0" spc="80"/>
              <a:t> </a:t>
            </a:r>
            <a:r>
              <a:rPr dirty="0"/>
              <a:t>с</a:t>
            </a:r>
            <a:r>
              <a:rPr dirty="0" spc="90"/>
              <a:t> </a:t>
            </a:r>
            <a:r>
              <a:rPr dirty="0" spc="-20"/>
              <a:t>git.</a:t>
            </a: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202429"/>
              </a:buClr>
              <a:buFont typeface="Symbol"/>
              <a:buChar char=""/>
            </a:pPr>
          </a:p>
          <a:p>
            <a:pPr marL="12700">
              <a:lnSpc>
                <a:spcPct val="100000"/>
              </a:lnSpc>
            </a:pPr>
            <a:r>
              <a:rPr dirty="0" sz="1650" spc="-120">
                <a:solidFill>
                  <a:srgbClr val="292C3C"/>
                </a:solidFill>
                <a:latin typeface="Arial Black"/>
                <a:cs typeface="Arial Black"/>
              </a:rPr>
              <a:t>Базовая</a:t>
            </a:r>
            <a:r>
              <a:rPr dirty="0" sz="1650" spc="-85">
                <a:solidFill>
                  <a:srgbClr val="292C3C"/>
                </a:solidFill>
                <a:latin typeface="Arial Black"/>
                <a:cs typeface="Arial Black"/>
              </a:rPr>
              <a:t> настройка</a:t>
            </a:r>
            <a:r>
              <a:rPr dirty="0" sz="1650" spc="-6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>
                <a:solidFill>
                  <a:srgbClr val="292C3C"/>
                </a:solidFill>
                <a:latin typeface="Arial Black"/>
                <a:cs typeface="Arial Black"/>
              </a:rPr>
              <a:t>git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200" spc="10"/>
              <a:t>Первичная</a:t>
            </a:r>
            <a:r>
              <a:rPr dirty="0" sz="1200" spc="250"/>
              <a:t> </a:t>
            </a:r>
            <a:r>
              <a:rPr dirty="0" sz="1200" spc="10"/>
              <a:t>настройка</a:t>
            </a:r>
            <a:r>
              <a:rPr dirty="0" sz="1200" spc="245"/>
              <a:t> </a:t>
            </a:r>
            <a:r>
              <a:rPr dirty="0" sz="1200" spc="10"/>
              <a:t>параметров</a:t>
            </a:r>
            <a:r>
              <a:rPr dirty="0" sz="1200" spc="235"/>
              <a:t> </a:t>
            </a:r>
            <a:r>
              <a:rPr dirty="0" sz="1200" spc="-25"/>
              <a:t>git</a:t>
            </a:r>
            <a:endParaRPr sz="1200"/>
          </a:p>
          <a:p>
            <a:pPr marL="469900" indent="-228600">
              <a:lnSpc>
                <a:spcPct val="100000"/>
              </a:lnSpc>
              <a:spcBef>
                <a:spcPts val="3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/>
              <a:t>Зададим</a:t>
            </a:r>
            <a:r>
              <a:rPr dirty="0" spc="50"/>
              <a:t> </a:t>
            </a:r>
            <a:r>
              <a:rPr dirty="0"/>
              <a:t>имя</a:t>
            </a:r>
            <a:r>
              <a:rPr dirty="0" spc="55"/>
              <a:t> </a:t>
            </a:r>
            <a:r>
              <a:rPr dirty="0" spc="75"/>
              <a:t>и</a:t>
            </a:r>
            <a:r>
              <a:rPr dirty="0" spc="70"/>
              <a:t> </a:t>
            </a:r>
            <a:r>
              <a:rPr dirty="0"/>
              <a:t>email</a:t>
            </a:r>
            <a:r>
              <a:rPr dirty="0" spc="60"/>
              <a:t> </a:t>
            </a:r>
            <a:r>
              <a:rPr dirty="0"/>
              <a:t>владельца</a:t>
            </a:r>
            <a:r>
              <a:rPr dirty="0" spc="50"/>
              <a:t> </a:t>
            </a:r>
            <a:r>
              <a:rPr dirty="0" spc="-10"/>
              <a:t>репозитория:</a:t>
            </a: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latin typeface="Consolas"/>
                <a:cs typeface="Consolas"/>
              </a:rPr>
              <a:t>git</a:t>
            </a:r>
            <a:r>
              <a:rPr dirty="0" sz="1000" spc="-3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config</a:t>
            </a:r>
            <a:r>
              <a:rPr dirty="0" sz="1000" spc="-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-</a:t>
            </a:r>
            <a:r>
              <a:rPr dirty="0" sz="1000" spc="-25">
                <a:latin typeface="Consolas"/>
                <a:cs typeface="Consolas"/>
              </a:rPr>
              <a:t>-</a:t>
            </a:r>
            <a:r>
              <a:rPr dirty="0" sz="1000">
                <a:latin typeface="Consolas"/>
                <a:cs typeface="Consolas"/>
              </a:rPr>
              <a:t>global</a:t>
            </a:r>
            <a:r>
              <a:rPr dirty="0" sz="1000" spc="-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user.name</a:t>
            </a:r>
            <a:r>
              <a:rPr dirty="0" sz="1000" spc="-4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"Name</a:t>
            </a:r>
            <a:r>
              <a:rPr dirty="0" sz="1000" spc="-4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Surname"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latin typeface="Consolas"/>
                <a:cs typeface="Consolas"/>
              </a:rPr>
              <a:t>git</a:t>
            </a:r>
            <a:r>
              <a:rPr dirty="0" sz="1000" spc="-3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config</a:t>
            </a:r>
            <a:r>
              <a:rPr dirty="0" sz="1000" spc="-3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-</a:t>
            </a:r>
            <a:r>
              <a:rPr dirty="0" sz="1000" spc="-25">
                <a:latin typeface="Consolas"/>
                <a:cs typeface="Consolas"/>
              </a:rPr>
              <a:t>-</a:t>
            </a:r>
            <a:r>
              <a:rPr dirty="0" sz="1000">
                <a:latin typeface="Consolas"/>
                <a:cs typeface="Consolas"/>
              </a:rPr>
              <a:t>global</a:t>
            </a:r>
            <a:r>
              <a:rPr dirty="0" sz="1000" spc="-4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user.email</a:t>
            </a:r>
            <a:r>
              <a:rPr dirty="0" sz="1000" spc="-4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"work@mail"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pc="20"/>
              <a:t>Настроим</a:t>
            </a:r>
            <a:r>
              <a:rPr dirty="0" spc="50"/>
              <a:t> </a:t>
            </a:r>
            <a:r>
              <a:rPr dirty="0" spc="20"/>
              <a:t>utf-8</a:t>
            </a:r>
            <a:r>
              <a:rPr dirty="0" spc="55"/>
              <a:t> </a:t>
            </a:r>
            <a:r>
              <a:rPr dirty="0" spc="20"/>
              <a:t>в</a:t>
            </a:r>
            <a:r>
              <a:rPr dirty="0" spc="40"/>
              <a:t> </a:t>
            </a:r>
            <a:r>
              <a:rPr dirty="0" spc="20"/>
              <a:t>выводе</a:t>
            </a:r>
            <a:r>
              <a:rPr dirty="0" spc="60"/>
              <a:t> </a:t>
            </a:r>
            <a:r>
              <a:rPr dirty="0" spc="20"/>
              <a:t>сообщений</a:t>
            </a:r>
            <a:r>
              <a:rPr dirty="0" spc="60"/>
              <a:t> </a:t>
            </a:r>
            <a:r>
              <a:rPr dirty="0" spc="-20"/>
              <a:t>git:</a:t>
            </a: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latin typeface="Consolas"/>
                <a:cs typeface="Consolas"/>
              </a:rPr>
              <a:t>git</a:t>
            </a:r>
            <a:r>
              <a:rPr dirty="0" sz="1000" spc="-4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config</a:t>
            </a:r>
            <a:r>
              <a:rPr dirty="0" sz="1000" spc="-4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-</a:t>
            </a:r>
            <a:r>
              <a:rPr dirty="0" sz="1000" spc="-25">
                <a:latin typeface="Consolas"/>
                <a:cs typeface="Consolas"/>
              </a:rPr>
              <a:t>-</a:t>
            </a:r>
            <a:r>
              <a:rPr dirty="0" sz="1000">
                <a:latin typeface="Consolas"/>
                <a:cs typeface="Consolas"/>
              </a:rPr>
              <a:t>global</a:t>
            </a:r>
            <a:r>
              <a:rPr dirty="0" sz="1000" spc="-5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core.quotepath</a:t>
            </a:r>
            <a:r>
              <a:rPr dirty="0" sz="1000" spc="-5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false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pc="10"/>
              <a:t>Настройте</a:t>
            </a:r>
            <a:r>
              <a:rPr dirty="0" spc="110"/>
              <a:t> </a:t>
            </a:r>
            <a:r>
              <a:rPr dirty="0" spc="10"/>
              <a:t>верификацию</a:t>
            </a:r>
            <a:r>
              <a:rPr dirty="0" spc="145"/>
              <a:t> </a:t>
            </a:r>
            <a:r>
              <a:rPr dirty="0" spc="75"/>
              <a:t>и</a:t>
            </a:r>
            <a:r>
              <a:rPr dirty="0" spc="125"/>
              <a:t> </a:t>
            </a:r>
            <a:r>
              <a:rPr dirty="0" spc="10"/>
              <a:t>подписание</a:t>
            </a:r>
            <a:r>
              <a:rPr dirty="0" spc="120"/>
              <a:t> </a:t>
            </a:r>
            <a:r>
              <a:rPr dirty="0" spc="10"/>
              <a:t>коммитов</a:t>
            </a:r>
            <a:r>
              <a:rPr dirty="0" spc="140"/>
              <a:t> </a:t>
            </a:r>
            <a:r>
              <a:rPr dirty="0" spc="-20"/>
              <a:t>git.</a:t>
            </a: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/>
              <a:t>Зададим</a:t>
            </a:r>
            <a:r>
              <a:rPr dirty="0" spc="90"/>
              <a:t> </a:t>
            </a:r>
            <a:r>
              <a:rPr dirty="0"/>
              <a:t>имя</a:t>
            </a:r>
            <a:r>
              <a:rPr dirty="0" spc="95"/>
              <a:t> </a:t>
            </a:r>
            <a:r>
              <a:rPr dirty="0"/>
              <a:t>начальной</a:t>
            </a:r>
            <a:r>
              <a:rPr dirty="0" spc="105"/>
              <a:t> </a:t>
            </a:r>
            <a:r>
              <a:rPr dirty="0"/>
              <a:t>ветки</a:t>
            </a:r>
            <a:r>
              <a:rPr dirty="0" spc="95"/>
              <a:t> </a:t>
            </a:r>
            <a:r>
              <a:rPr dirty="0"/>
              <a:t>(будем</a:t>
            </a:r>
            <a:r>
              <a:rPr dirty="0" spc="90"/>
              <a:t> </a:t>
            </a:r>
            <a:r>
              <a:rPr dirty="0"/>
              <a:t>называть</a:t>
            </a:r>
            <a:r>
              <a:rPr dirty="0" spc="110"/>
              <a:t> </a:t>
            </a:r>
            <a:r>
              <a:rPr dirty="0"/>
              <a:t>её</a:t>
            </a:r>
            <a:r>
              <a:rPr dirty="0" spc="114"/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master</a:t>
            </a:r>
            <a:r>
              <a:rPr dirty="0" spc="-10"/>
              <a:t>):</a:t>
            </a:r>
            <a:endParaRPr sz="9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latin typeface="Consolas"/>
                <a:cs typeface="Consolas"/>
              </a:rPr>
              <a:t>git</a:t>
            </a:r>
            <a:r>
              <a:rPr dirty="0" sz="1000" spc="-50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config</a:t>
            </a:r>
            <a:r>
              <a:rPr dirty="0" sz="1000" spc="-4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-</a:t>
            </a:r>
            <a:r>
              <a:rPr dirty="0" sz="1000" spc="-25">
                <a:latin typeface="Consolas"/>
                <a:cs typeface="Consolas"/>
              </a:rPr>
              <a:t>-</a:t>
            </a:r>
            <a:r>
              <a:rPr dirty="0" sz="1000">
                <a:latin typeface="Consolas"/>
                <a:cs typeface="Consolas"/>
              </a:rPr>
              <a:t>global</a:t>
            </a:r>
            <a:r>
              <a:rPr dirty="0" sz="1000" spc="-65">
                <a:latin typeface="Consolas"/>
                <a:cs typeface="Consolas"/>
              </a:rPr>
              <a:t> </a:t>
            </a:r>
            <a:r>
              <a:rPr dirty="0" sz="1000">
                <a:latin typeface="Consolas"/>
                <a:cs typeface="Consolas"/>
              </a:rPr>
              <a:t>init.defaultBranch</a:t>
            </a:r>
            <a:r>
              <a:rPr dirty="0" sz="1000" spc="-5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master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10"/>
              <a:t>Учёт</a:t>
            </a:r>
            <a:r>
              <a:rPr dirty="0" sz="1200" spc="150"/>
              <a:t> </a:t>
            </a:r>
            <a:r>
              <a:rPr dirty="0" sz="1200" spc="10"/>
              <a:t>переносов</a:t>
            </a:r>
            <a:r>
              <a:rPr dirty="0" sz="1200" spc="150"/>
              <a:t> </a:t>
            </a:r>
            <a:r>
              <a:rPr dirty="0" sz="1200" spc="-20"/>
              <a:t>строк</a:t>
            </a:r>
            <a:endParaRPr sz="1200"/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200"/>
          </a:p>
          <a:p>
            <a:pPr marL="469900" indent="-228600">
              <a:lnSpc>
                <a:spcPct val="100000"/>
              </a:lnSpc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/>
              <a:t>В</a:t>
            </a:r>
            <a:r>
              <a:rPr dirty="0" spc="135"/>
              <a:t> </a:t>
            </a:r>
            <a:r>
              <a:rPr dirty="0"/>
              <a:t>разных</a:t>
            </a:r>
            <a:r>
              <a:rPr dirty="0" spc="114"/>
              <a:t> </a:t>
            </a:r>
            <a:r>
              <a:rPr dirty="0"/>
              <a:t>операционных</a:t>
            </a:r>
            <a:r>
              <a:rPr dirty="0" spc="140"/>
              <a:t> </a:t>
            </a:r>
            <a:r>
              <a:rPr dirty="0"/>
              <a:t>системах</a:t>
            </a:r>
            <a:r>
              <a:rPr dirty="0" spc="125"/>
              <a:t> </a:t>
            </a:r>
            <a:r>
              <a:rPr dirty="0" spc="45"/>
              <a:t>приняты</a:t>
            </a:r>
            <a:r>
              <a:rPr dirty="0" spc="120"/>
              <a:t> </a:t>
            </a:r>
            <a:r>
              <a:rPr dirty="0"/>
              <a:t>разные</a:t>
            </a:r>
            <a:r>
              <a:rPr dirty="0" spc="120"/>
              <a:t> </a:t>
            </a:r>
            <a:r>
              <a:rPr dirty="0"/>
              <a:t>символы</a:t>
            </a:r>
            <a:r>
              <a:rPr dirty="0" spc="135"/>
              <a:t> </a:t>
            </a:r>
            <a:r>
              <a:rPr dirty="0"/>
              <a:t>для</a:t>
            </a:r>
            <a:r>
              <a:rPr dirty="0" spc="125"/>
              <a:t> </a:t>
            </a:r>
            <a:r>
              <a:rPr dirty="0"/>
              <a:t>перевода</a:t>
            </a:r>
            <a:r>
              <a:rPr dirty="0" spc="140"/>
              <a:t> </a:t>
            </a:r>
            <a:r>
              <a:rPr dirty="0" spc="-10"/>
              <a:t>строк:</a:t>
            </a: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Windows: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\r\n</a:t>
            </a:r>
            <a:r>
              <a:rPr dirty="0" sz="900" spc="-17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(</a:t>
            </a:r>
            <a:r>
              <a:rPr dirty="0" sz="900" spc="-30">
                <a:solidFill>
                  <a:srgbClr val="E83D8B"/>
                </a:solidFill>
                <a:latin typeface="Consolas"/>
                <a:cs typeface="Consolas"/>
              </a:rPr>
              <a:t>CR</a:t>
            </a:r>
            <a:r>
              <a:rPr dirty="0" sz="900" spc="-17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LF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);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Unix: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\n</a:t>
            </a:r>
            <a:r>
              <a:rPr dirty="0" sz="900" spc="-16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LF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);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6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Mac: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\r</a:t>
            </a:r>
            <a:r>
              <a:rPr dirty="0" sz="900" spc="-21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CR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).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pc="20"/>
              <a:t>Посмотреть</a:t>
            </a:r>
            <a:r>
              <a:rPr dirty="0" spc="60"/>
              <a:t> </a:t>
            </a:r>
            <a:r>
              <a:rPr dirty="0" spc="20"/>
              <a:t>значения</a:t>
            </a:r>
            <a:r>
              <a:rPr dirty="0" spc="75"/>
              <a:t> </a:t>
            </a:r>
            <a:r>
              <a:rPr dirty="0" spc="20"/>
              <a:t>переносов</a:t>
            </a:r>
            <a:r>
              <a:rPr dirty="0" spc="85"/>
              <a:t> </a:t>
            </a:r>
            <a:r>
              <a:rPr dirty="0" spc="20"/>
              <a:t>строк</a:t>
            </a:r>
            <a:r>
              <a:rPr dirty="0" spc="70"/>
              <a:t> </a:t>
            </a:r>
            <a:r>
              <a:rPr dirty="0" spc="20"/>
              <a:t>в</a:t>
            </a:r>
            <a:r>
              <a:rPr dirty="0" spc="70"/>
              <a:t> </a:t>
            </a:r>
            <a:r>
              <a:rPr dirty="0" spc="20"/>
              <a:t>репозитории</a:t>
            </a:r>
            <a:r>
              <a:rPr dirty="0" spc="70"/>
              <a:t> </a:t>
            </a:r>
            <a:r>
              <a:rPr dirty="0" spc="20"/>
              <a:t>можно</a:t>
            </a:r>
            <a:r>
              <a:rPr dirty="0" spc="75"/>
              <a:t> </a:t>
            </a:r>
            <a:r>
              <a:rPr dirty="0" spc="-10"/>
              <a:t>командой:</a:t>
            </a: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latin typeface="Consolas"/>
                <a:cs typeface="Consolas"/>
              </a:rPr>
              <a:t>git</a:t>
            </a:r>
            <a:r>
              <a:rPr dirty="0" sz="1000" spc="-15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ls-</a:t>
            </a:r>
            <a:r>
              <a:rPr dirty="0" sz="1000">
                <a:latin typeface="Consolas"/>
                <a:cs typeface="Consolas"/>
              </a:rPr>
              <a:t>files</a:t>
            </a:r>
            <a:r>
              <a:rPr dirty="0" sz="1000" spc="-20">
                <a:latin typeface="Consolas"/>
                <a:cs typeface="Consolas"/>
              </a:rPr>
              <a:t> </a:t>
            </a:r>
            <a:r>
              <a:rPr dirty="0" sz="1000" spc="-10">
                <a:latin typeface="Consolas"/>
                <a:cs typeface="Consolas"/>
              </a:rPr>
              <a:t>--</a:t>
            </a:r>
            <a:r>
              <a:rPr dirty="0" sz="1000" spc="-25">
                <a:latin typeface="Consolas"/>
                <a:cs typeface="Consolas"/>
              </a:rPr>
              <a:t>eol</a:t>
            </a:r>
            <a:endParaRPr sz="1000">
              <a:latin typeface="Consolas"/>
              <a:cs typeface="Consolas"/>
            </a:endParaRPr>
          </a:p>
          <a:p>
            <a:pPr marL="467359" indent="-22606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467359" algn="l"/>
              </a:tabLst>
            </a:pPr>
            <a:r>
              <a:rPr dirty="0"/>
              <a:t>Параметр</a:t>
            </a:r>
            <a:r>
              <a:rPr dirty="0" spc="95"/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autocrlf</a:t>
            </a:r>
            <a:endParaRPr sz="900">
              <a:latin typeface="Consolas"/>
              <a:cs typeface="Consolas"/>
            </a:endParaRPr>
          </a:p>
          <a:p>
            <a:pPr lvl="1" marL="927100" marR="5080" indent="-228600">
              <a:lnSpc>
                <a:spcPts val="1440"/>
              </a:lnSpc>
              <a:spcBef>
                <a:spcPts val="6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core.autocrlf</a:t>
            </a:r>
            <a:r>
              <a:rPr dirty="0" sz="900" spc="-5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предназначена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того,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чтобы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главном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репозитории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все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переводы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строк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текстовых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файлах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были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одинаковы.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9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core.autocrlf</a:t>
            </a:r>
            <a:r>
              <a:rPr dirty="0" sz="900" spc="-12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параметрами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true</a:t>
            </a:r>
            <a:r>
              <a:rPr dirty="0" sz="900" spc="-15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input</a:t>
            </a:r>
            <a:r>
              <a:rPr dirty="0" sz="900" spc="-15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делает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все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переводы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</a:t>
            </a:r>
            <a:endParaRPr sz="105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170"/>
              </a:spcBef>
            </a:pPr>
            <a:r>
              <a:rPr dirty="0" spc="20"/>
              <a:t>текстовых</a:t>
            </a:r>
            <a:r>
              <a:rPr dirty="0" spc="35"/>
              <a:t> </a:t>
            </a:r>
            <a:r>
              <a:rPr dirty="0" spc="10"/>
              <a:t>файлов</a:t>
            </a:r>
            <a:r>
              <a:rPr dirty="0" spc="30"/>
              <a:t> </a:t>
            </a:r>
            <a:r>
              <a:rPr dirty="0" spc="20"/>
              <a:t>в</a:t>
            </a:r>
            <a:r>
              <a:rPr dirty="0" spc="35"/>
              <a:t> </a:t>
            </a:r>
            <a:r>
              <a:rPr dirty="0" spc="20"/>
              <a:t>главном</a:t>
            </a:r>
            <a:r>
              <a:rPr dirty="0" spc="50"/>
              <a:t> </a:t>
            </a:r>
            <a:r>
              <a:rPr dirty="0" spc="20"/>
              <a:t>репозитории</a:t>
            </a:r>
            <a:r>
              <a:rPr dirty="0" spc="50"/>
              <a:t> </a:t>
            </a:r>
            <a:r>
              <a:rPr dirty="0" spc="-10"/>
              <a:t>одинаковыми.</a:t>
            </a:r>
          </a:p>
          <a:p>
            <a:pPr lvl="2" marL="1384300" indent="-228600">
              <a:lnSpc>
                <a:spcPct val="100000"/>
              </a:lnSpc>
              <a:spcBef>
                <a:spcPts val="165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384300" algn="l"/>
              </a:tabLst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core.autocrlf</a:t>
            </a:r>
            <a:r>
              <a:rPr dirty="0" sz="900" spc="15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E83D8B"/>
                </a:solidFill>
                <a:latin typeface="Consolas"/>
                <a:cs typeface="Consolas"/>
              </a:rPr>
              <a:t>true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конвертация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CRLF-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&gt;LF</a:t>
            </a:r>
            <a:r>
              <a:rPr dirty="0" sz="900" spc="-14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при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коммите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обратно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5">
                <a:solidFill>
                  <a:srgbClr val="E83D8B"/>
                </a:solidFill>
                <a:latin typeface="Consolas"/>
                <a:cs typeface="Consolas"/>
              </a:rPr>
              <a:t>LF-</a:t>
            </a:r>
            <a:endParaRPr sz="900">
              <a:latin typeface="Consolas"/>
              <a:cs typeface="Consolas"/>
            </a:endParaRPr>
          </a:p>
          <a:p>
            <a:pPr marL="1384300" marR="119380">
              <a:lnSpc>
                <a:spcPct val="113300"/>
              </a:lnSpc>
            </a:pP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&gt;CRLF</a:t>
            </a:r>
            <a:r>
              <a:rPr dirty="0" sz="900" spc="-1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pc="65"/>
              <a:t>при</a:t>
            </a:r>
            <a:r>
              <a:rPr dirty="0" spc="100"/>
              <a:t> </a:t>
            </a:r>
            <a:r>
              <a:rPr dirty="0"/>
              <a:t>выгрузке</a:t>
            </a:r>
            <a:r>
              <a:rPr dirty="0" spc="80"/>
              <a:t> </a:t>
            </a:r>
            <a:r>
              <a:rPr dirty="0"/>
              <a:t>кода</a:t>
            </a:r>
            <a:r>
              <a:rPr dirty="0" spc="105"/>
              <a:t> </a:t>
            </a:r>
            <a:r>
              <a:rPr dirty="0"/>
              <a:t>из</a:t>
            </a:r>
            <a:r>
              <a:rPr dirty="0" spc="95"/>
              <a:t> </a:t>
            </a:r>
            <a:r>
              <a:rPr dirty="0"/>
              <a:t>репозитория</a:t>
            </a:r>
            <a:r>
              <a:rPr dirty="0" spc="85"/>
              <a:t> </a:t>
            </a:r>
            <a:r>
              <a:rPr dirty="0"/>
              <a:t>на</a:t>
            </a:r>
            <a:r>
              <a:rPr dirty="0" spc="90"/>
              <a:t> </a:t>
            </a:r>
            <a:r>
              <a:rPr dirty="0"/>
              <a:t>файловую</a:t>
            </a:r>
            <a:r>
              <a:rPr dirty="0" spc="80"/>
              <a:t> </a:t>
            </a:r>
            <a:r>
              <a:rPr dirty="0"/>
              <a:t>систему</a:t>
            </a:r>
            <a:r>
              <a:rPr dirty="0" spc="75"/>
              <a:t> </a:t>
            </a:r>
            <a:r>
              <a:rPr dirty="0" spc="-10"/>
              <a:t>(обычно </a:t>
            </a:r>
            <a:r>
              <a:rPr dirty="0"/>
              <a:t>используется</a:t>
            </a:r>
            <a:r>
              <a:rPr dirty="0" spc="85"/>
              <a:t> </a:t>
            </a:r>
            <a:r>
              <a:rPr dirty="0"/>
              <a:t>в</a:t>
            </a:r>
            <a:r>
              <a:rPr dirty="0" spc="90"/>
              <a:t> </a:t>
            </a:r>
            <a:r>
              <a:rPr dirty="0" spc="-10"/>
              <a:t>Windows).</a:t>
            </a:r>
            <a:endParaRPr sz="900">
              <a:latin typeface="Consolas"/>
              <a:cs typeface="Consolas"/>
            </a:endParaRPr>
          </a:p>
          <a:p>
            <a:pPr lvl="2" marL="1384300" marR="688340" indent="-228600">
              <a:lnSpc>
                <a:spcPct val="114300"/>
              </a:lnSpc>
              <a:buClr>
                <a:srgbClr val="202429"/>
              </a:buClr>
              <a:buSzPct val="111111"/>
              <a:buFont typeface="Wingdings"/>
              <a:buChar char=""/>
              <a:tabLst>
                <a:tab pos="1384300" algn="l"/>
              </a:tabLst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core.autocrlf</a:t>
            </a:r>
            <a:r>
              <a:rPr dirty="0" sz="900" spc="14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input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конвертация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CRLF-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&gt;LF</a:t>
            </a:r>
            <a:r>
              <a:rPr dirty="0" sz="900" spc="-14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только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коммитах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(используются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MacOS/Linux).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</a:p>
          <a:p>
            <a:pPr marL="12700">
              <a:lnSpc>
                <a:spcPct val="100000"/>
              </a:lnSpc>
            </a:pPr>
            <a:r>
              <a:rPr dirty="0"/>
              <a:t>Варианты</a:t>
            </a:r>
            <a:r>
              <a:rPr dirty="0" spc="210"/>
              <a:t> </a:t>
            </a:r>
            <a:r>
              <a:rPr dirty="0" spc="-10"/>
              <a:t>конвертации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43204" y="8280653"/>
            <a:ext cx="5748020" cy="82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600"/>
              </a:lnSpc>
              <a:spcBef>
                <a:spcPts val="100"/>
              </a:spcBef>
            </a:pPr>
            <a:r>
              <a:rPr dirty="0" sz="1800" spc="-105">
                <a:solidFill>
                  <a:srgbClr val="6C757C"/>
                </a:solidFill>
                <a:latin typeface="Arial Black"/>
                <a:cs typeface="Arial Black"/>
              </a:rPr>
              <a:t>Таблица</a:t>
            </a:r>
            <a:r>
              <a:rPr dirty="0" sz="1800" spc="-100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125">
                <a:solidFill>
                  <a:srgbClr val="6C757C"/>
                </a:solidFill>
                <a:latin typeface="Arial Black"/>
                <a:cs typeface="Arial Black"/>
              </a:rPr>
              <a:t>1.:</a:t>
            </a:r>
            <a:r>
              <a:rPr dirty="0" sz="1800" spc="-95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90">
                <a:solidFill>
                  <a:srgbClr val="6C757C"/>
                </a:solidFill>
                <a:latin typeface="Arial Black"/>
                <a:cs typeface="Arial Black"/>
              </a:rPr>
              <a:t>Варианты</a:t>
            </a:r>
            <a:r>
              <a:rPr dirty="0" sz="1800" spc="-95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45">
                <a:solidFill>
                  <a:srgbClr val="6C757C"/>
                </a:solidFill>
                <a:latin typeface="Arial Black"/>
                <a:cs typeface="Arial Black"/>
              </a:rPr>
              <a:t>конвертации</a:t>
            </a:r>
            <a:r>
              <a:rPr dirty="0" sz="1800" spc="-95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70">
                <a:solidFill>
                  <a:srgbClr val="6C757C"/>
                </a:solidFill>
                <a:latin typeface="Arial Black"/>
                <a:cs typeface="Arial Black"/>
              </a:rPr>
              <a:t>для</a:t>
            </a:r>
            <a:r>
              <a:rPr dirty="0" sz="1800" spc="-100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105">
                <a:solidFill>
                  <a:srgbClr val="6C757C"/>
                </a:solidFill>
                <a:latin typeface="Arial Black"/>
                <a:cs typeface="Arial Black"/>
              </a:rPr>
              <a:t>разных </a:t>
            </a:r>
            <a:r>
              <a:rPr dirty="0" sz="1800" spc="-100">
                <a:solidFill>
                  <a:srgbClr val="6C757C"/>
                </a:solidFill>
                <a:latin typeface="Arial Black"/>
                <a:cs typeface="Arial Black"/>
              </a:rPr>
              <a:t>значений</a:t>
            </a:r>
            <a:r>
              <a:rPr dirty="0" sz="1800" spc="-70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75">
                <a:solidFill>
                  <a:srgbClr val="6C757C"/>
                </a:solidFill>
                <a:latin typeface="Arial Black"/>
                <a:cs typeface="Arial Black"/>
              </a:rPr>
              <a:t>параметра</a:t>
            </a:r>
            <a:r>
              <a:rPr dirty="0" sz="1800" spc="-70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6C757C"/>
                </a:solidFill>
                <a:latin typeface="Arial Black"/>
                <a:cs typeface="Arial Black"/>
              </a:rPr>
              <a:t>core.autocrlf</a:t>
            </a:r>
            <a:endParaRPr sz="1800">
              <a:latin typeface="Arial Black"/>
              <a:cs typeface="Arial Black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705611" y="9158985"/>
          <a:ext cx="6338570" cy="564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0545"/>
                <a:gridCol w="1472565"/>
                <a:gridCol w="1494155"/>
                <a:gridCol w="1466850"/>
              </a:tblGrid>
              <a:tr h="283210">
                <a:tc>
                  <a:txBody>
                    <a:bodyPr/>
                    <a:lstStyle/>
                    <a:p>
                      <a:pPr marL="48005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050" spc="-10">
                          <a:solidFill>
                            <a:srgbClr val="202429"/>
                          </a:solidFill>
                          <a:latin typeface="Arial Black"/>
                          <a:cs typeface="Arial Black"/>
                        </a:rPr>
                        <a:t>core.autocrlf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596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050" spc="-10">
                          <a:solidFill>
                            <a:srgbClr val="202429"/>
                          </a:solidFill>
                          <a:latin typeface="Arial Black"/>
                          <a:cs typeface="Arial Black"/>
                        </a:rPr>
                        <a:t>false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596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050" spc="-20">
                          <a:solidFill>
                            <a:srgbClr val="202429"/>
                          </a:solidFill>
                          <a:latin typeface="Arial Black"/>
                          <a:cs typeface="Arial Black"/>
                        </a:rPr>
                        <a:t>input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596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050" spc="-20">
                          <a:solidFill>
                            <a:srgbClr val="202429"/>
                          </a:solidFill>
                          <a:latin typeface="Arial Black"/>
                          <a:cs typeface="Arial Black"/>
                        </a:rPr>
                        <a:t>true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5969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git</a:t>
                      </a:r>
                      <a:r>
                        <a:rPr dirty="0" sz="1050" spc="8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4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commit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7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7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7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2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CRLF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3204" y="741425"/>
            <a:ext cx="5748020" cy="824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600"/>
              </a:lnSpc>
              <a:spcBef>
                <a:spcPts val="100"/>
              </a:spcBef>
            </a:pPr>
            <a:r>
              <a:rPr dirty="0" sz="1800" spc="-105">
                <a:solidFill>
                  <a:srgbClr val="6C757C"/>
                </a:solidFill>
                <a:latin typeface="Arial Black"/>
                <a:cs typeface="Arial Black"/>
              </a:rPr>
              <a:t>Таблица</a:t>
            </a:r>
            <a:r>
              <a:rPr dirty="0" sz="1800" spc="-100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125">
                <a:solidFill>
                  <a:srgbClr val="6C757C"/>
                </a:solidFill>
                <a:latin typeface="Arial Black"/>
                <a:cs typeface="Arial Black"/>
              </a:rPr>
              <a:t>1.:</a:t>
            </a:r>
            <a:r>
              <a:rPr dirty="0" sz="1800" spc="-95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90">
                <a:solidFill>
                  <a:srgbClr val="6C757C"/>
                </a:solidFill>
                <a:latin typeface="Arial Black"/>
                <a:cs typeface="Arial Black"/>
              </a:rPr>
              <a:t>Варианты</a:t>
            </a:r>
            <a:r>
              <a:rPr dirty="0" sz="1800" spc="-95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45">
                <a:solidFill>
                  <a:srgbClr val="6C757C"/>
                </a:solidFill>
                <a:latin typeface="Arial Black"/>
                <a:cs typeface="Arial Black"/>
              </a:rPr>
              <a:t>конвертации</a:t>
            </a:r>
            <a:r>
              <a:rPr dirty="0" sz="1800" spc="-95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70">
                <a:solidFill>
                  <a:srgbClr val="6C757C"/>
                </a:solidFill>
                <a:latin typeface="Arial Black"/>
                <a:cs typeface="Arial Black"/>
              </a:rPr>
              <a:t>для</a:t>
            </a:r>
            <a:r>
              <a:rPr dirty="0" sz="1800" spc="-100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105">
                <a:solidFill>
                  <a:srgbClr val="6C757C"/>
                </a:solidFill>
                <a:latin typeface="Arial Black"/>
                <a:cs typeface="Arial Black"/>
              </a:rPr>
              <a:t>разных </a:t>
            </a:r>
            <a:r>
              <a:rPr dirty="0" sz="1800" spc="-100">
                <a:solidFill>
                  <a:srgbClr val="6C757C"/>
                </a:solidFill>
                <a:latin typeface="Arial Black"/>
                <a:cs typeface="Arial Black"/>
              </a:rPr>
              <a:t>значений</a:t>
            </a:r>
            <a:r>
              <a:rPr dirty="0" sz="1800" spc="-70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75">
                <a:solidFill>
                  <a:srgbClr val="6C757C"/>
                </a:solidFill>
                <a:latin typeface="Arial Black"/>
                <a:cs typeface="Arial Black"/>
              </a:rPr>
              <a:t>параметра</a:t>
            </a:r>
            <a:r>
              <a:rPr dirty="0" sz="1800" spc="-70">
                <a:solidFill>
                  <a:srgbClr val="6C757C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6C757C"/>
                </a:solidFill>
                <a:latin typeface="Arial Black"/>
                <a:cs typeface="Arial Black"/>
              </a:rPr>
              <a:t>core.autocrlf</a:t>
            </a:r>
            <a:endParaRPr sz="1800">
              <a:latin typeface="Arial Black"/>
              <a:cs typeface="Arial Black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05611" y="1620265"/>
          <a:ext cx="6338570" cy="1694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0545"/>
                <a:gridCol w="1472565"/>
                <a:gridCol w="1494155"/>
                <a:gridCol w="1466850"/>
              </a:tblGrid>
              <a:tr h="283210">
                <a:tc>
                  <a:txBody>
                    <a:bodyPr/>
                    <a:lstStyle/>
                    <a:p>
                      <a:pPr marL="480059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10">
                          <a:solidFill>
                            <a:srgbClr val="202429"/>
                          </a:solidFill>
                          <a:latin typeface="Arial Black"/>
                          <a:cs typeface="Arial Black"/>
                        </a:rPr>
                        <a:t>core.autocrlf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603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10">
                          <a:solidFill>
                            <a:srgbClr val="202429"/>
                          </a:solidFill>
                          <a:latin typeface="Arial Black"/>
                          <a:cs typeface="Arial Black"/>
                        </a:rPr>
                        <a:t>false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603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20">
                          <a:solidFill>
                            <a:srgbClr val="202429"/>
                          </a:solidFill>
                          <a:latin typeface="Arial Black"/>
                          <a:cs typeface="Arial Black"/>
                        </a:rPr>
                        <a:t>input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603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20">
                          <a:solidFill>
                            <a:srgbClr val="202429"/>
                          </a:solidFill>
                          <a:latin typeface="Arial Black"/>
                          <a:cs typeface="Arial Black"/>
                        </a:rPr>
                        <a:t>true</a:t>
                      </a:r>
                      <a:endParaRPr sz="1050">
                        <a:latin typeface="Arial Black"/>
                        <a:cs typeface="Arial Black"/>
                      </a:endParaRPr>
                    </a:p>
                  </a:txBody>
                  <a:tcPr marL="0" marR="0" marB="0" marT="603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114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114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114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9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9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9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r>
                        <a:rPr dirty="0" sz="1050" spc="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git</a:t>
                      </a:r>
                      <a:r>
                        <a:rPr dirty="0" sz="1050" spc="8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checkout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7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7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7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LF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2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CRLF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114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114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r>
                        <a:rPr dirty="0" sz="1050" spc="-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050" spc="-114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5841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9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3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9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3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50" spc="-9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r>
                        <a:rPr dirty="0" sz="1050" spc="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dirty="0" sz="105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&gt;</a:t>
                      </a:r>
                      <a:r>
                        <a:rPr dirty="0" sz="1050" spc="-1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429"/>
                          </a:solidFill>
                          <a:latin typeface="Microsoft Sans Serif"/>
                          <a:cs typeface="Microsoft Sans Serif"/>
                        </a:rPr>
                        <a:t>CRLF</a:t>
                      </a:r>
                      <a:endParaRPr sz="10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032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697483" y="3300501"/>
            <a:ext cx="6247765" cy="62122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265"/>
              </a:spcBef>
            </a:pP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1.</a:t>
            </a:r>
            <a:endParaRPr sz="1050">
              <a:latin typeface="Microsoft Sans Serif"/>
              <a:cs typeface="Microsoft Sans Serif"/>
            </a:endParaRPr>
          </a:p>
          <a:p>
            <a:pPr marL="927100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Установка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параметра:</a:t>
            </a:r>
            <a:endParaRPr sz="1050">
              <a:latin typeface="Microsoft Sans Serif"/>
              <a:cs typeface="Microsoft Sans Serif"/>
            </a:endParaRPr>
          </a:p>
          <a:p>
            <a:pPr lvl="1" marL="1384300" indent="-228600">
              <a:lnSpc>
                <a:spcPct val="100000"/>
              </a:lnSpc>
              <a:spcBef>
                <a:spcPts val="165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Windows</a:t>
            </a:r>
            <a:endParaRPr sz="1050">
              <a:latin typeface="Microsoft Sans Serif"/>
              <a:cs typeface="Microsoft Sans Serif"/>
            </a:endParaRPr>
          </a:p>
          <a:p>
            <a:pPr lvl="1" marL="1384300" indent="-2286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3843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core.autocrlf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 lvl="1" marL="1384300" indent="-228600">
              <a:lnSpc>
                <a:spcPct val="100000"/>
              </a:lnSpc>
              <a:spcBef>
                <a:spcPts val="12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Linux</a:t>
            </a:r>
            <a:endParaRPr sz="1050">
              <a:latin typeface="Microsoft Sans Serif"/>
              <a:cs typeface="Microsoft Sans Serif"/>
            </a:endParaRPr>
          </a:p>
          <a:p>
            <a:pPr lvl="1" marL="1384300" indent="-2286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3843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core.autocrlf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input</a:t>
            </a:r>
            <a:endParaRPr sz="1000">
              <a:latin typeface="Consolas"/>
              <a:cs typeface="Consolas"/>
            </a:endParaRPr>
          </a:p>
          <a:p>
            <a:pPr marL="467359" indent="-226060">
              <a:lnSpc>
                <a:spcPct val="100000"/>
              </a:lnSpc>
              <a:spcBef>
                <a:spcPts val="120"/>
              </a:spcBef>
              <a:buAutoNum type="arabicPeriod" startAt="2"/>
              <a:tabLst>
                <a:tab pos="467359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Параметр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safecrlf</a:t>
            </a:r>
            <a:endParaRPr sz="900">
              <a:latin typeface="Consolas"/>
              <a:cs typeface="Consolas"/>
            </a:endParaRPr>
          </a:p>
          <a:p>
            <a:pPr lvl="1" marL="927100" marR="200660" indent="-228600">
              <a:lnSpc>
                <a:spcPct val="113300"/>
              </a:lnSpc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core.safecrlf</a:t>
            </a:r>
            <a:r>
              <a:rPr dirty="0" sz="900" spc="-5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предназначена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проверки,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является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ли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окончаний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строк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обратимым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текущей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настройки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core.autocrlf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ct val="100000"/>
              </a:lnSpc>
              <a:spcBef>
                <a:spcPts val="170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384300" algn="l"/>
              </a:tabLst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core.safecrlf</a:t>
            </a:r>
            <a:r>
              <a:rPr dirty="0" sz="900" spc="25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E83D8B"/>
                </a:solidFill>
                <a:latin typeface="Consolas"/>
                <a:cs typeface="Consolas"/>
              </a:rPr>
              <a:t>true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запрещается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необратимое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преобразование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lf&lt;-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&gt;crlf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384300" marR="368935">
              <a:lnSpc>
                <a:spcPts val="1440"/>
              </a:lnSpc>
              <a:spcBef>
                <a:spcPts val="65"/>
              </a:spcBef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Полезно,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когда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существуют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бинарные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файлы,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похожие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текстовые файлы.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ct val="100000"/>
              </a:lnSpc>
              <a:spcBef>
                <a:spcPts val="90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384300" algn="l"/>
              </a:tabLst>
            </a:pP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core.safecrlf</a:t>
            </a:r>
            <a:r>
              <a:rPr dirty="0" sz="900" spc="16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E83D8B"/>
                </a:solidFill>
                <a:latin typeface="Consolas"/>
                <a:cs typeface="Consolas"/>
              </a:rPr>
              <a:t>warn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печать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предупреждения,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но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коммиты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необратимым</a:t>
            </a:r>
            <a:endParaRPr sz="1050">
              <a:latin typeface="Microsoft Sans Serif"/>
              <a:cs typeface="Microsoft Sans Serif"/>
            </a:endParaRPr>
          </a:p>
          <a:p>
            <a:pPr marL="1384300">
              <a:lnSpc>
                <a:spcPct val="100000"/>
              </a:lnSpc>
              <a:spcBef>
                <a:spcPts val="170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переходом</a:t>
            </a:r>
            <a:r>
              <a:rPr dirty="0" sz="1050" spc="20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принимаются.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6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Установка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параметра: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30"/>
              </a:spcBef>
              <a:buFont typeface="Courier New"/>
              <a:buChar char="o"/>
              <a:tabLst>
                <a:tab pos="9271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core.safecrlf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warn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650" spc="-114">
                <a:solidFill>
                  <a:srgbClr val="292C3C"/>
                </a:solidFill>
                <a:latin typeface="Arial Black"/>
                <a:cs typeface="Arial Black"/>
              </a:rPr>
              <a:t>Создание</a:t>
            </a:r>
            <a:r>
              <a:rPr dirty="0" sz="1650" spc="-9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100">
                <a:solidFill>
                  <a:srgbClr val="292C3C"/>
                </a:solidFill>
                <a:latin typeface="Arial Black"/>
                <a:cs typeface="Arial Black"/>
              </a:rPr>
              <a:t>ключа</a:t>
            </a:r>
            <a:r>
              <a:rPr dirty="0" sz="1650" spc="-10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>
                <a:solidFill>
                  <a:srgbClr val="292C3C"/>
                </a:solidFill>
                <a:latin typeface="Arial Black"/>
                <a:cs typeface="Arial Black"/>
              </a:rPr>
              <a:t>ssh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Общая</a:t>
            </a:r>
            <a:r>
              <a:rPr dirty="0" sz="120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Microsoft Sans Serif"/>
                <a:cs typeface="Microsoft Sans Serif"/>
              </a:rPr>
              <a:t>информация</a:t>
            </a:r>
            <a:endParaRPr sz="1200">
              <a:latin typeface="Microsoft Sans Serif"/>
              <a:cs typeface="Microsoft Sans Serif"/>
            </a:endParaRPr>
          </a:p>
          <a:p>
            <a:pPr marL="467359" indent="-226060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467359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Алгоритмы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шифрования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ssh</a:t>
            </a:r>
            <a:endParaRPr sz="1050">
              <a:latin typeface="Microsoft Sans Serif"/>
              <a:cs typeface="Microsoft Sans Serif"/>
            </a:endParaRPr>
          </a:p>
          <a:p>
            <a:pPr lvl="1" marL="924560" indent="-22606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92456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Аутентификация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370"/>
              </a:spcBef>
              <a:buClr>
                <a:srgbClr val="20242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0">
                <a:solidFill>
                  <a:srgbClr val="202429"/>
                </a:solidFill>
                <a:latin typeface="Microsoft Sans Serif"/>
                <a:cs typeface="Microsoft Sans Serif"/>
              </a:rPr>
              <a:t>SSH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поддерживается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четыре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алгоритма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аутентификации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открытым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ключам: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ct val="100000"/>
              </a:lnSpc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DSA:</a:t>
            </a:r>
            <a:endParaRPr sz="1050">
              <a:latin typeface="Microsoft Sans Serif"/>
              <a:cs typeface="Microsoft Sans Serif"/>
            </a:endParaRPr>
          </a:p>
          <a:p>
            <a:pPr lvl="3" marL="1842135" marR="522605" indent="-229235">
              <a:lnSpc>
                <a:spcPts val="1440"/>
              </a:lnSpc>
              <a:spcBef>
                <a:spcPts val="70"/>
              </a:spcBef>
              <a:buSzPct val="95238"/>
              <a:buFont typeface="Wingdings"/>
              <a:buChar char=""/>
              <a:tabLst>
                <a:tab pos="184213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ключей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202429"/>
                </a:solidFill>
                <a:latin typeface="Microsoft Sans Serif"/>
                <a:cs typeface="Microsoft Sans Serif"/>
              </a:rPr>
              <a:t>DSA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может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превышать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1024,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его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следует отключить;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ct val="100000"/>
              </a:lnSpc>
              <a:spcBef>
                <a:spcPts val="9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RSA:</a:t>
            </a:r>
            <a:endParaRPr sz="1050">
              <a:latin typeface="Microsoft Sans Serif"/>
              <a:cs typeface="Microsoft Sans Serif"/>
            </a:endParaRPr>
          </a:p>
          <a:p>
            <a:pPr lvl="3" marL="1841500" indent="-228600">
              <a:lnSpc>
                <a:spcPct val="100000"/>
              </a:lnSpc>
              <a:spcBef>
                <a:spcPts val="165"/>
              </a:spcBef>
              <a:buSzPct val="95238"/>
              <a:buFont typeface="Wingdings"/>
              <a:buChar char=""/>
              <a:tabLst>
                <a:tab pos="18415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следует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создавать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большого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размера: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4096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бит;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ct val="100000"/>
              </a:lnSpc>
              <a:spcBef>
                <a:spcPts val="17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ECDSA:</a:t>
            </a:r>
            <a:endParaRPr sz="1050">
              <a:latin typeface="Microsoft Sans Serif"/>
              <a:cs typeface="Microsoft Sans Serif"/>
            </a:endParaRPr>
          </a:p>
          <a:p>
            <a:pPr lvl="3" marL="1841500" indent="-228600">
              <a:lnSpc>
                <a:spcPct val="100000"/>
              </a:lnSpc>
              <a:spcBef>
                <a:spcPts val="165"/>
              </a:spcBef>
              <a:buSzPct val="95238"/>
              <a:buFont typeface="Wingdings"/>
              <a:buChar char=""/>
              <a:tabLst>
                <a:tab pos="1841500" algn="l"/>
              </a:tabLst>
            </a:pPr>
            <a:r>
              <a:rPr dirty="0" sz="1050" spc="-85">
                <a:solidFill>
                  <a:srgbClr val="202429"/>
                </a:solidFill>
                <a:latin typeface="Microsoft Sans Serif"/>
                <a:cs typeface="Microsoft Sans Serif"/>
              </a:rPr>
              <a:t>ECDSA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завязан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технологиях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45">
                <a:solidFill>
                  <a:srgbClr val="202429"/>
                </a:solidFill>
                <a:latin typeface="Microsoft Sans Serif"/>
                <a:cs typeface="Microsoft Sans Serif"/>
              </a:rPr>
              <a:t>NIST,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его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следует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отключить;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ct val="100000"/>
              </a:lnSpc>
              <a:spcBef>
                <a:spcPts val="17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Ed25519:</a:t>
            </a:r>
            <a:endParaRPr sz="1050">
              <a:latin typeface="Microsoft Sans Serif"/>
              <a:cs typeface="Microsoft Sans Serif"/>
            </a:endParaRPr>
          </a:p>
          <a:p>
            <a:pPr lvl="3" marL="1841500" indent="-228600">
              <a:lnSpc>
                <a:spcPct val="100000"/>
              </a:lnSpc>
              <a:spcBef>
                <a:spcPts val="180"/>
              </a:spcBef>
              <a:buSzPct val="95238"/>
              <a:buFont typeface="Wingdings"/>
              <a:buChar char=""/>
              <a:tabLst>
                <a:tab pos="18415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используется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пока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везде.</a:t>
            </a:r>
            <a:endParaRPr sz="1050">
              <a:latin typeface="Microsoft Sans Serif"/>
              <a:cs typeface="Microsoft Sans Serif"/>
            </a:endParaRPr>
          </a:p>
          <a:p>
            <a:pPr lvl="1" marL="924560" indent="-226060">
              <a:lnSpc>
                <a:spcPct val="100000"/>
              </a:lnSpc>
              <a:spcBef>
                <a:spcPts val="165"/>
              </a:spcBef>
              <a:buAutoNum type="arabicPeriod" startAt="2"/>
              <a:tabLst>
                <a:tab pos="92456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Симметричные</a:t>
            </a:r>
            <a:r>
              <a:rPr dirty="0" sz="1050" spc="20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шифры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702969"/>
            <a:ext cx="6117590" cy="8931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0" marR="5080" indent="-228600">
              <a:lnSpc>
                <a:spcPct val="113300"/>
              </a:lnSpc>
              <a:spcBef>
                <a:spcPts val="10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Из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15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поддерживаемых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0">
                <a:solidFill>
                  <a:srgbClr val="202429"/>
                </a:solidFill>
                <a:latin typeface="Microsoft Sans Serif"/>
                <a:cs typeface="Microsoft Sans Serif"/>
              </a:rPr>
              <a:t>SSH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алгоритмов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симметричного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шифрования,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безопасными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считать:</a:t>
            </a:r>
            <a:endParaRPr sz="1050">
              <a:latin typeface="Microsoft Sans Serif"/>
              <a:cs typeface="Microsoft Sans Serif"/>
            </a:endParaRPr>
          </a:p>
          <a:p>
            <a:pPr lvl="1" marL="1841500" indent="-228600">
              <a:lnSpc>
                <a:spcPct val="100000"/>
              </a:lnSpc>
              <a:spcBef>
                <a:spcPts val="180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841500" algn="l"/>
              </a:tabLst>
            </a:pP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chacha20-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poly1305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;</a:t>
            </a:r>
            <a:endParaRPr sz="1050">
              <a:latin typeface="Microsoft Sans Serif"/>
              <a:cs typeface="Microsoft Sans Serif"/>
            </a:endParaRPr>
          </a:p>
          <a:p>
            <a:pPr lvl="1" marL="1841500" indent="-228600">
              <a:lnSpc>
                <a:spcPct val="100000"/>
              </a:lnSpc>
              <a:spcBef>
                <a:spcPts val="170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841500" algn="l"/>
              </a:tabLst>
            </a:pP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aes*-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ctr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;</a:t>
            </a:r>
            <a:endParaRPr sz="1050">
              <a:latin typeface="Microsoft Sans Serif"/>
              <a:cs typeface="Microsoft Sans Serif"/>
            </a:endParaRPr>
          </a:p>
          <a:p>
            <a:pPr lvl="1" marL="1841500" indent="-228600">
              <a:lnSpc>
                <a:spcPct val="100000"/>
              </a:lnSpc>
              <a:spcBef>
                <a:spcPts val="165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841500" algn="l"/>
              </a:tabLst>
            </a:pP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aes*-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gcm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1384300" marR="31750" indent="-228600">
              <a:lnSpc>
                <a:spcPct val="113300"/>
              </a:lnSpc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Шифры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3des-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cbc</a:t>
            </a:r>
            <a:r>
              <a:rPr dirty="0" sz="900" spc="-9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arcfour</a:t>
            </a:r>
            <a:r>
              <a:rPr dirty="0" sz="900" spc="-9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потенциально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уязвимы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силу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использования </a:t>
            </a:r>
            <a:r>
              <a:rPr dirty="0" sz="1050" spc="-85">
                <a:solidFill>
                  <a:srgbClr val="202429"/>
                </a:solidFill>
                <a:latin typeface="Microsoft Sans Serif"/>
                <a:cs typeface="Microsoft Sans Serif"/>
              </a:rPr>
              <a:t>DES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RC4.</a:t>
            </a:r>
            <a:endParaRPr sz="1050">
              <a:latin typeface="Microsoft Sans Serif"/>
              <a:cs typeface="Microsoft Sans Serif"/>
            </a:endParaRPr>
          </a:p>
          <a:p>
            <a:pPr marL="1384300" indent="-228600">
              <a:lnSpc>
                <a:spcPct val="100000"/>
              </a:lnSpc>
              <a:spcBef>
                <a:spcPts val="17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Шифр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cast128-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cbc</a:t>
            </a:r>
            <a:r>
              <a:rPr dirty="0" sz="900" spc="-7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применяет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слишком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короткий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блока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(64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бит).</a:t>
            </a:r>
            <a:endParaRPr sz="1050">
              <a:latin typeface="Microsoft Sans Serif"/>
              <a:cs typeface="Microsoft Sans Serif"/>
            </a:endParaRPr>
          </a:p>
          <a:p>
            <a:pPr marL="924560" indent="-226060">
              <a:lnSpc>
                <a:spcPct val="100000"/>
              </a:lnSpc>
              <a:spcBef>
                <a:spcPts val="180"/>
              </a:spcBef>
              <a:buAutoNum type="arabicPeriod" startAt="3"/>
              <a:tabLst>
                <a:tab pos="92456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Обмен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ключами</a:t>
            </a:r>
            <a:endParaRPr sz="1050">
              <a:latin typeface="Microsoft Sans Serif"/>
              <a:cs typeface="Microsoft Sans Serif"/>
            </a:endParaRPr>
          </a:p>
          <a:p>
            <a:pPr lvl="1" marL="1384300" indent="-228600">
              <a:lnSpc>
                <a:spcPct val="100000"/>
              </a:lnSpc>
              <a:spcBef>
                <a:spcPts val="165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Применяемые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0">
                <a:solidFill>
                  <a:srgbClr val="202429"/>
                </a:solidFill>
                <a:latin typeface="Microsoft Sans Serif"/>
                <a:cs typeface="Microsoft Sans Serif"/>
              </a:rPr>
              <a:t>SSH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методы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обмена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ключей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DH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(Diffie-Hellman)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ECDH</a:t>
            </a:r>
            <a:endParaRPr sz="1050">
              <a:latin typeface="Microsoft Sans Serif"/>
              <a:cs typeface="Microsoft Sans Serif"/>
            </a:endParaRPr>
          </a:p>
          <a:p>
            <a:pPr marL="1384300">
              <a:lnSpc>
                <a:spcPct val="100000"/>
              </a:lnSpc>
              <a:spcBef>
                <a:spcPts val="170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(Elliptic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Curve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Diffie-Hellman)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считать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безопасными.</a:t>
            </a:r>
            <a:endParaRPr sz="1050">
              <a:latin typeface="Microsoft Sans Serif"/>
              <a:cs typeface="Microsoft Sans Serif"/>
            </a:endParaRPr>
          </a:p>
          <a:p>
            <a:pPr lvl="1" marL="1384300" marR="210185" indent="-228600">
              <a:lnSpc>
                <a:spcPct val="113300"/>
              </a:lnSpc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Из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8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поддерживаемых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0">
                <a:solidFill>
                  <a:srgbClr val="202429"/>
                </a:solidFill>
                <a:latin typeface="Microsoft Sans Serif"/>
                <a:cs typeface="Microsoft Sans Serif"/>
              </a:rPr>
              <a:t>SSH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протоколов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обмена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ключами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вызывают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подозрения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три,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основанные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рекомендациях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NIST:</a:t>
            </a:r>
            <a:endParaRPr sz="1050">
              <a:latin typeface="Microsoft Sans Serif"/>
              <a:cs typeface="Microsoft Sans Serif"/>
            </a:endParaRPr>
          </a:p>
          <a:p>
            <a:pPr lvl="2" marL="1841500" indent="-228600">
              <a:lnSpc>
                <a:spcPct val="100000"/>
              </a:lnSpc>
              <a:spcBef>
                <a:spcPts val="170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841500" algn="l"/>
              </a:tabLst>
            </a:pP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ecdh-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sha2-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nistp256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;</a:t>
            </a:r>
            <a:endParaRPr sz="1050">
              <a:latin typeface="Microsoft Sans Serif"/>
              <a:cs typeface="Microsoft Sans Serif"/>
            </a:endParaRPr>
          </a:p>
          <a:p>
            <a:pPr lvl="2" marL="1841500" indent="-228600">
              <a:lnSpc>
                <a:spcPct val="100000"/>
              </a:lnSpc>
              <a:spcBef>
                <a:spcPts val="180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841500" algn="l"/>
              </a:tabLst>
            </a:pP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ecdh-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sha2-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nistp384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;</a:t>
            </a:r>
            <a:endParaRPr sz="1050">
              <a:latin typeface="Microsoft Sans Serif"/>
              <a:cs typeface="Microsoft Sans Serif"/>
            </a:endParaRPr>
          </a:p>
          <a:p>
            <a:pPr lvl="2" marL="1841500" indent="-228600">
              <a:lnSpc>
                <a:spcPct val="100000"/>
              </a:lnSpc>
              <a:spcBef>
                <a:spcPts val="170"/>
              </a:spcBef>
              <a:buClr>
                <a:srgbClr val="202429"/>
              </a:buClr>
              <a:buSzPct val="111111"/>
              <a:buFont typeface="Wingdings"/>
              <a:buChar char=""/>
              <a:tabLst>
                <a:tab pos="1841500" algn="l"/>
              </a:tabLst>
            </a:pP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ecdh-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sha2-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nistp521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lvl="1" marL="1384300" indent="-228600">
              <a:lnSpc>
                <a:spcPct val="100000"/>
              </a:lnSpc>
              <a:spcBef>
                <a:spcPts val="17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Не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стоит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использовать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протоколы,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основанные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Trebuchet MS"/>
                <a:cs typeface="Trebuchet MS"/>
              </a:rPr>
              <a:t>SHA1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7359" indent="-226060">
              <a:lnSpc>
                <a:spcPct val="100000"/>
              </a:lnSpc>
              <a:spcBef>
                <a:spcPts val="165"/>
              </a:spcBef>
              <a:buAutoNum type="arabicPeriod" startAt="2"/>
              <a:tabLst>
                <a:tab pos="467359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Файлы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ssh-ключей</a:t>
            </a:r>
            <a:endParaRPr sz="1050">
              <a:latin typeface="Microsoft Sans Serif"/>
              <a:cs typeface="Microsoft Sans Serif"/>
            </a:endParaRPr>
          </a:p>
          <a:p>
            <a:pPr lvl="1" marL="927100" marR="161925" indent="-228600">
              <a:lnSpc>
                <a:spcPct val="113300"/>
              </a:lnSpc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пользовательские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ssh-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ключи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сохраняются</a:t>
            </a:r>
            <a:r>
              <a:rPr dirty="0" sz="105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каталоге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5">
                <a:solidFill>
                  <a:srgbClr val="E83D8B"/>
                </a:solidFill>
                <a:latin typeface="Consolas"/>
                <a:cs typeface="Consolas"/>
              </a:rPr>
              <a:t>~/.ssh</a:t>
            </a:r>
            <a:r>
              <a:rPr dirty="0" sz="900" spc="-4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-50">
                <a:solidFill>
                  <a:srgbClr val="202429"/>
                </a:solidFill>
                <a:latin typeface="Microsoft Sans Serif"/>
                <a:cs typeface="Microsoft Sans Serif"/>
              </a:rPr>
              <a:t>в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домашнем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каталоге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пользователя.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8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Убедитесь,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вас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ещё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нет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ключа.</a:t>
            </a:r>
            <a:endParaRPr sz="1050">
              <a:latin typeface="Microsoft Sans Serif"/>
              <a:cs typeface="Microsoft Sans Serif"/>
            </a:endParaRPr>
          </a:p>
          <a:p>
            <a:pPr lvl="1" marL="927100" marR="2326005" indent="-228600">
              <a:lnSpc>
                <a:spcPct val="113300"/>
              </a:lnSpc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Файлы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закрытых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ключей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имеют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названия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типа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id_&lt;алгоритм&gt;</a:t>
            </a:r>
            <a:r>
              <a:rPr dirty="0" sz="900" spc="-11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(например,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id_dsa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,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id_rsa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).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ct val="100000"/>
              </a:lnSpc>
              <a:spcBef>
                <a:spcPts val="17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закрытые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ключи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имеют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имена: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ts val="1180"/>
              </a:lnSpc>
              <a:spcBef>
                <a:spcPts val="25"/>
              </a:spcBef>
              <a:buFont typeface="Wingdings"/>
              <a:buChar char=""/>
              <a:tabLst>
                <a:tab pos="13843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id_dsa</a:t>
            </a:r>
            <a:endParaRPr sz="1000">
              <a:latin typeface="Consolas"/>
              <a:cs typeface="Consolas"/>
            </a:endParaRPr>
          </a:p>
          <a:p>
            <a:pPr lvl="2" marL="1384300" indent="-228600">
              <a:lnSpc>
                <a:spcPts val="1170"/>
              </a:lnSpc>
              <a:buFont typeface="Wingdings"/>
              <a:buChar char=""/>
              <a:tabLst>
                <a:tab pos="13843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id_ecdsa</a:t>
            </a:r>
            <a:endParaRPr sz="1000">
              <a:latin typeface="Consolas"/>
              <a:cs typeface="Consolas"/>
            </a:endParaRPr>
          </a:p>
          <a:p>
            <a:pPr lvl="2" marL="1384300" indent="-228600">
              <a:lnSpc>
                <a:spcPts val="1170"/>
              </a:lnSpc>
              <a:buFont typeface="Wingdings"/>
              <a:buChar char=""/>
              <a:tabLst>
                <a:tab pos="13843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id_ed25519</a:t>
            </a:r>
            <a:endParaRPr sz="1000">
              <a:latin typeface="Consolas"/>
              <a:cs typeface="Consolas"/>
            </a:endParaRPr>
          </a:p>
          <a:p>
            <a:pPr lvl="2" marL="1384300" indent="-228600">
              <a:lnSpc>
                <a:spcPts val="1180"/>
              </a:lnSpc>
              <a:buFont typeface="Wingdings"/>
              <a:buChar char=""/>
              <a:tabLst>
                <a:tab pos="13843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id_rsa</a:t>
            </a:r>
            <a:endParaRPr sz="1000">
              <a:latin typeface="Consolas"/>
              <a:cs typeface="Consolas"/>
            </a:endParaRPr>
          </a:p>
          <a:p>
            <a:pPr lvl="1" marL="927100" indent="-228600">
              <a:lnSpc>
                <a:spcPct val="100000"/>
              </a:lnSpc>
              <a:spcBef>
                <a:spcPts val="12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Открытые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ключи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имеют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дополнительные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расширения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.pub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ct val="100000"/>
              </a:lnSpc>
              <a:spcBef>
                <a:spcPts val="180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публичные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ключи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имеют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имена:</a:t>
            </a:r>
            <a:endParaRPr sz="1050">
              <a:latin typeface="Microsoft Sans Serif"/>
              <a:cs typeface="Microsoft Sans Serif"/>
            </a:endParaRPr>
          </a:p>
          <a:p>
            <a:pPr lvl="2" marL="1384300" indent="-228600">
              <a:lnSpc>
                <a:spcPts val="1190"/>
              </a:lnSpc>
              <a:spcBef>
                <a:spcPts val="15"/>
              </a:spcBef>
              <a:buFont typeface="Wingdings"/>
              <a:buChar char=""/>
              <a:tabLst>
                <a:tab pos="13843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id_dsa.pub</a:t>
            </a:r>
            <a:endParaRPr sz="1000">
              <a:latin typeface="Consolas"/>
              <a:cs typeface="Consolas"/>
            </a:endParaRPr>
          </a:p>
          <a:p>
            <a:pPr lvl="2" marL="1384300" indent="-228600">
              <a:lnSpc>
                <a:spcPts val="1170"/>
              </a:lnSpc>
              <a:buFont typeface="Wingdings"/>
              <a:buChar char=""/>
              <a:tabLst>
                <a:tab pos="13843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id_ecdsa.pub</a:t>
            </a:r>
            <a:endParaRPr sz="1000">
              <a:latin typeface="Consolas"/>
              <a:cs typeface="Consolas"/>
            </a:endParaRPr>
          </a:p>
          <a:p>
            <a:pPr lvl="2" marL="1384300" indent="-228600">
              <a:lnSpc>
                <a:spcPts val="1170"/>
              </a:lnSpc>
              <a:buFont typeface="Wingdings"/>
              <a:buChar char=""/>
              <a:tabLst>
                <a:tab pos="13843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id_ed25519.pub</a:t>
            </a:r>
            <a:endParaRPr sz="1000">
              <a:latin typeface="Consolas"/>
              <a:cs typeface="Consolas"/>
            </a:endParaRPr>
          </a:p>
          <a:p>
            <a:pPr lvl="2" marL="1384300" indent="-228600">
              <a:lnSpc>
                <a:spcPts val="1190"/>
              </a:lnSpc>
              <a:buFont typeface="Wingdings"/>
              <a:buChar char=""/>
              <a:tabLst>
                <a:tab pos="13843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id_rsa.pub</a:t>
            </a:r>
            <a:endParaRPr sz="1000">
              <a:latin typeface="Consolas"/>
              <a:cs typeface="Consolas"/>
            </a:endParaRPr>
          </a:p>
          <a:p>
            <a:pPr lvl="1" marL="927100" marR="250190" indent="-228600">
              <a:lnSpc>
                <a:spcPts val="1430"/>
              </a:lnSpc>
              <a:spcBef>
                <a:spcPts val="2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создании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команда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попросит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ввести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любую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ключевую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фразу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для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более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надёжной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защиты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вашего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пароля.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пропустить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этот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этап,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нажав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Enter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0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Сменить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пароль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помощью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команды: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9271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ssh-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keygen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p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20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r>
              <a:rPr dirty="0" sz="120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202429"/>
                </a:solidFill>
                <a:latin typeface="Microsoft Sans Serif"/>
                <a:cs typeface="Microsoft Sans Serif"/>
              </a:rPr>
              <a:t>ssh</a:t>
            </a: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31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ssh создаётся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 командой: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ssh-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keygen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&lt;алгоритм&gt;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Создайте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ключи: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алгоритму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rsa</a:t>
            </a:r>
            <a:r>
              <a:rPr dirty="0" sz="1050" spc="3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ключём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размером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4096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бит: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5"/>
              </a:spcBef>
              <a:buFont typeface="Courier New"/>
              <a:buChar char="o"/>
              <a:tabLst>
                <a:tab pos="9271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ssh-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keygen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rsa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b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4096</a:t>
            </a:r>
            <a:endParaRPr sz="1000">
              <a:latin typeface="Consolas"/>
              <a:cs typeface="Consolas"/>
            </a:endParaRPr>
          </a:p>
          <a:p>
            <a:pPr lvl="1" marL="927100" indent="-228600">
              <a:lnSpc>
                <a:spcPct val="100000"/>
              </a:lnSpc>
              <a:spcBef>
                <a:spcPts val="114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алгоритму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Trebuchet MS"/>
                <a:cs typeface="Trebuchet MS"/>
              </a:rPr>
              <a:t>ed25519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30"/>
              </a:spcBef>
              <a:buFont typeface="Courier New"/>
              <a:buChar char="o"/>
              <a:tabLst>
                <a:tab pos="9271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ssh-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keygen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ed25519</a:t>
            </a:r>
            <a:endParaRPr sz="1000">
              <a:latin typeface="Consolas"/>
              <a:cs typeface="Consolas"/>
            </a:endParaRPr>
          </a:p>
          <a:p>
            <a:pPr marL="469900" marR="287655" indent="-228600">
              <a:lnSpc>
                <a:spcPts val="1430"/>
              </a:lnSpc>
              <a:spcBef>
                <a:spcPts val="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создании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команда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попросит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ввести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любую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ключевую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фразу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более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надёжной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защиты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вашего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пароля.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пропустить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этот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этап,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нажав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Enter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9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Сменить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пароль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помощью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команды: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ssh-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keygen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p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681413"/>
            <a:ext cx="6229350" cy="911796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Добавление</a:t>
            </a:r>
            <a:r>
              <a:rPr dirty="0" sz="120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80">
                <a:solidFill>
                  <a:srgbClr val="202429"/>
                </a:solidFill>
                <a:latin typeface="Microsoft Sans Serif"/>
                <a:cs typeface="Microsoft Sans Serif"/>
              </a:rPr>
              <a:t>SSH-</a:t>
            </a: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r>
              <a:rPr dirty="0" sz="120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20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учётную</a:t>
            </a:r>
            <a:r>
              <a:rPr dirty="0" sz="120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запись</a:t>
            </a:r>
            <a:r>
              <a:rPr dirty="0" sz="120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Microsoft Sans Serif"/>
                <a:cs typeface="Microsoft Sans Serif"/>
              </a:rPr>
              <a:t>GitHub</a:t>
            </a: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31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Скопируйте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созданный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202429"/>
                </a:solidFill>
                <a:latin typeface="Microsoft Sans Serif"/>
                <a:cs typeface="Microsoft Sans Serif"/>
              </a:rPr>
              <a:t>SSH-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буфер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обмена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командой: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xclip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&lt;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~/.ssh/id_ed25519.pub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Откройте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настройки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своего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аккаунта на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GitHub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перейдем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 раздел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10">
                <a:solidFill>
                  <a:srgbClr val="E83D8B"/>
                </a:solidFill>
                <a:latin typeface="Consolas"/>
                <a:cs typeface="Consolas"/>
              </a:rPr>
              <a:t>SSH</a:t>
            </a:r>
            <a:r>
              <a:rPr dirty="0" sz="900" spc="5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 spc="10">
                <a:solidFill>
                  <a:srgbClr val="E83D8B"/>
                </a:solidFill>
                <a:latin typeface="Consolas"/>
                <a:cs typeface="Consolas"/>
              </a:rPr>
              <a:t>and</a:t>
            </a:r>
            <a:r>
              <a:rPr dirty="0" sz="900" spc="4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 spc="10">
                <a:solidFill>
                  <a:srgbClr val="E83D8B"/>
                </a:solidFill>
                <a:latin typeface="Consolas"/>
                <a:cs typeface="Consolas"/>
              </a:rPr>
              <a:t>GPC</a:t>
            </a:r>
            <a:r>
              <a:rPr dirty="0" sz="900" spc="5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keys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кнопку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83D8B"/>
                </a:solidFill>
                <a:latin typeface="Consolas"/>
                <a:cs typeface="Consolas"/>
              </a:rPr>
              <a:t>ew</a:t>
            </a:r>
            <a:r>
              <a:rPr dirty="0" sz="900" spc="9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E83D8B"/>
                </a:solidFill>
                <a:latin typeface="Consolas"/>
                <a:cs typeface="Consolas"/>
              </a:rPr>
              <a:t>SSH</a:t>
            </a:r>
            <a:r>
              <a:rPr dirty="0" sz="900" spc="105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key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6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Добавьте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поле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Title</a:t>
            </a:r>
            <a:r>
              <a:rPr dirty="0" sz="900" spc="-9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название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этого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ключа,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например,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ed25519@hostname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Вставьте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из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буфера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обмена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поле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Key</a:t>
            </a:r>
            <a:r>
              <a:rPr dirty="0" sz="900" spc="-16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ключ.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8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кнопку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E83D8B"/>
                </a:solidFill>
                <a:latin typeface="Consolas"/>
                <a:cs typeface="Consolas"/>
              </a:rPr>
              <a:t>Add</a:t>
            </a:r>
            <a:r>
              <a:rPr dirty="0" sz="900" spc="9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>
                <a:solidFill>
                  <a:srgbClr val="E83D8B"/>
                </a:solidFill>
                <a:latin typeface="Consolas"/>
                <a:cs typeface="Consolas"/>
              </a:rPr>
              <a:t>SSH</a:t>
            </a:r>
            <a:r>
              <a:rPr dirty="0" sz="900" spc="10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key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50" spc="-90">
                <a:solidFill>
                  <a:srgbClr val="292C3C"/>
                </a:solidFill>
                <a:latin typeface="Arial Black"/>
                <a:cs typeface="Arial Black"/>
              </a:rPr>
              <a:t>Верификация </a:t>
            </a:r>
            <a:r>
              <a:rPr dirty="0" sz="1650" spc="-25">
                <a:solidFill>
                  <a:srgbClr val="292C3C"/>
                </a:solidFill>
                <a:latin typeface="Arial Black"/>
                <a:cs typeface="Arial Black"/>
              </a:rPr>
              <a:t>коммитов</a:t>
            </a:r>
            <a:r>
              <a:rPr dirty="0" sz="1650" spc="-7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4">
                <a:solidFill>
                  <a:srgbClr val="292C3C"/>
                </a:solidFill>
                <a:latin typeface="Arial Black"/>
                <a:cs typeface="Arial Black"/>
              </a:rPr>
              <a:t>с</a:t>
            </a:r>
            <a:r>
              <a:rPr dirty="0" sz="1650" spc="-9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60">
                <a:solidFill>
                  <a:srgbClr val="292C3C"/>
                </a:solidFill>
                <a:latin typeface="Arial Black"/>
                <a:cs typeface="Arial Black"/>
              </a:rPr>
              <a:t>помощью</a:t>
            </a:r>
            <a:r>
              <a:rPr dirty="0" sz="1650" spc="-7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 b="1" i="1">
                <a:solidFill>
                  <a:srgbClr val="292C3C"/>
                </a:solidFill>
                <a:latin typeface="Trebuchet MS"/>
                <a:cs typeface="Trebuchet MS"/>
              </a:rPr>
              <a:t>PGP</a:t>
            </a:r>
            <a:endParaRPr sz="1650">
              <a:latin typeface="Trebuchet MS"/>
              <a:cs typeface="Trebuchet MS"/>
            </a:endParaRPr>
          </a:p>
          <a:p>
            <a:pPr marL="469900" indent="-228600">
              <a:lnSpc>
                <a:spcPct val="100000"/>
              </a:lnSpc>
              <a:spcBef>
                <a:spcPts val="16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Как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настроить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5">
                <a:solidFill>
                  <a:srgbClr val="202429"/>
                </a:solidFill>
                <a:latin typeface="Microsoft Sans Serif"/>
                <a:cs typeface="Microsoft Sans Serif"/>
              </a:rPr>
              <a:t>PGP-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подпись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помощью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gpg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Общая</a:t>
            </a:r>
            <a:r>
              <a:rPr dirty="0" sz="120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Microsoft Sans Serif"/>
                <a:cs typeface="Microsoft Sans Serif"/>
              </a:rPr>
              <a:t>информация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Коммиты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имеют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следующие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свойства:</a:t>
            </a:r>
            <a:endParaRPr sz="1050">
              <a:latin typeface="Microsoft Sans Serif"/>
              <a:cs typeface="Microsoft Sans Serif"/>
            </a:endParaRPr>
          </a:p>
          <a:p>
            <a:pPr lvl="1" marL="927100" marR="590550" indent="-228600">
              <a:lnSpc>
                <a:spcPct val="113300"/>
              </a:lnSpc>
              <a:spcBef>
                <a:spcPts val="1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author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(автор)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контрибьютор,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выполнивший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работу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(указывается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для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справки);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committer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(коммитер)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пользователь,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который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закоммитил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изменения.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6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Эти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свойства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переопределить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совершении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коммита.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Авторство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коммита</a:t>
            </a:r>
            <a:r>
              <a:rPr dirty="0" sz="105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подделать.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есть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функция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подписи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8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подписывания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используется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технология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0">
                <a:solidFill>
                  <a:srgbClr val="202429"/>
                </a:solidFill>
                <a:latin typeface="Microsoft Sans Serif"/>
                <a:cs typeface="Microsoft Sans Serif"/>
              </a:rPr>
              <a:t>PGP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(см.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Работа</a:t>
            </a:r>
            <a:r>
              <a:rPr dirty="0" u="sng" sz="1050" spc="114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с</a:t>
            </a:r>
            <a:r>
              <a:rPr dirty="0" u="sng" sz="1050" spc="9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PGP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).</a:t>
            </a:r>
            <a:endParaRPr sz="1050">
              <a:latin typeface="Microsoft Sans Serif"/>
              <a:cs typeface="Microsoft Sans Serif"/>
            </a:endParaRPr>
          </a:p>
          <a:p>
            <a:pPr marL="469900" marR="644525" indent="-228600">
              <a:lnSpc>
                <a:spcPts val="1440"/>
              </a:lnSpc>
              <a:spcBef>
                <a:spcPts val="6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Подпись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коммита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позволяет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удостовериться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том,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кто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является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коммитером.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Авторство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проверяется.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20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30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Генерируем</a:t>
            </a:r>
            <a:r>
              <a:rPr dirty="0" sz="1050" spc="2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</a:t>
            </a:r>
            <a:r>
              <a:rPr dirty="0" sz="1000" spc="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--full-generate-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key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Из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предложенных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опций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выбираем: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тип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Trebuchet MS"/>
                <a:cs typeface="Trebuchet MS"/>
              </a:rPr>
              <a:t>RSA</a:t>
            </a:r>
            <a:r>
              <a:rPr dirty="0" sz="1050" spc="-2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and</a:t>
            </a:r>
            <a:r>
              <a:rPr dirty="0" sz="1050" spc="-1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Trebuchet MS"/>
                <a:cs typeface="Trebuchet MS"/>
              </a:rPr>
              <a:t>RSA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;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4096;</a:t>
            </a:r>
            <a:endParaRPr sz="1050">
              <a:latin typeface="Microsoft Sans Serif"/>
              <a:cs typeface="Microsoft Sans Serif"/>
            </a:endParaRPr>
          </a:p>
          <a:p>
            <a:pPr lvl="1" marL="927100" marR="541020" indent="-228600">
              <a:lnSpc>
                <a:spcPts val="1440"/>
              </a:lnSpc>
              <a:spcBef>
                <a:spcPts val="6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срок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действия;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значение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0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(срок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действия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не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истекает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никогда).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9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-55">
                <a:solidFill>
                  <a:srgbClr val="202429"/>
                </a:solidFill>
                <a:latin typeface="Microsoft Sans Serif"/>
                <a:cs typeface="Microsoft Sans Serif"/>
              </a:rPr>
              <a:t>GPG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запросит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личную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информацию,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которая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сохранится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ключе: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6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(не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менее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5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символов).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Адрес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электронной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почты.</a:t>
            </a:r>
            <a:endParaRPr sz="1050">
              <a:latin typeface="Microsoft Sans Serif"/>
              <a:cs typeface="Microsoft Sans Serif"/>
            </a:endParaRPr>
          </a:p>
          <a:p>
            <a:pPr lvl="2" marL="1384300" marR="92710" indent="-228600">
              <a:lnSpc>
                <a:spcPts val="1430"/>
              </a:lnSpc>
              <a:spcBef>
                <a:spcPts val="75"/>
              </a:spcBef>
              <a:buSzPct val="95238"/>
              <a:buFont typeface="Wingdings"/>
              <a:buChar char=""/>
              <a:tabLst>
                <a:tab pos="1384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вводе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email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убедитесь,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он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соответствует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адресу,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используемому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GitHub.</a:t>
            </a:r>
            <a:endParaRPr sz="1050">
              <a:latin typeface="Microsoft Sans Serif"/>
              <a:cs typeface="Microsoft Sans Serif"/>
            </a:endParaRPr>
          </a:p>
          <a:p>
            <a:pPr lvl="1" marL="927100" indent="-228600">
              <a:lnSpc>
                <a:spcPct val="100000"/>
              </a:lnSpc>
              <a:spcBef>
                <a:spcPts val="9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Комментарий.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ввести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угодно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нажать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клавишу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ввода,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чтобы</a:t>
            </a:r>
            <a:endParaRPr sz="105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195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оставить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поле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пустым.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Экспорт</a:t>
            </a:r>
            <a:r>
              <a:rPr dirty="0" sz="120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3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Выводим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список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ключей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копируем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отпечаток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приватного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--list-secret-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keys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--keyid-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format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LONG</a:t>
            </a:r>
            <a:endParaRPr sz="1000">
              <a:latin typeface="Consolas"/>
              <a:cs typeface="Consolas"/>
            </a:endParaRPr>
          </a:p>
          <a:p>
            <a:pPr marL="469900" marR="5080" indent="-228600">
              <a:lnSpc>
                <a:spcPts val="1430"/>
              </a:lnSpc>
              <a:spcBef>
                <a:spcPts val="2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Отпечаток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последовательность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байтов,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используемая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идентификации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более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длинного,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сравнению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самим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отпечатком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9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Формат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строки: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890269" algn="l"/>
              </a:tabLst>
            </a:pP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sec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	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Алгоритм/Отпечаток_ключа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Дата_создания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[Флаги]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[Годен_до]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703784"/>
            <a:ext cx="6266815" cy="398970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890269" indent="-648970">
              <a:lnSpc>
                <a:spcPct val="100000"/>
              </a:lnSpc>
              <a:spcBef>
                <a:spcPts val="200"/>
              </a:spcBef>
              <a:buFont typeface="Symbol"/>
              <a:buChar char=""/>
              <a:tabLst>
                <a:tab pos="890269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ID_ключа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Экспортируем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формате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202429"/>
                </a:solidFill>
                <a:latin typeface="Microsoft Sans Serif"/>
                <a:cs typeface="Microsoft Sans Serif"/>
              </a:rPr>
              <a:t>ASCII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его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отпечатку: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armor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export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&lt;PGP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Fingerprint&gt;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Добавление</a:t>
            </a:r>
            <a:r>
              <a:rPr dirty="0" sz="120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85">
                <a:solidFill>
                  <a:srgbClr val="202429"/>
                </a:solidFill>
                <a:latin typeface="Microsoft Sans Serif"/>
                <a:cs typeface="Microsoft Sans Serif"/>
              </a:rPr>
              <a:t>PGP</a:t>
            </a:r>
            <a:r>
              <a:rPr dirty="0" sz="120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r>
              <a:rPr dirty="0" sz="120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20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Microsoft Sans Serif"/>
                <a:cs typeface="Microsoft Sans Serif"/>
              </a:rPr>
              <a:t>GitHub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Копируем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добавляем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его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настройках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профиля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GitHub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(или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GitLab).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8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Cкопируйте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ваш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сгенерированный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202429"/>
                </a:solidFill>
                <a:latin typeface="Microsoft Sans Serif"/>
                <a:cs typeface="Microsoft Sans Serif"/>
              </a:rPr>
              <a:t>PGP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буфер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обмена: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armor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export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&lt;PGP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Fingerprint&gt;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xclip</a:t>
            </a:r>
            <a:r>
              <a:rPr dirty="0" sz="1000" spc="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sel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clip</a:t>
            </a:r>
            <a:endParaRPr sz="1000">
              <a:latin typeface="Consolas"/>
              <a:cs typeface="Consolas"/>
            </a:endParaRPr>
          </a:p>
          <a:p>
            <a:pPr marL="469900" marR="26034" indent="-228600">
              <a:lnSpc>
                <a:spcPts val="1440"/>
              </a:lnSpc>
              <a:spcBef>
                <a:spcPts val="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Перейдите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настройки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GitHub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  <a:hlinkClick r:id="rId2"/>
              </a:rPr>
              <a:t>(</a:t>
            </a:r>
            <a:r>
              <a:rPr dirty="0" u="sng" sz="1050" spc="2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https://github.com/settings/keys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),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кнопку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 i="1">
                <a:solidFill>
                  <a:srgbClr val="202429"/>
                </a:solidFill>
                <a:latin typeface="Trebuchet MS"/>
                <a:cs typeface="Trebuchet MS"/>
              </a:rPr>
              <a:t>New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GPG</a:t>
            </a:r>
            <a:r>
              <a:rPr dirty="0" sz="1050" spc="5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-30" i="1">
                <a:solidFill>
                  <a:srgbClr val="202429"/>
                </a:solidFill>
                <a:latin typeface="Trebuchet MS"/>
                <a:cs typeface="Trebuchet MS"/>
              </a:rPr>
              <a:t>key</a:t>
            </a:r>
            <a:r>
              <a:rPr dirty="0" sz="1050" spc="5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вставьте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полученный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поле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ввода.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Подписывание</a:t>
            </a:r>
            <a:r>
              <a:rPr dirty="0" sz="1200" spc="25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</a:t>
            </a:r>
            <a:r>
              <a:rPr dirty="0" sz="1200" spc="25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30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Подпись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работе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через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терминал: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commit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'your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commit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message'</a:t>
            </a:r>
            <a:endParaRPr sz="1000">
              <a:latin typeface="Consolas"/>
              <a:cs typeface="Consolas"/>
            </a:endParaRPr>
          </a:p>
          <a:p>
            <a:pPr marL="469900" marR="5080" indent="-228600">
              <a:lnSpc>
                <a:spcPts val="1440"/>
              </a:lnSpc>
              <a:spcBef>
                <a:spcPts val="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Флаг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S</a:t>
            </a:r>
            <a:r>
              <a:rPr dirty="0" sz="900" spc="-70">
                <a:solidFill>
                  <a:srgbClr val="E83D8B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означает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подписанного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коммита.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этом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может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потребоваться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ввод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кодовой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фразы,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заданной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генерации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60">
                <a:solidFill>
                  <a:srgbClr val="202429"/>
                </a:solidFill>
                <a:latin typeface="Microsoft Sans Serif"/>
                <a:cs typeface="Microsoft Sans Serif"/>
              </a:rPr>
              <a:t>GPG-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</a:t>
            </a:r>
            <a:r>
              <a:rPr dirty="0" sz="1200" spc="2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автоматических</a:t>
            </a:r>
            <a:r>
              <a:rPr dirty="0" sz="120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подписей</a:t>
            </a:r>
            <a:r>
              <a:rPr dirty="0" sz="120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</a:t>
            </a:r>
            <a:r>
              <a:rPr dirty="0" sz="1200" spc="1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30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Используя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введёный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email,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Git применять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его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подписи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user.signingkey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&lt;PGP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Fingerprint&gt;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commit.gpgsign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gpg.program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$(which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gpg2)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4687950"/>
            <a:ext cx="284035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80">
                <a:solidFill>
                  <a:srgbClr val="292C3C"/>
                </a:solidFill>
                <a:latin typeface="Arial Black"/>
                <a:cs typeface="Arial Black"/>
              </a:rPr>
              <a:t>Проверка </a:t>
            </a:r>
            <a:r>
              <a:rPr dirty="0" sz="1650" spc="-25">
                <a:solidFill>
                  <a:srgbClr val="292C3C"/>
                </a:solidFill>
                <a:latin typeface="Arial Black"/>
                <a:cs typeface="Arial Black"/>
              </a:rPr>
              <a:t>коммитов</a:t>
            </a:r>
            <a:r>
              <a:rPr dirty="0" sz="1650" spc="-8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>
                <a:solidFill>
                  <a:srgbClr val="292C3C"/>
                </a:solidFill>
                <a:latin typeface="Arial Black"/>
                <a:cs typeface="Arial Black"/>
              </a:rPr>
              <a:t>в</a:t>
            </a:r>
            <a:r>
              <a:rPr dirty="0" sz="1650" spc="-10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>
                <a:solidFill>
                  <a:srgbClr val="292C3C"/>
                </a:solidFill>
                <a:latin typeface="Arial Black"/>
                <a:cs typeface="Arial Black"/>
              </a:rPr>
              <a:t>Git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7483" y="5146675"/>
            <a:ext cx="6130290" cy="33864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10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GitHub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GitLab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будут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показывать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значок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50" i="1">
                <a:solidFill>
                  <a:srgbClr val="202429"/>
                </a:solidFill>
                <a:latin typeface="Trebuchet MS"/>
                <a:cs typeface="Trebuchet MS"/>
              </a:rPr>
              <a:t>Verified</a:t>
            </a:r>
            <a:r>
              <a:rPr dirty="0" sz="1050" spc="9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рядом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вашими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новыми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коммитами.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Режим</a:t>
            </a:r>
            <a:r>
              <a:rPr dirty="0" sz="120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бдительности</a:t>
            </a:r>
            <a:r>
              <a:rPr dirty="0" sz="120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">
                <a:solidFill>
                  <a:srgbClr val="202429"/>
                </a:solidFill>
                <a:latin typeface="Microsoft Sans Serif"/>
                <a:cs typeface="Microsoft Sans Serif"/>
              </a:rPr>
              <a:t>(vigilant</a:t>
            </a:r>
            <a:r>
              <a:rPr dirty="0" sz="120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202429"/>
                </a:solidFill>
                <a:latin typeface="Microsoft Sans Serif"/>
                <a:cs typeface="Microsoft Sans Serif"/>
              </a:rPr>
              <a:t>mode)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GitHub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есть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3"/>
              </a:rPr>
              <a:t>vigilant</a:t>
            </a:r>
            <a:r>
              <a:rPr dirty="0" u="sng" sz="1050" spc="10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dirty="0" u="sng" sz="1050" spc="-2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3"/>
              </a:rPr>
              <a:t>mode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8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Все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неподписанные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коммиты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будут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явно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помечены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как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Trebuchet MS"/>
                <a:cs typeface="Trebuchet MS"/>
              </a:rPr>
              <a:t>Unverified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marR="290830" indent="-228600">
              <a:lnSpc>
                <a:spcPts val="1440"/>
              </a:lnSpc>
              <a:spcBef>
                <a:spcPts val="6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Включается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настройках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разделе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SSH</a:t>
            </a:r>
            <a:r>
              <a:rPr dirty="0" sz="1050" spc="20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and</a:t>
            </a:r>
            <a:r>
              <a:rPr dirty="0" sz="1050" spc="2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GPG</a:t>
            </a:r>
            <a:r>
              <a:rPr dirty="0" sz="1050" spc="3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Trebuchet MS"/>
                <a:cs typeface="Trebuchet MS"/>
              </a:rPr>
              <a:t>keys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Установите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метку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Trebuchet MS"/>
                <a:cs typeface="Trebuchet MS"/>
              </a:rPr>
              <a:t>Flag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unsigned</a:t>
            </a:r>
            <a:r>
              <a:rPr dirty="0" sz="1050" spc="-40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Trebuchet MS"/>
                <a:cs typeface="Trebuchet MS"/>
              </a:rPr>
              <a:t>commits</a:t>
            </a:r>
            <a:r>
              <a:rPr dirty="0" sz="1050" spc="-40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as</a:t>
            </a:r>
            <a:r>
              <a:rPr dirty="0" sz="1050" spc="-3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Trebuchet MS"/>
                <a:cs typeface="Trebuchet MS"/>
              </a:rPr>
              <a:t>unverified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solidFill>
                  <a:srgbClr val="202429"/>
                </a:solidFill>
                <a:latin typeface="Arial Black"/>
                <a:cs typeface="Arial Black"/>
              </a:rPr>
              <a:t>Задание</a:t>
            </a:r>
            <a:endParaRPr sz="2400">
              <a:latin typeface="Arial Black"/>
              <a:cs typeface="Arial Black"/>
            </a:endParaRPr>
          </a:p>
          <a:p>
            <a:pPr marL="469900" indent="-228600">
              <a:lnSpc>
                <a:spcPct val="100000"/>
              </a:lnSpc>
              <a:spcBef>
                <a:spcPts val="195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Создать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базовую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конфигурацию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git.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Создать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Trebuchet MS"/>
                <a:cs typeface="Trebuchet MS"/>
              </a:rPr>
              <a:t>SSH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Создать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Trebuchet MS"/>
                <a:cs typeface="Trebuchet MS"/>
              </a:rPr>
              <a:t>PGP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7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Настроить</a:t>
            </a:r>
            <a:r>
              <a:rPr dirty="0" sz="1050" spc="2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подписи</a:t>
            </a:r>
            <a:r>
              <a:rPr dirty="0" sz="1050" spc="25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git.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6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Зарегистрироваться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Trebuchet MS"/>
                <a:cs typeface="Trebuchet MS"/>
              </a:rPr>
              <a:t>Github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8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Создать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локальный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выполнения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заданий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предмету.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7483" y="654557"/>
            <a:ext cx="5479415" cy="92201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22600"/>
              </a:lnSpc>
              <a:spcBef>
                <a:spcPts val="100"/>
              </a:spcBef>
            </a:pPr>
            <a:r>
              <a:rPr dirty="0" spc="-130">
                <a:latin typeface="Arial Black"/>
                <a:cs typeface="Arial Black"/>
              </a:rPr>
              <a:t>Последовательность</a:t>
            </a:r>
            <a:r>
              <a:rPr dirty="0" spc="-85">
                <a:latin typeface="Arial Black"/>
                <a:cs typeface="Arial Black"/>
              </a:rPr>
              <a:t> </a:t>
            </a:r>
            <a:r>
              <a:rPr dirty="0" spc="-75">
                <a:latin typeface="Arial Black"/>
                <a:cs typeface="Arial Black"/>
              </a:rPr>
              <a:t>выполнения </a:t>
            </a:r>
            <a:r>
              <a:rPr dirty="0" spc="-10">
                <a:latin typeface="Arial Black"/>
                <a:cs typeface="Arial Black"/>
              </a:rPr>
              <a:t>работы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1625853"/>
            <a:ext cx="4318000" cy="6426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75">
                <a:solidFill>
                  <a:srgbClr val="292C3C"/>
                </a:solidFill>
                <a:latin typeface="Arial Black"/>
                <a:cs typeface="Arial Black"/>
              </a:rPr>
              <a:t>Установка </a:t>
            </a:r>
            <a:r>
              <a:rPr dirty="0" sz="1650" spc="-70">
                <a:solidFill>
                  <a:srgbClr val="292C3C"/>
                </a:solidFill>
                <a:latin typeface="Arial Black"/>
                <a:cs typeface="Arial Black"/>
              </a:rPr>
              <a:t>программного</a:t>
            </a:r>
            <a:r>
              <a:rPr dirty="0" sz="1650" spc="-7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70">
                <a:solidFill>
                  <a:srgbClr val="292C3C"/>
                </a:solidFill>
                <a:latin typeface="Arial Black"/>
                <a:cs typeface="Arial Black"/>
              </a:rPr>
              <a:t>обеспечения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Установка</a:t>
            </a:r>
            <a:r>
              <a:rPr dirty="0" sz="120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7483" y="2267509"/>
            <a:ext cx="1531620" cy="9334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2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Установим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Trebuchet MS"/>
                <a:cs typeface="Trebuchet MS"/>
              </a:rPr>
              <a:t>git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git</a:t>
            </a:r>
            <a:endParaRPr sz="1000">
              <a:latin typeface="Consolas"/>
              <a:cs typeface="Consolas"/>
            </a:endParaRPr>
          </a:p>
          <a:p>
            <a:pPr algn="r" marR="53086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Установка</a:t>
            </a:r>
            <a:r>
              <a:rPr dirty="0" sz="120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5">
                <a:solidFill>
                  <a:srgbClr val="202429"/>
                </a:solidFill>
                <a:latin typeface="Microsoft Sans Serif"/>
                <a:cs typeface="Microsoft Sans Serif"/>
              </a:rPr>
              <a:t>gh</a:t>
            </a:r>
            <a:endParaRPr sz="1200">
              <a:latin typeface="Microsoft Sans Serif"/>
              <a:cs typeface="Microsoft Sans Serif"/>
            </a:endParaRPr>
          </a:p>
          <a:p>
            <a:pPr algn="r" marL="227965" marR="581660" indent="-227965">
              <a:lnSpc>
                <a:spcPct val="100000"/>
              </a:lnSpc>
              <a:spcBef>
                <a:spcPts val="305"/>
              </a:spcBef>
              <a:buSzPct val="95238"/>
              <a:buFont typeface="Symbol"/>
              <a:buChar char=""/>
              <a:tabLst>
                <a:tab pos="227965" algn="l"/>
              </a:tabLst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Fedora: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dnf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install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gh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7483" y="3195954"/>
            <a:ext cx="245808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20">
                <a:solidFill>
                  <a:srgbClr val="292C3C"/>
                </a:solidFill>
                <a:latin typeface="Arial Black"/>
                <a:cs typeface="Arial Black"/>
              </a:rPr>
              <a:t>Базовая</a:t>
            </a:r>
            <a:r>
              <a:rPr dirty="0" sz="1650" spc="-85">
                <a:solidFill>
                  <a:srgbClr val="292C3C"/>
                </a:solidFill>
                <a:latin typeface="Arial Black"/>
                <a:cs typeface="Arial Black"/>
              </a:rPr>
              <a:t> настройка</a:t>
            </a:r>
            <a:r>
              <a:rPr dirty="0" sz="1650" spc="-6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>
                <a:solidFill>
                  <a:srgbClr val="292C3C"/>
                </a:solidFill>
                <a:latin typeface="Arial Black"/>
                <a:cs typeface="Arial Black"/>
              </a:rPr>
              <a:t>git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6388" y="3612058"/>
            <a:ext cx="5875020" cy="22548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5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Зададим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email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владельца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репозитория: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user.name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"Name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Surname"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user.email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"work@mail"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Настроим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utf-8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выводе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сообщений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git: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core.quotepath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false</a:t>
            </a:r>
            <a:endParaRPr sz="1000">
              <a:latin typeface="Consolas"/>
              <a:cs typeface="Consolas"/>
            </a:endParaRPr>
          </a:p>
          <a:p>
            <a:pPr marL="241300" marR="5080" indent="-228600">
              <a:lnSpc>
                <a:spcPts val="1430"/>
              </a:lnSpc>
              <a:spcBef>
                <a:spcPts val="25"/>
              </a:spcBef>
              <a:buSzPct val="95238"/>
              <a:buFont typeface="Symbol"/>
              <a:buChar char="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Настройте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верификацию</a:t>
            </a:r>
            <a:r>
              <a:rPr dirty="0" sz="105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подписание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(см.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Верификация</a:t>
            </a:r>
            <a:r>
              <a:rPr dirty="0" u="sng" sz="1050" spc="17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коммитов</a:t>
            </a:r>
            <a:r>
              <a:rPr dirty="0" u="sng" sz="1050" spc="17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git</a:t>
            </a:r>
            <a:r>
              <a:rPr dirty="0" u="sng" sz="1050" spc="14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1050" spc="-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с</a:t>
            </a:r>
            <a:r>
              <a:rPr dirty="0" sz="1050" spc="-50">
                <a:solidFill>
                  <a:srgbClr val="0079C1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 spc="5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помощью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GPG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).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90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Зададим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начальной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ветки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(будем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называть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её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master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):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6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init.defaultBranch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master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Параметр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autocrlf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core.autocrlf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input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Параметр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safecrlf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core.safecrlf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warn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7483" y="5861684"/>
            <a:ext cx="223456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95">
                <a:solidFill>
                  <a:srgbClr val="292C3C"/>
                </a:solidFill>
                <a:latin typeface="Arial Black"/>
                <a:cs typeface="Arial Black"/>
              </a:rPr>
              <a:t>Создайте </a:t>
            </a:r>
            <a:r>
              <a:rPr dirty="0" sz="1650" spc="-70">
                <a:solidFill>
                  <a:srgbClr val="292C3C"/>
                </a:solidFill>
                <a:latin typeface="Arial Black"/>
                <a:cs typeface="Arial Black"/>
              </a:rPr>
              <a:t>ключи</a:t>
            </a:r>
            <a:r>
              <a:rPr dirty="0" sz="1650" spc="-8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 b="1" i="1">
                <a:solidFill>
                  <a:srgbClr val="292C3C"/>
                </a:solidFill>
                <a:latin typeface="Trebuchet MS"/>
                <a:cs typeface="Trebuchet MS"/>
              </a:rPr>
              <a:t>ssh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26388" y="6279312"/>
            <a:ext cx="3320415" cy="70802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5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алгоритму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rsa</a:t>
            </a:r>
            <a:r>
              <a:rPr dirty="0" sz="1050" spc="3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ключём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размером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4096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бит: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ssh-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keygen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rsa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b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4096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алгоритму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 i="1">
                <a:solidFill>
                  <a:srgbClr val="202429"/>
                </a:solidFill>
                <a:latin typeface="Trebuchet MS"/>
                <a:cs typeface="Trebuchet MS"/>
              </a:rPr>
              <a:t>ed25519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ssh-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keygen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ed25519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7483" y="6981825"/>
            <a:ext cx="227203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95">
                <a:solidFill>
                  <a:srgbClr val="292C3C"/>
                </a:solidFill>
                <a:latin typeface="Arial Black"/>
                <a:cs typeface="Arial Black"/>
              </a:rPr>
              <a:t>Создайте </a:t>
            </a:r>
            <a:r>
              <a:rPr dirty="0" sz="1650" spc="-70">
                <a:solidFill>
                  <a:srgbClr val="292C3C"/>
                </a:solidFill>
                <a:latin typeface="Arial Black"/>
                <a:cs typeface="Arial Black"/>
              </a:rPr>
              <a:t>ключи</a:t>
            </a:r>
            <a:r>
              <a:rPr dirty="0" sz="1650" spc="-8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 b="1" i="1">
                <a:solidFill>
                  <a:srgbClr val="292C3C"/>
                </a:solidFill>
                <a:latin typeface="Trebuchet MS"/>
                <a:cs typeface="Trebuchet MS"/>
              </a:rPr>
              <a:t>pgp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26388" y="7401067"/>
            <a:ext cx="5911215" cy="217551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Генерируем</a:t>
            </a:r>
            <a:r>
              <a:rPr dirty="0" sz="1050" spc="2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</a:t>
            </a:r>
            <a:r>
              <a:rPr dirty="0" sz="1000" spc="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--full-generate-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key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Из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предложенных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опций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выбираем:</a:t>
            </a:r>
            <a:endParaRPr sz="1050">
              <a:latin typeface="Microsoft Sans Serif"/>
              <a:cs typeface="Microsoft Sans Serif"/>
            </a:endParaRPr>
          </a:p>
          <a:p>
            <a:pPr lvl="1" marL="697865" indent="-228600">
              <a:lnSpc>
                <a:spcPct val="100000"/>
              </a:lnSpc>
              <a:spcBef>
                <a:spcPts val="185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тип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Trebuchet MS"/>
                <a:cs typeface="Trebuchet MS"/>
              </a:rPr>
              <a:t>RSA</a:t>
            </a:r>
            <a:r>
              <a:rPr dirty="0" sz="1050" spc="-2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and</a:t>
            </a:r>
            <a:r>
              <a:rPr dirty="0" sz="1050" spc="-1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-20" i="1">
                <a:solidFill>
                  <a:srgbClr val="202429"/>
                </a:solidFill>
                <a:latin typeface="Trebuchet MS"/>
                <a:cs typeface="Trebuchet MS"/>
              </a:rPr>
              <a:t>RSA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;</a:t>
            </a:r>
            <a:endParaRPr sz="1050">
              <a:latin typeface="Microsoft Sans Serif"/>
              <a:cs typeface="Microsoft Sans Serif"/>
            </a:endParaRPr>
          </a:p>
          <a:p>
            <a:pPr lvl="1" marL="697865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размер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4096;</a:t>
            </a:r>
            <a:endParaRPr sz="1050">
              <a:latin typeface="Microsoft Sans Serif"/>
              <a:cs typeface="Microsoft Sans Serif"/>
            </a:endParaRPr>
          </a:p>
          <a:p>
            <a:pPr lvl="1" marL="697865" marR="452120" indent="-228600">
              <a:lnSpc>
                <a:spcPct val="113300"/>
              </a:lnSpc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выберите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срок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действия;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значение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умолчанию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0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(срок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действия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не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истекает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никогда).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65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 spc="-55">
                <a:solidFill>
                  <a:srgbClr val="202429"/>
                </a:solidFill>
                <a:latin typeface="Microsoft Sans Serif"/>
                <a:cs typeface="Microsoft Sans Serif"/>
              </a:rPr>
              <a:t>GPG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запросит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личную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информацию,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которая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сохранится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ключе:</a:t>
            </a:r>
            <a:endParaRPr sz="1050">
              <a:latin typeface="Microsoft Sans Serif"/>
              <a:cs typeface="Microsoft Sans Serif"/>
            </a:endParaRPr>
          </a:p>
          <a:p>
            <a:pPr lvl="1" marL="697865" indent="-228600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Имя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(не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менее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5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символов).</a:t>
            </a:r>
            <a:endParaRPr sz="1050">
              <a:latin typeface="Microsoft Sans Serif"/>
              <a:cs typeface="Microsoft Sans Serif"/>
            </a:endParaRPr>
          </a:p>
          <a:p>
            <a:pPr lvl="1" marL="697865" indent="-228600">
              <a:lnSpc>
                <a:spcPct val="100000"/>
              </a:lnSpc>
              <a:spcBef>
                <a:spcPts val="18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Адрес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электронной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почты.</a:t>
            </a:r>
            <a:endParaRPr sz="1050">
              <a:latin typeface="Microsoft Sans Serif"/>
              <a:cs typeface="Microsoft Sans Serif"/>
            </a:endParaRPr>
          </a:p>
          <a:p>
            <a:pPr lvl="2" marL="1155065" marR="5080" indent="-228600">
              <a:lnSpc>
                <a:spcPct val="113300"/>
              </a:lnSpc>
              <a:buSzPct val="95238"/>
              <a:buFont typeface="Wingdings"/>
              <a:buChar char=""/>
              <a:tabLst>
                <a:tab pos="11550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вводе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email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убедитесь,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он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соответствует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адресу,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используемому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GitHub.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701445"/>
            <a:ext cx="5871210" cy="1395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27100" marR="5080" indent="-228600">
              <a:lnSpc>
                <a:spcPct val="114300"/>
              </a:lnSpc>
              <a:spcBef>
                <a:spcPts val="95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Комментарий.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ввести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угодно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нажать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клавишу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ввода,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чтобы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оставить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поле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пустым.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50" spc="-85">
                <a:solidFill>
                  <a:srgbClr val="292C3C"/>
                </a:solidFill>
                <a:latin typeface="Arial Black"/>
                <a:cs typeface="Arial Black"/>
              </a:rPr>
              <a:t>Настройка</a:t>
            </a:r>
            <a:r>
              <a:rPr dirty="0" sz="1650" spc="-6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292C3C"/>
                </a:solidFill>
                <a:latin typeface="Arial Black"/>
                <a:cs typeface="Arial Black"/>
              </a:rPr>
              <a:t>github</a:t>
            </a:r>
            <a:endParaRPr sz="1650">
              <a:latin typeface="Arial Black"/>
              <a:cs typeface="Arial Black"/>
            </a:endParaRPr>
          </a:p>
          <a:p>
            <a:pPr marL="469900" indent="-228600">
              <a:lnSpc>
                <a:spcPct val="100000"/>
              </a:lnSpc>
              <a:spcBef>
                <a:spcPts val="16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Создайте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учётную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запись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https://github.com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  <a:hlinkClick r:id="rId2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8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Заполните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основные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данные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2"/>
              </a:rPr>
              <a:t>https://github.com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2275078"/>
            <a:ext cx="3596004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95">
                <a:solidFill>
                  <a:srgbClr val="292C3C"/>
                </a:solidFill>
                <a:latin typeface="Arial Black"/>
                <a:cs typeface="Arial Black"/>
              </a:rPr>
              <a:t>Добавление </a:t>
            </a:r>
            <a:r>
              <a:rPr dirty="0" sz="1650" spc="-170">
                <a:solidFill>
                  <a:srgbClr val="292C3C"/>
                </a:solidFill>
                <a:latin typeface="Arial Black"/>
                <a:cs typeface="Arial Black"/>
              </a:rPr>
              <a:t>PGP</a:t>
            </a:r>
            <a:r>
              <a:rPr dirty="0" sz="1650" spc="-8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100">
                <a:solidFill>
                  <a:srgbClr val="292C3C"/>
                </a:solidFill>
                <a:latin typeface="Arial Black"/>
                <a:cs typeface="Arial Black"/>
              </a:rPr>
              <a:t>ключа</a:t>
            </a:r>
            <a:r>
              <a:rPr dirty="0" sz="1650" spc="-8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>
                <a:solidFill>
                  <a:srgbClr val="292C3C"/>
                </a:solidFill>
                <a:latin typeface="Arial Black"/>
                <a:cs typeface="Arial Black"/>
              </a:rPr>
              <a:t>в</a:t>
            </a:r>
            <a:r>
              <a:rPr dirty="0" sz="1650" spc="-10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35">
                <a:solidFill>
                  <a:srgbClr val="292C3C"/>
                </a:solidFill>
                <a:latin typeface="Arial Black"/>
                <a:cs typeface="Arial Black"/>
              </a:rPr>
              <a:t>GitHub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388" y="2691180"/>
            <a:ext cx="6016625" cy="193167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5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Выводим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список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ключей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копируем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отпечаток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приватного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--list-secret-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keys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--keyid-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format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LONG</a:t>
            </a:r>
            <a:endParaRPr sz="1000">
              <a:latin typeface="Consolas"/>
              <a:cs typeface="Consolas"/>
            </a:endParaRPr>
          </a:p>
          <a:p>
            <a:pPr marL="241300" marR="20955" indent="-228600">
              <a:lnSpc>
                <a:spcPts val="1430"/>
              </a:lnSpc>
              <a:spcBef>
                <a:spcPts val="25"/>
              </a:spcBef>
              <a:buSzPct val="95238"/>
              <a:buFont typeface="Symbol"/>
              <a:buChar char=""/>
              <a:tabLst>
                <a:tab pos="2413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Отпечаток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ключа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последовательность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байтов,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используемая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идентификации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более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длинного,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по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сравнению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самим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отпечатком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ключа.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05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Формат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строки: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661670" algn="l"/>
              </a:tabLst>
            </a:pP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sec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	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Алгоритм/Отпечаток_ключа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Дата_создания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[Флаги]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[Годен_до]</a:t>
            </a:r>
            <a:endParaRPr sz="1000">
              <a:latin typeface="Consolas"/>
              <a:cs typeface="Consolas"/>
            </a:endParaRPr>
          </a:p>
          <a:p>
            <a:pPr marL="661670" indent="-648970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661670" algn="l"/>
              </a:tabLst>
            </a:pP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ID_ключа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120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Cкопируйте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ваш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сгенерированный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75">
                <a:solidFill>
                  <a:srgbClr val="202429"/>
                </a:solidFill>
                <a:latin typeface="Microsoft Sans Serif"/>
                <a:cs typeface="Microsoft Sans Serif"/>
              </a:rPr>
              <a:t>PGP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буфер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обмена: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armor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export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&lt;PGP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Fingerprint&gt;</a:t>
            </a:r>
            <a:r>
              <a:rPr dirty="0" sz="1000" spc="-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|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xclip</a:t>
            </a:r>
            <a:r>
              <a:rPr dirty="0" sz="1000" spc="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sel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clip</a:t>
            </a:r>
            <a:endParaRPr sz="1000">
              <a:latin typeface="Consolas"/>
              <a:cs typeface="Consolas"/>
            </a:endParaRPr>
          </a:p>
          <a:p>
            <a:pPr marL="241300" marR="5080" indent="-228600">
              <a:lnSpc>
                <a:spcPts val="1440"/>
              </a:lnSpc>
              <a:spcBef>
                <a:spcPts val="15"/>
              </a:spcBef>
              <a:buSzPct val="95238"/>
              <a:buFont typeface="Symbol"/>
              <a:buChar char=""/>
              <a:tabLst>
                <a:tab pos="2413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Перейдите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настройки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GitHub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  <a:hlinkClick r:id="rId3"/>
              </a:rPr>
              <a:t>(</a:t>
            </a:r>
            <a:r>
              <a:rPr dirty="0" u="sng" sz="1050" spc="2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3"/>
              </a:rPr>
              <a:t>https://github.com/settings/keys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),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нажмите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кнопку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 i="1">
                <a:solidFill>
                  <a:srgbClr val="202429"/>
                </a:solidFill>
                <a:latin typeface="Trebuchet MS"/>
                <a:cs typeface="Trebuchet MS"/>
              </a:rPr>
              <a:t>New </a:t>
            </a:r>
            <a:r>
              <a:rPr dirty="0" sz="1050" i="1">
                <a:solidFill>
                  <a:srgbClr val="202429"/>
                </a:solidFill>
                <a:latin typeface="Trebuchet MS"/>
                <a:cs typeface="Trebuchet MS"/>
              </a:rPr>
              <a:t>GPG</a:t>
            </a:r>
            <a:r>
              <a:rPr dirty="0" sz="1050" spc="5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-30" i="1">
                <a:solidFill>
                  <a:srgbClr val="202429"/>
                </a:solidFill>
                <a:latin typeface="Trebuchet MS"/>
                <a:cs typeface="Trebuchet MS"/>
              </a:rPr>
              <a:t>key</a:t>
            </a:r>
            <a:r>
              <a:rPr dirty="0" sz="1050" spc="55" i="1">
                <a:solidFill>
                  <a:srgbClr val="202429"/>
                </a:solidFill>
                <a:latin typeface="Trebuchet MS"/>
                <a:cs typeface="Trebuchet MS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вставьте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полученный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ключ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поле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ввода.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97483" y="4800726"/>
            <a:ext cx="576516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85">
                <a:solidFill>
                  <a:srgbClr val="292C3C"/>
                </a:solidFill>
                <a:latin typeface="Arial Black"/>
                <a:cs typeface="Arial Black"/>
              </a:rPr>
              <a:t>Настройка</a:t>
            </a:r>
            <a:r>
              <a:rPr dirty="0" sz="1650" spc="-5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60">
                <a:solidFill>
                  <a:srgbClr val="292C3C"/>
                </a:solidFill>
                <a:latin typeface="Arial Black"/>
                <a:cs typeface="Arial Black"/>
              </a:rPr>
              <a:t>автоматических</a:t>
            </a:r>
            <a:r>
              <a:rPr dirty="0" sz="1650" spc="-5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75">
                <a:solidFill>
                  <a:srgbClr val="292C3C"/>
                </a:solidFill>
                <a:latin typeface="Arial Black"/>
                <a:cs typeface="Arial Black"/>
              </a:rPr>
              <a:t>подписей</a:t>
            </a:r>
            <a:r>
              <a:rPr dirty="0" sz="1650" spc="-6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>
                <a:solidFill>
                  <a:srgbClr val="292C3C"/>
                </a:solidFill>
                <a:latin typeface="Arial Black"/>
                <a:cs typeface="Arial Black"/>
              </a:rPr>
              <a:t>коммитов</a:t>
            </a:r>
            <a:r>
              <a:rPr dirty="0" sz="1650" spc="-5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25">
                <a:solidFill>
                  <a:srgbClr val="292C3C"/>
                </a:solidFill>
                <a:latin typeface="Arial Black"/>
                <a:cs typeface="Arial Black"/>
              </a:rPr>
              <a:t>git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6388" y="5216830"/>
            <a:ext cx="5408930" cy="68834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25"/>
              </a:spcBef>
              <a:buSzPct val="95238"/>
              <a:buFont typeface="Symbol"/>
              <a:buChar char="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Используя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введёный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email,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укажите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Git применять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его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подписи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коммитов:</a:t>
            </a: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user.signingkey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&lt;PGP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Fingerprint&gt;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commit.gpgsign</a:t>
            </a:r>
            <a:r>
              <a:rPr dirty="0" sz="1000" spc="-5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true</a:t>
            </a:r>
            <a:endParaRPr sz="1000">
              <a:latin typeface="Consolas"/>
              <a:cs typeface="Consolas"/>
            </a:endParaRPr>
          </a:p>
          <a:p>
            <a:pPr marL="240665" indent="-227965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config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global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gpg.program</a:t>
            </a:r>
            <a:r>
              <a:rPr dirty="0" sz="1000" spc="-4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$(which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gpg2)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97483" y="5899784"/>
            <a:ext cx="151701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85">
                <a:solidFill>
                  <a:srgbClr val="292C3C"/>
                </a:solidFill>
                <a:latin typeface="Arial Black"/>
                <a:cs typeface="Arial Black"/>
              </a:rPr>
              <a:t>Настройка</a:t>
            </a:r>
            <a:r>
              <a:rPr dirty="0" sz="1650" spc="-6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40">
                <a:solidFill>
                  <a:srgbClr val="292C3C"/>
                </a:solidFill>
                <a:latin typeface="Arial Black"/>
                <a:cs typeface="Arial Black"/>
              </a:rPr>
              <a:t>gh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97483" y="6315888"/>
            <a:ext cx="5997575" cy="335978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2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-3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начала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необходимо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авторизоваться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gh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auth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login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Утилита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задаст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несколько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наводящих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вопросов.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8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Авторизоваться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через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броузер.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650" spc="-100">
                <a:solidFill>
                  <a:srgbClr val="292C3C"/>
                </a:solidFill>
                <a:latin typeface="Arial Black"/>
                <a:cs typeface="Arial Black"/>
              </a:rPr>
              <a:t>Шаблон</a:t>
            </a:r>
            <a:r>
              <a:rPr dirty="0" sz="1650" spc="-105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55">
                <a:solidFill>
                  <a:srgbClr val="292C3C"/>
                </a:solidFill>
                <a:latin typeface="Arial Black"/>
                <a:cs typeface="Arial Black"/>
              </a:rPr>
              <a:t>для</a:t>
            </a:r>
            <a:r>
              <a:rPr dirty="0" sz="1650" spc="-70">
                <a:solidFill>
                  <a:srgbClr val="292C3C"/>
                </a:solidFill>
                <a:latin typeface="Arial Black"/>
                <a:cs typeface="Arial Black"/>
              </a:rPr>
              <a:t> </a:t>
            </a:r>
            <a:r>
              <a:rPr dirty="0" sz="1650" spc="-90">
                <a:solidFill>
                  <a:srgbClr val="292C3C"/>
                </a:solidFill>
                <a:latin typeface="Arial Black"/>
                <a:cs typeface="Arial Black"/>
              </a:rPr>
              <a:t>рабочего </a:t>
            </a:r>
            <a:r>
              <a:rPr dirty="0" sz="1650" spc="-10">
                <a:solidFill>
                  <a:srgbClr val="292C3C"/>
                </a:solidFill>
                <a:latin typeface="Arial Black"/>
                <a:cs typeface="Arial Black"/>
              </a:rPr>
              <a:t>пространства</a:t>
            </a:r>
            <a:endParaRPr sz="1650">
              <a:latin typeface="Arial Black"/>
              <a:cs typeface="Arial Black"/>
            </a:endParaRPr>
          </a:p>
          <a:p>
            <a:pPr marL="469900" indent="-228600">
              <a:lnSpc>
                <a:spcPct val="100000"/>
              </a:lnSpc>
              <a:spcBef>
                <a:spcPts val="1620"/>
              </a:spcBef>
              <a:buClr>
                <a:srgbClr val="202429"/>
              </a:buClr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u="sng" sz="1050" spc="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Рабочее</a:t>
            </a:r>
            <a:r>
              <a:rPr dirty="0" u="sng" sz="1050" spc="8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dirty="0" u="sng" sz="1050" spc="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пространство</a:t>
            </a:r>
            <a:r>
              <a:rPr dirty="0" u="sng" sz="1050" spc="7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dirty="0" u="sng" sz="1050" spc="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для</a:t>
            </a:r>
            <a:r>
              <a:rPr dirty="0" u="sng" sz="1050" spc="1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dirty="0" u="sng" sz="1050" spc="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лабораторной</a:t>
            </a:r>
            <a:r>
              <a:rPr dirty="0" u="sng" sz="1050" spc="1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работы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8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Репозиторий:</a:t>
            </a:r>
            <a:r>
              <a:rPr dirty="0" sz="1050" spc="325">
                <a:solidFill>
                  <a:srgbClr val="202429"/>
                </a:solidFill>
                <a:latin typeface="Microsoft Sans Serif"/>
                <a:cs typeface="Microsoft Sans Serif"/>
              </a:rPr>
              <a:t>   </a:t>
            </a:r>
            <a:r>
              <a:rPr dirty="0" u="sng" sz="1050" spc="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5"/>
              </a:rPr>
              <a:t>https://github.com/yamadharma/course-directory-student-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5"/>
              </a:rPr>
              <a:t>template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spc="20">
                <a:solidFill>
                  <a:srgbClr val="202429"/>
                </a:solidFill>
                <a:latin typeface="Microsoft Sans Serif"/>
                <a:cs typeface="Microsoft Sans Serif"/>
              </a:rPr>
              <a:t>Сознание</a:t>
            </a:r>
            <a:r>
              <a:rPr dirty="0" sz="120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2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репозитория</a:t>
            </a:r>
            <a:r>
              <a:rPr dirty="0" sz="120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20">
                <a:solidFill>
                  <a:srgbClr val="202429"/>
                </a:solidFill>
                <a:latin typeface="Microsoft Sans Serif"/>
                <a:cs typeface="Microsoft Sans Serif"/>
              </a:rPr>
              <a:t>курса</a:t>
            </a:r>
            <a:r>
              <a:rPr dirty="0" sz="120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2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20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20">
                <a:solidFill>
                  <a:srgbClr val="202429"/>
                </a:solidFill>
                <a:latin typeface="Microsoft Sans Serif"/>
                <a:cs typeface="Microsoft Sans Serif"/>
              </a:rPr>
              <a:t>основе</a:t>
            </a:r>
            <a:r>
              <a:rPr dirty="0" sz="120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202429"/>
                </a:solidFill>
                <a:latin typeface="Microsoft Sans Serif"/>
                <a:cs typeface="Microsoft Sans Serif"/>
              </a:rPr>
              <a:t>шаблона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469900" marR="5080" indent="-228600">
              <a:lnSpc>
                <a:spcPct val="113300"/>
              </a:lnSpc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Необходимо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создать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шаблон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рабочего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пространства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(см.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Рабочее</a:t>
            </a:r>
            <a:r>
              <a:rPr dirty="0" u="sng" sz="1050" spc="16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пространство</a:t>
            </a:r>
            <a:r>
              <a:rPr dirty="0" u="sng" sz="1050" spc="16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dirty="0" u="sng" sz="1050" spc="-2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для</a:t>
            </a:r>
            <a:r>
              <a:rPr dirty="0" sz="1050" spc="-25">
                <a:solidFill>
                  <a:srgbClr val="0079C1"/>
                </a:solidFill>
                <a:latin typeface="Microsoft Sans Serif"/>
                <a:cs typeface="Microsoft Sans Serif"/>
              </a:rPr>
              <a:t> </a:t>
            </a:r>
            <a:r>
              <a:rPr dirty="0" u="sng" sz="1050" spc="2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лабораторной</a:t>
            </a:r>
            <a:r>
              <a:rPr dirty="0" u="sng" sz="1050" spc="13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Microsoft Sans Serif"/>
                <a:cs typeface="Microsoft Sans Serif"/>
                <a:hlinkClick r:id="rId4"/>
              </a:rPr>
              <a:t>работы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).</a:t>
            </a:r>
            <a:endParaRPr sz="1050">
              <a:latin typeface="Microsoft Sans Serif"/>
              <a:cs typeface="Microsoft Sans Serif"/>
            </a:endParaRPr>
          </a:p>
          <a:p>
            <a:pPr marL="469900" marR="31115" indent="-228600">
              <a:lnSpc>
                <a:spcPts val="1440"/>
              </a:lnSpc>
              <a:spcBef>
                <a:spcPts val="65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Например,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2022–2023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учебного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года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предмета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«Операционные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системы»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(код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предмета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5">
                <a:solidFill>
                  <a:srgbClr val="E83D8B"/>
                </a:solidFill>
                <a:latin typeface="Consolas"/>
                <a:cs typeface="Consolas"/>
              </a:rPr>
              <a:t>os-</a:t>
            </a:r>
            <a:r>
              <a:rPr dirty="0" sz="900" spc="-10">
                <a:solidFill>
                  <a:srgbClr val="E83D8B"/>
                </a:solidFill>
                <a:latin typeface="Consolas"/>
                <a:cs typeface="Consolas"/>
              </a:rPr>
              <a:t>intro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)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репозитория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примет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следующий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вид: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mkdir</a:t>
            </a:r>
            <a:r>
              <a:rPr dirty="0" sz="1000" spc="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p</a:t>
            </a:r>
            <a:r>
              <a:rPr dirty="0" sz="1000" spc="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~/work/study/2022-2023/"Операционные</a:t>
            </a:r>
            <a:r>
              <a:rPr dirty="0" sz="1000" spc="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системы"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cd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~/work/study/2022-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2023/"Операционные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системы"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717296"/>
            <a:ext cx="6210300" cy="254317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469900" marR="213360" indent="-228600">
              <a:lnSpc>
                <a:spcPts val="1180"/>
              </a:lnSpc>
              <a:spcBef>
                <a:spcPts val="15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gh</a:t>
            </a:r>
            <a:r>
              <a:rPr dirty="0" sz="1000" spc="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repo</a:t>
            </a:r>
            <a:r>
              <a:rPr dirty="0" sz="1000" spc="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create</a:t>
            </a:r>
            <a:r>
              <a:rPr dirty="0" sz="1000" spc="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study_2022-2023_os-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</a:t>
            </a:r>
            <a:r>
              <a:rPr dirty="0" sz="1000" spc="3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-template=yamadharma/course-directory- student-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template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public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1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clone</a:t>
            </a:r>
            <a:r>
              <a:rPr dirty="0" sz="1000" spc="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recursive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  <a:hlinkClick r:id="rId2"/>
              </a:rPr>
              <a:t>git@github.com: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&lt;owner&gt;/study_2022-2023_os-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intro.git</a:t>
            </a:r>
            <a:r>
              <a:rPr dirty="0" sz="1000" spc="-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os-intro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Настройка</a:t>
            </a:r>
            <a:r>
              <a:rPr dirty="0" sz="120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каталога</a:t>
            </a:r>
            <a:r>
              <a:rPr dirty="0" sz="120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20">
                <a:solidFill>
                  <a:srgbClr val="202429"/>
                </a:solidFill>
                <a:latin typeface="Microsoft Sans Serif"/>
                <a:cs typeface="Microsoft Sans Serif"/>
              </a:rPr>
              <a:t>курса</a:t>
            </a:r>
            <a:endParaRPr sz="120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3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Перейдите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курса: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cd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~/work/study/2022-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2023/"Операционные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системы"/os-intro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Удалите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лишние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файлы: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rm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 package.json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20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Создайте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необходимые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каталоги: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echo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os-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intro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&gt;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COURSE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make</a:t>
            </a:r>
            <a:endParaRPr sz="1000">
              <a:latin typeface="Consolas"/>
              <a:cs typeface="Consolas"/>
            </a:endParaRPr>
          </a:p>
          <a:p>
            <a:pPr marL="469900" indent="-228600">
              <a:lnSpc>
                <a:spcPct val="100000"/>
              </a:lnSpc>
              <a:spcBef>
                <a:spcPts val="114"/>
              </a:spcBef>
              <a:buSzPct val="95238"/>
              <a:buFont typeface="Symbol"/>
              <a:buChar char="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Отправьте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файлы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сервер:</a:t>
            </a:r>
            <a:endParaRPr sz="1050">
              <a:latin typeface="Microsoft Sans Serif"/>
              <a:cs typeface="Microsoft Sans Serif"/>
            </a:endParaRPr>
          </a:p>
          <a:p>
            <a:pPr marL="469900" indent="-228600">
              <a:lnSpc>
                <a:spcPct val="10000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add</a:t>
            </a:r>
            <a:r>
              <a:rPr dirty="0" sz="1000" spc="-2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nsolas"/>
                <a:cs typeface="Consolas"/>
              </a:rPr>
              <a:t>.</a:t>
            </a:r>
            <a:endParaRPr sz="1000">
              <a:latin typeface="Consolas"/>
              <a:cs typeface="Consolas"/>
            </a:endParaRPr>
          </a:p>
          <a:p>
            <a:pPr marL="469900" marR="2244090" indent="-228600">
              <a:lnSpc>
                <a:spcPts val="118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commit</a:t>
            </a:r>
            <a:r>
              <a:rPr dirty="0" sz="1000" spc="-3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-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am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'feat(main):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make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course</a:t>
            </a:r>
            <a:r>
              <a:rPr dirty="0" sz="1000" spc="-40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onsolas"/>
                <a:cs typeface="Consolas"/>
              </a:rPr>
              <a:t>structure' </a:t>
            </a:r>
            <a:r>
              <a:rPr dirty="0" sz="1000">
                <a:solidFill>
                  <a:srgbClr val="202429"/>
                </a:solidFill>
                <a:latin typeface="Consolas"/>
                <a:cs typeface="Consolas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onsolas"/>
                <a:cs typeface="Consolas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onsolas"/>
                <a:cs typeface="Consolas"/>
              </a:rPr>
              <a:t>push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3263010"/>
            <a:ext cx="36537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>
                <a:solidFill>
                  <a:srgbClr val="202429"/>
                </a:solidFill>
                <a:latin typeface="Arial Black"/>
                <a:cs typeface="Arial Black"/>
              </a:rPr>
              <a:t>Контрольные</a:t>
            </a:r>
            <a:r>
              <a:rPr dirty="0" sz="2400" spc="-105">
                <a:solidFill>
                  <a:srgbClr val="202429"/>
                </a:solidFill>
                <a:latin typeface="Arial Black"/>
                <a:cs typeface="Arial Black"/>
              </a:rPr>
              <a:t> </a:t>
            </a:r>
            <a:r>
              <a:rPr dirty="0" sz="2400" spc="-95">
                <a:solidFill>
                  <a:srgbClr val="202429"/>
                </a:solidFill>
                <a:latin typeface="Arial Black"/>
                <a:cs typeface="Arial Black"/>
              </a:rPr>
              <a:t>вопросы</a:t>
            </a:r>
            <a:endParaRPr sz="240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388" y="3853713"/>
            <a:ext cx="5971540" cy="2513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8760" marR="914400" indent="-226060">
              <a:lnSpc>
                <a:spcPct val="114300"/>
              </a:lnSpc>
              <a:spcBef>
                <a:spcPts val="95"/>
              </a:spcBef>
              <a:buAutoNum type="arabicPeriod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такое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системы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контроля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версий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80">
                <a:solidFill>
                  <a:srgbClr val="202429"/>
                </a:solidFill>
                <a:latin typeface="Microsoft Sans Serif"/>
                <a:cs typeface="Microsoft Sans Serif"/>
              </a:rPr>
              <a:t>(VCS)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и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решения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каких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задач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они 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	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предназначаются?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Clr>
                <a:srgbClr val="202429"/>
              </a:buClr>
              <a:buFont typeface="Microsoft Sans Serif"/>
              <a:buAutoNum type="arabicPeriod"/>
            </a:pPr>
            <a:endParaRPr sz="1050">
              <a:latin typeface="Microsoft Sans Serif"/>
              <a:cs typeface="Microsoft Sans Serif"/>
            </a:endParaRPr>
          </a:p>
          <a:p>
            <a:pPr lvl="1" marL="241300" marR="301625" indent="-228600">
              <a:lnSpc>
                <a:spcPct val="142900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Система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контроля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версий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90">
                <a:solidFill>
                  <a:srgbClr val="202429"/>
                </a:solidFill>
                <a:latin typeface="Microsoft Sans Serif"/>
                <a:cs typeface="Microsoft Sans Serif"/>
              </a:rPr>
              <a:t>(VCS)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управления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изменениями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коде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или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документах.</a:t>
            </a:r>
            <a:endParaRPr sz="105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550"/>
              </a:spcBef>
            </a:pP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Задачи: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Сохранение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истории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изменений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(кто,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когда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изменил).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Возможность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отката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любой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предыдущей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версии.</a:t>
            </a:r>
            <a:endParaRPr sz="1050">
              <a:latin typeface="Microsoft Sans Serif"/>
              <a:cs typeface="Microsoft Sans Serif"/>
            </a:endParaRPr>
          </a:p>
          <a:p>
            <a:pPr lvl="1" marL="241300" marR="5080" indent="-228600">
              <a:lnSpc>
                <a:spcPct val="143800"/>
              </a:lnSpc>
              <a:spcBef>
                <a:spcPts val="88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Совместная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работа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нескольких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человек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над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одним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проектом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без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риска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затереть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чужой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код.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6388" y="6874535"/>
            <a:ext cx="5977255" cy="2513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8760" marR="299720" indent="-226060">
              <a:lnSpc>
                <a:spcPct val="114300"/>
              </a:lnSpc>
              <a:spcBef>
                <a:spcPts val="95"/>
              </a:spcBef>
              <a:buAutoNum type="arabicPeriod" startAt="2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Объясните</a:t>
            </a:r>
            <a:r>
              <a:rPr dirty="0" sz="1050" spc="1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следующие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понятия</a:t>
            </a:r>
            <a:r>
              <a:rPr dirty="0" sz="1050" spc="1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14">
                <a:solidFill>
                  <a:srgbClr val="202429"/>
                </a:solidFill>
                <a:latin typeface="Microsoft Sans Serif"/>
                <a:cs typeface="Microsoft Sans Serif"/>
              </a:rPr>
              <a:t>VCS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2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их</a:t>
            </a:r>
            <a:r>
              <a:rPr dirty="0" sz="1050" spc="1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отношения:</a:t>
            </a:r>
            <a:r>
              <a:rPr dirty="0" sz="1050" spc="1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хранилище,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commit,</a:t>
            </a:r>
            <a:r>
              <a:rPr dirty="0" sz="1050" spc="1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история,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	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рабочая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копия.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202429"/>
              </a:buClr>
              <a:buFont typeface="Microsoft Sans Serif"/>
              <a:buAutoNum type="arabicPeriod" startAt="2"/>
            </a:pPr>
            <a:endParaRPr sz="1050">
              <a:latin typeface="Microsoft Sans Serif"/>
              <a:cs typeface="Microsoft Sans Serif"/>
            </a:endParaRPr>
          </a:p>
          <a:p>
            <a:pPr lvl="1" marL="241300" marR="292735" indent="-228600">
              <a:lnSpc>
                <a:spcPct val="143800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Хранилище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(Репозиторий):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база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данных,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где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14">
                <a:solidFill>
                  <a:srgbClr val="202429"/>
                </a:solidFill>
                <a:latin typeface="Microsoft Sans Serif"/>
                <a:cs typeface="Microsoft Sans Serif"/>
              </a:rPr>
              <a:t>VCS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хранит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всю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историю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изменений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и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метаданные.</a:t>
            </a:r>
            <a:endParaRPr sz="1050">
              <a:latin typeface="Microsoft Sans Serif"/>
              <a:cs typeface="Microsoft Sans Serif"/>
            </a:endParaRPr>
          </a:p>
          <a:p>
            <a:pPr lvl="1" marL="241300" marR="5080" indent="-228600">
              <a:lnSpc>
                <a:spcPct val="143800"/>
              </a:lnSpc>
              <a:spcBef>
                <a:spcPts val="88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Рабочая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копия: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текущее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состояние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файлов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проекта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диске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пользователя,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которыми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он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непосредственно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работает.</a:t>
            </a:r>
            <a:endParaRPr sz="1050">
              <a:latin typeface="Microsoft Sans Serif"/>
              <a:cs typeface="Microsoft Sans Serif"/>
            </a:endParaRPr>
          </a:p>
          <a:p>
            <a:pPr lvl="1" marL="241300" marR="229235" indent="-228600">
              <a:lnSpc>
                <a:spcPct val="143800"/>
              </a:lnSpc>
              <a:spcBef>
                <a:spcPts val="875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Commit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(Коммит):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фиксация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изменений.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Снимок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состояния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файлов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определенный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момент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времени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уникальным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ID.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История: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цепочка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коммитов,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позволяющая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проследить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развитие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проекта.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6388" y="701445"/>
            <a:ext cx="5940425" cy="1827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8760" marR="5080" indent="-226060">
              <a:lnSpc>
                <a:spcPct val="114300"/>
              </a:lnSpc>
              <a:spcBef>
                <a:spcPts val="95"/>
              </a:spcBef>
              <a:buAutoNum type="arabicPeriod" startAt="3"/>
              <a:tabLst>
                <a:tab pos="2413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представляют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собой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чем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отличаются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централизованные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децентрализованные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	</a:t>
            </a:r>
            <a:r>
              <a:rPr dirty="0" sz="1050" spc="-120">
                <a:solidFill>
                  <a:srgbClr val="202429"/>
                </a:solidFill>
                <a:latin typeface="Microsoft Sans Serif"/>
                <a:cs typeface="Microsoft Sans Serif"/>
              </a:rPr>
              <a:t>VCS?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Приведите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примеры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14">
                <a:solidFill>
                  <a:srgbClr val="202429"/>
                </a:solidFill>
                <a:latin typeface="Microsoft Sans Serif"/>
                <a:cs typeface="Microsoft Sans Serif"/>
              </a:rPr>
              <a:t>VCS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каждого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вида.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202429"/>
              </a:buClr>
              <a:buFont typeface="Microsoft Sans Serif"/>
              <a:buAutoNum type="arabicPeriod" startAt="3"/>
            </a:pPr>
            <a:endParaRPr sz="1050">
              <a:latin typeface="Microsoft Sans Serif"/>
              <a:cs typeface="Microsoft Sans Serif"/>
            </a:endParaRPr>
          </a:p>
          <a:p>
            <a:pPr lvl="1" marL="241300" marR="78105" indent="-228600">
              <a:lnSpc>
                <a:spcPct val="143300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Центлизованные: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есть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один сервер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 репозиторием.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Пользователи скачивают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только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рабочую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копию.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Если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сервер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недоступен,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история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недоступна.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1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Subversion (SVN).</a:t>
            </a:r>
            <a:endParaRPr sz="1050">
              <a:latin typeface="Microsoft Sans Serif"/>
              <a:cs typeface="Microsoft Sans Serif"/>
            </a:endParaRPr>
          </a:p>
          <a:p>
            <a:pPr lvl="1" marL="241300" marR="44450" indent="-228600">
              <a:lnSpc>
                <a:spcPct val="143800"/>
              </a:lnSpc>
              <a:spcBef>
                <a:spcPts val="88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Децентрализованные: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каждый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пользователь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имеет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полную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копию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всего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репозитория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(включая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всю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историю).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Работа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возможна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без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интернета.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Пример: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Git,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Mercurial.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26388" y="3061461"/>
            <a:ext cx="4580255" cy="1279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5"/>
              </a:spcBef>
              <a:buAutoNum type="arabicPeriod" startAt="4"/>
              <a:tabLst>
                <a:tab pos="23876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Опишите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действия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14">
                <a:solidFill>
                  <a:srgbClr val="202429"/>
                </a:solidFill>
                <a:latin typeface="Microsoft Sans Serif"/>
                <a:cs typeface="Microsoft Sans Serif"/>
              </a:rPr>
              <a:t>VCS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единоличной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работе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хранилищем.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202429"/>
              </a:buClr>
              <a:buFont typeface="Microsoft Sans Serif"/>
              <a:buAutoNum type="arabicPeriod" startAt="4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Инициализация</a:t>
            </a:r>
            <a:r>
              <a:rPr dirty="0" sz="1050" spc="2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репозитория.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Внесение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изменений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файлы.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Индексация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изменений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(подготовка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сохранению).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388" y="4872354"/>
            <a:ext cx="5406390" cy="1622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5"/>
              </a:spcBef>
              <a:buAutoNum type="arabicPeriod" startAt="5"/>
              <a:tabLst>
                <a:tab pos="23876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Опишите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порядок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общим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хранилищем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VCS.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202429"/>
              </a:buClr>
              <a:buFont typeface="Microsoft Sans Serif"/>
              <a:buAutoNum type="arabicPeriod" startAt="5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Клонирование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(или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обновление)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актуальной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версии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из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общего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хранилища.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4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Внесение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локальных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правок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Слияние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(Pull/Fetch)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чужих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изменений,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если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они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появились,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пока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вы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работали.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Отправка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(Push)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своих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коммитов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общее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хранилище.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6388" y="7026020"/>
            <a:ext cx="4980940" cy="1279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5"/>
              </a:spcBef>
              <a:buAutoNum type="arabicPeriod" startAt="6"/>
              <a:tabLst>
                <a:tab pos="23876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Каковы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основные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задачи,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решаемые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инструментальным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средством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git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?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202429"/>
              </a:buClr>
              <a:buFont typeface="Microsoft Sans Serif"/>
              <a:buAutoNum type="arabicPeriod" startAt="6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Обеспечение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целостности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данных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(через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хеширование).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4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Высокая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скорость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локальными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операциями.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Поддержка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нелинейной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разработки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(тысячи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параллельных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веток).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6388" y="8838438"/>
            <a:ext cx="3968115" cy="936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5"/>
              </a:spcBef>
              <a:buAutoNum type="arabicPeriod" startAt="7"/>
              <a:tabLst>
                <a:tab pos="238760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Назовите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дайте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краткую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характеристику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командам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onsolas"/>
                <a:cs typeface="Consolas"/>
              </a:rPr>
              <a:t>git</a:t>
            </a: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202429"/>
              </a:buClr>
              <a:buFont typeface="Microsoft Sans Serif"/>
              <a:buAutoNum type="arabicPeriod" startAt="7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init: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создание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нового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репозитория.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clone: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копирование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удаленного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репозитория.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26388" y="772159"/>
            <a:ext cx="5208270" cy="1558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add: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добавление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файлов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индекс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(stage).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2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commit:</a:t>
            </a:r>
            <a:r>
              <a:rPr dirty="0" sz="1050" spc="2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фиксация</a:t>
            </a:r>
            <a:r>
              <a:rPr dirty="0" sz="1050" spc="2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проиндексированных</a:t>
            </a:r>
            <a:r>
              <a:rPr dirty="0" sz="1050" spc="25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изменений.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status:</a:t>
            </a:r>
            <a:r>
              <a:rPr dirty="0" sz="1050" spc="1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просмотр</a:t>
            </a:r>
            <a:r>
              <a:rPr dirty="0" sz="1050" spc="1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состояния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рабочей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копии.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push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/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pull: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отправка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/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получение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данных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из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удаленного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репозитория.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log: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просмотр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истории.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26388" y="2839871"/>
            <a:ext cx="5801360" cy="1141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8760" marR="624205" indent="-226060">
              <a:lnSpc>
                <a:spcPct val="114300"/>
              </a:lnSpc>
              <a:spcBef>
                <a:spcPts val="95"/>
              </a:spcBef>
              <a:buAutoNum type="arabicPeriod" startAt="8"/>
              <a:tabLst>
                <a:tab pos="2413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Приведите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примеры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использования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работе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локальным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удалённым 	репозиториями.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60"/>
              </a:spcBef>
              <a:buClr>
                <a:srgbClr val="202429"/>
              </a:buClr>
              <a:buFont typeface="Microsoft Sans Serif"/>
              <a:buAutoNum type="arabicPeriod" startAt="8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Локально: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add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main.py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&gt;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commit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-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m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"Fix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bug"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(сохранили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правку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у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себя).</a:t>
            </a:r>
            <a:endParaRPr sz="1050">
              <a:latin typeface="Microsoft Sans Serif"/>
              <a:cs typeface="Microsoft Sans Serif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buClr>
                <a:srgbClr val="202429"/>
              </a:buClr>
              <a:buFont typeface="Symbol"/>
              <a:buChar char="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Удалённо: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git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push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origin</a:t>
            </a:r>
            <a:r>
              <a:rPr dirty="0" sz="1050" spc="10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master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(отправили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локальный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код</a:t>
            </a:r>
            <a:r>
              <a:rPr dirty="0" sz="1050" spc="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сервер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GitHub/GitLab).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6388" y="4512690"/>
            <a:ext cx="5991860" cy="15068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05"/>
              </a:spcBef>
              <a:buAutoNum type="arabicPeriod" startAt="9"/>
              <a:tabLst>
                <a:tab pos="23876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Что</a:t>
            </a:r>
            <a:r>
              <a:rPr dirty="0" sz="1050" spc="9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такое</a:t>
            </a:r>
            <a:r>
              <a:rPr dirty="0" sz="1050" spc="8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зачем</a:t>
            </a:r>
            <a:r>
              <a:rPr dirty="0" sz="1050" spc="9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могут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быть</a:t>
            </a:r>
            <a:r>
              <a:rPr dirty="0" sz="1050" spc="8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нужны</a:t>
            </a:r>
            <a:r>
              <a:rPr dirty="0" sz="1050" spc="1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ветви</a:t>
            </a:r>
            <a:r>
              <a:rPr dirty="0" sz="1050" spc="10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(branches)?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Clr>
                <a:srgbClr val="202429"/>
              </a:buClr>
              <a:buFont typeface="Microsoft Sans Serif"/>
              <a:buAutoNum type="arabicPeriod" startAt="9"/>
            </a:pPr>
            <a:endParaRPr sz="1050">
              <a:latin typeface="Microsoft Sans Serif"/>
              <a:cs typeface="Microsoft Sans Serif"/>
            </a:endParaRPr>
          </a:p>
          <a:p>
            <a:pPr lvl="1" marL="241300" marR="375920" indent="-228600">
              <a:lnSpc>
                <a:spcPct val="142900"/>
              </a:lnSpc>
              <a:spcBef>
                <a:spcPts val="5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Ветви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это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указатели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на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определенный</a:t>
            </a:r>
            <a:r>
              <a:rPr dirty="0" sz="1050" spc="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коммит,</a:t>
            </a:r>
            <a:r>
              <a:rPr dirty="0" sz="1050" spc="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позволяющие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вести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разработку параллельно.</a:t>
            </a:r>
            <a:endParaRPr sz="1050">
              <a:latin typeface="Microsoft Sans Serif"/>
              <a:cs typeface="Microsoft Sans Serif"/>
            </a:endParaRPr>
          </a:p>
          <a:p>
            <a:pPr marL="241300" marR="5080">
              <a:lnSpc>
                <a:spcPts val="1800"/>
              </a:lnSpc>
              <a:spcBef>
                <a:spcPts val="150"/>
              </a:spcBef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Зачем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нужны: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изоляции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работы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над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новой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функцией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5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исправления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бага,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чтобы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основной</a:t>
            </a:r>
            <a:r>
              <a:rPr dirty="0" sz="1050" spc="1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код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(master/main)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всегда</a:t>
            </a:r>
            <a:r>
              <a:rPr dirty="0" sz="1050" spc="17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оставался</a:t>
            </a:r>
            <a:r>
              <a:rPr dirty="0" sz="1050" spc="1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рабочим.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После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завершения</a:t>
            </a:r>
            <a:r>
              <a:rPr dirty="0" sz="1050" spc="1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задачи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ветку</a:t>
            </a:r>
            <a:endParaRPr sz="105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390"/>
              </a:spcBef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«вливают»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(merge)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6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основную.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6388" y="6553580"/>
            <a:ext cx="5876925" cy="1734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5"/>
              </a:spcBef>
              <a:buAutoNum type="arabicPeriod" startAt="10"/>
              <a:tabLst>
                <a:tab pos="240029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Как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75">
                <a:solidFill>
                  <a:srgbClr val="202429"/>
                </a:solidFill>
                <a:latin typeface="Microsoft Sans Serif"/>
                <a:cs typeface="Microsoft Sans Serif"/>
              </a:rPr>
              <a:t>и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зачем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можно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игнорировать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некоторые</a:t>
            </a:r>
            <a:r>
              <a:rPr dirty="0" sz="1050" spc="114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файлы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60">
                <a:solidFill>
                  <a:srgbClr val="202429"/>
                </a:solidFill>
                <a:latin typeface="Microsoft Sans Serif"/>
                <a:cs typeface="Microsoft Sans Serif"/>
              </a:rPr>
              <a:t>при</a:t>
            </a:r>
            <a:r>
              <a:rPr dirty="0" sz="1050" spc="1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commit?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Clr>
                <a:srgbClr val="202429"/>
              </a:buClr>
              <a:buFont typeface="Microsoft Sans Serif"/>
              <a:buAutoNum type="arabicPeriod" startAt="10"/>
            </a:pPr>
            <a:endParaRPr sz="1050">
              <a:latin typeface="Microsoft Sans Serif"/>
              <a:cs typeface="Microsoft Sans Serif"/>
            </a:endParaRPr>
          </a:p>
          <a:p>
            <a:pPr lvl="1" marL="240665" indent="-227965">
              <a:lnSpc>
                <a:spcPct val="100000"/>
              </a:lnSpc>
              <a:buFont typeface="Symbol"/>
              <a:buChar char=""/>
              <a:tabLst>
                <a:tab pos="240665" algn="l"/>
              </a:tabLst>
            </a:pPr>
            <a:r>
              <a:rPr dirty="0" sz="1050" spc="-2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этого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используется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</a:t>
            </a:r>
            <a:r>
              <a:rPr dirty="0" sz="1050" spc="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.gitignore.</a:t>
            </a:r>
            <a:endParaRPr sz="1050">
              <a:latin typeface="Microsoft Sans Serif"/>
              <a:cs typeface="Microsoft Sans Serif"/>
            </a:endParaRPr>
          </a:p>
          <a:p>
            <a:pPr marL="241300" marR="269240">
              <a:lnSpc>
                <a:spcPct val="142900"/>
              </a:lnSpc>
            </a:pP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Зачем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нужно: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чтобы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историю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не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попадал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«мусор»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40">
                <a:solidFill>
                  <a:srgbClr val="202429"/>
                </a:solidFill>
                <a:latin typeface="Microsoft Sans Serif"/>
                <a:cs typeface="Microsoft Sans Serif"/>
              </a:rPr>
              <a:t>—</a:t>
            </a:r>
            <a:r>
              <a:rPr dirty="0" sz="1050" spc="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10">
                <a:solidFill>
                  <a:srgbClr val="202429"/>
                </a:solidFill>
                <a:latin typeface="Microsoft Sans Serif"/>
                <a:cs typeface="Microsoft Sans Serif"/>
              </a:rPr>
              <a:t>временные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файлы,</a:t>
            </a:r>
            <a:r>
              <a:rPr dirty="0" sz="1050" spc="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кеши, 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скомпилированные</a:t>
            </a:r>
            <a:r>
              <a:rPr dirty="0" sz="1050" spc="-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45">
                <a:solidFill>
                  <a:srgbClr val="202429"/>
                </a:solidFill>
                <a:latin typeface="Microsoft Sans Serif"/>
                <a:cs typeface="Microsoft Sans Serif"/>
              </a:rPr>
              <a:t>бинарники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конфиги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с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секретными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20">
                <a:solidFill>
                  <a:srgbClr val="202429"/>
                </a:solidFill>
                <a:latin typeface="Microsoft Sans Serif"/>
                <a:cs typeface="Microsoft Sans Serif"/>
              </a:rPr>
              <a:t>паролями,</a:t>
            </a:r>
            <a:r>
              <a:rPr dirty="0" sz="1050" spc="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30">
                <a:solidFill>
                  <a:srgbClr val="202429"/>
                </a:solidFill>
                <a:latin typeface="Microsoft Sans Serif"/>
                <a:cs typeface="Microsoft Sans Serif"/>
              </a:rPr>
              <a:t>которые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Microsoft Sans Serif"/>
                <a:cs typeface="Microsoft Sans Serif"/>
              </a:rPr>
              <a:t>не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должны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быть</a:t>
            </a:r>
            <a:r>
              <a:rPr dirty="0" sz="1050" spc="16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публичными.</a:t>
            </a:r>
            <a:endParaRPr sz="1050">
              <a:latin typeface="Microsoft Sans Serif"/>
              <a:cs typeface="Microsoft Sans Serif"/>
            </a:endParaRPr>
          </a:p>
          <a:p>
            <a:pPr lvl="1" marL="241300" marR="5080" indent="-228600">
              <a:lnSpc>
                <a:spcPct val="142900"/>
              </a:lnSpc>
              <a:spcBef>
                <a:spcPts val="5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Нужно</a:t>
            </a:r>
            <a:r>
              <a:rPr dirty="0" sz="1050" spc="1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ли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подготовить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вас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пример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содержимого</a:t>
            </a:r>
            <a:r>
              <a:rPr dirty="0" sz="1050" spc="1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файла</a:t>
            </a:r>
            <a:r>
              <a:rPr dirty="0" sz="1050" spc="15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.gitignore</a:t>
            </a:r>
            <a:r>
              <a:rPr dirty="0" sz="1050" spc="12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для</a:t>
            </a:r>
            <a:r>
              <a:rPr dirty="0" sz="1050" spc="14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конкретного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языка</a:t>
            </a:r>
            <a:r>
              <a:rPr dirty="0" sz="1050" spc="21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программирования</a:t>
            </a:r>
            <a:r>
              <a:rPr dirty="0" sz="1050" spc="24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(например,</a:t>
            </a:r>
            <a:r>
              <a:rPr dirty="0" sz="1050" spc="2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Python</a:t>
            </a:r>
            <a:r>
              <a:rPr dirty="0" sz="1050" spc="235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>
                <a:solidFill>
                  <a:srgbClr val="202429"/>
                </a:solidFill>
                <a:latin typeface="Microsoft Sans Serif"/>
                <a:cs typeface="Microsoft Sans Serif"/>
              </a:rPr>
              <a:t>или</a:t>
            </a:r>
            <a:r>
              <a:rPr dirty="0" sz="1050" spc="220">
                <a:solidFill>
                  <a:srgbClr val="202429"/>
                </a:solidFill>
                <a:latin typeface="Microsoft Sans Serif"/>
                <a:cs typeface="Microsoft Sans Serif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Microsoft Sans Serif"/>
                <a:cs typeface="Microsoft Sans Serif"/>
              </a:rPr>
              <a:t>C++)?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pc="-10"/>
              <a:t>Вывод</a:t>
            </a:r>
          </a:p>
          <a:p>
            <a:pPr marL="24765" marR="5080" indent="34925">
              <a:lnSpc>
                <a:spcPct val="121900"/>
              </a:lnSpc>
              <a:spcBef>
                <a:spcPts val="55"/>
              </a:spcBef>
            </a:pPr>
            <a:r>
              <a:rPr dirty="0" sz="1050"/>
              <a:t>В</a:t>
            </a:r>
            <a:r>
              <a:rPr dirty="0" sz="1050" spc="70"/>
              <a:t> </a:t>
            </a:r>
            <a:r>
              <a:rPr dirty="0" sz="1050"/>
              <a:t>ходе</a:t>
            </a:r>
            <a:r>
              <a:rPr dirty="0" sz="1050" spc="50"/>
              <a:t> </a:t>
            </a:r>
            <a:r>
              <a:rPr dirty="0" sz="1050"/>
              <a:t>работы</a:t>
            </a:r>
            <a:r>
              <a:rPr dirty="0" sz="1050" spc="75"/>
              <a:t> </a:t>
            </a:r>
            <a:r>
              <a:rPr dirty="0" sz="1050"/>
              <a:t>я</a:t>
            </a:r>
            <a:r>
              <a:rPr dirty="0" sz="1050" spc="50"/>
              <a:t> </a:t>
            </a:r>
            <a:r>
              <a:rPr dirty="0" sz="1050"/>
              <a:t>изучил</a:t>
            </a:r>
            <a:r>
              <a:rPr dirty="0" sz="1050" spc="75"/>
              <a:t> </a:t>
            </a:r>
            <a:r>
              <a:rPr dirty="0" sz="1050" spc="60"/>
              <a:t>принципы</a:t>
            </a:r>
            <a:r>
              <a:rPr dirty="0" sz="1050" spc="55"/>
              <a:t> </a:t>
            </a:r>
            <a:r>
              <a:rPr dirty="0" sz="1050"/>
              <a:t>работы</a:t>
            </a:r>
            <a:r>
              <a:rPr dirty="0" sz="1050" spc="85"/>
              <a:t> </a:t>
            </a:r>
            <a:r>
              <a:rPr dirty="0" sz="1050" spc="-70">
                <a:latin typeface="Arial Black"/>
                <a:cs typeface="Arial Black"/>
              </a:rPr>
              <a:t>систем</a:t>
            </a:r>
            <a:r>
              <a:rPr dirty="0" sz="1050" spc="-15">
                <a:latin typeface="Arial Black"/>
                <a:cs typeface="Arial Black"/>
              </a:rPr>
              <a:t> </a:t>
            </a:r>
            <a:r>
              <a:rPr dirty="0" sz="1050" spc="-45">
                <a:latin typeface="Arial Black"/>
                <a:cs typeface="Arial Black"/>
              </a:rPr>
              <a:t>контроля</a:t>
            </a:r>
            <a:r>
              <a:rPr dirty="0" sz="1050" spc="-5">
                <a:latin typeface="Arial Black"/>
                <a:cs typeface="Arial Black"/>
              </a:rPr>
              <a:t> </a:t>
            </a:r>
            <a:r>
              <a:rPr dirty="0" sz="1050" spc="-45">
                <a:latin typeface="Arial Black"/>
                <a:cs typeface="Arial Black"/>
              </a:rPr>
              <a:t>версий</a:t>
            </a:r>
            <a:r>
              <a:rPr dirty="0" sz="1050" spc="5">
                <a:latin typeface="Arial Black"/>
                <a:cs typeface="Arial Black"/>
              </a:rPr>
              <a:t> </a:t>
            </a:r>
            <a:r>
              <a:rPr dirty="0" sz="1050" spc="75"/>
              <a:t>и</a:t>
            </a:r>
            <a:r>
              <a:rPr dirty="0" sz="1050" spc="70"/>
              <a:t> </a:t>
            </a:r>
            <a:r>
              <a:rPr dirty="0" sz="1050"/>
              <a:t>освоил</a:t>
            </a:r>
            <a:r>
              <a:rPr dirty="0" sz="1050" spc="40"/>
              <a:t> </a:t>
            </a:r>
            <a:r>
              <a:rPr dirty="0" sz="1050" spc="-10"/>
              <a:t>базовые </a:t>
            </a:r>
            <a:r>
              <a:rPr dirty="0" sz="1050"/>
              <a:t>команды</a:t>
            </a:r>
            <a:r>
              <a:rPr dirty="0" sz="1050" spc="165"/>
              <a:t> </a:t>
            </a:r>
            <a:r>
              <a:rPr dirty="0" sz="1050" spc="-25">
                <a:latin typeface="Arial Black"/>
                <a:cs typeface="Arial Black"/>
              </a:rPr>
              <a:t>Git</a:t>
            </a:r>
            <a:endParaRPr sz="10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Милана Тимофеева</dc:creator>
  <dcterms:created xsi:type="dcterms:W3CDTF">2026-03-07T18:05:53Z</dcterms:created>
  <dcterms:modified xsi:type="dcterms:W3CDTF">2026-03-07T18:05:53Z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2026-03-07T00:00:00Z</vt:filetime>
  </property>
  <property fmtid="{D5CDD505-2E9C-101B-9397-08002B2CF9AE}" pid="5" name="Producer">
    <vt:lpwstr>Microsoft® Word LTSC</vt:lpwstr>
  </property>
</Properties>
</file>