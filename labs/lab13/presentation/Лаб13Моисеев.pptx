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3764" y="588284"/>
            <a:ext cx="5173980" cy="102489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600" spc="-10" b="1">
                <a:latin typeface="Times New Roman"/>
                <a:cs typeface="Times New Roman"/>
              </a:rPr>
              <a:t>РОССИЙСКИЙ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УНИВЕРСИТЕТ</a:t>
            </a:r>
            <a:r>
              <a:rPr dirty="0" sz="1600" spc="-8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ДРУЖБЫ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45134" marR="324485" indent="69215">
              <a:lnSpc>
                <a:spcPct val="156100"/>
              </a:lnSpc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5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5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теории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34285" y="2932896"/>
            <a:ext cx="3794125" cy="1203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 marL="62865">
              <a:lnSpc>
                <a:spcPct val="100000"/>
              </a:lnSpc>
              <a:spcBef>
                <a:spcPts val="1170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ЛАБОРАТОРНОЙ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13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44780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600" spc="-3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2545" y="6333680"/>
            <a:ext cx="3049270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1300" spc="-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1300" spc="-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300">
              <a:latin typeface="Times New Roman"/>
              <a:cs typeface="Times New Roman"/>
            </a:endParaRPr>
          </a:p>
          <a:p>
            <a:pPr marL="1514475">
              <a:lnSpc>
                <a:spcPct val="100000"/>
              </a:lnSpc>
              <a:spcBef>
                <a:spcPts val="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01352" y="9306545"/>
            <a:ext cx="772160" cy="64770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6985">
              <a:lnSpc>
                <a:spcPct val="100000"/>
              </a:lnSpc>
              <a:spcBef>
                <a:spcPts val="890"/>
              </a:spcBef>
            </a:pPr>
            <a:r>
              <a:rPr dirty="0" sz="1300">
                <a:latin typeface="Times New Roman"/>
                <a:cs typeface="Times New Roman"/>
              </a:rPr>
              <a:t>2026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3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31918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7367" y="766996"/>
            <a:ext cx="4082415" cy="588327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6510" marR="24892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11.</a:t>
            </a:r>
            <a:r>
              <a:rPr dirty="0" sz="950" spc="285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Программирование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командном </a:t>
            </a:r>
            <a:r>
              <a:rPr dirty="0" sz="950" b="1">
                <a:latin typeface="Book Antiqua"/>
                <a:cs typeface="Book Antiqua"/>
              </a:rPr>
              <a:t>процессоре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spc="-90" b="1">
                <a:latin typeface="Book Antiqua"/>
                <a:cs typeface="Book Antiqua"/>
              </a:rPr>
              <a:t>ОС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UNIX.</a:t>
            </a:r>
            <a:r>
              <a:rPr dirty="0" sz="950" spc="1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Ветвления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и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циклы</a:t>
            </a:r>
            <a:endParaRPr sz="9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7020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6510" marR="2540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Изучить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основы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UNIX.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Научится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писать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более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сложные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логических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управляющих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циклов.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buAutoNum type="arabicPeriod" startAt="2"/>
              <a:tabLst>
                <a:tab pos="370205" algn="l"/>
              </a:tabLst>
            </a:pP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3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7955" marR="25400" indent="-1358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50">
                <a:latin typeface="Book Antiqua"/>
                <a:cs typeface="Book Antiqua"/>
              </a:rPr>
              <a:t>, написать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>
                <a:latin typeface="Book Antiqua"/>
                <a:cs typeface="Book Antiqua"/>
              </a:rPr>
              <a:t> который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анализирует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командную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ключами: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85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-iinputfile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прочитать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-ooutputfile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указанный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-pшаблон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шаблон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поиска;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-C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малые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буквы;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выдавать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ищет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определяемые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ключом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p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35"/>
              </a:spcBef>
              <a:buAutoNum type="arabicPeriod" startAt="2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Написать</a:t>
            </a:r>
            <a:r>
              <a:rPr dirty="0" sz="750">
                <a:latin typeface="Book Antiqua"/>
                <a:cs typeface="Book Antiqua"/>
              </a:rPr>
              <a:t> 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Си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программу,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вводит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определяет,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 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больше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нуля, </a:t>
            </a:r>
            <a:r>
              <a:rPr dirty="0" sz="750">
                <a:latin typeface="Book Antiqua"/>
                <a:cs typeface="Book Antiqua"/>
              </a:rPr>
              <a:t>меньше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равно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нулю.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завершается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помощью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функции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exit(n)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передавая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оболочку.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должен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вызывать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проанализировав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</a:t>
            </a:r>
            <a:endParaRPr sz="750">
              <a:latin typeface="Book Antiqua"/>
              <a:cs typeface="Book Antiqua"/>
            </a:endParaRPr>
          </a:p>
          <a:p>
            <a:pPr algn="just" marL="149225">
              <a:lnSpc>
                <a:spcPts val="875"/>
              </a:lnSpc>
            </a:pPr>
            <a:r>
              <a:rPr dirty="0" sz="700">
                <a:latin typeface="Courier New"/>
                <a:cs typeface="Courier New"/>
              </a:rPr>
              <a:t>$?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введено.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35"/>
              </a:spcBef>
              <a:buAutoNum type="arabicPeriod" startAt="3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Написать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файл,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создающий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указанное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пронумерованных</a:t>
            </a:r>
            <a:r>
              <a:rPr dirty="0" sz="750">
                <a:latin typeface="Book Antiqua"/>
                <a:cs typeface="Book Antiqua"/>
              </a:rPr>
              <a:t> 	последовательно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900" spc="-55">
                <a:latin typeface="Cambria"/>
                <a:cs typeface="Cambria"/>
              </a:rPr>
              <a:t>1</a:t>
            </a:r>
            <a:r>
              <a:rPr dirty="0" sz="900" spc="-5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900" spc="50">
                <a:latin typeface="Cambria"/>
                <a:cs typeface="Cambria"/>
              </a:rPr>
              <a:t>𝑁</a:t>
            </a:r>
            <a:r>
              <a:rPr dirty="0" sz="900" spc="-3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(например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1.tmp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2.tmp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3.tmp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00" spc="5">
                <a:latin typeface="Courier New"/>
                <a:cs typeface="Courier New"/>
              </a:rPr>
              <a:t>4.tmp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т.д.).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Число </a:t>
            </a:r>
            <a:r>
              <a:rPr dirty="0" sz="750" spc="-5">
                <a:latin typeface="Book Antiqua"/>
                <a:cs typeface="Book Antiqua"/>
              </a:rPr>
              <a:t>файлов, </a:t>
            </a:r>
            <a:r>
              <a:rPr dirty="0" sz="750" spc="-5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 </a:t>
            </a:r>
            <a:r>
              <a:rPr dirty="0" sz="750" spc="15">
                <a:latin typeface="Book Antiqua"/>
                <a:cs typeface="Book Antiqua"/>
              </a:rPr>
              <a:t>создать,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передаётся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аргументы командной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Этот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же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ко- </a:t>
            </a:r>
            <a:r>
              <a:rPr dirty="0" sz="750" spc="2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файл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должен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уметь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удалять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созданные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(если </a:t>
            </a:r>
            <a:r>
              <a:rPr dirty="0" sz="750" spc="-10">
                <a:latin typeface="Book Antiqua"/>
                <a:cs typeface="Book Antiqua"/>
              </a:rPr>
              <a:t>они</a:t>
            </a:r>
            <a:r>
              <a:rPr dirty="0" sz="750">
                <a:latin typeface="Book Antiqua"/>
                <a:cs typeface="Book Antiqua"/>
              </a:rPr>
              <a:t> существуют).</a:t>
            </a:r>
            <a:endParaRPr sz="750">
              <a:latin typeface="Book Antiqua"/>
              <a:cs typeface="Book Antiqua"/>
            </a:endParaRPr>
          </a:p>
          <a:p>
            <a:pPr algn="just" marL="147955" marR="25400" indent="-135890">
              <a:lnSpc>
                <a:spcPts val="890"/>
              </a:lnSpc>
              <a:spcBef>
                <a:spcPts val="15"/>
              </a:spcBef>
              <a:buAutoNum type="arabicPeriod" startAt="3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Написать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tar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запаковывает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архив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директории.</a:t>
            </a:r>
            <a:r>
              <a:rPr dirty="0" sz="750" spc="-10">
                <a:latin typeface="Book Antiqua"/>
                <a:cs typeface="Book Antiqua"/>
              </a:rPr>
              <a:t> Модифицировать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запаковывались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только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изменены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менее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недели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тому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назад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(использовать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find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50" b="1">
                <a:latin typeface="Book Antiqua"/>
                <a:cs typeface="Book Antiqua"/>
              </a:rPr>
              <a:t>11.3.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667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11.4.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Каково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предназначение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getopts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Какое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отношение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метасимволы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имеют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генерации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имён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файлов?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11.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367" y="653389"/>
            <a:ext cx="3922395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8590" indent="-135890">
              <a:lnSpc>
                <a:spcPts val="894"/>
              </a:lnSpc>
              <a:spcBef>
                <a:spcPts val="120"/>
              </a:spcBef>
              <a:buAutoNum type="arabicPeriod" startAt="3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знаете?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3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прерывания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цикла?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3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false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true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3"/>
              <a:tabLst>
                <a:tab pos="148590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означает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10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10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9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man$s/$i.$s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встреченная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файле?</a:t>
            </a:r>
            <a:endParaRPr sz="750">
              <a:latin typeface="Book Antiqua"/>
              <a:cs typeface="Book Antiqua"/>
            </a:endParaRPr>
          </a:p>
          <a:p>
            <a:pPr marL="147955" indent="-125730">
              <a:lnSpc>
                <a:spcPts val="894"/>
              </a:lnSpc>
              <a:buAutoNum type="arabicPeriod" startAt="3"/>
              <a:tabLst>
                <a:tab pos="147955" algn="l"/>
              </a:tabLst>
            </a:pPr>
            <a:r>
              <a:rPr dirty="0" sz="750">
                <a:latin typeface="Book Antiqua"/>
                <a:cs typeface="Book Antiqua"/>
              </a:rPr>
              <a:t>Объясните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между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конструкциями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until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2026-03-20T17:47:13Z</dcterms:created>
  <dcterms:modified xsi:type="dcterms:W3CDTF">2026-03-20T17:47:13Z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