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3764" y="588284"/>
            <a:ext cx="5173980" cy="102489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1600" spc="-10" b="1">
                <a:latin typeface="Times New Roman"/>
                <a:cs typeface="Times New Roman"/>
              </a:rPr>
              <a:t>РОССИЙСКИЙ</a:t>
            </a:r>
            <a:r>
              <a:rPr dirty="0" sz="1600" spc="-7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УНИВЕРСИТЕТ</a:t>
            </a:r>
            <a:r>
              <a:rPr dirty="0" sz="1600" spc="-8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ДРУЖБЫ</a:t>
            </a:r>
            <a:r>
              <a:rPr dirty="0" sz="1600" spc="-6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445134" marR="324485" indent="69215">
              <a:lnSpc>
                <a:spcPct val="156100"/>
              </a:lnSpc>
            </a:pPr>
            <a:r>
              <a:rPr dirty="0" sz="1300" b="1">
                <a:latin typeface="Times New Roman"/>
                <a:cs typeface="Times New Roman"/>
              </a:rPr>
              <a:t>Факультет</a:t>
            </a:r>
            <a:r>
              <a:rPr dirty="0" sz="1300" spc="5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физико-</a:t>
            </a:r>
            <a:r>
              <a:rPr dirty="0" sz="1300" spc="-10" b="1">
                <a:latin typeface="Times New Roman"/>
                <a:cs typeface="Times New Roman"/>
              </a:rPr>
              <a:t>математических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естественных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наук </a:t>
            </a:r>
            <a:r>
              <a:rPr dirty="0" sz="1300" b="1">
                <a:latin typeface="Times New Roman"/>
                <a:cs typeface="Times New Roman"/>
              </a:rPr>
              <a:t>Кафедра</a:t>
            </a:r>
            <a:r>
              <a:rPr dirty="0" sz="1300" spc="-5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прикладной</a:t>
            </a:r>
            <a:r>
              <a:rPr dirty="0" sz="1300" spc="-5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информатики</a:t>
            </a:r>
            <a:r>
              <a:rPr dirty="0" sz="1300" spc="-5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5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теории</a:t>
            </a:r>
            <a:r>
              <a:rPr dirty="0" sz="1300" spc="-5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34285" y="2932896"/>
            <a:ext cx="3794125" cy="1203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35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latin typeface="Times New Roman"/>
                <a:cs typeface="Times New Roman"/>
              </a:rPr>
              <a:t>ОТЧЕТ</a:t>
            </a:r>
            <a:endParaRPr sz="1600">
              <a:latin typeface="Times New Roman"/>
              <a:cs typeface="Times New Roman"/>
            </a:endParaRPr>
          </a:p>
          <a:p>
            <a:pPr algn="ctr" marL="62865">
              <a:lnSpc>
                <a:spcPct val="100000"/>
              </a:lnSpc>
              <a:spcBef>
                <a:spcPts val="1170"/>
              </a:spcBef>
            </a:pPr>
            <a:r>
              <a:rPr dirty="0" sz="1600" b="1">
                <a:latin typeface="Times New Roman"/>
                <a:cs typeface="Times New Roman"/>
              </a:rPr>
              <a:t>ПО</a:t>
            </a:r>
            <a:r>
              <a:rPr dirty="0" sz="1600" spc="-7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ЛАБОРАТОРНОЙ</a:t>
            </a:r>
            <a:r>
              <a:rPr dirty="0" sz="1600" spc="-7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РАБОТЕ</a:t>
            </a:r>
            <a:r>
              <a:rPr dirty="0" sz="1600" spc="-6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№</a:t>
            </a:r>
            <a:r>
              <a:rPr dirty="0" sz="1600" spc="-70" b="1">
                <a:latin typeface="Times New Roman"/>
                <a:cs typeface="Times New Roman"/>
              </a:rPr>
              <a:t> </a:t>
            </a:r>
            <a:r>
              <a:rPr dirty="0" sz="1600" spc="-25" b="1">
                <a:latin typeface="Times New Roman"/>
                <a:cs typeface="Times New Roman"/>
              </a:rPr>
              <a:t>14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1447800" algn="l"/>
              </a:tabLst>
            </a:pP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Архитектура</a:t>
            </a:r>
            <a:r>
              <a:rPr dirty="0" u="sng" sz="1600" spc="-3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52545" y="6333680"/>
            <a:ext cx="3049270" cy="76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1300" spc="-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Моисеев</a:t>
            </a:r>
            <a:r>
              <a:rPr dirty="0" u="sng" sz="1300" spc="-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Дмитрий</a:t>
            </a:r>
            <a:r>
              <a:rPr dirty="0" u="sng" sz="1300" spc="-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Вячеславович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300">
              <a:latin typeface="Times New Roman"/>
              <a:cs typeface="Times New Roman"/>
            </a:endParaRPr>
          </a:p>
          <a:p>
            <a:pPr marL="1514475">
              <a:lnSpc>
                <a:spcPct val="100000"/>
              </a:lnSpc>
              <a:spcBef>
                <a:spcPts val="5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13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401352" y="9306545"/>
            <a:ext cx="772160" cy="64770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dirty="0" sz="1300" spc="-10" b="1">
                <a:latin typeface="Times New Roman"/>
                <a:cs typeface="Times New Roman"/>
              </a:rPr>
              <a:t>МОСКВА</a:t>
            </a:r>
            <a:endParaRPr sz="1300">
              <a:latin typeface="Times New Roman"/>
              <a:cs typeface="Times New Roman"/>
            </a:endParaRPr>
          </a:p>
          <a:p>
            <a:pPr algn="ctr" marL="6985">
              <a:lnSpc>
                <a:spcPct val="100000"/>
              </a:lnSpc>
              <a:spcBef>
                <a:spcPts val="890"/>
              </a:spcBef>
            </a:pPr>
            <a:r>
              <a:rPr dirty="0" sz="1300">
                <a:latin typeface="Times New Roman"/>
                <a:cs typeface="Times New Roman"/>
              </a:rPr>
              <a:t>2026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 spc="-35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31918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99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77367" y="766996"/>
            <a:ext cx="4082415" cy="565594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6510" marR="248920">
              <a:lnSpc>
                <a:spcPts val="1060"/>
              </a:lnSpc>
              <a:spcBef>
                <a:spcPts val="190"/>
              </a:spcBef>
            </a:pPr>
            <a:r>
              <a:rPr dirty="0" sz="950" b="1">
                <a:latin typeface="Book Antiqua"/>
                <a:cs typeface="Book Antiqua"/>
              </a:rPr>
              <a:t>Лабораторная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работа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№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12.</a:t>
            </a:r>
            <a:r>
              <a:rPr dirty="0" sz="950" spc="285" b="1">
                <a:latin typeface="Book Antiqua"/>
                <a:cs typeface="Book Antiqua"/>
              </a:rPr>
              <a:t>  </a:t>
            </a:r>
            <a:r>
              <a:rPr dirty="0" sz="950" b="1">
                <a:latin typeface="Book Antiqua"/>
                <a:cs typeface="Book Antiqua"/>
              </a:rPr>
              <a:t>Программирование</a:t>
            </a:r>
            <a:r>
              <a:rPr dirty="0" sz="950" spc="9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в</a:t>
            </a:r>
            <a:r>
              <a:rPr dirty="0" sz="950" spc="90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командном </a:t>
            </a:r>
            <a:r>
              <a:rPr dirty="0" sz="950" b="1">
                <a:latin typeface="Book Antiqua"/>
                <a:cs typeface="Book Antiqua"/>
              </a:rPr>
              <a:t>процессоре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spc="-90" b="1">
                <a:latin typeface="Book Antiqua"/>
                <a:cs typeface="Book Antiqua"/>
              </a:rPr>
              <a:t>ОС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spc="-20" b="1">
                <a:latin typeface="Book Antiqua"/>
                <a:cs typeface="Book Antiqua"/>
              </a:rPr>
              <a:t>UNIX.</a:t>
            </a:r>
            <a:r>
              <a:rPr dirty="0" sz="950" spc="4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Расширенное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программирование</a:t>
            </a:r>
            <a:endParaRPr sz="950">
              <a:latin typeface="Book Antiqua"/>
              <a:cs typeface="Book Antiqua"/>
            </a:endParaRPr>
          </a:p>
          <a:p>
            <a:pPr lvl="1" marL="370205" indent="-353695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370205" algn="l"/>
              </a:tabLst>
            </a:pPr>
            <a:r>
              <a:rPr dirty="0" sz="850" b="1">
                <a:latin typeface="Book Antiqua"/>
                <a:cs typeface="Book Antiqua"/>
              </a:rPr>
              <a:t>Цель</a:t>
            </a:r>
            <a:r>
              <a:rPr dirty="0" sz="850" spc="-3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16510" marR="25400" indent="97790">
              <a:lnSpc>
                <a:spcPct val="100000"/>
              </a:lnSpc>
              <a:spcBef>
                <a:spcPts val="865"/>
              </a:spcBef>
            </a:pPr>
            <a:r>
              <a:rPr dirty="0" sz="750">
                <a:latin typeface="Book Antiqua"/>
                <a:cs typeface="Book Antiqua"/>
              </a:rPr>
              <a:t>Изучить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основы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программирования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оболочке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UNIX.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Научиться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писать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более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сложные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командные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использованием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логических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управляющих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конструкций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циклов.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750">
              <a:latin typeface="Book Antiqua"/>
              <a:cs typeface="Book Antiqua"/>
            </a:endParaRPr>
          </a:p>
          <a:p>
            <a:pPr lvl="1" marL="370205" indent="-353695">
              <a:lnSpc>
                <a:spcPct val="100000"/>
              </a:lnSpc>
              <a:buAutoNum type="arabicPeriod" startAt="2"/>
              <a:tabLst>
                <a:tab pos="370205" algn="l"/>
              </a:tabLst>
            </a:pPr>
            <a:r>
              <a:rPr dirty="0" sz="850" spc="10" b="1">
                <a:latin typeface="Book Antiqua"/>
                <a:cs typeface="Book Antiqua"/>
              </a:rPr>
              <a:t>Последовательность</a:t>
            </a:r>
            <a:r>
              <a:rPr dirty="0" sz="850" spc="2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выполнения</a:t>
            </a:r>
            <a:r>
              <a:rPr dirty="0" sz="850" spc="3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147955" marR="5080" indent="-135890">
              <a:lnSpc>
                <a:spcPct val="100000"/>
              </a:lnSpc>
              <a:spcBef>
                <a:spcPts val="865"/>
              </a:spcBef>
              <a:buAutoNum type="arabicPeriod"/>
              <a:tabLst>
                <a:tab pos="149225" algn="l"/>
              </a:tabLst>
            </a:pPr>
            <a:r>
              <a:rPr dirty="0" sz="750" spc="10">
                <a:latin typeface="Book Antiqua"/>
                <a:cs typeface="Book Antiqua"/>
              </a:rPr>
              <a:t>Написать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командный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файл,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реализующий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упрощённый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механизм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семафоров.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Ко-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мандный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файл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должен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45">
                <a:latin typeface="Book Antiqua"/>
                <a:cs typeface="Book Antiqua"/>
              </a:rPr>
              <a:t>в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течение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некоторого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времени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t1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дожидаться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освобождения</a:t>
            </a:r>
            <a:r>
              <a:rPr dirty="0" sz="750" spc="5">
                <a:latin typeface="Book Antiqua"/>
                <a:cs typeface="Book Antiqua"/>
              </a:rPr>
              <a:t> 	ресурса,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выдавая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этом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сообщение,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дождавшись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его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освобождения,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	</a:t>
            </a:r>
            <a:r>
              <a:rPr dirty="0" sz="750" spc="20">
                <a:latin typeface="Book Antiqua"/>
                <a:cs typeface="Book Antiqua"/>
              </a:rPr>
              <a:t>его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течение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некоторого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времени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t2&lt;&gt;t1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также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выдавая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информацию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том,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что</a:t>
            </a:r>
            <a:r>
              <a:rPr dirty="0" sz="750" spc="5">
                <a:latin typeface="Book Antiqua"/>
                <a:cs typeface="Book Antiqua"/>
              </a:rPr>
              <a:t> 	ресурс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используется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соответствующим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командным</a:t>
            </a:r>
            <a:r>
              <a:rPr dirty="0" sz="750">
                <a:latin typeface="Book Antiqua"/>
                <a:cs typeface="Book Antiqua"/>
              </a:rPr>
              <a:t> файлом </a:t>
            </a:r>
            <a:r>
              <a:rPr dirty="0" sz="750" spc="15">
                <a:latin typeface="Book Antiqua"/>
                <a:cs typeface="Book Antiqua"/>
              </a:rPr>
              <a:t>(процессом).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Запустить 	командный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одном</a:t>
            </a:r>
            <a:r>
              <a:rPr dirty="0" sz="750">
                <a:latin typeface="Book Antiqua"/>
                <a:cs typeface="Book Antiqua"/>
              </a:rPr>
              <a:t> виртуальном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терминале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фоновом </a:t>
            </a:r>
            <a:r>
              <a:rPr dirty="0" sz="750" spc="5">
                <a:latin typeface="Book Antiqua"/>
                <a:cs typeface="Book Antiqua"/>
              </a:rPr>
              <a:t>режиме,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перенаправив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20">
                <a:latin typeface="Book Antiqua"/>
                <a:cs typeface="Book Antiqua"/>
              </a:rPr>
              <a:t>его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вывод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другой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</a:t>
            </a:r>
            <a:r>
              <a:rPr dirty="0" sz="700" spc="10">
                <a:latin typeface="Courier New"/>
                <a:cs typeface="Courier New"/>
              </a:rPr>
              <a:t>&gt; </a:t>
            </a:r>
            <a:r>
              <a:rPr dirty="0" sz="700" spc="5">
                <a:latin typeface="Courier New"/>
                <a:cs typeface="Courier New"/>
              </a:rPr>
              <a:t>/dev/tty#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где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#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 spc="-5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номер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терминала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куда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перенаправляется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	</a:t>
            </a:r>
            <a:r>
              <a:rPr dirty="0" sz="750" spc="20">
                <a:latin typeface="Book Antiqua"/>
                <a:cs typeface="Book Antiqua"/>
              </a:rPr>
              <a:t>вывод),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котором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также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запущен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фоновом,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привилегированном</a:t>
            </a:r>
            <a:r>
              <a:rPr dirty="0" sz="750">
                <a:latin typeface="Book Antiqua"/>
                <a:cs typeface="Book Antiqua"/>
              </a:rPr>
              <a:t> 	режиме.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Доработать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программу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так,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имелась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возможность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взаимодействия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трёх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5">
                <a:latin typeface="Book Antiqua"/>
                <a:cs typeface="Book Antiqua"/>
              </a:rPr>
              <a:t>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более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процессов.</a:t>
            </a:r>
            <a:endParaRPr sz="750">
              <a:latin typeface="Book Antiqua"/>
              <a:cs typeface="Book Antiqua"/>
            </a:endParaRPr>
          </a:p>
          <a:p>
            <a:pPr algn="just" marL="148590" indent="-135890">
              <a:lnSpc>
                <a:spcPts val="844"/>
              </a:lnSpc>
              <a:buAutoNum type="arabicPeriod"/>
              <a:tabLst>
                <a:tab pos="148590" algn="l"/>
              </a:tabLst>
            </a:pPr>
            <a:r>
              <a:rPr dirty="0" sz="750" spc="10">
                <a:latin typeface="Book Antiqua"/>
                <a:cs typeface="Book Antiqua"/>
              </a:rPr>
              <a:t>Реализовать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команду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man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помощью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командного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файла.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Изучите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содержимое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ката-</a:t>
            </a:r>
            <a:endParaRPr sz="750">
              <a:latin typeface="Book Antiqua"/>
              <a:cs typeface="Book Antiqua"/>
            </a:endParaRPr>
          </a:p>
          <a:p>
            <a:pPr algn="just" marL="149225" marR="12065">
              <a:lnSpc>
                <a:spcPts val="890"/>
              </a:lnSpc>
              <a:spcBef>
                <a:spcPts val="35"/>
              </a:spcBef>
            </a:pPr>
            <a:r>
              <a:rPr dirty="0" sz="750">
                <a:latin typeface="Book Antiqua"/>
                <a:cs typeface="Book Antiqua"/>
              </a:rPr>
              <a:t>лога </a:t>
            </a:r>
            <a:r>
              <a:rPr dirty="0" sz="700" spc="5">
                <a:latin typeface="Courier New"/>
                <a:cs typeface="Courier New"/>
              </a:rPr>
              <a:t>/usr/share/man/man1</a:t>
            </a:r>
            <a:r>
              <a:rPr dirty="0" sz="750" spc="5">
                <a:latin typeface="Book Antiqua"/>
                <a:cs typeface="Book Antiqua"/>
              </a:rPr>
              <a:t>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нем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находятся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архивы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текстовых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содержащих справку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большинству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установленных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системе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Каждый</a:t>
            </a:r>
            <a:r>
              <a:rPr dirty="0" sz="750" spc="-5">
                <a:latin typeface="Book Antiqua"/>
                <a:cs typeface="Book Antiqua"/>
              </a:rPr>
              <a:t> архив</a:t>
            </a:r>
            <a:r>
              <a:rPr dirty="0" sz="750">
                <a:latin typeface="Book Antiqua"/>
                <a:cs typeface="Book Antiqua"/>
              </a:rPr>
              <a:t> можно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открыть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командой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less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сразу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же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просмотрев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содержимое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справки.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Командный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файл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должен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получать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виде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аргумента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командной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строки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название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команды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и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виде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результата </a:t>
            </a:r>
            <a:r>
              <a:rPr dirty="0" sz="750" spc="15">
                <a:latin typeface="Book Antiqua"/>
                <a:cs typeface="Book Antiqua"/>
              </a:rPr>
              <a:t>выдавать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справку об этой </a:t>
            </a:r>
            <a:r>
              <a:rPr dirty="0" sz="750" spc="5">
                <a:latin typeface="Book Antiqua"/>
                <a:cs typeface="Book Antiqua"/>
              </a:rPr>
              <a:t>команде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или</a:t>
            </a:r>
            <a:r>
              <a:rPr dirty="0" sz="750">
                <a:latin typeface="Book Antiqua"/>
                <a:cs typeface="Book Antiqua"/>
              </a:rPr>
              <a:t> сообщение об отсутствии </a:t>
            </a:r>
            <a:r>
              <a:rPr dirty="0" sz="750" spc="5">
                <a:latin typeface="Book Antiqua"/>
                <a:cs typeface="Book Antiqua"/>
              </a:rPr>
              <a:t>справки,</a:t>
            </a:r>
            <a:r>
              <a:rPr dirty="0" sz="750">
                <a:latin typeface="Book Antiqua"/>
                <a:cs typeface="Book Antiqua"/>
              </a:rPr>
              <a:t> если </a:t>
            </a:r>
            <a:r>
              <a:rPr dirty="0" sz="750" spc="10">
                <a:latin typeface="Book Antiqua"/>
                <a:cs typeface="Book Antiqua"/>
              </a:rPr>
              <a:t>соответствующего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4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man1</a:t>
            </a:r>
            <a:r>
              <a:rPr dirty="0" sz="750" spc="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47955" marR="5080" indent="-135890">
              <a:lnSpc>
                <a:spcPts val="890"/>
              </a:lnSpc>
              <a:spcBef>
                <a:spcPts val="25"/>
              </a:spcBef>
              <a:buAutoNum type="arabicPeriod" startAt="3"/>
              <a:tabLst>
                <a:tab pos="149225" algn="l"/>
              </a:tabLst>
            </a:pPr>
            <a:r>
              <a:rPr dirty="0" sz="750" spc="-10">
                <a:latin typeface="Book Antiqua"/>
                <a:cs typeface="Book Antiqua"/>
              </a:rPr>
              <a:t>Используя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встроенную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переменную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$RANDOM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напишите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генерирую-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щий </a:t>
            </a:r>
            <a:r>
              <a:rPr dirty="0" sz="750">
                <a:latin typeface="Book Antiqua"/>
                <a:cs typeface="Book Antiqua"/>
              </a:rPr>
              <a:t>случайную</a:t>
            </a:r>
            <a:r>
              <a:rPr dirty="0" sz="750" spc="10">
                <a:latin typeface="Book Antiqua"/>
                <a:cs typeface="Book Antiqua"/>
              </a:rPr>
              <a:t> последовательность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букв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латинского </a:t>
            </a:r>
            <a:r>
              <a:rPr dirty="0" sz="750">
                <a:latin typeface="Book Antiqua"/>
                <a:cs typeface="Book Antiqua"/>
              </a:rPr>
              <a:t>алфавита.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Учтите,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что </a:t>
            </a:r>
            <a:r>
              <a:rPr dirty="0" sz="700" spc="-10">
                <a:latin typeface="Courier New"/>
                <a:cs typeface="Courier New"/>
              </a:rPr>
              <a:t>$RANDOM </a:t>
            </a:r>
            <a:r>
              <a:rPr dirty="0" sz="700" spc="-10">
                <a:latin typeface="Courier New"/>
                <a:cs typeface="Courier New"/>
              </a:rPr>
              <a:t>	</a:t>
            </a:r>
            <a:r>
              <a:rPr dirty="0" sz="750">
                <a:latin typeface="Book Antiqua"/>
                <a:cs typeface="Book Antiqua"/>
              </a:rPr>
              <a:t>выдаёт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псевдослучайные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диапазоне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0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32767.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  <a:spcBef>
                <a:spcPts val="5"/>
              </a:spcBef>
            </a:pPr>
            <a:r>
              <a:rPr dirty="0" sz="850" spc="50" b="1">
                <a:latin typeface="Book Antiqua"/>
                <a:cs typeface="Book Antiqua"/>
              </a:rPr>
              <a:t>12.3.</a:t>
            </a:r>
            <a:r>
              <a:rPr dirty="0" sz="850" spc="204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Содержание</a:t>
            </a:r>
            <a:r>
              <a:rPr dirty="0" sz="850" spc="2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отчёта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0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Титульный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указанием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ФИО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студента.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Формулировка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Описание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задания: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Font typeface="Book Antiqua"/>
              <a:buChar char="–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скриншоты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(снимки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фиксирующие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работы;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Font typeface="Book Antiqua"/>
              <a:buChar char="–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листинги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(исходный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есть);</a:t>
            </a:r>
            <a:endParaRPr sz="750">
              <a:latin typeface="Book Antiqua"/>
              <a:cs typeface="Book Antiqua"/>
            </a:endParaRPr>
          </a:p>
          <a:p>
            <a:pPr lvl="1" marL="360045" marR="26034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361315" algn="l"/>
              </a:tabLst>
            </a:pPr>
            <a:r>
              <a:rPr dirty="0" sz="750" spc="10">
                <a:latin typeface="Book Antiqua"/>
                <a:cs typeface="Book Antiqua"/>
              </a:rPr>
              <a:t>результаты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снимок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задания).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69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Выводы,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согласованные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Ответы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контрольные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вопросы.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  <a:spcBef>
                <a:spcPts val="5"/>
              </a:spcBef>
            </a:pPr>
            <a:r>
              <a:rPr dirty="0" sz="850" spc="50" b="1">
                <a:latin typeface="Book Antiqua"/>
                <a:cs typeface="Book Antiqua"/>
              </a:rPr>
              <a:t>12.4.</a:t>
            </a:r>
            <a:r>
              <a:rPr dirty="0" sz="850" spc="204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Контрольные</a:t>
            </a:r>
            <a:r>
              <a:rPr dirty="0" sz="850" spc="2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вопросы</a:t>
            </a:r>
            <a:endParaRPr sz="8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750">
                <a:latin typeface="Book Antiqua"/>
                <a:cs typeface="Book Antiqua"/>
              </a:rPr>
              <a:t>1.</a:t>
            </a:r>
            <a:r>
              <a:rPr dirty="0" sz="750" spc="3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Найдите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синтаксическую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ошибку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следующей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строке: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92412"/>
            <a:ext cx="14795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100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46377" y="392412"/>
            <a:ext cx="30924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12.</a:t>
            </a:r>
            <a:r>
              <a:rPr dirty="0" sz="600" spc="5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Программирование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командном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процессоре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45">
                <a:latin typeface="Book Antiqua"/>
                <a:cs typeface="Book Antiqua"/>
              </a:rPr>
              <a:t>ОС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30">
                <a:latin typeface="Book Antiqua"/>
                <a:cs typeface="Book Antiqua"/>
              </a:rPr>
              <a:t>UNIX.</a:t>
            </a:r>
            <a:r>
              <a:rPr dirty="0" sz="600" spc="-35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33120" y="73858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26719" y="688327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while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$1</a:t>
            </a:r>
            <a:r>
              <a:rPr dirty="0" sz="700" spc="25">
                <a:solidFill>
                  <a:srgbClr val="19167C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!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2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BA2121"/>
                </a:solidFill>
                <a:latin typeface="Courier New"/>
                <a:cs typeface="Courier New"/>
              </a:rPr>
              <a:t>"exit"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7367" y="956526"/>
            <a:ext cx="4061460" cy="711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8590" indent="-135890">
              <a:lnSpc>
                <a:spcPts val="894"/>
              </a:lnSpc>
              <a:spcBef>
                <a:spcPts val="120"/>
              </a:spcBef>
              <a:buAutoNum type="arabicPeriod" startAt="2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объединить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(конкатенация)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одну?</a:t>
            </a:r>
            <a:endParaRPr sz="750">
              <a:latin typeface="Book Antiqua"/>
              <a:cs typeface="Book Antiqua"/>
            </a:endParaRPr>
          </a:p>
          <a:p>
            <a:pPr marL="147955" marR="5080" indent="-135890">
              <a:lnSpc>
                <a:spcPts val="890"/>
              </a:lnSpc>
              <a:spcBef>
                <a:spcPts val="35"/>
              </a:spcBef>
              <a:buAutoNum type="arabicPeriod" startAt="2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Найдите </a:t>
            </a:r>
            <a:r>
              <a:rPr dirty="0" sz="750" spc="-10">
                <a:latin typeface="Book Antiqua"/>
                <a:cs typeface="Book Antiqua"/>
              </a:rPr>
              <a:t>информацию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 утилите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seq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Какими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иными способами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реализовать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её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функционал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программировании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bash?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69"/>
              </a:lnSpc>
              <a:buAutoNum type="arabicPeriod" startAt="2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Какой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даст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вычисление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выражения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$((10/3))</a:t>
            </a:r>
            <a:r>
              <a:rPr dirty="0" sz="750" spc="-1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 startAt="2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Укажите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кратко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основные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отличия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оболочки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zsh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bash.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 startAt="2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Проверьте, верен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синтаксис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конструкции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3120" y="1799274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26719" y="1749031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b="1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dirty="0" sz="700" spc="20" b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((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a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=1</a:t>
            </a:r>
            <a:r>
              <a:rPr dirty="0" sz="700">
                <a:latin typeface="Courier New"/>
                <a:cs typeface="Courier New"/>
              </a:rPr>
              <a:t>;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&lt;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dirty="0" sz="700" spc="2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LIMIT;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a++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))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87184" y="2017217"/>
            <a:ext cx="4051935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39065" marR="5080" indent="-1270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7.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Сравните</a:t>
            </a:r>
            <a:r>
              <a:rPr dirty="0" sz="750">
                <a:latin typeface="Book Antiqua"/>
                <a:cs typeface="Book Antiqua"/>
              </a:rPr>
              <a:t> язык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bash с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какими-</a:t>
            </a:r>
            <a:r>
              <a:rPr dirty="0" sz="750" spc="-10">
                <a:latin typeface="Book Antiqua"/>
                <a:cs typeface="Book Antiqua"/>
              </a:rPr>
              <a:t>либо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языками программирования.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Какие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преимущества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bash</a:t>
            </a:r>
            <a:r>
              <a:rPr dirty="0" sz="700" spc="-21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сравнению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ними?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Какие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недостатки?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2026-03-20T17:47:13Z</dcterms:created>
  <dcterms:modified xsi:type="dcterms:W3CDTF">2026-03-20T17:47:13Z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LastSaved">
    <vt:filetime>2026-03-20T00:00:00Z</vt:filetime>
  </property>
  <property fmtid="{D5CDD505-2E9C-101B-9397-08002B2CF9AE}" pid="4" name="Producer">
    <vt:lpwstr>3-Heights(TM) PDF Security Shell 4.8.25.2 (http://www.pdf-tools.com)</vt:lpwstr>
  </property>
</Properties>
</file>