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5219700" cy="7200900"/>
  <p:notesSz cx="5219700" cy="72009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1952" y="2232279"/>
            <a:ext cx="4328795" cy="1512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63905" y="4032504"/>
            <a:ext cx="3564890" cy="1800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54635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622740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635" y="288036"/>
            <a:ext cx="4583430" cy="1152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4635" y="1656207"/>
            <a:ext cx="4583430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731518" y="6696837"/>
            <a:ext cx="1629664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54635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666744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Relationship Id="rId3" Type="http://schemas.openxmlformats.org/officeDocument/2006/relationships/image" Target="../media/image1.png"/><Relationship Id="rId4" Type="http://schemas.openxmlformats.org/officeDocument/2006/relationships/slide" Target="slide3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slide" Target="slide5.xml"/><Relationship Id="rId4" Type="http://schemas.openxmlformats.org/officeDocument/2006/relationships/image" Target="../media/image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slide" Target="slide6.xml"/><Relationship Id="rId4" Type="http://schemas.openxmlformats.org/officeDocument/2006/relationships/image" Target="../media/image8.png"/><Relationship Id="rId5" Type="http://schemas.openxmlformats.org/officeDocument/2006/relationships/slide" Target="slide7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slide" Target="slide7.xml"/><Relationship Id="rId4" Type="http://schemas.openxmlformats.org/officeDocument/2006/relationships/slide" Target="slide8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slide" Target="slide9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slide" Target="slide10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9228" y="391949"/>
            <a:ext cx="3491865" cy="69850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050" b="1">
                <a:latin typeface="Times New Roman"/>
                <a:cs typeface="Times New Roman"/>
              </a:rPr>
              <a:t>РОССИЙСКИЙ</a:t>
            </a:r>
            <a:r>
              <a:rPr dirty="0" sz="1050" spc="7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УНИВЕРСИТЕТ</a:t>
            </a:r>
            <a:r>
              <a:rPr dirty="0" sz="1050" spc="7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ДРУЖБЫ</a:t>
            </a:r>
            <a:r>
              <a:rPr dirty="0" sz="1050" spc="90" b="1">
                <a:latin typeface="Times New Roman"/>
                <a:cs typeface="Times New Roman"/>
              </a:rPr>
              <a:t> </a:t>
            </a:r>
            <a:r>
              <a:rPr dirty="0" sz="1050" spc="-10" b="1">
                <a:latin typeface="Times New Roman"/>
                <a:cs typeface="Times New Roman"/>
              </a:rPr>
              <a:t>НАРОДОВ</a:t>
            </a:r>
            <a:endParaRPr sz="1050">
              <a:latin typeface="Times New Roman"/>
              <a:cs typeface="Times New Roman"/>
            </a:endParaRPr>
          </a:p>
          <a:p>
            <a:pPr marL="303530" marR="219710" indent="46990">
              <a:lnSpc>
                <a:spcPct val="160800"/>
              </a:lnSpc>
            </a:pPr>
            <a:r>
              <a:rPr dirty="0" sz="850" b="1">
                <a:latin typeface="Times New Roman"/>
                <a:cs typeface="Times New Roman"/>
              </a:rPr>
              <a:t>Факультет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физико-математических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естественных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spc="-20" b="1">
                <a:latin typeface="Times New Roman"/>
                <a:cs typeface="Times New Roman"/>
              </a:rPr>
              <a:t>наук</a:t>
            </a:r>
            <a:r>
              <a:rPr dirty="0" sz="850" b="1">
                <a:latin typeface="Times New Roman"/>
                <a:cs typeface="Times New Roman"/>
              </a:rPr>
              <a:t> Кафедра</a:t>
            </a:r>
            <a:r>
              <a:rPr dirty="0" sz="850" spc="5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прикладной</a:t>
            </a:r>
            <a:r>
              <a:rPr dirty="0" sz="850" spc="5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информатики</a:t>
            </a:r>
            <a:r>
              <a:rPr dirty="0" sz="850" spc="5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5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теории</a:t>
            </a:r>
            <a:r>
              <a:rPr dirty="0" sz="850" spc="45" b="1">
                <a:latin typeface="Times New Roman"/>
                <a:cs typeface="Times New Roman"/>
              </a:rPr>
              <a:t> </a:t>
            </a:r>
            <a:r>
              <a:rPr dirty="0" sz="850" spc="-10" b="1">
                <a:latin typeface="Times New Roman"/>
                <a:cs typeface="Times New Roman"/>
              </a:rPr>
              <a:t>вероятностей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30899" y="1970606"/>
            <a:ext cx="2562860" cy="819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1905">
              <a:lnSpc>
                <a:spcPct val="100000"/>
              </a:lnSpc>
              <a:spcBef>
                <a:spcPts val="125"/>
              </a:spcBef>
            </a:pPr>
            <a:r>
              <a:rPr dirty="0" sz="1050" spc="-10" b="1">
                <a:latin typeface="Times New Roman"/>
                <a:cs typeface="Times New Roman"/>
              </a:rPr>
              <a:t>ОТЧЕТ</a:t>
            </a:r>
            <a:endParaRPr sz="1050">
              <a:latin typeface="Times New Roman"/>
              <a:cs typeface="Times New Roman"/>
            </a:endParaRPr>
          </a:p>
          <a:p>
            <a:pPr algn="ctr" marL="41910">
              <a:lnSpc>
                <a:spcPct val="100000"/>
              </a:lnSpc>
              <a:spcBef>
                <a:spcPts val="819"/>
              </a:spcBef>
            </a:pPr>
            <a:r>
              <a:rPr dirty="0" sz="1050" b="1">
                <a:latin typeface="Times New Roman"/>
                <a:cs typeface="Times New Roman"/>
              </a:rPr>
              <a:t>ПО</a:t>
            </a:r>
            <a:r>
              <a:rPr dirty="0" sz="1050" spc="5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ЛАБОРАТОРНОЙ</a:t>
            </a:r>
            <a:r>
              <a:rPr dirty="0" sz="1050" spc="5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РАБОТЕ</a:t>
            </a:r>
            <a:r>
              <a:rPr dirty="0" sz="1050" spc="6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№</a:t>
            </a:r>
            <a:r>
              <a:rPr dirty="0" sz="1050" spc="55" b="1">
                <a:latin typeface="Times New Roman"/>
                <a:cs typeface="Times New Roman"/>
              </a:rPr>
              <a:t> </a:t>
            </a:r>
            <a:r>
              <a:rPr dirty="0" sz="1050" spc="-50" b="1">
                <a:latin typeface="Times New Roman"/>
                <a:cs typeface="Times New Roman"/>
              </a:rPr>
              <a:t>9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974725" algn="l"/>
              </a:tabLst>
            </a:pPr>
            <a:r>
              <a:rPr dirty="0" u="sng" sz="10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u="sng" sz="10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Архитектура</a:t>
            </a:r>
            <a:r>
              <a:rPr dirty="0" u="sng" sz="1050" spc="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89817" y="4260396"/>
            <a:ext cx="2061845" cy="5232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5334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85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Моисеев</a:t>
            </a:r>
            <a:r>
              <a:rPr dirty="0" u="sng" sz="85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Дмитрий</a:t>
            </a:r>
            <a:r>
              <a:rPr dirty="0" u="sng" sz="85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Вячеславович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8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85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</a:t>
            </a:r>
            <a:r>
              <a:rPr dirty="0" u="sng" sz="8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02-</a:t>
            </a:r>
            <a:r>
              <a:rPr dirty="0" u="sng" sz="8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286023" y="6262062"/>
            <a:ext cx="528320" cy="44450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dirty="0" sz="850" spc="-10" b="1">
                <a:latin typeface="Times New Roman"/>
                <a:cs typeface="Times New Roman"/>
              </a:rPr>
              <a:t>МОСКВА</a:t>
            </a:r>
            <a:endParaRPr sz="850">
              <a:latin typeface="Times New Roman"/>
              <a:cs typeface="Times New Roman"/>
            </a:endParaRPr>
          </a:p>
          <a:p>
            <a:pPr algn="ctr" marL="4445">
              <a:lnSpc>
                <a:spcPct val="100000"/>
              </a:lnSpc>
              <a:spcBef>
                <a:spcPts val="625"/>
              </a:spcBef>
            </a:pPr>
            <a:r>
              <a:rPr dirty="0" sz="850">
                <a:latin typeface="Times New Roman"/>
                <a:cs typeface="Times New Roman"/>
              </a:rPr>
              <a:t>2026</a:t>
            </a:r>
            <a:r>
              <a:rPr dirty="0" sz="850" spc="10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г.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60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174987" y="2734332"/>
            <a:ext cx="240665" cy="129539"/>
            <a:chOff x="4174987" y="2734332"/>
            <a:chExt cx="240665" cy="129539"/>
          </a:xfrm>
        </p:grpSpPr>
        <p:sp>
          <p:nvSpPr>
            <p:cNvPr id="5" name="object 5" descr=""/>
            <p:cNvSpPr/>
            <p:nvPr/>
          </p:nvSpPr>
          <p:spPr>
            <a:xfrm>
              <a:off x="4177517" y="2736863"/>
              <a:ext cx="235585" cy="124460"/>
            </a:xfrm>
            <a:custGeom>
              <a:avLst/>
              <a:gdLst/>
              <a:ahLst/>
              <a:cxnLst/>
              <a:rect l="l" t="t" r="r" b="b"/>
              <a:pathLst>
                <a:path w="235585" h="124460">
                  <a:moveTo>
                    <a:pt x="228804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28804" y="123926"/>
                  </a:lnTo>
                  <a:lnTo>
                    <a:pt x="235396" y="117333"/>
                  </a:lnTo>
                  <a:lnTo>
                    <a:pt x="235396" y="6592"/>
                  </a:lnTo>
                  <a:lnTo>
                    <a:pt x="2288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177517" y="2736863"/>
              <a:ext cx="235585" cy="124460"/>
            </a:xfrm>
            <a:custGeom>
              <a:avLst/>
              <a:gdLst/>
              <a:ahLst/>
              <a:cxnLst/>
              <a:rect l="l" t="t" r="r" b="b"/>
              <a:pathLst>
                <a:path w="235585" h="124460">
                  <a:moveTo>
                    <a:pt x="220672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20672" y="123926"/>
                  </a:lnTo>
                  <a:lnTo>
                    <a:pt x="228804" y="123926"/>
                  </a:lnTo>
                  <a:lnTo>
                    <a:pt x="235396" y="117333"/>
                  </a:lnTo>
                  <a:lnTo>
                    <a:pt x="235396" y="109202"/>
                  </a:lnTo>
                  <a:lnTo>
                    <a:pt x="235396" y="14723"/>
                  </a:lnTo>
                  <a:lnTo>
                    <a:pt x="235396" y="6592"/>
                  </a:lnTo>
                  <a:lnTo>
                    <a:pt x="228804" y="0"/>
                  </a:lnTo>
                  <a:lnTo>
                    <a:pt x="220672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43204" y="766996"/>
            <a:ext cx="4154804" cy="232918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50800" marR="561975">
              <a:lnSpc>
                <a:spcPts val="1060"/>
              </a:lnSpc>
              <a:spcBef>
                <a:spcPts val="190"/>
              </a:spcBef>
            </a:pPr>
            <a:r>
              <a:rPr dirty="0" sz="950" b="1">
                <a:latin typeface="Book Antiqua"/>
                <a:cs typeface="Book Antiqua"/>
              </a:rPr>
              <a:t>Лабораторная</a:t>
            </a:r>
            <a:r>
              <a:rPr dirty="0" sz="950" spc="6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работа</a:t>
            </a:r>
            <a:r>
              <a:rPr dirty="0" sz="950" spc="6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№</a:t>
            </a:r>
            <a:r>
              <a:rPr dirty="0" sz="950" spc="6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7.</a:t>
            </a:r>
            <a:r>
              <a:rPr dirty="0" sz="950" spc="250" b="1">
                <a:latin typeface="Book Antiqua"/>
                <a:cs typeface="Book Antiqua"/>
              </a:rPr>
              <a:t>  </a:t>
            </a:r>
            <a:r>
              <a:rPr dirty="0" sz="950" b="1">
                <a:latin typeface="Book Antiqua"/>
                <a:cs typeface="Book Antiqua"/>
              </a:rPr>
              <a:t>Командная</a:t>
            </a:r>
            <a:r>
              <a:rPr dirty="0" sz="950" spc="6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оболочка</a:t>
            </a:r>
            <a:r>
              <a:rPr dirty="0" sz="950" spc="65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Midnight Commander</a:t>
            </a:r>
            <a:endParaRPr sz="950">
              <a:latin typeface="Book Antiqua"/>
              <a:cs typeface="Book Antiqua"/>
            </a:endParaRPr>
          </a:p>
          <a:p>
            <a:pPr lvl="1" marL="336550" indent="-285750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336550" algn="l"/>
              </a:tabLst>
            </a:pPr>
            <a:r>
              <a:rPr dirty="0" sz="850" b="1">
                <a:latin typeface="Book Antiqua"/>
                <a:cs typeface="Book Antiqua"/>
              </a:rPr>
              <a:t>Цель</a:t>
            </a:r>
            <a:r>
              <a:rPr dirty="0" sz="850" spc="-3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algn="just" marL="50800" marR="43180" indent="97790">
              <a:lnSpc>
                <a:spcPct val="100000"/>
              </a:lnSpc>
              <a:spcBef>
                <a:spcPts val="865"/>
              </a:spcBef>
            </a:pPr>
            <a:r>
              <a:rPr dirty="0" sz="750">
                <a:latin typeface="Book Antiqua"/>
                <a:cs typeface="Book Antiqua"/>
              </a:rPr>
              <a:t>Освоение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основных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возможностей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командной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Midnight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Commander.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Приоб-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ретение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навыков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практической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просмотру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файлов;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манипуляций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ними.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750">
              <a:latin typeface="Book Antiqua"/>
              <a:cs typeface="Book Antiqua"/>
            </a:endParaRPr>
          </a:p>
          <a:p>
            <a:pPr lvl="1" marL="335280" indent="-28448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335280" algn="l"/>
              </a:tabLst>
            </a:pPr>
            <a:r>
              <a:rPr dirty="0" sz="850" b="1">
                <a:latin typeface="Book Antiqua"/>
                <a:cs typeface="Book Antiqua"/>
              </a:rPr>
              <a:t>Указания</a:t>
            </a:r>
            <a:r>
              <a:rPr dirty="0" sz="850" spc="1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к</a:t>
            </a:r>
            <a:r>
              <a:rPr dirty="0" sz="850" spc="1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работе</a:t>
            </a:r>
            <a:endParaRPr sz="850">
              <a:latin typeface="Book Antiqua"/>
              <a:cs typeface="Book Antiqua"/>
            </a:endParaRPr>
          </a:p>
          <a:p>
            <a:pPr lvl="2" marL="430530" indent="-379730">
              <a:lnSpc>
                <a:spcPct val="100000"/>
              </a:lnSpc>
              <a:spcBef>
                <a:spcPts val="844"/>
              </a:spcBef>
              <a:buAutoNum type="arabicPeriod"/>
              <a:tabLst>
                <a:tab pos="430530" algn="l"/>
              </a:tabLst>
            </a:pPr>
            <a:r>
              <a:rPr dirty="0" sz="850" b="1">
                <a:latin typeface="Book Antiqua"/>
                <a:cs typeface="Book Antiqua"/>
              </a:rPr>
              <a:t>Общие</a:t>
            </a:r>
            <a:r>
              <a:rPr dirty="0" sz="850" spc="-1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сведения</a:t>
            </a:r>
            <a:endParaRPr sz="850">
              <a:latin typeface="Book Antiqua"/>
              <a:cs typeface="Book Antiqua"/>
            </a:endParaRPr>
          </a:p>
          <a:p>
            <a:pPr marL="50800" marR="43180" indent="97790">
              <a:lnSpc>
                <a:spcPct val="100000"/>
              </a:lnSpc>
              <a:spcBef>
                <a:spcPts val="555"/>
              </a:spcBef>
            </a:pPr>
            <a:r>
              <a:rPr dirty="0" sz="750" i="1">
                <a:latin typeface="Book Antiqua"/>
                <a:cs typeface="Book Antiqua"/>
              </a:rPr>
              <a:t>Командная</a:t>
            </a:r>
            <a:r>
              <a:rPr dirty="0" sz="750" spc="8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оболочка</a:t>
            </a:r>
            <a:r>
              <a:rPr dirty="0" sz="750" spc="35" i="1">
                <a:latin typeface="Book Antiqua"/>
                <a:cs typeface="Book Antiqua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интерфейс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взаимодействия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пользователя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операционной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мой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программным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обеспечением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посредством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команд.</a:t>
            </a:r>
            <a:endParaRPr sz="750">
              <a:latin typeface="Book Antiqua"/>
              <a:cs typeface="Book Antiqua"/>
            </a:endParaRPr>
          </a:p>
          <a:p>
            <a:pPr marL="148590">
              <a:lnSpc>
                <a:spcPts val="890"/>
              </a:lnSpc>
            </a:pPr>
            <a:r>
              <a:rPr dirty="0" sz="750" spc="-10" i="1">
                <a:latin typeface="Book Antiqua"/>
                <a:cs typeface="Book Antiqua"/>
              </a:rPr>
              <a:t>Midnight </a:t>
            </a:r>
            <a:r>
              <a:rPr dirty="0" sz="750" i="1">
                <a:latin typeface="Book Antiqua"/>
                <a:cs typeface="Book Antiqua"/>
              </a:rPr>
              <a:t>Commander</a:t>
            </a:r>
            <a:r>
              <a:rPr dirty="0" sz="750" spc="50" i="1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(или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mc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псевдографическая командная </a:t>
            </a:r>
            <a:r>
              <a:rPr dirty="0" sz="750" spc="-10">
                <a:latin typeface="Book Antiqua"/>
                <a:cs typeface="Book Antiqua"/>
              </a:rPr>
              <a:t>оболочка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 </a:t>
            </a:r>
            <a:r>
              <a:rPr dirty="0" sz="750" spc="-10">
                <a:latin typeface="Book Antiqua"/>
                <a:cs typeface="Book Antiqua"/>
              </a:rPr>
              <a:t>UNIX/Linux</a:t>
            </a:r>
            <a:endParaRPr sz="750">
              <a:latin typeface="Book Antiqua"/>
              <a:cs typeface="Book Antiqua"/>
            </a:endParaRPr>
          </a:p>
          <a:p>
            <a:pPr marL="50800">
              <a:lnSpc>
                <a:spcPts val="894"/>
              </a:lnSpc>
              <a:spcBef>
                <a:spcPts val="165"/>
              </a:spcBef>
            </a:pPr>
            <a:r>
              <a:rPr dirty="0" sz="750">
                <a:latin typeface="Book Antiqua"/>
                <a:cs typeface="Book Antiqua"/>
              </a:rPr>
              <a:t>систем.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запуска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mc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набрать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mc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нажать</a:t>
            </a:r>
            <a:r>
              <a:rPr dirty="0" sz="750" spc="27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Enter</a:t>
            </a:r>
            <a:r>
              <a:rPr dirty="0" baseline="8547" sz="975" spc="172">
                <a:latin typeface="Calibri"/>
                <a:cs typeface="Calibri"/>
              </a:rPr>
              <a:t> </a:t>
            </a:r>
            <a:r>
              <a:rPr dirty="0" sz="750" spc="-5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50800" marR="64135" indent="97790">
              <a:lnSpc>
                <a:spcPts val="890"/>
              </a:lnSpc>
              <a:spcBef>
                <a:spcPts val="35"/>
              </a:spcBef>
            </a:pPr>
            <a:r>
              <a:rPr dirty="0" sz="750">
                <a:latin typeface="Book Antiqua"/>
                <a:cs typeface="Book Antiqua"/>
              </a:rPr>
              <a:t>Рабочее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пространство</a:t>
            </a:r>
            <a:r>
              <a:rPr dirty="0" sz="750" spc="1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mc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две</a:t>
            </a:r>
            <a:r>
              <a:rPr dirty="0" sz="750" spc="1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панели,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отображающие</a:t>
            </a:r>
            <a:r>
              <a:rPr dirty="0" sz="750" spc="1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умолчанию</a:t>
            </a:r>
            <a:r>
              <a:rPr dirty="0" sz="750" spc="1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списки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двух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(рис.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  <a:hlinkClick r:id="rId2" action="ppaction://hlinksldjump"/>
              </a:rPr>
              <a:t>7</a:t>
            </a:r>
            <a:r>
              <a:rPr dirty="0" sz="750" spc="-10">
                <a:latin typeface="Book Antiqua"/>
                <a:cs typeface="Book Antiqua"/>
              </a:rPr>
              <a:t>.1).</a:t>
            </a:r>
            <a:endParaRPr sz="750">
              <a:latin typeface="Book Antiqua"/>
              <a:cs typeface="Book Antiqu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7191" y="3232434"/>
            <a:ext cx="3225505" cy="2567769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1019021" y="6314704"/>
            <a:ext cx="152400" cy="129539"/>
            <a:chOff x="1019021" y="6314704"/>
            <a:chExt cx="152400" cy="129539"/>
          </a:xfrm>
        </p:grpSpPr>
        <p:sp>
          <p:nvSpPr>
            <p:cNvPr id="10" name="object 10" descr=""/>
            <p:cNvSpPr/>
            <p:nvPr/>
          </p:nvSpPr>
          <p:spPr>
            <a:xfrm>
              <a:off x="1021552" y="631723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21552" y="631723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2620301" y="6456346"/>
            <a:ext cx="152400" cy="129539"/>
            <a:chOff x="2620301" y="6456346"/>
            <a:chExt cx="152400" cy="129539"/>
          </a:xfrm>
        </p:grpSpPr>
        <p:sp>
          <p:nvSpPr>
            <p:cNvPr id="13" name="object 13" descr=""/>
            <p:cNvSpPr/>
            <p:nvPr/>
          </p:nvSpPr>
          <p:spPr>
            <a:xfrm>
              <a:off x="2622831" y="645887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622831" y="645887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2832822" y="6456346"/>
            <a:ext cx="187325" cy="129539"/>
            <a:chOff x="2832822" y="6456346"/>
            <a:chExt cx="187325" cy="129539"/>
          </a:xfrm>
        </p:grpSpPr>
        <p:sp>
          <p:nvSpPr>
            <p:cNvPr id="16" name="object 16" descr=""/>
            <p:cNvSpPr/>
            <p:nvPr/>
          </p:nvSpPr>
          <p:spPr>
            <a:xfrm>
              <a:off x="2835353" y="6458877"/>
              <a:ext cx="182245" cy="124460"/>
            </a:xfrm>
            <a:custGeom>
              <a:avLst/>
              <a:gdLst/>
              <a:ahLst/>
              <a:cxnLst/>
              <a:rect l="l" t="t" r="r" b="b"/>
              <a:pathLst>
                <a:path w="182244" h="124459">
                  <a:moveTo>
                    <a:pt x="175470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75470" y="123926"/>
                  </a:lnTo>
                  <a:lnTo>
                    <a:pt x="182062" y="117333"/>
                  </a:lnTo>
                  <a:lnTo>
                    <a:pt x="182062" y="6592"/>
                  </a:lnTo>
                  <a:lnTo>
                    <a:pt x="17547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835353" y="6458877"/>
              <a:ext cx="182245" cy="124460"/>
            </a:xfrm>
            <a:custGeom>
              <a:avLst/>
              <a:gdLst/>
              <a:ahLst/>
              <a:cxnLst/>
              <a:rect l="l" t="t" r="r" b="b"/>
              <a:pathLst>
                <a:path w="182244" h="124459">
                  <a:moveTo>
                    <a:pt x="167339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67339" y="123926"/>
                  </a:lnTo>
                  <a:lnTo>
                    <a:pt x="175470" y="123926"/>
                  </a:lnTo>
                  <a:lnTo>
                    <a:pt x="182062" y="117333"/>
                  </a:lnTo>
                  <a:lnTo>
                    <a:pt x="182062" y="109202"/>
                  </a:lnTo>
                  <a:lnTo>
                    <a:pt x="182062" y="14723"/>
                  </a:lnTo>
                  <a:lnTo>
                    <a:pt x="182062" y="6592"/>
                  </a:lnTo>
                  <a:lnTo>
                    <a:pt x="175470" y="0"/>
                  </a:lnTo>
                  <a:lnTo>
                    <a:pt x="167339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43204" y="5906487"/>
            <a:ext cx="4154804" cy="798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13970">
              <a:lnSpc>
                <a:spcPct val="100000"/>
              </a:lnSpc>
              <a:spcBef>
                <a:spcPts val="135"/>
              </a:spcBef>
            </a:pPr>
            <a:r>
              <a:rPr dirty="0" sz="650" spc="10" b="1">
                <a:latin typeface="Book Antiqua"/>
                <a:cs typeface="Book Antiqua"/>
              </a:rPr>
              <a:t>Рис.</a:t>
            </a:r>
            <a:r>
              <a:rPr dirty="0" sz="650" spc="114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7.1.</a:t>
            </a:r>
            <a:r>
              <a:rPr dirty="0" sz="650" spc="85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Внешний</a:t>
            </a:r>
            <a:r>
              <a:rPr dirty="0" sz="650" spc="120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вид</a:t>
            </a:r>
            <a:r>
              <a:rPr dirty="0" sz="650" spc="120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экрана</a:t>
            </a:r>
            <a:r>
              <a:rPr dirty="0" sz="650" spc="120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при</a:t>
            </a:r>
            <a:r>
              <a:rPr dirty="0" sz="650" spc="120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работе</a:t>
            </a:r>
            <a:r>
              <a:rPr dirty="0" sz="650" spc="120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с</a:t>
            </a:r>
            <a:r>
              <a:rPr dirty="0" sz="650" spc="114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Midnight</a:t>
            </a:r>
            <a:r>
              <a:rPr dirty="0" sz="650" spc="120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Commander</a:t>
            </a:r>
            <a:endParaRPr sz="6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650">
              <a:latin typeface="Book Antiqua"/>
              <a:cs typeface="Book Antiqua"/>
            </a:endParaRPr>
          </a:p>
          <a:p>
            <a:pPr marL="50800" marR="43180" indent="97790">
              <a:lnSpc>
                <a:spcPct val="118700"/>
              </a:lnSpc>
            </a:pPr>
            <a:r>
              <a:rPr dirty="0" sz="750" spc="10">
                <a:latin typeface="Book Antiqua"/>
                <a:cs typeface="Book Antiqua"/>
              </a:rPr>
              <a:t>Над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панелями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располагается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меню,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доступ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которому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осуществляется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помощью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клавиши</a:t>
            </a:r>
            <a:r>
              <a:rPr dirty="0" sz="750" spc="265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F9</a:t>
            </a:r>
            <a:r>
              <a:rPr dirty="0" baseline="8547" sz="975" spc="179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30">
                <a:latin typeface="Book Antiqua"/>
                <a:cs typeface="Book Antiqua"/>
              </a:rPr>
              <a:t> Под</a:t>
            </a:r>
            <a:r>
              <a:rPr dirty="0" sz="750">
                <a:latin typeface="Book Antiqua"/>
                <a:cs typeface="Book Antiqua"/>
              </a:rPr>
              <a:t> панелями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внизу расположены </a:t>
            </a:r>
            <a:r>
              <a:rPr dirty="0" sz="750" spc="-10">
                <a:latin typeface="Book Antiqua"/>
                <a:cs typeface="Book Antiqua"/>
              </a:rPr>
              <a:t>управляющие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экранные кнопки,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ассоци-</a:t>
            </a:r>
            <a:endParaRPr sz="750">
              <a:latin typeface="Book Antiqua"/>
              <a:cs typeface="Book Antiqua"/>
            </a:endParaRPr>
          </a:p>
          <a:p>
            <a:pPr marL="50800" marR="63500">
              <a:lnSpc>
                <a:spcPct val="100000"/>
              </a:lnSpc>
              <a:spcBef>
                <a:spcPts val="215"/>
              </a:spcBef>
            </a:pPr>
            <a:r>
              <a:rPr dirty="0" sz="750">
                <a:latin typeface="Book Antiqua"/>
                <a:cs typeface="Book Antiqua"/>
              </a:rPr>
              <a:t>ированные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функциональными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клавишами</a:t>
            </a:r>
            <a:r>
              <a:rPr dirty="0" sz="750" spc="265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F1</a:t>
            </a:r>
            <a:r>
              <a:rPr dirty="0" baseline="8547" sz="975" spc="187">
                <a:latin typeface="Calibri"/>
                <a:cs typeface="Calibri"/>
              </a:rPr>
              <a:t> </a:t>
            </a:r>
            <a:r>
              <a:rPr dirty="0" sz="750" spc="95">
                <a:latin typeface="Book Antiqua"/>
                <a:cs typeface="Book Antiqua"/>
              </a:rPr>
              <a:t>–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F10</a:t>
            </a:r>
            <a:r>
              <a:rPr dirty="0" baseline="8547" sz="975" spc="405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(табл.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  <a:hlinkClick r:id="rId4" action="ppaction://hlinksldjump"/>
              </a:rPr>
              <a:t>7</a:t>
            </a:r>
            <a:r>
              <a:rPr dirty="0" sz="750">
                <a:latin typeface="Book Antiqua"/>
                <a:cs typeface="Book Antiqua"/>
              </a:rPr>
              <a:t>.1).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Над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ними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располагается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командная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строка,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предназначенная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ввода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61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100080" y="616912"/>
            <a:ext cx="539115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b="1">
                <a:latin typeface="Book Antiqua"/>
                <a:cs typeface="Book Antiqua"/>
              </a:rPr>
              <a:t>Таблица</a:t>
            </a:r>
            <a:r>
              <a:rPr dirty="0" sz="650" spc="200" b="1">
                <a:latin typeface="Book Antiqua"/>
                <a:cs typeface="Book Antiqua"/>
              </a:rPr>
              <a:t> </a:t>
            </a:r>
            <a:r>
              <a:rPr dirty="0" sz="650" spc="-25" b="1">
                <a:latin typeface="Book Antiqua"/>
                <a:cs typeface="Book Antiqua"/>
              </a:rPr>
              <a:t>7.1</a:t>
            </a:r>
            <a:endParaRPr sz="6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922411" y="730780"/>
            <a:ext cx="1375410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20" b="1">
                <a:latin typeface="Book Antiqua"/>
                <a:cs typeface="Book Antiqua"/>
              </a:rPr>
              <a:t>Функциональные</a:t>
            </a:r>
            <a:r>
              <a:rPr dirty="0" sz="650" spc="6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клавиши</a:t>
            </a:r>
            <a:r>
              <a:rPr dirty="0" sz="650" spc="65" b="1">
                <a:latin typeface="Book Antiqua"/>
                <a:cs typeface="Book Antiqua"/>
              </a:rPr>
              <a:t> </a:t>
            </a:r>
            <a:r>
              <a:rPr dirty="0" sz="650" spc="25" b="1">
                <a:latin typeface="Book Antiqua"/>
                <a:cs typeface="Book Antiqua"/>
              </a:rPr>
              <a:t>mc</a:t>
            </a:r>
            <a:endParaRPr sz="650">
              <a:latin typeface="Book Antiqua"/>
              <a:cs typeface="Book Antiqu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47674" y="991222"/>
            <a:ext cx="3724910" cy="169545"/>
            <a:chOff x="747674" y="991222"/>
            <a:chExt cx="3724910" cy="169545"/>
          </a:xfrm>
        </p:grpSpPr>
        <p:sp>
          <p:nvSpPr>
            <p:cNvPr id="8" name="object 8" descr=""/>
            <p:cNvSpPr/>
            <p:nvPr/>
          </p:nvSpPr>
          <p:spPr>
            <a:xfrm>
              <a:off x="751801" y="995350"/>
              <a:ext cx="3716654" cy="0"/>
            </a:xfrm>
            <a:custGeom>
              <a:avLst/>
              <a:gdLst/>
              <a:ahLst/>
              <a:cxnLst/>
              <a:rect l="l" t="t" r="r" b="b"/>
              <a:pathLst>
                <a:path w="3716654" h="0">
                  <a:moveTo>
                    <a:pt x="0" y="0"/>
                  </a:moveTo>
                  <a:lnTo>
                    <a:pt x="3716401" y="0"/>
                  </a:lnTo>
                </a:path>
              </a:pathLst>
            </a:custGeom>
            <a:ln w="78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47663" y="103370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47663" y="103370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847663" y="1028778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845">
              <a:lnSpc>
                <a:spcPct val="100000"/>
              </a:lnSpc>
              <a:spcBef>
                <a:spcPts val="95"/>
              </a:spcBef>
            </a:pPr>
            <a:r>
              <a:rPr dirty="0" sz="650" spc="-25">
                <a:latin typeface="Calibri"/>
                <a:cs typeface="Calibri"/>
              </a:rPr>
              <a:t>F1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845133" y="1174658"/>
            <a:ext cx="152400" cy="129539"/>
            <a:chOff x="845133" y="1174658"/>
            <a:chExt cx="152400" cy="129539"/>
          </a:xfrm>
        </p:grpSpPr>
        <p:sp>
          <p:nvSpPr>
            <p:cNvPr id="13" name="object 13" descr=""/>
            <p:cNvSpPr/>
            <p:nvPr/>
          </p:nvSpPr>
          <p:spPr>
            <a:xfrm>
              <a:off x="847663" y="117718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47663" y="117718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847663" y="1172250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845">
              <a:lnSpc>
                <a:spcPct val="100000"/>
              </a:lnSpc>
              <a:spcBef>
                <a:spcPts val="95"/>
              </a:spcBef>
            </a:pPr>
            <a:r>
              <a:rPr dirty="0" sz="650" spc="-25">
                <a:latin typeface="Calibri"/>
                <a:cs typeface="Calibri"/>
              </a:rPr>
              <a:t>F2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845133" y="1456674"/>
            <a:ext cx="152400" cy="129539"/>
            <a:chOff x="845133" y="1456674"/>
            <a:chExt cx="152400" cy="129539"/>
          </a:xfrm>
        </p:grpSpPr>
        <p:sp>
          <p:nvSpPr>
            <p:cNvPr id="17" name="object 17" descr=""/>
            <p:cNvSpPr/>
            <p:nvPr/>
          </p:nvSpPr>
          <p:spPr>
            <a:xfrm>
              <a:off x="847663" y="145920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47663" y="145920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865149" y="1454279"/>
            <a:ext cx="112395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25">
                <a:latin typeface="Calibri"/>
                <a:cs typeface="Calibri"/>
              </a:rPr>
              <a:t>F3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845133" y="1738703"/>
            <a:ext cx="152400" cy="129539"/>
            <a:chOff x="845133" y="1738703"/>
            <a:chExt cx="152400" cy="129539"/>
          </a:xfrm>
        </p:grpSpPr>
        <p:sp>
          <p:nvSpPr>
            <p:cNvPr id="21" name="object 21" descr=""/>
            <p:cNvSpPr/>
            <p:nvPr/>
          </p:nvSpPr>
          <p:spPr>
            <a:xfrm>
              <a:off x="847663" y="174123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47663" y="174123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865149" y="1736308"/>
            <a:ext cx="112395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25">
                <a:latin typeface="Calibri"/>
                <a:cs typeface="Calibri"/>
              </a:rPr>
              <a:t>F4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845133" y="2020732"/>
            <a:ext cx="152400" cy="129539"/>
            <a:chOff x="845133" y="2020732"/>
            <a:chExt cx="152400" cy="129539"/>
          </a:xfrm>
        </p:grpSpPr>
        <p:sp>
          <p:nvSpPr>
            <p:cNvPr id="25" name="object 25" descr=""/>
            <p:cNvSpPr/>
            <p:nvPr/>
          </p:nvSpPr>
          <p:spPr>
            <a:xfrm>
              <a:off x="847663" y="202326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47663" y="202326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865149" y="2018324"/>
            <a:ext cx="112395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25">
                <a:latin typeface="Calibri"/>
                <a:cs typeface="Calibri"/>
              </a:rPr>
              <a:t>F5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845133" y="2302748"/>
            <a:ext cx="152400" cy="129539"/>
            <a:chOff x="845133" y="2302748"/>
            <a:chExt cx="152400" cy="129539"/>
          </a:xfrm>
        </p:grpSpPr>
        <p:sp>
          <p:nvSpPr>
            <p:cNvPr id="29" name="object 29" descr=""/>
            <p:cNvSpPr/>
            <p:nvPr/>
          </p:nvSpPr>
          <p:spPr>
            <a:xfrm>
              <a:off x="847663" y="230527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847663" y="230527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865149" y="2300353"/>
            <a:ext cx="112395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25">
                <a:latin typeface="Calibri"/>
                <a:cs typeface="Calibri"/>
              </a:rPr>
              <a:t>F6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845123" y="2584768"/>
            <a:ext cx="152400" cy="129539"/>
            <a:chOff x="845123" y="2584768"/>
            <a:chExt cx="152400" cy="129539"/>
          </a:xfrm>
        </p:grpSpPr>
        <p:sp>
          <p:nvSpPr>
            <p:cNvPr id="33" name="object 33" descr=""/>
            <p:cNvSpPr/>
            <p:nvPr/>
          </p:nvSpPr>
          <p:spPr>
            <a:xfrm>
              <a:off x="847663" y="258730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47663" y="258730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847663" y="2582382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845">
              <a:lnSpc>
                <a:spcPct val="100000"/>
              </a:lnSpc>
              <a:spcBef>
                <a:spcPts val="95"/>
              </a:spcBef>
            </a:pPr>
            <a:r>
              <a:rPr dirty="0" sz="650" spc="-25">
                <a:latin typeface="Calibri"/>
                <a:cs typeface="Calibri"/>
              </a:rPr>
              <a:t>F7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845133" y="2728262"/>
            <a:ext cx="152400" cy="129539"/>
            <a:chOff x="845133" y="2728262"/>
            <a:chExt cx="152400" cy="129539"/>
          </a:xfrm>
        </p:grpSpPr>
        <p:sp>
          <p:nvSpPr>
            <p:cNvPr id="37" name="object 37" descr=""/>
            <p:cNvSpPr/>
            <p:nvPr/>
          </p:nvSpPr>
          <p:spPr>
            <a:xfrm>
              <a:off x="847663" y="273079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47663" y="273079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847663" y="2725853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845">
              <a:lnSpc>
                <a:spcPct val="100000"/>
              </a:lnSpc>
              <a:spcBef>
                <a:spcPts val="95"/>
              </a:spcBef>
            </a:pPr>
            <a:r>
              <a:rPr dirty="0" sz="650" spc="-25">
                <a:latin typeface="Calibri"/>
                <a:cs typeface="Calibri"/>
              </a:rPr>
              <a:t>F8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827711" y="3010268"/>
            <a:ext cx="187325" cy="273050"/>
            <a:chOff x="827711" y="3010268"/>
            <a:chExt cx="187325" cy="273050"/>
          </a:xfrm>
        </p:grpSpPr>
        <p:sp>
          <p:nvSpPr>
            <p:cNvPr id="41" name="object 41" descr=""/>
            <p:cNvSpPr/>
            <p:nvPr/>
          </p:nvSpPr>
          <p:spPr>
            <a:xfrm>
              <a:off x="847663" y="301280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847663" y="301280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30251" y="3156293"/>
              <a:ext cx="182245" cy="124460"/>
            </a:xfrm>
            <a:custGeom>
              <a:avLst/>
              <a:gdLst/>
              <a:ahLst/>
              <a:cxnLst/>
              <a:rect l="l" t="t" r="r" b="b"/>
              <a:pathLst>
                <a:path w="182244" h="124460">
                  <a:moveTo>
                    <a:pt x="175470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75470" y="123926"/>
                  </a:lnTo>
                  <a:lnTo>
                    <a:pt x="182062" y="117333"/>
                  </a:lnTo>
                  <a:lnTo>
                    <a:pt x="182062" y="6592"/>
                  </a:lnTo>
                  <a:lnTo>
                    <a:pt x="17547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830251" y="3156293"/>
              <a:ext cx="182245" cy="124460"/>
            </a:xfrm>
            <a:custGeom>
              <a:avLst/>
              <a:gdLst/>
              <a:ahLst/>
              <a:cxnLst/>
              <a:rect l="l" t="t" r="r" b="b"/>
              <a:pathLst>
                <a:path w="182244" h="124460">
                  <a:moveTo>
                    <a:pt x="167339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67339" y="123926"/>
                  </a:lnTo>
                  <a:lnTo>
                    <a:pt x="175470" y="123926"/>
                  </a:lnTo>
                  <a:lnTo>
                    <a:pt x="182062" y="117333"/>
                  </a:lnTo>
                  <a:lnTo>
                    <a:pt x="182062" y="109202"/>
                  </a:lnTo>
                  <a:lnTo>
                    <a:pt x="182062" y="14723"/>
                  </a:lnTo>
                  <a:lnTo>
                    <a:pt x="182062" y="6592"/>
                  </a:lnTo>
                  <a:lnTo>
                    <a:pt x="175470" y="0"/>
                  </a:lnTo>
                  <a:lnTo>
                    <a:pt x="167339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842848" y="2962556"/>
            <a:ext cx="156845" cy="312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2225">
              <a:lnSpc>
                <a:spcPct val="144800"/>
              </a:lnSpc>
              <a:spcBef>
                <a:spcPts val="100"/>
              </a:spcBef>
            </a:pPr>
            <a:r>
              <a:rPr dirty="0" sz="650" spc="-25">
                <a:latin typeface="Calibri"/>
                <a:cs typeface="Calibri"/>
              </a:rPr>
              <a:t>F9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 spc="-25">
                <a:latin typeface="Calibri"/>
                <a:cs typeface="Calibri"/>
              </a:rPr>
              <a:t>F10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150632" y="996553"/>
            <a:ext cx="3275329" cy="229171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325"/>
              </a:spcBef>
            </a:pPr>
            <a:r>
              <a:rPr dirty="0" sz="750">
                <a:latin typeface="Book Antiqua"/>
                <a:cs typeface="Book Antiqua"/>
              </a:rPr>
              <a:t>Вызов</a:t>
            </a:r>
            <a:r>
              <a:rPr dirty="0" sz="750" spc="2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контекстно-зависимой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подсказки</a:t>
            </a:r>
            <a:endParaRPr sz="750">
              <a:latin typeface="Book Antiqua"/>
              <a:cs typeface="Book Antiqua"/>
            </a:endParaRPr>
          </a:p>
          <a:p>
            <a:pPr marL="15875" marR="5080">
              <a:lnSpc>
                <a:spcPct val="121200"/>
              </a:lnSpc>
              <a:spcBef>
                <a:spcPts val="40"/>
              </a:spcBef>
            </a:pPr>
            <a:r>
              <a:rPr dirty="0" sz="750">
                <a:latin typeface="Book Antiqua"/>
                <a:cs typeface="Book Antiqua"/>
              </a:rPr>
              <a:t>Вызов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пользовательского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возможностью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60">
                <a:latin typeface="Book Antiqua"/>
                <a:cs typeface="Book Antiqua"/>
              </a:rPr>
              <a:t>и/или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допол-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нения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дополнительных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функций</a:t>
            </a:r>
            <a:endParaRPr sz="750">
              <a:latin typeface="Book Antiqua"/>
              <a:cs typeface="Book Antiqua"/>
            </a:endParaRPr>
          </a:p>
          <a:p>
            <a:pPr marL="15875" marR="5080">
              <a:lnSpc>
                <a:spcPct val="121200"/>
              </a:lnSpc>
              <a:spcBef>
                <a:spcPts val="35"/>
              </a:spcBef>
            </a:pPr>
            <a:r>
              <a:rPr dirty="0" sz="750" spc="10">
                <a:latin typeface="Book Antiqua"/>
                <a:cs typeface="Book Antiqua"/>
              </a:rPr>
              <a:t>Просмотр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содержимого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файла,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который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указывает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подсветка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ак-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тивной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панели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(без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возможности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редактирования)</a:t>
            </a:r>
            <a:endParaRPr sz="750">
              <a:latin typeface="Book Antiqua"/>
              <a:cs typeface="Book Antiqua"/>
            </a:endParaRPr>
          </a:p>
          <a:p>
            <a:pPr marL="15875" marR="12065">
              <a:lnSpc>
                <a:spcPct val="121200"/>
              </a:lnSpc>
              <a:spcBef>
                <a:spcPts val="40"/>
              </a:spcBef>
            </a:pPr>
            <a:r>
              <a:rPr dirty="0" sz="750">
                <a:latin typeface="Book Antiqua"/>
                <a:cs typeface="Book Antiqua"/>
              </a:rPr>
              <a:t>Вызов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встроенного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mc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изменения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содержания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 который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указывает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подсветка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 активной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панели</a:t>
            </a:r>
            <a:endParaRPr sz="750">
              <a:latin typeface="Book Antiqua"/>
              <a:cs typeface="Book Antiqua"/>
            </a:endParaRPr>
          </a:p>
          <a:p>
            <a:pPr marL="12700" marR="5080" indent="3175">
              <a:lnSpc>
                <a:spcPct val="122700"/>
              </a:lnSpc>
              <a:spcBef>
                <a:spcPts val="25"/>
              </a:spcBef>
            </a:pPr>
            <a:r>
              <a:rPr dirty="0" sz="750">
                <a:latin typeface="Book Antiqua"/>
                <a:cs typeface="Book Antiqua"/>
              </a:rPr>
              <a:t>Копирование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одного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нескольких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файлов,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отмеченных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первой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(активной)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панели,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отображаемый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второй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панели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Перенос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одного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нескольких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отмеченных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первой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(актив-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ной)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панели, 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каталог, отображаемый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второй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панели</a:t>
            </a:r>
            <a:endParaRPr sz="750">
              <a:latin typeface="Book Antiqua"/>
              <a:cs typeface="Book Antiqua"/>
            </a:endParaRPr>
          </a:p>
          <a:p>
            <a:pPr marL="15875" marR="5080">
              <a:lnSpc>
                <a:spcPct val="123400"/>
              </a:lnSpc>
              <a:spcBef>
                <a:spcPts val="20"/>
              </a:spcBef>
            </a:pPr>
            <a:r>
              <a:rPr dirty="0" sz="750">
                <a:latin typeface="Book Antiqua"/>
                <a:cs typeface="Book Antiqua"/>
              </a:rPr>
              <a:t>Создание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подкаталога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отображаемом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активной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панели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Удаление</a:t>
            </a:r>
            <a:r>
              <a:rPr dirty="0" sz="750" spc="-10">
                <a:latin typeface="Book Antiqua"/>
                <a:cs typeface="Book Antiqua"/>
              </a:rPr>
              <a:t> одного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или</a:t>
            </a:r>
            <a:r>
              <a:rPr dirty="0" sz="750" spc="-10">
                <a:latin typeface="Book Antiqua"/>
                <a:cs typeface="Book Antiqua"/>
              </a:rPr>
              <a:t> нескольких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(каталогов),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отмеченных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пер-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(активной)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панели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endParaRPr sz="750">
              <a:latin typeface="Book Antiqua"/>
              <a:cs typeface="Book Antiqua"/>
            </a:endParaRPr>
          </a:p>
          <a:p>
            <a:pPr marL="15875" marR="2528570">
              <a:lnSpc>
                <a:spcPct val="125499"/>
              </a:lnSpc>
            </a:pPr>
            <a:r>
              <a:rPr dirty="0" sz="750">
                <a:latin typeface="Book Antiqua"/>
                <a:cs typeface="Book Antiqua"/>
              </a:rPr>
              <a:t>Вызов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меню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mc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Выход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mc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47" name="object 47" descr=""/>
          <p:cNvSpPr/>
          <p:nvPr/>
        </p:nvSpPr>
        <p:spPr>
          <a:xfrm>
            <a:off x="751801" y="3320796"/>
            <a:ext cx="3716654" cy="0"/>
          </a:xfrm>
          <a:custGeom>
            <a:avLst/>
            <a:gdLst/>
            <a:ahLst/>
            <a:cxnLst/>
            <a:rect l="l" t="t" r="r" b="b"/>
            <a:pathLst>
              <a:path w="3716654" h="0">
                <a:moveTo>
                  <a:pt x="0" y="0"/>
                </a:moveTo>
                <a:lnTo>
                  <a:pt x="3716401" y="0"/>
                </a:lnTo>
              </a:path>
            </a:pathLst>
          </a:custGeom>
          <a:ln w="78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 txBox="1"/>
          <p:nvPr/>
        </p:nvSpPr>
        <p:spPr>
          <a:xfrm>
            <a:off x="581304" y="3469834"/>
            <a:ext cx="4057650" cy="89281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850" b="1">
                <a:latin typeface="Book Antiqua"/>
                <a:cs typeface="Book Antiqua"/>
              </a:rPr>
              <a:t>7.2.2.</a:t>
            </a:r>
            <a:r>
              <a:rPr dirty="0" sz="850" spc="325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Режимы</a:t>
            </a:r>
            <a:r>
              <a:rPr dirty="0" sz="850" spc="9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отображения</a:t>
            </a:r>
            <a:r>
              <a:rPr dirty="0" sz="850" spc="8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панелей</a:t>
            </a:r>
            <a:r>
              <a:rPr dirty="0" sz="850" spc="8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и</a:t>
            </a:r>
            <a:r>
              <a:rPr dirty="0" sz="850" spc="8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управление</a:t>
            </a:r>
            <a:r>
              <a:rPr dirty="0" sz="850" spc="90" b="1">
                <a:latin typeface="Book Antiqua"/>
                <a:cs typeface="Book Antiqua"/>
              </a:rPr>
              <a:t> </a:t>
            </a:r>
            <a:r>
              <a:rPr dirty="0" sz="850" spc="-25" b="1">
                <a:latin typeface="Book Antiqua"/>
                <a:cs typeface="Book Antiqua"/>
              </a:rPr>
              <a:t>ими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Панель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mc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отображает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список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текущего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Абсолютный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путь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этому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каталогу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отображается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заголовке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панели.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активной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панели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заголовок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одна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её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подсвечиваются.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Управление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панелями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осуществляется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определённых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комбинаций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пунктов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меню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mc.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ct val="100000"/>
              </a:lnSpc>
              <a:spcBef>
                <a:spcPts val="150"/>
              </a:spcBef>
            </a:pPr>
            <a:r>
              <a:rPr dirty="0" sz="750" spc="-20">
                <a:latin typeface="Book Antiqua"/>
                <a:cs typeface="Book Antiqua"/>
              </a:rPr>
              <a:t>Панели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поменять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местами.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Для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этого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комбинация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4373521" y="4228157"/>
            <a:ext cx="252729" cy="129539"/>
            <a:chOff x="4373521" y="4228157"/>
            <a:chExt cx="252729" cy="129539"/>
          </a:xfrm>
        </p:grpSpPr>
        <p:sp>
          <p:nvSpPr>
            <p:cNvPr id="50" name="object 50" descr=""/>
            <p:cNvSpPr/>
            <p:nvPr/>
          </p:nvSpPr>
          <p:spPr>
            <a:xfrm>
              <a:off x="4376051" y="4230687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60">
                  <a:moveTo>
                    <a:pt x="240828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40828" y="123926"/>
                  </a:lnTo>
                  <a:lnTo>
                    <a:pt x="247420" y="117333"/>
                  </a:lnTo>
                  <a:lnTo>
                    <a:pt x="247420" y="6592"/>
                  </a:lnTo>
                  <a:lnTo>
                    <a:pt x="24082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4376051" y="4230687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60">
                  <a:moveTo>
                    <a:pt x="232697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32697" y="123926"/>
                  </a:lnTo>
                  <a:lnTo>
                    <a:pt x="240828" y="123926"/>
                  </a:lnTo>
                  <a:lnTo>
                    <a:pt x="247420" y="117333"/>
                  </a:lnTo>
                  <a:lnTo>
                    <a:pt x="247420" y="109202"/>
                  </a:lnTo>
                  <a:lnTo>
                    <a:pt x="247420" y="14723"/>
                  </a:lnTo>
                  <a:lnTo>
                    <a:pt x="247420" y="6592"/>
                  </a:lnTo>
                  <a:lnTo>
                    <a:pt x="240828" y="0"/>
                  </a:lnTo>
                  <a:lnTo>
                    <a:pt x="232697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4376051" y="4230687"/>
            <a:ext cx="247650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>
                <a:latin typeface="Calibri"/>
                <a:cs typeface="Calibri"/>
              </a:rPr>
              <a:t>Ctrl-</a:t>
            </a:r>
            <a:r>
              <a:rPr dirty="0" sz="650" spc="-50">
                <a:latin typeface="Calibri"/>
                <a:cs typeface="Calibri"/>
              </a:rPr>
              <a:t>u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1689490" y="4369787"/>
            <a:ext cx="774065" cy="129539"/>
            <a:chOff x="1689490" y="4369787"/>
            <a:chExt cx="774065" cy="129539"/>
          </a:xfrm>
        </p:grpSpPr>
        <p:sp>
          <p:nvSpPr>
            <p:cNvPr id="54" name="object 54" descr=""/>
            <p:cNvSpPr/>
            <p:nvPr/>
          </p:nvSpPr>
          <p:spPr>
            <a:xfrm>
              <a:off x="1692020" y="4372318"/>
              <a:ext cx="768985" cy="124460"/>
            </a:xfrm>
            <a:custGeom>
              <a:avLst/>
              <a:gdLst/>
              <a:ahLst/>
              <a:cxnLst/>
              <a:rect l="l" t="t" r="r" b="b"/>
              <a:pathLst>
                <a:path w="768985" h="124460">
                  <a:moveTo>
                    <a:pt x="765435" y="0"/>
                  </a:moveTo>
                  <a:lnTo>
                    <a:pt x="391727" y="0"/>
                  </a:lnTo>
                  <a:lnTo>
                    <a:pt x="3295" y="0"/>
                  </a:lnTo>
                  <a:lnTo>
                    <a:pt x="0" y="3296"/>
                  </a:lnTo>
                  <a:lnTo>
                    <a:pt x="0" y="120629"/>
                  </a:lnTo>
                  <a:lnTo>
                    <a:pt x="3295" y="123925"/>
                  </a:lnTo>
                  <a:lnTo>
                    <a:pt x="765435" y="123925"/>
                  </a:lnTo>
                  <a:lnTo>
                    <a:pt x="768730" y="120629"/>
                  </a:lnTo>
                  <a:lnTo>
                    <a:pt x="768730" y="3296"/>
                  </a:lnTo>
                  <a:lnTo>
                    <a:pt x="76543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692020" y="4372318"/>
              <a:ext cx="768985" cy="124460"/>
            </a:xfrm>
            <a:custGeom>
              <a:avLst/>
              <a:gdLst/>
              <a:ahLst/>
              <a:cxnLst/>
              <a:rect l="l" t="t" r="r" b="b"/>
              <a:pathLst>
                <a:path w="768985" h="124460">
                  <a:moveTo>
                    <a:pt x="391727" y="0"/>
                  </a:moveTo>
                  <a:lnTo>
                    <a:pt x="761368" y="0"/>
                  </a:lnTo>
                  <a:lnTo>
                    <a:pt x="765435" y="0"/>
                  </a:lnTo>
                  <a:lnTo>
                    <a:pt x="768730" y="3296"/>
                  </a:lnTo>
                  <a:lnTo>
                    <a:pt x="768730" y="120629"/>
                  </a:lnTo>
                  <a:lnTo>
                    <a:pt x="765435" y="123925"/>
                  </a:lnTo>
                  <a:lnTo>
                    <a:pt x="3295" y="123925"/>
                  </a:lnTo>
                  <a:lnTo>
                    <a:pt x="0" y="120629"/>
                  </a:lnTo>
                  <a:lnTo>
                    <a:pt x="0" y="3296"/>
                  </a:lnTo>
                  <a:lnTo>
                    <a:pt x="3295" y="0"/>
                  </a:lnTo>
                  <a:lnTo>
                    <a:pt x="7362" y="0"/>
                  </a:lnTo>
                  <a:lnTo>
                    <a:pt x="377003" y="0"/>
                  </a:lnTo>
                  <a:lnTo>
                    <a:pt x="381069" y="0"/>
                  </a:lnTo>
                  <a:lnTo>
                    <a:pt x="387661" y="0"/>
                  </a:lnTo>
                  <a:lnTo>
                    <a:pt x="391727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555904" y="4360849"/>
            <a:ext cx="410845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меню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mc</a:t>
            </a:r>
            <a:r>
              <a:rPr dirty="0" sz="750" spc="40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Переставить</a:t>
            </a:r>
            <a:r>
              <a:rPr dirty="0" baseline="8547" sz="975" spc="67">
                <a:latin typeface="Calibri"/>
                <a:cs typeface="Calibri"/>
              </a:rPr>
              <a:t> </a:t>
            </a:r>
            <a:r>
              <a:rPr dirty="0" baseline="8547" sz="975">
                <a:latin typeface="Calibri"/>
                <a:cs typeface="Calibri"/>
              </a:rPr>
              <a:t>панели</a:t>
            </a:r>
            <a:r>
              <a:rPr dirty="0" baseline="8547" sz="975" spc="202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Также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временно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убрать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отображение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581304" y="4502480"/>
            <a:ext cx="268986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панелей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(отключить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их)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комбинации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3282231" y="4511430"/>
            <a:ext cx="252729" cy="129539"/>
            <a:chOff x="3282231" y="4511430"/>
            <a:chExt cx="252729" cy="129539"/>
          </a:xfrm>
        </p:grpSpPr>
        <p:sp>
          <p:nvSpPr>
            <p:cNvPr id="59" name="object 59" descr=""/>
            <p:cNvSpPr/>
            <p:nvPr/>
          </p:nvSpPr>
          <p:spPr>
            <a:xfrm>
              <a:off x="3284762" y="4513961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60">
                  <a:moveTo>
                    <a:pt x="240582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40582" y="123926"/>
                  </a:lnTo>
                  <a:lnTo>
                    <a:pt x="247175" y="117333"/>
                  </a:lnTo>
                  <a:lnTo>
                    <a:pt x="247175" y="6592"/>
                  </a:lnTo>
                  <a:lnTo>
                    <a:pt x="2405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284762" y="4513961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60">
                  <a:moveTo>
                    <a:pt x="232451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32451" y="123926"/>
                  </a:lnTo>
                  <a:lnTo>
                    <a:pt x="240582" y="123926"/>
                  </a:lnTo>
                  <a:lnTo>
                    <a:pt x="247175" y="117333"/>
                  </a:lnTo>
                  <a:lnTo>
                    <a:pt x="247175" y="109202"/>
                  </a:lnTo>
                  <a:lnTo>
                    <a:pt x="247175" y="14723"/>
                  </a:lnTo>
                  <a:lnTo>
                    <a:pt x="247175" y="6592"/>
                  </a:lnTo>
                  <a:lnTo>
                    <a:pt x="240582" y="0"/>
                  </a:lnTo>
                  <a:lnTo>
                    <a:pt x="232451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3284762" y="4513961"/>
            <a:ext cx="247650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>
                <a:latin typeface="Calibri"/>
                <a:cs typeface="Calibri"/>
              </a:rPr>
              <a:t>Ctrl-</a:t>
            </a:r>
            <a:r>
              <a:rPr dirty="0" sz="650" spc="-50">
                <a:latin typeface="Calibri"/>
                <a:cs typeface="Calibri"/>
              </a:rPr>
              <a:t>o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3545751" y="4502480"/>
            <a:ext cx="109347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mc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593991" y="4653061"/>
            <a:ext cx="714375" cy="129539"/>
            <a:chOff x="593991" y="4653061"/>
            <a:chExt cx="714375" cy="129539"/>
          </a:xfrm>
        </p:grpSpPr>
        <p:sp>
          <p:nvSpPr>
            <p:cNvPr id="64" name="object 64" descr=""/>
            <p:cNvSpPr/>
            <p:nvPr/>
          </p:nvSpPr>
          <p:spPr>
            <a:xfrm>
              <a:off x="596521" y="4655591"/>
              <a:ext cx="709295" cy="124460"/>
            </a:xfrm>
            <a:custGeom>
              <a:avLst/>
              <a:gdLst/>
              <a:ahLst/>
              <a:cxnLst/>
              <a:rect l="l" t="t" r="r" b="b"/>
              <a:pathLst>
                <a:path w="709294" h="124460">
                  <a:moveTo>
                    <a:pt x="705638" y="0"/>
                  </a:moveTo>
                  <a:lnTo>
                    <a:pt x="361828" y="0"/>
                  </a:lnTo>
                  <a:lnTo>
                    <a:pt x="3295" y="0"/>
                  </a:lnTo>
                  <a:lnTo>
                    <a:pt x="0" y="3296"/>
                  </a:lnTo>
                  <a:lnTo>
                    <a:pt x="0" y="120629"/>
                  </a:lnTo>
                  <a:lnTo>
                    <a:pt x="3295" y="123925"/>
                  </a:lnTo>
                  <a:lnTo>
                    <a:pt x="705638" y="123925"/>
                  </a:lnTo>
                  <a:lnTo>
                    <a:pt x="708934" y="120629"/>
                  </a:lnTo>
                  <a:lnTo>
                    <a:pt x="708934" y="3296"/>
                  </a:lnTo>
                  <a:lnTo>
                    <a:pt x="70563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596521" y="4655591"/>
              <a:ext cx="709295" cy="124460"/>
            </a:xfrm>
            <a:custGeom>
              <a:avLst/>
              <a:gdLst/>
              <a:ahLst/>
              <a:cxnLst/>
              <a:rect l="l" t="t" r="r" b="b"/>
              <a:pathLst>
                <a:path w="709294" h="124460">
                  <a:moveTo>
                    <a:pt x="361828" y="0"/>
                  </a:moveTo>
                  <a:lnTo>
                    <a:pt x="701573" y="0"/>
                  </a:lnTo>
                  <a:lnTo>
                    <a:pt x="705638" y="0"/>
                  </a:lnTo>
                  <a:lnTo>
                    <a:pt x="708934" y="3296"/>
                  </a:lnTo>
                  <a:lnTo>
                    <a:pt x="708934" y="120629"/>
                  </a:lnTo>
                  <a:lnTo>
                    <a:pt x="705638" y="123925"/>
                  </a:lnTo>
                  <a:lnTo>
                    <a:pt x="3295" y="123925"/>
                  </a:lnTo>
                  <a:lnTo>
                    <a:pt x="0" y="120629"/>
                  </a:lnTo>
                  <a:lnTo>
                    <a:pt x="0" y="3296"/>
                  </a:lnTo>
                  <a:lnTo>
                    <a:pt x="3295" y="0"/>
                  </a:lnTo>
                  <a:lnTo>
                    <a:pt x="7360" y="0"/>
                  </a:lnTo>
                  <a:lnTo>
                    <a:pt x="347105" y="0"/>
                  </a:lnTo>
                  <a:lnTo>
                    <a:pt x="351171" y="0"/>
                  </a:lnTo>
                  <a:lnTo>
                    <a:pt x="357763" y="0"/>
                  </a:lnTo>
                  <a:lnTo>
                    <a:pt x="361828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6" name="object 66" descr=""/>
          <p:cNvGrpSpPr/>
          <p:nvPr/>
        </p:nvGrpSpPr>
        <p:grpSpPr>
          <a:xfrm>
            <a:off x="3934029" y="4900876"/>
            <a:ext cx="250825" cy="129539"/>
            <a:chOff x="3934029" y="4900876"/>
            <a:chExt cx="250825" cy="129539"/>
          </a:xfrm>
        </p:grpSpPr>
        <p:sp>
          <p:nvSpPr>
            <p:cNvPr id="67" name="object 67" descr=""/>
            <p:cNvSpPr/>
            <p:nvPr/>
          </p:nvSpPr>
          <p:spPr>
            <a:xfrm>
              <a:off x="3936559" y="4903406"/>
              <a:ext cx="245745" cy="124460"/>
            </a:xfrm>
            <a:custGeom>
              <a:avLst/>
              <a:gdLst/>
              <a:ahLst/>
              <a:cxnLst/>
              <a:rect l="l" t="t" r="r" b="b"/>
              <a:pathLst>
                <a:path w="245745" h="124460">
                  <a:moveTo>
                    <a:pt x="238865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38865" y="123926"/>
                  </a:lnTo>
                  <a:lnTo>
                    <a:pt x="245457" y="117333"/>
                  </a:lnTo>
                  <a:lnTo>
                    <a:pt x="245457" y="6592"/>
                  </a:lnTo>
                  <a:lnTo>
                    <a:pt x="23886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3936559" y="4903406"/>
              <a:ext cx="245745" cy="124460"/>
            </a:xfrm>
            <a:custGeom>
              <a:avLst/>
              <a:gdLst/>
              <a:ahLst/>
              <a:cxnLst/>
              <a:rect l="l" t="t" r="r" b="b"/>
              <a:pathLst>
                <a:path w="245745" h="124460">
                  <a:moveTo>
                    <a:pt x="230733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30733" y="123926"/>
                  </a:lnTo>
                  <a:lnTo>
                    <a:pt x="238865" y="123926"/>
                  </a:lnTo>
                  <a:lnTo>
                    <a:pt x="245457" y="117333"/>
                  </a:lnTo>
                  <a:lnTo>
                    <a:pt x="245457" y="109202"/>
                  </a:lnTo>
                  <a:lnTo>
                    <a:pt x="245457" y="14723"/>
                  </a:lnTo>
                  <a:lnTo>
                    <a:pt x="245457" y="6592"/>
                  </a:lnTo>
                  <a:lnTo>
                    <a:pt x="238865" y="0"/>
                  </a:lnTo>
                  <a:lnTo>
                    <a:pt x="230733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" name="object 69" descr=""/>
          <p:cNvGrpSpPr/>
          <p:nvPr/>
        </p:nvGrpSpPr>
        <p:grpSpPr>
          <a:xfrm>
            <a:off x="4231156" y="4900876"/>
            <a:ext cx="152400" cy="129539"/>
            <a:chOff x="4231156" y="4900876"/>
            <a:chExt cx="152400" cy="129539"/>
          </a:xfrm>
        </p:grpSpPr>
        <p:sp>
          <p:nvSpPr>
            <p:cNvPr id="70" name="object 70" descr=""/>
            <p:cNvSpPr/>
            <p:nvPr/>
          </p:nvSpPr>
          <p:spPr>
            <a:xfrm>
              <a:off x="4233686" y="490340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4233686" y="490340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530504" y="4644123"/>
            <a:ext cx="4171950" cy="5048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63500" marR="67945" indent="27305">
              <a:lnSpc>
                <a:spcPct val="100000"/>
              </a:lnSpc>
              <a:spcBef>
                <a:spcPts val="120"/>
              </a:spcBef>
            </a:pPr>
            <a:r>
              <a:rPr dirty="0" baseline="8547" sz="975">
                <a:latin typeface="Calibri"/>
                <a:cs typeface="Calibri"/>
              </a:rPr>
              <a:t>Отключить</a:t>
            </a:r>
            <a:r>
              <a:rPr dirty="0" baseline="8547" sz="975" spc="89">
                <a:latin typeface="Calibri"/>
                <a:cs typeface="Calibri"/>
              </a:rPr>
              <a:t> </a:t>
            </a:r>
            <a:r>
              <a:rPr dirty="0" baseline="8547" sz="975">
                <a:latin typeface="Calibri"/>
                <a:cs typeface="Calibri"/>
              </a:rPr>
              <a:t>панели</a:t>
            </a:r>
            <a:r>
              <a:rPr dirty="0" baseline="8547" sz="975" spc="247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может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быть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полезно,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например,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увидеть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вывод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какой-то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информации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какой-либо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shell.</a:t>
            </a:r>
            <a:endParaRPr sz="750">
              <a:latin typeface="Book Antiqua"/>
              <a:cs typeface="Book Antiqua"/>
            </a:endParaRPr>
          </a:p>
          <a:p>
            <a:pPr marL="63500" marR="47625" indent="97790">
              <a:lnSpc>
                <a:spcPct val="100000"/>
              </a:lnSpc>
              <a:spcBef>
                <a:spcPts val="155"/>
              </a:spcBef>
              <a:tabLst>
                <a:tab pos="3754120" algn="l"/>
              </a:tabLst>
            </a:pP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3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последовательного</a:t>
            </a:r>
            <a:r>
              <a:rPr dirty="0" sz="750" spc="3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применения</a:t>
            </a:r>
            <a:r>
              <a:rPr dirty="0" sz="750" spc="3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комбинации</a:t>
            </a:r>
            <a:r>
              <a:rPr dirty="0" sz="750" spc="3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</a:t>
            </a:r>
            <a:r>
              <a:rPr dirty="0" sz="750" spc="204">
                <a:latin typeface="Book Antiqua"/>
                <a:cs typeface="Book Antiqua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Ctrl-</a:t>
            </a:r>
            <a:r>
              <a:rPr dirty="0" baseline="8547" sz="975" spc="-75">
                <a:latin typeface="Calibri"/>
                <a:cs typeface="Calibri"/>
              </a:rPr>
              <a:t>x</a:t>
            </a:r>
            <a:r>
              <a:rPr dirty="0" baseline="8547" sz="975">
                <a:latin typeface="Calibri"/>
                <a:cs typeface="Calibri"/>
              </a:rPr>
              <a:t>	d</a:t>
            </a:r>
            <a:r>
              <a:rPr dirty="0" baseline="8547" sz="975" spc="382">
                <a:latin typeface="Calibri"/>
                <a:cs typeface="Calibri"/>
              </a:rPr>
              <a:t>  </a:t>
            </a:r>
            <a:r>
              <a:rPr dirty="0" sz="750" spc="-20">
                <a:latin typeface="Book Antiqua"/>
                <a:cs typeface="Book Antiqua"/>
              </a:rPr>
              <a:t>есть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возможность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сравнения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каталогов,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отображённых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двух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панелях. </a:t>
            </a:r>
            <a:r>
              <a:rPr dirty="0" sz="750" spc="-10">
                <a:latin typeface="Book Antiqua"/>
                <a:cs typeface="Book Antiqua"/>
              </a:rPr>
              <a:t>Панели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могут </a:t>
            </a:r>
            <a:r>
              <a:rPr dirty="0" sz="750" spc="-10">
                <a:latin typeface="Book Antiqua"/>
                <a:cs typeface="Book Antiqua"/>
              </a:rPr>
              <a:t>допол-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581304" y="5141214"/>
            <a:ext cx="247459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нительно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быть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переведены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один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двух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режимов: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74" name="object 74" descr=""/>
          <p:cNvSpPr/>
          <p:nvPr/>
        </p:nvSpPr>
        <p:spPr>
          <a:xfrm>
            <a:off x="3069266" y="5152682"/>
            <a:ext cx="516255" cy="124460"/>
          </a:xfrm>
          <a:custGeom>
            <a:avLst/>
            <a:gdLst/>
            <a:ahLst/>
            <a:cxnLst/>
            <a:rect l="l" t="t" r="r" b="b"/>
            <a:pathLst>
              <a:path w="516254" h="124460">
                <a:moveTo>
                  <a:pt x="512591" y="0"/>
                </a:moveTo>
                <a:lnTo>
                  <a:pt x="265304" y="0"/>
                </a:lnTo>
                <a:lnTo>
                  <a:pt x="3295" y="0"/>
                </a:lnTo>
                <a:lnTo>
                  <a:pt x="0" y="3296"/>
                </a:lnTo>
                <a:lnTo>
                  <a:pt x="0" y="120629"/>
                </a:lnTo>
                <a:lnTo>
                  <a:pt x="3295" y="123925"/>
                </a:lnTo>
                <a:lnTo>
                  <a:pt x="512591" y="123925"/>
                </a:lnTo>
                <a:lnTo>
                  <a:pt x="515886" y="120629"/>
                </a:lnTo>
                <a:lnTo>
                  <a:pt x="515886" y="3296"/>
                </a:lnTo>
                <a:lnTo>
                  <a:pt x="512591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 txBox="1"/>
          <p:nvPr/>
        </p:nvSpPr>
        <p:spPr>
          <a:xfrm>
            <a:off x="3069266" y="5152682"/>
            <a:ext cx="516255" cy="124460"/>
          </a:xfrm>
          <a:prstGeom prst="rect">
            <a:avLst/>
          </a:prstGeom>
          <a:ln w="8356">
            <a:solidFill>
              <a:srgbClr val="4C4C4C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 spc="-10">
                <a:latin typeface="Calibri"/>
                <a:cs typeface="Calibri"/>
              </a:rPr>
              <a:t>Информация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3811579" y="5150152"/>
            <a:ext cx="320675" cy="129539"/>
            <a:chOff x="3811579" y="5150152"/>
            <a:chExt cx="320675" cy="129539"/>
          </a:xfrm>
        </p:grpSpPr>
        <p:sp>
          <p:nvSpPr>
            <p:cNvPr id="77" name="object 77" descr=""/>
            <p:cNvSpPr/>
            <p:nvPr/>
          </p:nvSpPr>
          <p:spPr>
            <a:xfrm>
              <a:off x="3814109" y="5152682"/>
              <a:ext cx="315595" cy="124460"/>
            </a:xfrm>
            <a:custGeom>
              <a:avLst/>
              <a:gdLst/>
              <a:ahLst/>
              <a:cxnLst/>
              <a:rect l="l" t="t" r="r" b="b"/>
              <a:pathLst>
                <a:path w="315595" h="124460">
                  <a:moveTo>
                    <a:pt x="312182" y="0"/>
                  </a:moveTo>
                  <a:lnTo>
                    <a:pt x="165100" y="0"/>
                  </a:lnTo>
                  <a:lnTo>
                    <a:pt x="3295" y="0"/>
                  </a:lnTo>
                  <a:lnTo>
                    <a:pt x="0" y="3296"/>
                  </a:lnTo>
                  <a:lnTo>
                    <a:pt x="0" y="120629"/>
                  </a:lnTo>
                  <a:lnTo>
                    <a:pt x="3295" y="123925"/>
                  </a:lnTo>
                  <a:lnTo>
                    <a:pt x="312182" y="123925"/>
                  </a:lnTo>
                  <a:lnTo>
                    <a:pt x="315478" y="120629"/>
                  </a:lnTo>
                  <a:lnTo>
                    <a:pt x="315478" y="3296"/>
                  </a:lnTo>
                  <a:lnTo>
                    <a:pt x="3121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3814109" y="5152682"/>
              <a:ext cx="315595" cy="124460"/>
            </a:xfrm>
            <a:custGeom>
              <a:avLst/>
              <a:gdLst/>
              <a:ahLst/>
              <a:cxnLst/>
              <a:rect l="l" t="t" r="r" b="b"/>
              <a:pathLst>
                <a:path w="315595" h="124460">
                  <a:moveTo>
                    <a:pt x="165100" y="0"/>
                  </a:moveTo>
                  <a:lnTo>
                    <a:pt x="308117" y="0"/>
                  </a:lnTo>
                  <a:lnTo>
                    <a:pt x="312182" y="0"/>
                  </a:lnTo>
                  <a:lnTo>
                    <a:pt x="315478" y="3296"/>
                  </a:lnTo>
                  <a:lnTo>
                    <a:pt x="315478" y="120629"/>
                  </a:lnTo>
                  <a:lnTo>
                    <a:pt x="312182" y="123925"/>
                  </a:lnTo>
                  <a:lnTo>
                    <a:pt x="3295" y="123925"/>
                  </a:lnTo>
                  <a:lnTo>
                    <a:pt x="0" y="120629"/>
                  </a:lnTo>
                  <a:lnTo>
                    <a:pt x="0" y="3296"/>
                  </a:lnTo>
                  <a:lnTo>
                    <a:pt x="3295" y="0"/>
                  </a:lnTo>
                  <a:lnTo>
                    <a:pt x="7360" y="0"/>
                  </a:lnTo>
                  <a:lnTo>
                    <a:pt x="150377" y="0"/>
                  </a:lnTo>
                  <a:lnTo>
                    <a:pt x="154443" y="0"/>
                  </a:lnTo>
                  <a:lnTo>
                    <a:pt x="161034" y="0"/>
                  </a:lnTo>
                  <a:lnTo>
                    <a:pt x="165100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 txBox="1"/>
          <p:nvPr/>
        </p:nvSpPr>
        <p:spPr>
          <a:xfrm>
            <a:off x="3573500" y="5141214"/>
            <a:ext cx="109093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24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Дерево</a:t>
            </a:r>
            <a:r>
              <a:rPr dirty="0" baseline="8547" sz="975" spc="127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режиме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0" name="object 80" descr=""/>
          <p:cNvSpPr/>
          <p:nvPr/>
        </p:nvSpPr>
        <p:spPr>
          <a:xfrm>
            <a:off x="596525" y="5294325"/>
            <a:ext cx="516255" cy="124460"/>
          </a:xfrm>
          <a:custGeom>
            <a:avLst/>
            <a:gdLst/>
            <a:ahLst/>
            <a:cxnLst/>
            <a:rect l="l" t="t" r="r" b="b"/>
            <a:pathLst>
              <a:path w="516255" h="124460">
                <a:moveTo>
                  <a:pt x="512591" y="0"/>
                </a:moveTo>
                <a:lnTo>
                  <a:pt x="265304" y="0"/>
                </a:lnTo>
                <a:lnTo>
                  <a:pt x="3295" y="0"/>
                </a:lnTo>
                <a:lnTo>
                  <a:pt x="0" y="3296"/>
                </a:lnTo>
                <a:lnTo>
                  <a:pt x="0" y="120629"/>
                </a:lnTo>
                <a:lnTo>
                  <a:pt x="3295" y="123925"/>
                </a:lnTo>
                <a:lnTo>
                  <a:pt x="512591" y="123925"/>
                </a:lnTo>
                <a:lnTo>
                  <a:pt x="515886" y="120629"/>
                </a:lnTo>
                <a:lnTo>
                  <a:pt x="515886" y="3296"/>
                </a:lnTo>
                <a:lnTo>
                  <a:pt x="512591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 txBox="1"/>
          <p:nvPr/>
        </p:nvSpPr>
        <p:spPr>
          <a:xfrm>
            <a:off x="596525" y="5294325"/>
            <a:ext cx="516255" cy="124460"/>
          </a:xfrm>
          <a:prstGeom prst="rect">
            <a:avLst/>
          </a:prstGeom>
          <a:ln w="8356">
            <a:solidFill>
              <a:srgbClr val="4C4C4C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 spc="-10">
                <a:latin typeface="Calibri"/>
                <a:cs typeface="Calibri"/>
              </a:rPr>
              <a:t>Информация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1122273" y="5282844"/>
            <a:ext cx="353060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(рис.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  <a:hlinkClick r:id="rId2" action="ppaction://hlinksldjump"/>
              </a:rPr>
              <a:t>7.2)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панель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выводятся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сведения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файле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и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текущей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файловой системе,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83" name="object 83" descr=""/>
          <p:cNvGrpSpPr/>
          <p:nvPr/>
        </p:nvGrpSpPr>
        <p:grpSpPr>
          <a:xfrm>
            <a:off x="2853580" y="5433425"/>
            <a:ext cx="320675" cy="129539"/>
            <a:chOff x="2853580" y="5433425"/>
            <a:chExt cx="320675" cy="129539"/>
          </a:xfrm>
        </p:grpSpPr>
        <p:sp>
          <p:nvSpPr>
            <p:cNvPr id="84" name="object 84" descr=""/>
            <p:cNvSpPr/>
            <p:nvPr/>
          </p:nvSpPr>
          <p:spPr>
            <a:xfrm>
              <a:off x="2856110" y="5435956"/>
              <a:ext cx="315595" cy="124460"/>
            </a:xfrm>
            <a:custGeom>
              <a:avLst/>
              <a:gdLst/>
              <a:ahLst/>
              <a:cxnLst/>
              <a:rect l="l" t="t" r="r" b="b"/>
              <a:pathLst>
                <a:path w="315594" h="124460">
                  <a:moveTo>
                    <a:pt x="312182" y="0"/>
                  </a:moveTo>
                  <a:lnTo>
                    <a:pt x="165100" y="0"/>
                  </a:lnTo>
                  <a:lnTo>
                    <a:pt x="3295" y="0"/>
                  </a:lnTo>
                  <a:lnTo>
                    <a:pt x="0" y="3296"/>
                  </a:lnTo>
                  <a:lnTo>
                    <a:pt x="0" y="120629"/>
                  </a:lnTo>
                  <a:lnTo>
                    <a:pt x="3295" y="123925"/>
                  </a:lnTo>
                  <a:lnTo>
                    <a:pt x="312182" y="123925"/>
                  </a:lnTo>
                  <a:lnTo>
                    <a:pt x="315478" y="120629"/>
                  </a:lnTo>
                  <a:lnTo>
                    <a:pt x="315478" y="3296"/>
                  </a:lnTo>
                  <a:lnTo>
                    <a:pt x="3121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2856110" y="5435956"/>
              <a:ext cx="315595" cy="124460"/>
            </a:xfrm>
            <a:custGeom>
              <a:avLst/>
              <a:gdLst/>
              <a:ahLst/>
              <a:cxnLst/>
              <a:rect l="l" t="t" r="r" b="b"/>
              <a:pathLst>
                <a:path w="315594" h="124460">
                  <a:moveTo>
                    <a:pt x="165100" y="0"/>
                  </a:moveTo>
                  <a:lnTo>
                    <a:pt x="308117" y="0"/>
                  </a:lnTo>
                  <a:lnTo>
                    <a:pt x="312182" y="0"/>
                  </a:lnTo>
                  <a:lnTo>
                    <a:pt x="315478" y="3296"/>
                  </a:lnTo>
                  <a:lnTo>
                    <a:pt x="315478" y="120629"/>
                  </a:lnTo>
                  <a:lnTo>
                    <a:pt x="312182" y="123925"/>
                  </a:lnTo>
                  <a:lnTo>
                    <a:pt x="3295" y="123925"/>
                  </a:lnTo>
                  <a:lnTo>
                    <a:pt x="0" y="120629"/>
                  </a:lnTo>
                  <a:lnTo>
                    <a:pt x="0" y="3296"/>
                  </a:lnTo>
                  <a:lnTo>
                    <a:pt x="3295" y="0"/>
                  </a:lnTo>
                  <a:lnTo>
                    <a:pt x="7360" y="0"/>
                  </a:lnTo>
                  <a:lnTo>
                    <a:pt x="150377" y="0"/>
                  </a:lnTo>
                  <a:lnTo>
                    <a:pt x="154443" y="0"/>
                  </a:lnTo>
                  <a:lnTo>
                    <a:pt x="161034" y="0"/>
                  </a:lnTo>
                  <a:lnTo>
                    <a:pt x="165100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 descr=""/>
          <p:cNvSpPr txBox="1"/>
          <p:nvPr/>
        </p:nvSpPr>
        <p:spPr>
          <a:xfrm>
            <a:off x="555904" y="5424487"/>
            <a:ext cx="410845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расположенных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активной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панели.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режиме</a:t>
            </a:r>
            <a:r>
              <a:rPr dirty="0" sz="750" spc="375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Дерево</a:t>
            </a:r>
            <a:r>
              <a:rPr dirty="0" baseline="8547" sz="975" spc="652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(рис.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  <a:hlinkClick r:id="rId2" action="ppaction://hlinksldjump"/>
              </a:rPr>
              <a:t>7.3)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одной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панелей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выводится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структура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дерева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каталогов.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679462" y="5673763"/>
            <a:ext cx="335724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Управлять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режимами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отображения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панелей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через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пункты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меню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35">
                <a:latin typeface="Book Antiqua"/>
                <a:cs typeface="Book Antiqua"/>
              </a:rPr>
              <a:t>mc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8" name="object 88" descr=""/>
          <p:cNvSpPr/>
          <p:nvPr/>
        </p:nvSpPr>
        <p:spPr>
          <a:xfrm>
            <a:off x="4044682" y="5685244"/>
            <a:ext cx="579120" cy="124460"/>
          </a:xfrm>
          <a:custGeom>
            <a:avLst/>
            <a:gdLst/>
            <a:ahLst/>
            <a:cxnLst/>
            <a:rect l="l" t="t" r="r" b="b"/>
            <a:pathLst>
              <a:path w="579120" h="124460">
                <a:moveTo>
                  <a:pt x="575495" y="0"/>
                </a:moveTo>
                <a:lnTo>
                  <a:pt x="296757" y="0"/>
                </a:lnTo>
                <a:lnTo>
                  <a:pt x="3296" y="0"/>
                </a:lnTo>
                <a:lnTo>
                  <a:pt x="0" y="3296"/>
                </a:lnTo>
                <a:lnTo>
                  <a:pt x="0" y="120629"/>
                </a:lnTo>
                <a:lnTo>
                  <a:pt x="3296" y="123925"/>
                </a:lnTo>
                <a:lnTo>
                  <a:pt x="575495" y="123925"/>
                </a:lnTo>
                <a:lnTo>
                  <a:pt x="578792" y="120629"/>
                </a:lnTo>
                <a:lnTo>
                  <a:pt x="578792" y="3296"/>
                </a:lnTo>
                <a:lnTo>
                  <a:pt x="575495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 txBox="1"/>
          <p:nvPr/>
        </p:nvSpPr>
        <p:spPr>
          <a:xfrm>
            <a:off x="4044682" y="5685244"/>
            <a:ext cx="579120" cy="124460"/>
          </a:xfrm>
          <a:prstGeom prst="rect">
            <a:avLst/>
          </a:prstGeom>
          <a:ln w="8357">
            <a:solidFill>
              <a:srgbClr val="4C4C4C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>
                <a:latin typeface="Calibri"/>
                <a:cs typeface="Calibri"/>
              </a:rPr>
              <a:t>Правая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панель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581304" y="5815406"/>
            <a:ext cx="8572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50">
                <a:latin typeface="Book Antiqua"/>
                <a:cs typeface="Book Antiqua"/>
              </a:rPr>
              <a:t>и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1" name="object 91" descr=""/>
          <p:cNvSpPr/>
          <p:nvPr/>
        </p:nvSpPr>
        <p:spPr>
          <a:xfrm>
            <a:off x="680457" y="5826874"/>
            <a:ext cx="532765" cy="124460"/>
          </a:xfrm>
          <a:custGeom>
            <a:avLst/>
            <a:gdLst/>
            <a:ahLst/>
            <a:cxnLst/>
            <a:rect l="l" t="t" r="r" b="b"/>
            <a:pathLst>
              <a:path w="532765" h="124460">
                <a:moveTo>
                  <a:pt x="529360" y="0"/>
                </a:moveTo>
                <a:lnTo>
                  <a:pt x="273689" y="0"/>
                </a:lnTo>
                <a:lnTo>
                  <a:pt x="3295" y="0"/>
                </a:lnTo>
                <a:lnTo>
                  <a:pt x="0" y="3296"/>
                </a:lnTo>
                <a:lnTo>
                  <a:pt x="0" y="120629"/>
                </a:lnTo>
                <a:lnTo>
                  <a:pt x="3295" y="123925"/>
                </a:lnTo>
                <a:lnTo>
                  <a:pt x="529360" y="123925"/>
                </a:lnTo>
                <a:lnTo>
                  <a:pt x="532655" y="120629"/>
                </a:lnTo>
                <a:lnTo>
                  <a:pt x="532655" y="3296"/>
                </a:lnTo>
                <a:lnTo>
                  <a:pt x="52936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 descr=""/>
          <p:cNvSpPr txBox="1"/>
          <p:nvPr/>
        </p:nvSpPr>
        <p:spPr>
          <a:xfrm>
            <a:off x="680457" y="5826874"/>
            <a:ext cx="532765" cy="124460"/>
          </a:xfrm>
          <a:prstGeom prst="rect">
            <a:avLst/>
          </a:prstGeom>
          <a:ln w="8356">
            <a:solidFill>
              <a:srgbClr val="4C4C4C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>
                <a:latin typeface="Calibri"/>
                <a:cs typeface="Calibri"/>
              </a:rPr>
              <a:t>Левая</a:t>
            </a:r>
            <a:r>
              <a:rPr dirty="0" sz="650" spc="1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панель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1226794" y="5815406"/>
            <a:ext cx="451484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(рис.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  <a:hlinkClick r:id="rId3" action="ppaction://hlinksldjump"/>
              </a:rPr>
              <a:t>7</a:t>
            </a:r>
            <a:r>
              <a:rPr dirty="0" sz="750" spc="-10">
                <a:latin typeface="Book Antiqua"/>
                <a:cs typeface="Book Antiqua"/>
              </a:rPr>
              <a:t>.4).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94" name="object 94" descr=""/>
          <p:cNvGrpSpPr/>
          <p:nvPr/>
        </p:nvGrpSpPr>
        <p:grpSpPr>
          <a:xfrm>
            <a:off x="4465623" y="6333893"/>
            <a:ext cx="152400" cy="129539"/>
            <a:chOff x="4465623" y="6333893"/>
            <a:chExt cx="152400" cy="129539"/>
          </a:xfrm>
        </p:grpSpPr>
        <p:sp>
          <p:nvSpPr>
            <p:cNvPr id="95" name="object 95" descr=""/>
            <p:cNvSpPr/>
            <p:nvPr/>
          </p:nvSpPr>
          <p:spPr>
            <a:xfrm>
              <a:off x="4468154" y="633642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4468154" y="633642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7" name="object 97" descr=""/>
          <p:cNvSpPr txBox="1"/>
          <p:nvPr/>
        </p:nvSpPr>
        <p:spPr>
          <a:xfrm>
            <a:off x="555904" y="6088509"/>
            <a:ext cx="4127500" cy="379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850" b="1">
                <a:latin typeface="Book Antiqua"/>
                <a:cs typeface="Book Antiqua"/>
              </a:rPr>
              <a:t>7.2.3.</a:t>
            </a:r>
            <a:r>
              <a:rPr dirty="0" sz="850" spc="295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Меню</a:t>
            </a:r>
            <a:r>
              <a:rPr dirty="0" sz="850" spc="7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панелей</a:t>
            </a:r>
            <a:endParaRPr sz="850">
              <a:latin typeface="Book Antiqua"/>
              <a:cs typeface="Book Antiqua"/>
            </a:endParaRPr>
          </a:p>
          <a:p>
            <a:pPr marL="135890">
              <a:lnSpc>
                <a:spcPct val="100000"/>
              </a:lnSpc>
              <a:spcBef>
                <a:spcPts val="860"/>
              </a:spcBef>
            </a:pPr>
            <a:r>
              <a:rPr dirty="0" sz="750">
                <a:latin typeface="Book Antiqua"/>
                <a:cs typeface="Book Antiqua"/>
              </a:rPr>
              <a:t>Перейти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меню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панелей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mc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функциональной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клавиши</a:t>
            </a:r>
            <a:r>
              <a:rPr dirty="0" sz="750" spc="315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F9</a:t>
            </a:r>
            <a:r>
              <a:rPr dirty="0" baseline="8547" sz="975" spc="209">
                <a:latin typeface="Calibri"/>
                <a:cs typeface="Calibri"/>
              </a:rPr>
              <a:t> </a:t>
            </a:r>
            <a:r>
              <a:rPr dirty="0" sz="750" spc="-5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98" name="object 98" descr=""/>
          <p:cNvGrpSpPr/>
          <p:nvPr/>
        </p:nvGrpSpPr>
        <p:grpSpPr>
          <a:xfrm>
            <a:off x="2215007" y="6475536"/>
            <a:ext cx="1238885" cy="129539"/>
            <a:chOff x="2215007" y="6475536"/>
            <a:chExt cx="1238885" cy="129539"/>
          </a:xfrm>
        </p:grpSpPr>
        <p:sp>
          <p:nvSpPr>
            <p:cNvPr id="99" name="object 99" descr=""/>
            <p:cNvSpPr/>
            <p:nvPr/>
          </p:nvSpPr>
          <p:spPr>
            <a:xfrm>
              <a:off x="2217538" y="6478067"/>
              <a:ext cx="532765" cy="124460"/>
            </a:xfrm>
            <a:custGeom>
              <a:avLst/>
              <a:gdLst/>
              <a:ahLst/>
              <a:cxnLst/>
              <a:rect l="l" t="t" r="r" b="b"/>
              <a:pathLst>
                <a:path w="532764" h="124459">
                  <a:moveTo>
                    <a:pt x="529360" y="0"/>
                  </a:moveTo>
                  <a:lnTo>
                    <a:pt x="273689" y="0"/>
                  </a:lnTo>
                  <a:lnTo>
                    <a:pt x="3295" y="0"/>
                  </a:lnTo>
                  <a:lnTo>
                    <a:pt x="0" y="3296"/>
                  </a:lnTo>
                  <a:lnTo>
                    <a:pt x="0" y="120629"/>
                  </a:lnTo>
                  <a:lnTo>
                    <a:pt x="3295" y="123925"/>
                  </a:lnTo>
                  <a:lnTo>
                    <a:pt x="529360" y="123925"/>
                  </a:lnTo>
                  <a:lnTo>
                    <a:pt x="532655" y="120629"/>
                  </a:lnTo>
                  <a:lnTo>
                    <a:pt x="532655" y="3296"/>
                  </a:lnTo>
                  <a:lnTo>
                    <a:pt x="52936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2217538" y="6478067"/>
              <a:ext cx="532765" cy="124460"/>
            </a:xfrm>
            <a:custGeom>
              <a:avLst/>
              <a:gdLst/>
              <a:ahLst/>
              <a:cxnLst/>
              <a:rect l="l" t="t" r="r" b="b"/>
              <a:pathLst>
                <a:path w="532764" h="124459">
                  <a:moveTo>
                    <a:pt x="273689" y="0"/>
                  </a:moveTo>
                  <a:lnTo>
                    <a:pt x="525294" y="0"/>
                  </a:lnTo>
                  <a:lnTo>
                    <a:pt x="529360" y="0"/>
                  </a:lnTo>
                  <a:lnTo>
                    <a:pt x="532655" y="3296"/>
                  </a:lnTo>
                  <a:lnTo>
                    <a:pt x="532655" y="120629"/>
                  </a:lnTo>
                  <a:lnTo>
                    <a:pt x="529360" y="123925"/>
                  </a:lnTo>
                  <a:lnTo>
                    <a:pt x="3295" y="123925"/>
                  </a:lnTo>
                  <a:lnTo>
                    <a:pt x="0" y="120629"/>
                  </a:lnTo>
                  <a:lnTo>
                    <a:pt x="0" y="3296"/>
                  </a:lnTo>
                  <a:lnTo>
                    <a:pt x="3295" y="0"/>
                  </a:lnTo>
                  <a:lnTo>
                    <a:pt x="7360" y="0"/>
                  </a:lnTo>
                  <a:lnTo>
                    <a:pt x="258966" y="0"/>
                  </a:lnTo>
                  <a:lnTo>
                    <a:pt x="263031" y="0"/>
                  </a:lnTo>
                  <a:lnTo>
                    <a:pt x="269623" y="0"/>
                  </a:lnTo>
                  <a:lnTo>
                    <a:pt x="273689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96992" y="6475536"/>
              <a:ext cx="245855" cy="128986"/>
            </a:xfrm>
            <a:prstGeom prst="rect">
              <a:avLst/>
            </a:prstGeom>
          </p:spPr>
        </p:pic>
        <p:sp>
          <p:nvSpPr>
            <p:cNvPr id="102" name="object 102" descr=""/>
            <p:cNvSpPr/>
            <p:nvPr/>
          </p:nvSpPr>
          <p:spPr>
            <a:xfrm>
              <a:off x="3089629" y="6478067"/>
              <a:ext cx="361950" cy="124460"/>
            </a:xfrm>
            <a:custGeom>
              <a:avLst/>
              <a:gdLst/>
              <a:ahLst/>
              <a:cxnLst/>
              <a:rect l="l" t="t" r="r" b="b"/>
              <a:pathLst>
                <a:path w="361950" h="124459">
                  <a:moveTo>
                    <a:pt x="358072" y="0"/>
                  </a:moveTo>
                  <a:lnTo>
                    <a:pt x="188045" y="0"/>
                  </a:lnTo>
                  <a:lnTo>
                    <a:pt x="3295" y="0"/>
                  </a:lnTo>
                  <a:lnTo>
                    <a:pt x="0" y="3296"/>
                  </a:lnTo>
                  <a:lnTo>
                    <a:pt x="0" y="120629"/>
                  </a:lnTo>
                  <a:lnTo>
                    <a:pt x="3295" y="123925"/>
                  </a:lnTo>
                  <a:lnTo>
                    <a:pt x="358072" y="123925"/>
                  </a:lnTo>
                  <a:lnTo>
                    <a:pt x="361368" y="120629"/>
                  </a:lnTo>
                  <a:lnTo>
                    <a:pt x="361368" y="3296"/>
                  </a:lnTo>
                  <a:lnTo>
                    <a:pt x="35807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3089629" y="6478067"/>
              <a:ext cx="361950" cy="124460"/>
            </a:xfrm>
            <a:custGeom>
              <a:avLst/>
              <a:gdLst/>
              <a:ahLst/>
              <a:cxnLst/>
              <a:rect l="l" t="t" r="r" b="b"/>
              <a:pathLst>
                <a:path w="361950" h="124459">
                  <a:moveTo>
                    <a:pt x="188045" y="0"/>
                  </a:moveTo>
                  <a:lnTo>
                    <a:pt x="354006" y="0"/>
                  </a:lnTo>
                  <a:lnTo>
                    <a:pt x="358072" y="0"/>
                  </a:lnTo>
                  <a:lnTo>
                    <a:pt x="361368" y="3296"/>
                  </a:lnTo>
                  <a:lnTo>
                    <a:pt x="361368" y="120629"/>
                  </a:lnTo>
                  <a:lnTo>
                    <a:pt x="358072" y="123925"/>
                  </a:lnTo>
                  <a:lnTo>
                    <a:pt x="3295" y="123925"/>
                  </a:lnTo>
                  <a:lnTo>
                    <a:pt x="0" y="120629"/>
                  </a:lnTo>
                  <a:lnTo>
                    <a:pt x="0" y="3296"/>
                  </a:lnTo>
                  <a:lnTo>
                    <a:pt x="3295" y="0"/>
                  </a:lnTo>
                  <a:lnTo>
                    <a:pt x="7362" y="0"/>
                  </a:lnTo>
                  <a:lnTo>
                    <a:pt x="173322" y="0"/>
                  </a:lnTo>
                  <a:lnTo>
                    <a:pt x="177388" y="0"/>
                  </a:lnTo>
                  <a:lnTo>
                    <a:pt x="183980" y="0"/>
                  </a:lnTo>
                  <a:lnTo>
                    <a:pt x="18804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 descr=""/>
          <p:cNvSpPr txBox="1"/>
          <p:nvPr/>
        </p:nvSpPr>
        <p:spPr>
          <a:xfrm>
            <a:off x="555904" y="6466585"/>
            <a:ext cx="296354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меню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имеются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пять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меню:</a:t>
            </a:r>
            <a:r>
              <a:rPr dirty="0" sz="750" spc="215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Левая</a:t>
            </a:r>
            <a:r>
              <a:rPr dirty="0" baseline="8547" sz="975" spc="44">
                <a:latin typeface="Calibri"/>
                <a:cs typeface="Calibri"/>
              </a:rPr>
              <a:t> </a:t>
            </a:r>
            <a:r>
              <a:rPr dirty="0" baseline="8547" sz="975">
                <a:latin typeface="Calibri"/>
                <a:cs typeface="Calibri"/>
              </a:rPr>
              <a:t>панель</a:t>
            </a:r>
            <a:r>
              <a:rPr dirty="0" baseline="8547" sz="975" spc="127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Файл</a:t>
            </a:r>
            <a:r>
              <a:rPr dirty="0" baseline="8547" sz="975" spc="127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Команда</a:t>
            </a:r>
            <a:r>
              <a:rPr dirty="0" baseline="8547" sz="975" spc="127">
                <a:latin typeface="Calibri"/>
                <a:cs typeface="Calibri"/>
              </a:rPr>
              <a:t> </a:t>
            </a:r>
            <a:r>
              <a:rPr dirty="0" sz="750" spc="-50">
                <a:latin typeface="Book Antiqua"/>
                <a:cs typeface="Book Antiqua"/>
              </a:rPr>
              <a:t>,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05" name="object 105" descr=""/>
          <p:cNvSpPr/>
          <p:nvPr/>
        </p:nvSpPr>
        <p:spPr>
          <a:xfrm>
            <a:off x="3500319" y="6478067"/>
            <a:ext cx="431165" cy="124460"/>
          </a:xfrm>
          <a:custGeom>
            <a:avLst/>
            <a:gdLst/>
            <a:ahLst/>
            <a:cxnLst/>
            <a:rect l="l" t="t" r="r" b="b"/>
            <a:pathLst>
              <a:path w="431164" h="124459">
                <a:moveTo>
                  <a:pt x="427520" y="0"/>
                </a:moveTo>
                <a:lnTo>
                  <a:pt x="222770" y="0"/>
                </a:lnTo>
                <a:lnTo>
                  <a:pt x="3296" y="0"/>
                </a:lnTo>
                <a:lnTo>
                  <a:pt x="0" y="3296"/>
                </a:lnTo>
                <a:lnTo>
                  <a:pt x="0" y="120629"/>
                </a:lnTo>
                <a:lnTo>
                  <a:pt x="3296" y="123925"/>
                </a:lnTo>
                <a:lnTo>
                  <a:pt x="427520" y="123925"/>
                </a:lnTo>
                <a:lnTo>
                  <a:pt x="430817" y="120629"/>
                </a:lnTo>
                <a:lnTo>
                  <a:pt x="430817" y="3296"/>
                </a:lnTo>
                <a:lnTo>
                  <a:pt x="42752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 descr=""/>
          <p:cNvSpPr txBox="1"/>
          <p:nvPr/>
        </p:nvSpPr>
        <p:spPr>
          <a:xfrm>
            <a:off x="3500319" y="6478067"/>
            <a:ext cx="431165" cy="124460"/>
          </a:xfrm>
          <a:prstGeom prst="rect">
            <a:avLst/>
          </a:prstGeom>
          <a:ln w="8357">
            <a:solidFill>
              <a:srgbClr val="4C4C4C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 spc="-10">
                <a:latin typeface="Calibri"/>
                <a:cs typeface="Calibri"/>
              </a:rPr>
              <a:t>Настройки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07" name="object 107" descr=""/>
          <p:cNvGrpSpPr/>
          <p:nvPr/>
        </p:nvGrpSpPr>
        <p:grpSpPr>
          <a:xfrm>
            <a:off x="4034455" y="6475536"/>
            <a:ext cx="584200" cy="129539"/>
            <a:chOff x="4034455" y="6475536"/>
            <a:chExt cx="584200" cy="129539"/>
          </a:xfrm>
        </p:grpSpPr>
        <p:sp>
          <p:nvSpPr>
            <p:cNvPr id="108" name="object 108" descr=""/>
            <p:cNvSpPr/>
            <p:nvPr/>
          </p:nvSpPr>
          <p:spPr>
            <a:xfrm>
              <a:off x="4036985" y="6478067"/>
              <a:ext cx="579120" cy="124460"/>
            </a:xfrm>
            <a:custGeom>
              <a:avLst/>
              <a:gdLst/>
              <a:ahLst/>
              <a:cxnLst/>
              <a:rect l="l" t="t" r="r" b="b"/>
              <a:pathLst>
                <a:path w="579120" h="124459">
                  <a:moveTo>
                    <a:pt x="575495" y="0"/>
                  </a:moveTo>
                  <a:lnTo>
                    <a:pt x="296757" y="0"/>
                  </a:lnTo>
                  <a:lnTo>
                    <a:pt x="3296" y="0"/>
                  </a:lnTo>
                  <a:lnTo>
                    <a:pt x="0" y="3296"/>
                  </a:lnTo>
                  <a:lnTo>
                    <a:pt x="0" y="120629"/>
                  </a:lnTo>
                  <a:lnTo>
                    <a:pt x="3296" y="123925"/>
                  </a:lnTo>
                  <a:lnTo>
                    <a:pt x="575495" y="123925"/>
                  </a:lnTo>
                  <a:lnTo>
                    <a:pt x="578792" y="120629"/>
                  </a:lnTo>
                  <a:lnTo>
                    <a:pt x="578792" y="3296"/>
                  </a:lnTo>
                  <a:lnTo>
                    <a:pt x="57549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4036985" y="6478067"/>
              <a:ext cx="579120" cy="124460"/>
            </a:xfrm>
            <a:custGeom>
              <a:avLst/>
              <a:gdLst/>
              <a:ahLst/>
              <a:cxnLst/>
              <a:rect l="l" t="t" r="r" b="b"/>
              <a:pathLst>
                <a:path w="579120" h="124459">
                  <a:moveTo>
                    <a:pt x="296757" y="0"/>
                  </a:moveTo>
                  <a:lnTo>
                    <a:pt x="571430" y="0"/>
                  </a:lnTo>
                  <a:lnTo>
                    <a:pt x="575495" y="0"/>
                  </a:lnTo>
                  <a:lnTo>
                    <a:pt x="578792" y="3296"/>
                  </a:lnTo>
                  <a:lnTo>
                    <a:pt x="578792" y="120629"/>
                  </a:lnTo>
                  <a:lnTo>
                    <a:pt x="575495" y="123925"/>
                  </a:lnTo>
                  <a:lnTo>
                    <a:pt x="3296" y="123925"/>
                  </a:lnTo>
                  <a:lnTo>
                    <a:pt x="0" y="120629"/>
                  </a:lnTo>
                  <a:lnTo>
                    <a:pt x="0" y="3296"/>
                  </a:lnTo>
                  <a:lnTo>
                    <a:pt x="3296" y="0"/>
                  </a:lnTo>
                  <a:lnTo>
                    <a:pt x="7362" y="0"/>
                  </a:lnTo>
                  <a:lnTo>
                    <a:pt x="282034" y="0"/>
                  </a:lnTo>
                  <a:lnTo>
                    <a:pt x="286100" y="0"/>
                  </a:lnTo>
                  <a:lnTo>
                    <a:pt x="292692" y="0"/>
                  </a:lnTo>
                  <a:lnTo>
                    <a:pt x="296757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 descr=""/>
          <p:cNvSpPr txBox="1"/>
          <p:nvPr/>
        </p:nvSpPr>
        <p:spPr>
          <a:xfrm>
            <a:off x="3916527" y="6466585"/>
            <a:ext cx="76708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Правая</a:t>
            </a:r>
            <a:r>
              <a:rPr dirty="0" baseline="8547" sz="975" spc="30">
                <a:latin typeface="Calibri"/>
                <a:cs typeface="Calibri"/>
              </a:rPr>
              <a:t> </a:t>
            </a:r>
            <a:r>
              <a:rPr dirty="0" baseline="8547" sz="975">
                <a:latin typeface="Calibri"/>
                <a:cs typeface="Calibri"/>
              </a:rPr>
              <a:t>панель</a:t>
            </a:r>
            <a:r>
              <a:rPr dirty="0" baseline="8547" sz="975" spc="104">
                <a:latin typeface="Calibri"/>
                <a:cs typeface="Calibri"/>
              </a:rPr>
              <a:t> </a:t>
            </a:r>
            <a:r>
              <a:rPr dirty="0" sz="750" spc="-5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62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139896" y="392412"/>
            <a:ext cx="249936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7.</a:t>
            </a:r>
            <a:r>
              <a:rPr dirty="0" sz="600" spc="4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Командная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оболочка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Midnight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Commander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7191" y="650384"/>
            <a:ext cx="3225505" cy="256776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958619" y="3324450"/>
            <a:ext cx="1303020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10" b="1">
                <a:latin typeface="Book Antiqua"/>
                <a:cs typeface="Book Antiqua"/>
              </a:rPr>
              <a:t>Рис.</a:t>
            </a:r>
            <a:r>
              <a:rPr dirty="0" sz="650" spc="125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7.2.</a:t>
            </a:r>
            <a:r>
              <a:rPr dirty="0" sz="650" spc="85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Режим</a:t>
            </a:r>
            <a:r>
              <a:rPr dirty="0" sz="650" spc="125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Информация</a:t>
            </a:r>
            <a:endParaRPr sz="650">
              <a:latin typeface="Book Antiqua"/>
              <a:cs typeface="Book Antiqu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7191" y="3610375"/>
            <a:ext cx="3225503" cy="2333872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566506" y="6050531"/>
            <a:ext cx="2087245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20" b="1">
                <a:latin typeface="Book Antiqua"/>
                <a:cs typeface="Book Antiqua"/>
              </a:rPr>
              <a:t>Рис.</a:t>
            </a:r>
            <a:r>
              <a:rPr dirty="0" sz="650" spc="9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7.3.</a:t>
            </a:r>
            <a:r>
              <a:rPr dirty="0" sz="650" spc="6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Режим</a:t>
            </a:r>
            <a:r>
              <a:rPr dirty="0" sz="650" spc="9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отображения</a:t>
            </a:r>
            <a:r>
              <a:rPr dirty="0" sz="650" spc="7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дерева</a:t>
            </a:r>
            <a:r>
              <a:rPr dirty="0" sz="650" spc="95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каталогов</a:t>
            </a:r>
            <a:endParaRPr sz="6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81304" y="6415404"/>
            <a:ext cx="833119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-25">
                <a:latin typeface="Book Antiqua"/>
                <a:cs typeface="Book Antiqua"/>
              </a:rPr>
              <a:t>Подпункт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меню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панели.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422468" y="6426873"/>
            <a:ext cx="723900" cy="124460"/>
          </a:xfrm>
          <a:custGeom>
            <a:avLst/>
            <a:gdLst/>
            <a:ahLst/>
            <a:cxnLst/>
            <a:rect l="l" t="t" r="r" b="b"/>
            <a:pathLst>
              <a:path w="723900" h="124459">
                <a:moveTo>
                  <a:pt x="720035" y="0"/>
                </a:moveTo>
                <a:lnTo>
                  <a:pt x="369027" y="0"/>
                </a:lnTo>
                <a:lnTo>
                  <a:pt x="3295" y="0"/>
                </a:lnTo>
                <a:lnTo>
                  <a:pt x="0" y="3296"/>
                </a:lnTo>
                <a:lnTo>
                  <a:pt x="0" y="120629"/>
                </a:lnTo>
                <a:lnTo>
                  <a:pt x="3295" y="123925"/>
                </a:lnTo>
                <a:lnTo>
                  <a:pt x="720035" y="123925"/>
                </a:lnTo>
                <a:lnTo>
                  <a:pt x="723331" y="120629"/>
                </a:lnTo>
                <a:lnTo>
                  <a:pt x="723331" y="3296"/>
                </a:lnTo>
                <a:lnTo>
                  <a:pt x="720035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422468" y="6426873"/>
            <a:ext cx="723900" cy="124460"/>
          </a:xfrm>
          <a:prstGeom prst="rect">
            <a:avLst/>
          </a:prstGeom>
          <a:ln w="8356">
            <a:solidFill>
              <a:srgbClr val="4C4C4C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>
                <a:latin typeface="Calibri"/>
                <a:cs typeface="Calibri"/>
              </a:rPr>
              <a:t>Быстрый</a:t>
            </a:r>
            <a:r>
              <a:rPr dirty="0" sz="650" spc="1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просмотр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153970" y="6415404"/>
            <a:ext cx="24847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выполнить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быстрый </a:t>
            </a:r>
            <a:r>
              <a:rPr dirty="0" sz="750">
                <a:latin typeface="Book Antiqua"/>
                <a:cs typeface="Book Antiqua"/>
              </a:rPr>
              <a:t>просмотр</a:t>
            </a:r>
            <a:r>
              <a:rPr dirty="0" sz="750" spc="-10">
                <a:latin typeface="Book Antiqua"/>
                <a:cs typeface="Book Antiqua"/>
              </a:rPr>
              <a:t> содержимого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63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7191" y="650361"/>
            <a:ext cx="3225503" cy="2333872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970519" y="3090516"/>
            <a:ext cx="1279525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10" b="1">
                <a:latin typeface="Book Antiqua"/>
                <a:cs typeface="Book Antiqua"/>
              </a:rPr>
              <a:t>Рис.</a:t>
            </a:r>
            <a:r>
              <a:rPr dirty="0" sz="650" spc="114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7.4.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Меню</a:t>
            </a:r>
            <a:r>
              <a:rPr dirty="0" sz="650" spc="100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Левая</a:t>
            </a:r>
            <a:r>
              <a:rPr dirty="0" sz="650" spc="114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Панель</a:t>
            </a:r>
            <a:endParaRPr sz="65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77964" y="3455390"/>
            <a:ext cx="847725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100965">
              <a:lnSpc>
                <a:spcPct val="100000"/>
              </a:lnSpc>
              <a:spcBef>
                <a:spcPts val="120"/>
              </a:spcBef>
            </a:pPr>
            <a:r>
              <a:rPr dirty="0" sz="750" spc="-20">
                <a:latin typeface="Book Antiqua"/>
                <a:cs typeface="Book Antiqua"/>
              </a:rPr>
              <a:t>Подпункт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меню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(рис.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  <a:hlinkClick r:id="rId3" action="ppaction://hlinksldjump"/>
              </a:rPr>
              <a:t>7</a:t>
            </a:r>
            <a:r>
              <a:rPr dirty="0" sz="750" spc="-10">
                <a:latin typeface="Book Antiqua"/>
                <a:cs typeface="Book Antiqua"/>
              </a:rPr>
              <a:t>.5).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439157" y="3466859"/>
            <a:ext cx="516255" cy="124460"/>
          </a:xfrm>
          <a:custGeom>
            <a:avLst/>
            <a:gdLst/>
            <a:ahLst/>
            <a:cxnLst/>
            <a:rect l="l" t="t" r="r" b="b"/>
            <a:pathLst>
              <a:path w="516255" h="124460">
                <a:moveTo>
                  <a:pt x="512591" y="0"/>
                </a:moveTo>
                <a:lnTo>
                  <a:pt x="265304" y="0"/>
                </a:lnTo>
                <a:lnTo>
                  <a:pt x="3295" y="0"/>
                </a:lnTo>
                <a:lnTo>
                  <a:pt x="0" y="3296"/>
                </a:lnTo>
                <a:lnTo>
                  <a:pt x="0" y="120629"/>
                </a:lnTo>
                <a:lnTo>
                  <a:pt x="3295" y="123925"/>
                </a:lnTo>
                <a:lnTo>
                  <a:pt x="512591" y="123925"/>
                </a:lnTo>
                <a:lnTo>
                  <a:pt x="515886" y="120629"/>
                </a:lnTo>
                <a:lnTo>
                  <a:pt x="515886" y="3296"/>
                </a:lnTo>
                <a:lnTo>
                  <a:pt x="512591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439157" y="3466859"/>
            <a:ext cx="516255" cy="124460"/>
          </a:xfrm>
          <a:prstGeom prst="rect">
            <a:avLst/>
          </a:prstGeom>
          <a:ln w="8356">
            <a:solidFill>
              <a:srgbClr val="4C4C4C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 spc="-10">
                <a:latin typeface="Calibri"/>
                <a:cs typeface="Calibri"/>
              </a:rPr>
              <a:t>Информация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968715" y="3455390"/>
            <a:ext cx="267017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позволяет посмотреть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информацию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каталоге</a:t>
            </a:r>
            <a:endParaRPr sz="750">
              <a:latin typeface="Book Antiqua"/>
              <a:cs typeface="Book Antiqu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3615" y="3852271"/>
            <a:ext cx="1612773" cy="160560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432143" y="5862761"/>
            <a:ext cx="594995" cy="129539"/>
            <a:chOff x="3432143" y="5862761"/>
            <a:chExt cx="594995" cy="129539"/>
          </a:xfrm>
        </p:grpSpPr>
        <p:sp>
          <p:nvSpPr>
            <p:cNvPr id="13" name="object 13" descr=""/>
            <p:cNvSpPr/>
            <p:nvPr/>
          </p:nvSpPr>
          <p:spPr>
            <a:xfrm>
              <a:off x="3434674" y="5865292"/>
              <a:ext cx="589915" cy="124460"/>
            </a:xfrm>
            <a:custGeom>
              <a:avLst/>
              <a:gdLst/>
              <a:ahLst/>
              <a:cxnLst/>
              <a:rect l="l" t="t" r="r" b="b"/>
              <a:pathLst>
                <a:path w="589914" h="124460">
                  <a:moveTo>
                    <a:pt x="586292" y="0"/>
                  </a:moveTo>
                  <a:lnTo>
                    <a:pt x="302156" y="0"/>
                  </a:lnTo>
                  <a:lnTo>
                    <a:pt x="3296" y="0"/>
                  </a:lnTo>
                  <a:lnTo>
                    <a:pt x="0" y="3296"/>
                  </a:lnTo>
                  <a:lnTo>
                    <a:pt x="0" y="120629"/>
                  </a:lnTo>
                  <a:lnTo>
                    <a:pt x="3296" y="123925"/>
                  </a:lnTo>
                  <a:lnTo>
                    <a:pt x="586292" y="123925"/>
                  </a:lnTo>
                  <a:lnTo>
                    <a:pt x="589589" y="120629"/>
                  </a:lnTo>
                  <a:lnTo>
                    <a:pt x="589589" y="3296"/>
                  </a:lnTo>
                  <a:lnTo>
                    <a:pt x="5862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434674" y="5865292"/>
              <a:ext cx="589915" cy="124460"/>
            </a:xfrm>
            <a:custGeom>
              <a:avLst/>
              <a:gdLst/>
              <a:ahLst/>
              <a:cxnLst/>
              <a:rect l="l" t="t" r="r" b="b"/>
              <a:pathLst>
                <a:path w="589914" h="124460">
                  <a:moveTo>
                    <a:pt x="302156" y="0"/>
                  </a:moveTo>
                  <a:lnTo>
                    <a:pt x="582227" y="0"/>
                  </a:lnTo>
                  <a:lnTo>
                    <a:pt x="586292" y="0"/>
                  </a:lnTo>
                  <a:lnTo>
                    <a:pt x="589589" y="3296"/>
                  </a:lnTo>
                  <a:lnTo>
                    <a:pt x="589589" y="120629"/>
                  </a:lnTo>
                  <a:lnTo>
                    <a:pt x="586292" y="123925"/>
                  </a:lnTo>
                  <a:lnTo>
                    <a:pt x="3296" y="123925"/>
                  </a:lnTo>
                  <a:lnTo>
                    <a:pt x="0" y="120629"/>
                  </a:lnTo>
                  <a:lnTo>
                    <a:pt x="0" y="3296"/>
                  </a:lnTo>
                  <a:lnTo>
                    <a:pt x="3296" y="0"/>
                  </a:lnTo>
                  <a:lnTo>
                    <a:pt x="7362" y="0"/>
                  </a:lnTo>
                  <a:lnTo>
                    <a:pt x="287433" y="0"/>
                  </a:lnTo>
                  <a:lnTo>
                    <a:pt x="291499" y="0"/>
                  </a:lnTo>
                  <a:lnTo>
                    <a:pt x="298090" y="0"/>
                  </a:lnTo>
                  <a:lnTo>
                    <a:pt x="302156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44830" y="5564159"/>
            <a:ext cx="4145279" cy="11150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6350">
              <a:lnSpc>
                <a:spcPct val="100000"/>
              </a:lnSpc>
              <a:spcBef>
                <a:spcPts val="135"/>
              </a:spcBef>
            </a:pPr>
            <a:r>
              <a:rPr dirty="0" sz="650" spc="10" b="1">
                <a:latin typeface="Book Antiqua"/>
                <a:cs typeface="Book Antiqua"/>
              </a:rPr>
              <a:t>Рис.</a:t>
            </a:r>
            <a:r>
              <a:rPr dirty="0" sz="650" spc="120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7.5.</a:t>
            </a:r>
            <a:r>
              <a:rPr dirty="0" sz="650" spc="85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Панель</a:t>
            </a:r>
            <a:r>
              <a:rPr dirty="0" sz="650" spc="114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Информация</a:t>
            </a:r>
            <a:endParaRPr sz="6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650">
              <a:latin typeface="Book Antiqua"/>
              <a:cs typeface="Book Antiqua"/>
            </a:endParaRPr>
          </a:p>
          <a:p>
            <a:pPr marL="147320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меню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каждой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(левой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правой)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панели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выбрать</a:t>
            </a:r>
            <a:r>
              <a:rPr dirty="0" sz="750" spc="29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Формат</a:t>
            </a:r>
            <a:r>
              <a:rPr dirty="0" baseline="8547" sz="975" spc="60">
                <a:latin typeface="Calibri"/>
                <a:cs typeface="Calibri"/>
              </a:rPr>
              <a:t> </a:t>
            </a:r>
            <a:r>
              <a:rPr dirty="0" baseline="8547" sz="975">
                <a:latin typeface="Calibri"/>
                <a:cs typeface="Calibri"/>
              </a:rPr>
              <a:t>списка</a:t>
            </a:r>
            <a:r>
              <a:rPr dirty="0" baseline="8547" sz="975" spc="179">
                <a:latin typeface="Calibri"/>
                <a:cs typeface="Calibri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  <a:p>
            <a:pPr marL="180340" marR="55880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181610" algn="l"/>
              </a:tabLst>
            </a:pPr>
            <a:r>
              <a:rPr dirty="0" sz="750">
                <a:latin typeface="Book Antiqua"/>
                <a:cs typeface="Book Antiqua"/>
              </a:rPr>
              <a:t>стандартный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список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указанием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размера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времени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правки;</a:t>
            </a:r>
            <a:endParaRPr sz="750">
              <a:latin typeface="Book Antiqua"/>
              <a:cs typeface="Book Antiqua"/>
            </a:endParaRPr>
          </a:p>
          <a:p>
            <a:pPr marL="180340" marR="55880" indent="-117475">
              <a:lnSpc>
                <a:spcPts val="890"/>
              </a:lnSpc>
              <a:spcBef>
                <a:spcPts val="10"/>
              </a:spcBef>
              <a:buFont typeface="Book Antiqua"/>
              <a:buChar char="–"/>
              <a:tabLst>
                <a:tab pos="181610" algn="l"/>
              </a:tabLst>
            </a:pPr>
            <a:r>
              <a:rPr dirty="0" sz="750">
                <a:latin typeface="Book Antiqua"/>
                <a:cs typeface="Book Antiqua"/>
              </a:rPr>
              <a:t>ускоренный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задать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число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столбцов,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разбивается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панель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при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выводе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списка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имён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без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дополнительной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информации;</a:t>
            </a:r>
            <a:endParaRPr sz="750">
              <a:latin typeface="Book Antiqua"/>
              <a:cs typeface="Book Antiqua"/>
            </a:endParaRPr>
          </a:p>
          <a:p>
            <a:pPr marL="180340" marR="55880" indent="-117475">
              <a:lnSpc>
                <a:spcPts val="890"/>
              </a:lnSpc>
              <a:spcBef>
                <a:spcPts val="5"/>
              </a:spcBef>
              <a:buFont typeface="Book Antiqua"/>
              <a:buChar char="–"/>
              <a:tabLst>
                <a:tab pos="181610" algn="l"/>
              </a:tabLst>
            </a:pPr>
            <a:r>
              <a:rPr dirty="0" sz="750">
                <a:latin typeface="Book Antiqua"/>
                <a:cs typeface="Book Antiqua"/>
              </a:rPr>
              <a:t>расширенный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60">
                <a:latin typeface="Book Antiqua"/>
                <a:cs typeface="Book Antiqua"/>
              </a:rPr>
              <a:t>—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помимо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названия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выводит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сведения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правах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10">
                <a:latin typeface="Book Antiqua"/>
                <a:cs typeface="Book Antiqua"/>
              </a:rPr>
              <a:t>доступа,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владельце,</a:t>
            </a:r>
            <a:r>
              <a:rPr dirty="0" sz="750">
                <a:latin typeface="Book Antiqua"/>
                <a:cs typeface="Book Antiqua"/>
              </a:rPr>
              <a:t> группе,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размере,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времени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правки;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64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139896" y="392412"/>
            <a:ext cx="249936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7.</a:t>
            </a:r>
            <a:r>
              <a:rPr dirty="0" sz="600" spc="4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Командная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оболочка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Midnight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Commander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95630" y="653389"/>
            <a:ext cx="4057015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30810" marR="5080" indent="-118745">
              <a:lnSpc>
                <a:spcPct val="100000"/>
              </a:lnSpc>
              <a:spcBef>
                <a:spcPts val="120"/>
              </a:spcBef>
            </a:pPr>
            <a:r>
              <a:rPr dirty="0" sz="750" spc="105" b="1">
                <a:latin typeface="Book Antiqua"/>
                <a:cs typeface="Book Antiqua"/>
              </a:rPr>
              <a:t>–</a:t>
            </a:r>
            <a:r>
              <a:rPr dirty="0" sz="750" spc="320" b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определённый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пользователем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вывести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сведения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каталоге,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которые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задаст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сам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пользователь.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79462" y="901192"/>
            <a:ext cx="75184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Подпункт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меню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444786" y="912673"/>
            <a:ext cx="792480" cy="124460"/>
          </a:xfrm>
          <a:custGeom>
            <a:avLst/>
            <a:gdLst/>
            <a:ahLst/>
            <a:cxnLst/>
            <a:rect l="l" t="t" r="r" b="b"/>
            <a:pathLst>
              <a:path w="792480" h="124459">
                <a:moveTo>
                  <a:pt x="788911" y="0"/>
                </a:moveTo>
                <a:lnTo>
                  <a:pt x="403465" y="0"/>
                </a:lnTo>
                <a:lnTo>
                  <a:pt x="3296" y="0"/>
                </a:lnTo>
                <a:lnTo>
                  <a:pt x="0" y="3296"/>
                </a:lnTo>
                <a:lnTo>
                  <a:pt x="0" y="120629"/>
                </a:lnTo>
                <a:lnTo>
                  <a:pt x="3296" y="123925"/>
                </a:lnTo>
                <a:lnTo>
                  <a:pt x="788911" y="123925"/>
                </a:lnTo>
                <a:lnTo>
                  <a:pt x="792208" y="120629"/>
                </a:lnTo>
                <a:lnTo>
                  <a:pt x="792208" y="3296"/>
                </a:lnTo>
                <a:lnTo>
                  <a:pt x="788911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444786" y="912673"/>
            <a:ext cx="792480" cy="124460"/>
          </a:xfrm>
          <a:prstGeom prst="rect">
            <a:avLst/>
          </a:prstGeom>
          <a:ln w="8357">
            <a:solidFill>
              <a:srgbClr val="4C4C4C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>
                <a:latin typeface="Calibri"/>
                <a:cs typeface="Calibri"/>
              </a:rPr>
              <a:t>Порядок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сортировки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250643" y="901192"/>
            <a:ext cx="238823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критерии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сортировки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выводе</a:t>
            </a:r>
            <a:endParaRPr sz="750">
              <a:latin typeface="Book Antiqua"/>
              <a:cs typeface="Book Antiqu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664" y="1632734"/>
            <a:ext cx="245855" cy="12898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43204" y="1014806"/>
            <a:ext cx="4133850" cy="8661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50800" marR="29209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списка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файлов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каталогов: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без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сортировки,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имени,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расширенный,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время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правки,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время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доступа,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время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изменения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атрибута,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размер,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узел.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750">
              <a:latin typeface="Book Antiqua"/>
              <a:cs typeface="Book Antiqua"/>
            </a:endParaRPr>
          </a:p>
          <a:p>
            <a:pPr marL="50800">
              <a:lnSpc>
                <a:spcPct val="100000"/>
              </a:lnSpc>
            </a:pPr>
            <a:r>
              <a:rPr dirty="0" sz="750" b="1">
                <a:latin typeface="Book Antiqua"/>
                <a:cs typeface="Book Antiqua"/>
              </a:rPr>
              <a:t>7.2.3.1.</a:t>
            </a:r>
            <a:r>
              <a:rPr dirty="0" sz="750" spc="335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Меню</a:t>
            </a:r>
            <a:r>
              <a:rPr dirty="0" sz="750" spc="114" b="1">
                <a:latin typeface="Book Antiqua"/>
                <a:cs typeface="Book Antiqua"/>
              </a:rPr>
              <a:t> </a:t>
            </a:r>
            <a:r>
              <a:rPr dirty="0" sz="750" spc="-20" b="1">
                <a:latin typeface="Book Antiqua"/>
                <a:cs typeface="Book Antiqua"/>
              </a:rPr>
              <a:t>Файл</a:t>
            </a:r>
            <a:endParaRPr sz="750">
              <a:latin typeface="Book Antiqua"/>
              <a:cs typeface="Book Antiqua"/>
            </a:endParaRPr>
          </a:p>
          <a:p>
            <a:pPr marL="50800" marR="43180" indent="97790">
              <a:lnSpc>
                <a:spcPct val="100000"/>
              </a:lnSpc>
              <a:spcBef>
                <a:spcPts val="850"/>
              </a:spcBef>
            </a:pP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меню</a:t>
            </a:r>
            <a:r>
              <a:rPr dirty="0" sz="750" spc="295">
                <a:latin typeface="Book Antiqua"/>
                <a:cs typeface="Book Antiqua"/>
              </a:rPr>
              <a:t> </a:t>
            </a:r>
            <a:r>
              <a:rPr dirty="0" baseline="8547" sz="975" spc="15">
                <a:latin typeface="Calibri"/>
                <a:cs typeface="Calibri"/>
              </a:rPr>
              <a:t>Файл</a:t>
            </a:r>
            <a:r>
              <a:rPr dirty="0" baseline="8547" sz="975" spc="517">
                <a:latin typeface="Calibri"/>
                <a:cs typeface="Calibri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содержит перечень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команд,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которые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могут быть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применены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одному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нескольким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(рис.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  <a:hlinkClick r:id="rId3" action="ppaction://hlinksldjump"/>
              </a:rPr>
              <a:t>7</a:t>
            </a:r>
            <a:r>
              <a:rPr dirty="0" sz="750" spc="-10">
                <a:latin typeface="Book Antiqua"/>
                <a:cs typeface="Book Antiqua"/>
              </a:rPr>
              <a:t>.6).</a:t>
            </a:r>
            <a:endParaRPr sz="750">
              <a:latin typeface="Book Antiqua"/>
              <a:cs typeface="Book Antiqua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5616" y="2020712"/>
            <a:ext cx="3628763" cy="2625658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1423830" y="5051257"/>
            <a:ext cx="246379" cy="129539"/>
            <a:chOff x="1423830" y="5051257"/>
            <a:chExt cx="246379" cy="129539"/>
          </a:xfrm>
        </p:grpSpPr>
        <p:sp>
          <p:nvSpPr>
            <p:cNvPr id="14" name="object 14" descr=""/>
            <p:cNvSpPr/>
            <p:nvPr/>
          </p:nvSpPr>
          <p:spPr>
            <a:xfrm>
              <a:off x="1426360" y="5053787"/>
              <a:ext cx="241300" cy="124460"/>
            </a:xfrm>
            <a:custGeom>
              <a:avLst/>
              <a:gdLst/>
              <a:ahLst/>
              <a:cxnLst/>
              <a:rect l="l" t="t" r="r" b="b"/>
              <a:pathLst>
                <a:path w="241300" h="124460">
                  <a:moveTo>
                    <a:pt x="237498" y="0"/>
                  </a:moveTo>
                  <a:lnTo>
                    <a:pt x="127759" y="0"/>
                  </a:lnTo>
                  <a:lnTo>
                    <a:pt x="3296" y="0"/>
                  </a:lnTo>
                  <a:lnTo>
                    <a:pt x="0" y="3296"/>
                  </a:lnTo>
                  <a:lnTo>
                    <a:pt x="0" y="120629"/>
                  </a:lnTo>
                  <a:lnTo>
                    <a:pt x="3296" y="123925"/>
                  </a:lnTo>
                  <a:lnTo>
                    <a:pt x="237498" y="123925"/>
                  </a:lnTo>
                  <a:lnTo>
                    <a:pt x="240795" y="120629"/>
                  </a:lnTo>
                  <a:lnTo>
                    <a:pt x="240795" y="3296"/>
                  </a:lnTo>
                  <a:lnTo>
                    <a:pt x="23749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426360" y="5053787"/>
              <a:ext cx="241300" cy="124460"/>
            </a:xfrm>
            <a:custGeom>
              <a:avLst/>
              <a:gdLst/>
              <a:ahLst/>
              <a:cxnLst/>
              <a:rect l="l" t="t" r="r" b="b"/>
              <a:pathLst>
                <a:path w="241300" h="124460">
                  <a:moveTo>
                    <a:pt x="127759" y="0"/>
                  </a:moveTo>
                  <a:lnTo>
                    <a:pt x="233433" y="0"/>
                  </a:lnTo>
                  <a:lnTo>
                    <a:pt x="237498" y="0"/>
                  </a:lnTo>
                  <a:lnTo>
                    <a:pt x="240795" y="3296"/>
                  </a:lnTo>
                  <a:lnTo>
                    <a:pt x="240795" y="120629"/>
                  </a:lnTo>
                  <a:lnTo>
                    <a:pt x="237498" y="123925"/>
                  </a:lnTo>
                  <a:lnTo>
                    <a:pt x="3296" y="123925"/>
                  </a:lnTo>
                  <a:lnTo>
                    <a:pt x="0" y="120629"/>
                  </a:lnTo>
                  <a:lnTo>
                    <a:pt x="0" y="3296"/>
                  </a:lnTo>
                  <a:lnTo>
                    <a:pt x="3296" y="0"/>
                  </a:lnTo>
                  <a:lnTo>
                    <a:pt x="7361" y="0"/>
                  </a:lnTo>
                  <a:lnTo>
                    <a:pt x="113035" y="0"/>
                  </a:lnTo>
                  <a:lnTo>
                    <a:pt x="117101" y="0"/>
                  </a:lnTo>
                  <a:lnTo>
                    <a:pt x="123693" y="0"/>
                  </a:lnTo>
                  <a:lnTo>
                    <a:pt x="127759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1256371" y="5192900"/>
            <a:ext cx="152400" cy="129539"/>
            <a:chOff x="1256371" y="5192900"/>
            <a:chExt cx="152400" cy="129539"/>
          </a:xfrm>
        </p:grpSpPr>
        <p:sp>
          <p:nvSpPr>
            <p:cNvPr id="17" name="object 17" descr=""/>
            <p:cNvSpPr/>
            <p:nvPr/>
          </p:nvSpPr>
          <p:spPr>
            <a:xfrm>
              <a:off x="1258902" y="519543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258902" y="519543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2079814" y="5440702"/>
            <a:ext cx="152400" cy="129539"/>
            <a:chOff x="2079814" y="5440702"/>
            <a:chExt cx="152400" cy="129539"/>
          </a:xfrm>
        </p:grpSpPr>
        <p:sp>
          <p:nvSpPr>
            <p:cNvPr id="20" name="object 20" descr=""/>
            <p:cNvSpPr/>
            <p:nvPr/>
          </p:nvSpPr>
          <p:spPr>
            <a:xfrm>
              <a:off x="2082344" y="544323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082344" y="544323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 descr=""/>
          <p:cNvGrpSpPr/>
          <p:nvPr/>
        </p:nvGrpSpPr>
        <p:grpSpPr>
          <a:xfrm>
            <a:off x="2294977" y="5440702"/>
            <a:ext cx="152400" cy="129539"/>
            <a:chOff x="2294977" y="5440702"/>
            <a:chExt cx="152400" cy="129539"/>
          </a:xfrm>
        </p:grpSpPr>
        <p:sp>
          <p:nvSpPr>
            <p:cNvPr id="23" name="object 23" descr=""/>
            <p:cNvSpPr/>
            <p:nvPr/>
          </p:nvSpPr>
          <p:spPr>
            <a:xfrm>
              <a:off x="2297508" y="544323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297508" y="544323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1114347" y="5689978"/>
            <a:ext cx="152400" cy="129539"/>
            <a:chOff x="1114347" y="5689978"/>
            <a:chExt cx="152400" cy="129539"/>
          </a:xfrm>
        </p:grpSpPr>
        <p:sp>
          <p:nvSpPr>
            <p:cNvPr id="26" name="object 26" descr=""/>
            <p:cNvSpPr/>
            <p:nvPr/>
          </p:nvSpPr>
          <p:spPr>
            <a:xfrm>
              <a:off x="1116878" y="569250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116878" y="569250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1399843" y="5831621"/>
            <a:ext cx="152400" cy="129539"/>
            <a:chOff x="1399843" y="5831621"/>
            <a:chExt cx="152400" cy="129539"/>
          </a:xfrm>
        </p:grpSpPr>
        <p:sp>
          <p:nvSpPr>
            <p:cNvPr id="29" name="object 29" descr=""/>
            <p:cNvSpPr/>
            <p:nvPr/>
          </p:nvSpPr>
          <p:spPr>
            <a:xfrm>
              <a:off x="1402374" y="583415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402374" y="583415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 descr=""/>
          <p:cNvGrpSpPr/>
          <p:nvPr/>
        </p:nvGrpSpPr>
        <p:grpSpPr>
          <a:xfrm>
            <a:off x="1466101" y="6080897"/>
            <a:ext cx="250825" cy="129539"/>
            <a:chOff x="1466101" y="6080897"/>
            <a:chExt cx="250825" cy="129539"/>
          </a:xfrm>
        </p:grpSpPr>
        <p:sp>
          <p:nvSpPr>
            <p:cNvPr id="32" name="object 32" descr=""/>
            <p:cNvSpPr/>
            <p:nvPr/>
          </p:nvSpPr>
          <p:spPr>
            <a:xfrm>
              <a:off x="1468632" y="6083427"/>
              <a:ext cx="245745" cy="124460"/>
            </a:xfrm>
            <a:custGeom>
              <a:avLst/>
              <a:gdLst/>
              <a:ahLst/>
              <a:cxnLst/>
              <a:rect l="l" t="t" r="r" b="b"/>
              <a:pathLst>
                <a:path w="245744" h="124460">
                  <a:moveTo>
                    <a:pt x="238865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38865" y="123926"/>
                  </a:lnTo>
                  <a:lnTo>
                    <a:pt x="245457" y="117333"/>
                  </a:lnTo>
                  <a:lnTo>
                    <a:pt x="245457" y="6592"/>
                  </a:lnTo>
                  <a:lnTo>
                    <a:pt x="23886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468632" y="6083427"/>
              <a:ext cx="245745" cy="124460"/>
            </a:xfrm>
            <a:custGeom>
              <a:avLst/>
              <a:gdLst/>
              <a:ahLst/>
              <a:cxnLst/>
              <a:rect l="l" t="t" r="r" b="b"/>
              <a:pathLst>
                <a:path w="245744" h="124460">
                  <a:moveTo>
                    <a:pt x="230733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30733" y="123926"/>
                  </a:lnTo>
                  <a:lnTo>
                    <a:pt x="238865" y="123926"/>
                  </a:lnTo>
                  <a:lnTo>
                    <a:pt x="245457" y="117333"/>
                  </a:lnTo>
                  <a:lnTo>
                    <a:pt x="245457" y="109202"/>
                  </a:lnTo>
                  <a:lnTo>
                    <a:pt x="245457" y="14723"/>
                  </a:lnTo>
                  <a:lnTo>
                    <a:pt x="245457" y="6592"/>
                  </a:lnTo>
                  <a:lnTo>
                    <a:pt x="238865" y="0"/>
                  </a:lnTo>
                  <a:lnTo>
                    <a:pt x="230733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1743874" y="6080897"/>
            <a:ext cx="152400" cy="129539"/>
            <a:chOff x="1743874" y="6080897"/>
            <a:chExt cx="152400" cy="129539"/>
          </a:xfrm>
        </p:grpSpPr>
        <p:sp>
          <p:nvSpPr>
            <p:cNvPr id="35" name="object 35" descr=""/>
            <p:cNvSpPr/>
            <p:nvPr/>
          </p:nvSpPr>
          <p:spPr>
            <a:xfrm>
              <a:off x="1746404" y="608342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746404" y="608342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532130" y="4752667"/>
            <a:ext cx="4170679" cy="15767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6350">
              <a:lnSpc>
                <a:spcPct val="100000"/>
              </a:lnSpc>
              <a:spcBef>
                <a:spcPts val="135"/>
              </a:spcBef>
            </a:pPr>
            <a:r>
              <a:rPr dirty="0" sz="650" spc="10" b="1">
                <a:latin typeface="Book Antiqua"/>
                <a:cs typeface="Book Antiqua"/>
              </a:rPr>
              <a:t>Рис.</a:t>
            </a:r>
            <a:r>
              <a:rPr dirty="0" sz="650" spc="114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7.6.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Меню</a:t>
            </a:r>
            <a:r>
              <a:rPr dirty="0" sz="650" spc="120" b="1">
                <a:latin typeface="Book Antiqua"/>
                <a:cs typeface="Book Antiqua"/>
              </a:rPr>
              <a:t> </a:t>
            </a:r>
            <a:r>
              <a:rPr dirty="0" sz="650" spc="-20" b="1">
                <a:latin typeface="Book Antiqua"/>
                <a:cs typeface="Book Antiqua"/>
              </a:rPr>
              <a:t>Файл</a:t>
            </a:r>
            <a:endParaRPr sz="6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650">
              <a:latin typeface="Book Antiqua"/>
              <a:cs typeface="Book Antiqua"/>
            </a:endParaRPr>
          </a:p>
          <a:p>
            <a:pPr marL="160020">
              <a:lnSpc>
                <a:spcPct val="100000"/>
              </a:lnSpc>
            </a:pP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меню</a:t>
            </a:r>
            <a:r>
              <a:rPr dirty="0" sz="750" spc="28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Файл</a:t>
            </a:r>
            <a:r>
              <a:rPr dirty="0" baseline="8547" sz="975" spc="157">
                <a:latin typeface="Calibri"/>
                <a:cs typeface="Calibri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  <a:p>
            <a:pPr marL="193040" marR="61594" indent="-117475">
              <a:lnSpc>
                <a:spcPct val="100000"/>
              </a:lnSpc>
              <a:spcBef>
                <a:spcPts val="215"/>
              </a:spcBef>
              <a:buFont typeface="Book Antiqua"/>
              <a:buChar char="–"/>
              <a:tabLst>
                <a:tab pos="194310" algn="l"/>
              </a:tabLst>
            </a:pPr>
            <a:r>
              <a:rPr dirty="0" sz="750" spc="10">
                <a:latin typeface="Book Antiqua"/>
                <a:cs typeface="Book Antiqua"/>
              </a:rPr>
              <a:t>Просмотр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baseline="8547" sz="975" spc="15">
                <a:latin typeface="Calibri"/>
                <a:cs typeface="Calibri"/>
              </a:rPr>
              <a:t>F3</a:t>
            </a:r>
            <a:r>
              <a:rPr dirty="0" baseline="8547" sz="975" spc="217">
                <a:latin typeface="Calibri"/>
                <a:cs typeface="Calibri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)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—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позволяет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посмотреть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содержимое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текущего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(или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выделенного)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без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возможности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редактирования.</a:t>
            </a:r>
            <a:endParaRPr sz="750">
              <a:latin typeface="Book Antiqua"/>
              <a:cs typeface="Book Antiqua"/>
            </a:endParaRPr>
          </a:p>
          <a:p>
            <a:pPr marL="191135" marR="68580" indent="-115570">
              <a:lnSpc>
                <a:spcPct val="100000"/>
              </a:lnSpc>
              <a:spcBef>
                <a:spcPts val="150"/>
              </a:spcBef>
              <a:buFont typeface="Book Antiqua"/>
              <a:buChar char="–"/>
              <a:tabLst>
                <a:tab pos="191135" algn="l"/>
                <a:tab pos="193040" algn="l"/>
              </a:tabLst>
            </a:pPr>
            <a:r>
              <a:rPr dirty="0" sz="750" b="1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Просмотр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50" spc="215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М</a:t>
            </a:r>
            <a:r>
              <a:rPr dirty="0" baseline="8547" sz="975" spc="600">
                <a:latin typeface="Calibri"/>
                <a:cs typeface="Calibri"/>
              </a:rPr>
              <a:t> </a:t>
            </a:r>
            <a:r>
              <a:rPr dirty="0" baseline="11111" sz="750">
                <a:latin typeface="Calibri"/>
                <a:cs typeface="Calibri"/>
              </a:rPr>
              <a:t>+</a:t>
            </a:r>
            <a:r>
              <a:rPr dirty="0" baseline="11111" sz="750" spc="367">
                <a:latin typeface="Calibri"/>
                <a:cs typeface="Calibri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!</a:t>
            </a:r>
            <a:r>
              <a:rPr dirty="0" baseline="8547" sz="975" spc="690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—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функция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запроса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параметрами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(аргумент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текущему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выбранному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файлу).</a:t>
            </a:r>
            <a:endParaRPr sz="750">
              <a:latin typeface="Book Antiqua"/>
              <a:cs typeface="Book Antiqua"/>
            </a:endParaRPr>
          </a:p>
          <a:p>
            <a:pPr marL="193675" indent="-117475">
              <a:lnSpc>
                <a:spcPct val="100000"/>
              </a:lnSpc>
              <a:spcBef>
                <a:spcPts val="165"/>
              </a:spcBef>
              <a:buFont typeface="Book Antiqua"/>
              <a:buChar char="–"/>
              <a:tabLst>
                <a:tab pos="193675" algn="l"/>
              </a:tabLst>
            </a:pPr>
            <a:r>
              <a:rPr dirty="0" sz="750">
                <a:latin typeface="Book Antiqua"/>
                <a:cs typeface="Book Antiqua"/>
              </a:rPr>
              <a:t>Правка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F4</a:t>
            </a:r>
            <a:r>
              <a:rPr dirty="0" baseline="8547" sz="975" spc="240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открывает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текущий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(или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выделенный)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редактирования.</a:t>
            </a:r>
            <a:endParaRPr sz="750">
              <a:latin typeface="Book Antiqua"/>
              <a:cs typeface="Book Antiqua"/>
            </a:endParaRPr>
          </a:p>
          <a:p>
            <a:pPr marL="193040" marR="68580" indent="-117475">
              <a:lnSpc>
                <a:spcPct val="100000"/>
              </a:lnSpc>
              <a:spcBef>
                <a:spcPts val="215"/>
              </a:spcBef>
              <a:buFont typeface="Book Antiqua"/>
              <a:buChar char="–"/>
              <a:tabLst>
                <a:tab pos="194310" algn="l"/>
              </a:tabLst>
            </a:pPr>
            <a:r>
              <a:rPr dirty="0" sz="750">
                <a:latin typeface="Book Antiqua"/>
                <a:cs typeface="Book Antiqua"/>
              </a:rPr>
              <a:t>Копирование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F5</a:t>
            </a:r>
            <a:r>
              <a:rPr dirty="0" baseline="8547" sz="975" spc="240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осуществляет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копирование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одного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нескольких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или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10">
                <a:latin typeface="Book Antiqua"/>
                <a:cs typeface="Book Antiqua"/>
              </a:rPr>
              <a:t>каталогов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указанное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пользователем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всплывающем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окне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место.</a:t>
            </a:r>
            <a:endParaRPr sz="750">
              <a:latin typeface="Book Antiqua"/>
              <a:cs typeface="Book Antiqua"/>
            </a:endParaRPr>
          </a:p>
          <a:p>
            <a:pPr marL="193040" marR="68580" indent="-117475">
              <a:lnSpc>
                <a:spcPct val="100000"/>
              </a:lnSpc>
              <a:spcBef>
                <a:spcPts val="160"/>
              </a:spcBef>
              <a:buFont typeface="Book Antiqua"/>
              <a:buChar char="–"/>
              <a:tabLst>
                <a:tab pos="194310" algn="l"/>
              </a:tabLst>
            </a:pP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Ctrl-x</a:t>
            </a:r>
            <a:r>
              <a:rPr dirty="0" baseline="8547" sz="975" spc="667">
                <a:latin typeface="Calibri"/>
                <a:cs typeface="Calibri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c</a:t>
            </a:r>
            <a:r>
              <a:rPr dirty="0" baseline="8547" sz="975" spc="690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60">
                <a:latin typeface="Book Antiqua"/>
                <a:cs typeface="Book Antiqua"/>
              </a:rPr>
              <a:t>—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указать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(изменить)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одному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нескольким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(рис.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  <a:hlinkClick r:id="rId5" action="ppaction://hlinksldjump"/>
              </a:rPr>
              <a:t>7</a:t>
            </a:r>
            <a:r>
              <a:rPr dirty="0" sz="750" spc="-10">
                <a:latin typeface="Book Antiqua"/>
                <a:cs typeface="Book Antiqua"/>
              </a:rPr>
              <a:t>.7).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65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616" y="650382"/>
            <a:ext cx="3628763" cy="2625658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617243" y="3382324"/>
            <a:ext cx="1985645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10" b="1">
                <a:latin typeface="Book Antiqua"/>
                <a:cs typeface="Book Antiqua"/>
              </a:rPr>
              <a:t>Рис.</a:t>
            </a:r>
            <a:r>
              <a:rPr dirty="0" sz="650" spc="100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7.7.</a:t>
            </a:r>
            <a:r>
              <a:rPr dirty="0" sz="650" spc="70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Права</a:t>
            </a:r>
            <a:r>
              <a:rPr dirty="0" sz="650" spc="85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доступа</a:t>
            </a:r>
            <a:r>
              <a:rPr dirty="0" sz="650" spc="105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на</a:t>
            </a:r>
            <a:r>
              <a:rPr dirty="0" sz="650" spc="105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файлы</a:t>
            </a:r>
            <a:r>
              <a:rPr dirty="0" sz="650" spc="105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и</a:t>
            </a:r>
            <a:r>
              <a:rPr dirty="0" sz="650" spc="105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каталоги</a:t>
            </a:r>
            <a:endParaRPr sz="650">
              <a:latin typeface="Book Antiqua"/>
              <a:cs typeface="Book Antiqu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543520" y="3756149"/>
            <a:ext cx="250825" cy="129539"/>
            <a:chOff x="1543520" y="3756149"/>
            <a:chExt cx="250825" cy="129539"/>
          </a:xfrm>
        </p:grpSpPr>
        <p:sp>
          <p:nvSpPr>
            <p:cNvPr id="8" name="object 8" descr=""/>
            <p:cNvSpPr/>
            <p:nvPr/>
          </p:nvSpPr>
          <p:spPr>
            <a:xfrm>
              <a:off x="1546051" y="3758679"/>
              <a:ext cx="245745" cy="124460"/>
            </a:xfrm>
            <a:custGeom>
              <a:avLst/>
              <a:gdLst/>
              <a:ahLst/>
              <a:cxnLst/>
              <a:rect l="l" t="t" r="r" b="b"/>
              <a:pathLst>
                <a:path w="245744" h="124460">
                  <a:moveTo>
                    <a:pt x="238865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38865" y="123926"/>
                  </a:lnTo>
                  <a:lnTo>
                    <a:pt x="245457" y="117333"/>
                  </a:lnTo>
                  <a:lnTo>
                    <a:pt x="245457" y="6592"/>
                  </a:lnTo>
                  <a:lnTo>
                    <a:pt x="23886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546051" y="3758679"/>
              <a:ext cx="245745" cy="124460"/>
            </a:xfrm>
            <a:custGeom>
              <a:avLst/>
              <a:gdLst/>
              <a:ahLst/>
              <a:cxnLst/>
              <a:rect l="l" t="t" r="r" b="b"/>
              <a:pathLst>
                <a:path w="245744" h="124460">
                  <a:moveTo>
                    <a:pt x="230733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30733" y="123926"/>
                  </a:lnTo>
                  <a:lnTo>
                    <a:pt x="238865" y="123926"/>
                  </a:lnTo>
                  <a:lnTo>
                    <a:pt x="245457" y="117333"/>
                  </a:lnTo>
                  <a:lnTo>
                    <a:pt x="245457" y="109202"/>
                  </a:lnTo>
                  <a:lnTo>
                    <a:pt x="245457" y="14723"/>
                  </a:lnTo>
                  <a:lnTo>
                    <a:pt x="245457" y="6592"/>
                  </a:lnTo>
                  <a:lnTo>
                    <a:pt x="238865" y="0"/>
                  </a:lnTo>
                  <a:lnTo>
                    <a:pt x="230733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570230" y="3735004"/>
            <a:ext cx="1234440" cy="28575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algn="r" marR="30480">
              <a:lnSpc>
                <a:spcPct val="100000"/>
              </a:lnSpc>
              <a:spcBef>
                <a:spcPts val="215"/>
              </a:spcBef>
            </a:pPr>
            <a:r>
              <a:rPr dirty="0" sz="750" spc="105" b="1">
                <a:latin typeface="Book Antiqua"/>
                <a:cs typeface="Book Antiqua"/>
              </a:rPr>
              <a:t>–</a:t>
            </a:r>
            <a:r>
              <a:rPr dirty="0" sz="750" spc="355" b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Жёсткая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ссылка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Ctrl-</a:t>
            </a:r>
            <a:r>
              <a:rPr dirty="0" baseline="8547" sz="975" spc="-75">
                <a:latin typeface="Calibri"/>
                <a:cs typeface="Calibri"/>
              </a:rPr>
              <a:t>x</a:t>
            </a:r>
            <a:endParaRPr baseline="8547" sz="975">
              <a:latin typeface="Calibri"/>
              <a:cs typeface="Calibri"/>
            </a:endParaRPr>
          </a:p>
          <a:p>
            <a:pPr algn="r" marR="30480">
              <a:lnSpc>
                <a:spcPct val="100000"/>
              </a:lnSpc>
              <a:spcBef>
                <a:spcPts val="125"/>
              </a:spcBef>
            </a:pPr>
            <a:r>
              <a:rPr dirty="0" sz="750">
                <a:latin typeface="Book Antiqua"/>
                <a:cs typeface="Book Antiqua"/>
              </a:rPr>
              <a:t>выделенному)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файлу</a:t>
            </a:r>
            <a:r>
              <a:rPr dirty="0" baseline="35353" sz="825" spc="-15">
                <a:latin typeface="Book Antiqua"/>
                <a:cs typeface="Book Antiqua"/>
                <a:hlinkClick r:id="rId3" action="ppaction://hlinksldjump"/>
              </a:rPr>
              <a:t>1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825585" y="3756149"/>
            <a:ext cx="152400" cy="129539"/>
            <a:chOff x="1825585" y="3756149"/>
            <a:chExt cx="152400" cy="129539"/>
          </a:xfrm>
        </p:grpSpPr>
        <p:sp>
          <p:nvSpPr>
            <p:cNvPr id="12" name="object 12" descr=""/>
            <p:cNvSpPr/>
            <p:nvPr/>
          </p:nvSpPr>
          <p:spPr>
            <a:xfrm>
              <a:off x="1828116" y="375867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828116" y="375867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851685" y="3747198"/>
            <a:ext cx="281241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8547" sz="975" spc="15">
                <a:latin typeface="Calibri"/>
                <a:cs typeface="Calibri"/>
              </a:rPr>
              <a:t>l</a:t>
            </a:r>
            <a:r>
              <a:rPr dirty="0" baseline="8547" sz="975" spc="637">
                <a:latin typeface="Calibri"/>
                <a:cs typeface="Calibri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)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—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позволяет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создать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жёсткую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ссылку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текущему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(или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827784" y="4021795"/>
            <a:ext cx="250825" cy="129539"/>
            <a:chOff x="1827784" y="4021795"/>
            <a:chExt cx="250825" cy="129539"/>
          </a:xfrm>
        </p:grpSpPr>
        <p:sp>
          <p:nvSpPr>
            <p:cNvPr id="16" name="object 16" descr=""/>
            <p:cNvSpPr/>
            <p:nvPr/>
          </p:nvSpPr>
          <p:spPr>
            <a:xfrm>
              <a:off x="1830315" y="4024325"/>
              <a:ext cx="245745" cy="124460"/>
            </a:xfrm>
            <a:custGeom>
              <a:avLst/>
              <a:gdLst/>
              <a:ahLst/>
              <a:cxnLst/>
              <a:rect l="l" t="t" r="r" b="b"/>
              <a:pathLst>
                <a:path w="245744" h="124460">
                  <a:moveTo>
                    <a:pt x="238865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38865" y="123926"/>
                  </a:lnTo>
                  <a:lnTo>
                    <a:pt x="245457" y="117333"/>
                  </a:lnTo>
                  <a:lnTo>
                    <a:pt x="245457" y="6592"/>
                  </a:lnTo>
                  <a:lnTo>
                    <a:pt x="23886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830315" y="4024325"/>
              <a:ext cx="245745" cy="124460"/>
            </a:xfrm>
            <a:custGeom>
              <a:avLst/>
              <a:gdLst/>
              <a:ahLst/>
              <a:cxnLst/>
              <a:rect l="l" t="t" r="r" b="b"/>
              <a:pathLst>
                <a:path w="245744" h="124460">
                  <a:moveTo>
                    <a:pt x="230733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30733" y="123926"/>
                  </a:lnTo>
                  <a:lnTo>
                    <a:pt x="238865" y="123926"/>
                  </a:lnTo>
                  <a:lnTo>
                    <a:pt x="245457" y="117333"/>
                  </a:lnTo>
                  <a:lnTo>
                    <a:pt x="245457" y="109202"/>
                  </a:lnTo>
                  <a:lnTo>
                    <a:pt x="245457" y="14723"/>
                  </a:lnTo>
                  <a:lnTo>
                    <a:pt x="245457" y="6592"/>
                  </a:lnTo>
                  <a:lnTo>
                    <a:pt x="238865" y="0"/>
                  </a:lnTo>
                  <a:lnTo>
                    <a:pt x="230733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2102090" y="4021795"/>
            <a:ext cx="152400" cy="129539"/>
            <a:chOff x="2102090" y="4021795"/>
            <a:chExt cx="152400" cy="129539"/>
          </a:xfrm>
        </p:grpSpPr>
        <p:sp>
          <p:nvSpPr>
            <p:cNvPr id="19" name="object 19" descr=""/>
            <p:cNvSpPr/>
            <p:nvPr/>
          </p:nvSpPr>
          <p:spPr>
            <a:xfrm>
              <a:off x="2104620" y="402432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104620" y="402432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1563129" y="4287441"/>
            <a:ext cx="250825" cy="129539"/>
            <a:chOff x="1563129" y="4287441"/>
            <a:chExt cx="250825" cy="129539"/>
          </a:xfrm>
        </p:grpSpPr>
        <p:sp>
          <p:nvSpPr>
            <p:cNvPr id="22" name="object 22" descr=""/>
            <p:cNvSpPr/>
            <p:nvPr/>
          </p:nvSpPr>
          <p:spPr>
            <a:xfrm>
              <a:off x="1565660" y="4289971"/>
              <a:ext cx="245745" cy="124460"/>
            </a:xfrm>
            <a:custGeom>
              <a:avLst/>
              <a:gdLst/>
              <a:ahLst/>
              <a:cxnLst/>
              <a:rect l="l" t="t" r="r" b="b"/>
              <a:pathLst>
                <a:path w="245744" h="124460">
                  <a:moveTo>
                    <a:pt x="238865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38865" y="123926"/>
                  </a:lnTo>
                  <a:lnTo>
                    <a:pt x="245457" y="117333"/>
                  </a:lnTo>
                  <a:lnTo>
                    <a:pt x="245457" y="6592"/>
                  </a:lnTo>
                  <a:lnTo>
                    <a:pt x="23886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565660" y="4289971"/>
              <a:ext cx="245745" cy="124460"/>
            </a:xfrm>
            <a:custGeom>
              <a:avLst/>
              <a:gdLst/>
              <a:ahLst/>
              <a:cxnLst/>
              <a:rect l="l" t="t" r="r" b="b"/>
              <a:pathLst>
                <a:path w="245744" h="124460">
                  <a:moveTo>
                    <a:pt x="230733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30733" y="123926"/>
                  </a:lnTo>
                  <a:lnTo>
                    <a:pt x="238865" y="123926"/>
                  </a:lnTo>
                  <a:lnTo>
                    <a:pt x="245457" y="117333"/>
                  </a:lnTo>
                  <a:lnTo>
                    <a:pt x="245457" y="109202"/>
                  </a:lnTo>
                  <a:lnTo>
                    <a:pt x="245457" y="14723"/>
                  </a:lnTo>
                  <a:lnTo>
                    <a:pt x="245457" y="6592"/>
                  </a:lnTo>
                  <a:lnTo>
                    <a:pt x="238865" y="0"/>
                  </a:lnTo>
                  <a:lnTo>
                    <a:pt x="230733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1837650" y="4287441"/>
            <a:ext cx="152400" cy="129539"/>
            <a:chOff x="1837650" y="4287441"/>
            <a:chExt cx="152400" cy="129539"/>
          </a:xfrm>
        </p:grpSpPr>
        <p:sp>
          <p:nvSpPr>
            <p:cNvPr id="25" name="object 25" descr=""/>
            <p:cNvSpPr/>
            <p:nvPr/>
          </p:nvSpPr>
          <p:spPr>
            <a:xfrm>
              <a:off x="1840181" y="428997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840181" y="428997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 descr=""/>
          <p:cNvGrpSpPr/>
          <p:nvPr/>
        </p:nvGrpSpPr>
        <p:grpSpPr>
          <a:xfrm>
            <a:off x="1610689" y="4762459"/>
            <a:ext cx="152400" cy="129539"/>
            <a:chOff x="1610689" y="4762459"/>
            <a:chExt cx="152400" cy="129539"/>
          </a:xfrm>
        </p:grpSpPr>
        <p:sp>
          <p:nvSpPr>
            <p:cNvPr id="28" name="object 28" descr=""/>
            <p:cNvSpPr/>
            <p:nvPr/>
          </p:nvSpPr>
          <p:spPr>
            <a:xfrm>
              <a:off x="1613219" y="476498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613219" y="476498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1645474" y="5010274"/>
            <a:ext cx="152400" cy="129539"/>
            <a:chOff x="1645474" y="5010274"/>
            <a:chExt cx="152400" cy="129539"/>
          </a:xfrm>
        </p:grpSpPr>
        <p:sp>
          <p:nvSpPr>
            <p:cNvPr id="31" name="object 31" descr=""/>
            <p:cNvSpPr/>
            <p:nvPr/>
          </p:nvSpPr>
          <p:spPr>
            <a:xfrm>
              <a:off x="1648005" y="501280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648005" y="501280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 descr=""/>
          <p:cNvGrpSpPr/>
          <p:nvPr/>
        </p:nvGrpSpPr>
        <p:grpSpPr>
          <a:xfrm>
            <a:off x="1155572" y="5151904"/>
            <a:ext cx="152400" cy="129539"/>
            <a:chOff x="1155572" y="5151904"/>
            <a:chExt cx="152400" cy="129539"/>
          </a:xfrm>
        </p:grpSpPr>
        <p:sp>
          <p:nvSpPr>
            <p:cNvPr id="34" name="object 34" descr=""/>
            <p:cNvSpPr/>
            <p:nvPr/>
          </p:nvSpPr>
          <p:spPr>
            <a:xfrm>
              <a:off x="1158102" y="515443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158102" y="515443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 descr=""/>
          <p:cNvGrpSpPr/>
          <p:nvPr/>
        </p:nvGrpSpPr>
        <p:grpSpPr>
          <a:xfrm>
            <a:off x="1075765" y="5293547"/>
            <a:ext cx="187325" cy="129539"/>
            <a:chOff x="1075765" y="5293547"/>
            <a:chExt cx="187325" cy="129539"/>
          </a:xfrm>
        </p:grpSpPr>
        <p:sp>
          <p:nvSpPr>
            <p:cNvPr id="37" name="object 37" descr=""/>
            <p:cNvSpPr/>
            <p:nvPr/>
          </p:nvSpPr>
          <p:spPr>
            <a:xfrm>
              <a:off x="1078295" y="5296078"/>
              <a:ext cx="182245" cy="124460"/>
            </a:xfrm>
            <a:custGeom>
              <a:avLst/>
              <a:gdLst/>
              <a:ahLst/>
              <a:cxnLst/>
              <a:rect l="l" t="t" r="r" b="b"/>
              <a:pathLst>
                <a:path w="182244" h="124460">
                  <a:moveTo>
                    <a:pt x="175470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75470" y="123926"/>
                  </a:lnTo>
                  <a:lnTo>
                    <a:pt x="182062" y="117333"/>
                  </a:lnTo>
                  <a:lnTo>
                    <a:pt x="182062" y="6592"/>
                  </a:lnTo>
                  <a:lnTo>
                    <a:pt x="17547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078295" y="5296078"/>
              <a:ext cx="182245" cy="124460"/>
            </a:xfrm>
            <a:custGeom>
              <a:avLst/>
              <a:gdLst/>
              <a:ahLst/>
              <a:cxnLst/>
              <a:rect l="l" t="t" r="r" b="b"/>
              <a:pathLst>
                <a:path w="182244" h="124460">
                  <a:moveTo>
                    <a:pt x="167339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67339" y="123926"/>
                  </a:lnTo>
                  <a:lnTo>
                    <a:pt x="175470" y="123926"/>
                  </a:lnTo>
                  <a:lnTo>
                    <a:pt x="182062" y="117333"/>
                  </a:lnTo>
                  <a:lnTo>
                    <a:pt x="182062" y="109202"/>
                  </a:lnTo>
                  <a:lnTo>
                    <a:pt x="182062" y="14723"/>
                  </a:lnTo>
                  <a:lnTo>
                    <a:pt x="182062" y="6592"/>
                  </a:lnTo>
                  <a:lnTo>
                    <a:pt x="175470" y="0"/>
                  </a:lnTo>
                  <a:lnTo>
                    <a:pt x="167339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494030" y="4000649"/>
            <a:ext cx="4267835" cy="17005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1140" marR="106680" indent="-117475">
              <a:lnSpc>
                <a:spcPct val="113700"/>
              </a:lnSpc>
              <a:spcBef>
                <a:spcPts val="95"/>
              </a:spcBef>
              <a:buFont typeface="Book Antiqua"/>
              <a:buChar char="–"/>
              <a:tabLst>
                <a:tab pos="232410" algn="l"/>
              </a:tabLst>
            </a:pPr>
            <a:r>
              <a:rPr dirty="0" sz="750">
                <a:latin typeface="Book Antiqua"/>
                <a:cs typeface="Book Antiqua"/>
              </a:rPr>
              <a:t>Символическая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ссылка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Ctrl-x</a:t>
            </a:r>
            <a:r>
              <a:rPr dirty="0" baseline="8547" sz="975" spc="517">
                <a:latin typeface="Calibri"/>
                <a:cs typeface="Calibri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s</a:t>
            </a:r>
            <a:r>
              <a:rPr dirty="0" baseline="8547" sz="975" spc="562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 создать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символическую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ссылку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теку-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щему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выделенному)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файлу</a:t>
            </a:r>
            <a:r>
              <a:rPr dirty="0" baseline="35353" sz="825" spc="-15">
                <a:latin typeface="Book Antiqua"/>
                <a:cs typeface="Book Antiqua"/>
                <a:hlinkClick r:id="rId3" action="ppaction://hlinksldjump"/>
              </a:rPr>
              <a:t>2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231140" marR="127635" indent="-117475">
              <a:lnSpc>
                <a:spcPct val="100000"/>
              </a:lnSpc>
              <a:spcBef>
                <a:spcPts val="165"/>
              </a:spcBef>
              <a:buFont typeface="Book Antiqua"/>
              <a:buChar char="–"/>
              <a:tabLst>
                <a:tab pos="232410" algn="l"/>
              </a:tabLst>
            </a:pPr>
            <a:r>
              <a:rPr dirty="0" sz="750" spc="-10">
                <a:latin typeface="Book Antiqua"/>
                <a:cs typeface="Book Antiqua"/>
              </a:rPr>
              <a:t>Владелец/группа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Ctrl-x</a:t>
            </a:r>
            <a:r>
              <a:rPr dirty="0" baseline="8547" sz="975" spc="562">
                <a:latin typeface="Calibri"/>
                <a:cs typeface="Calibri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o</a:t>
            </a:r>
            <a:r>
              <a:rPr dirty="0" baseline="8547" sz="975" spc="585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(изменить)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владельца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группы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одного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нескольких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каталогов.</a:t>
            </a:r>
            <a:endParaRPr sz="750">
              <a:latin typeface="Book Antiqua"/>
              <a:cs typeface="Book Antiqua"/>
            </a:endParaRPr>
          </a:p>
          <a:p>
            <a:pPr marL="231140" marR="127000" indent="-117475">
              <a:lnSpc>
                <a:spcPts val="890"/>
              </a:lnSpc>
              <a:spcBef>
                <a:spcPts val="30"/>
              </a:spcBef>
              <a:buFont typeface="Book Antiqua"/>
              <a:buChar char="–"/>
              <a:tabLst>
                <a:tab pos="232410" algn="l"/>
              </a:tabLst>
            </a:pP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(расширенные)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60">
                <a:latin typeface="Book Antiqua"/>
                <a:cs typeface="Book Antiqua"/>
              </a:rPr>
              <a:t>—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изменить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владения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одного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нескольких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каталогов.</a:t>
            </a:r>
            <a:endParaRPr sz="750">
              <a:latin typeface="Book Antiqua"/>
              <a:cs typeface="Book Antiqua"/>
            </a:endParaRPr>
          </a:p>
          <a:p>
            <a:pPr marL="231140" marR="127635" indent="-117475">
              <a:lnSpc>
                <a:spcPct val="100000"/>
              </a:lnSpc>
              <a:spcBef>
                <a:spcPts val="135"/>
              </a:spcBef>
              <a:buFont typeface="Book Antiqua"/>
              <a:buChar char="–"/>
              <a:tabLst>
                <a:tab pos="232410" algn="l"/>
              </a:tabLst>
            </a:pPr>
            <a:r>
              <a:rPr dirty="0" sz="750" spc="10">
                <a:latin typeface="Book Antiqua"/>
                <a:cs typeface="Book Antiqua"/>
              </a:rPr>
              <a:t>Переименование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baseline="8547" sz="975" spc="15">
                <a:latin typeface="Calibri"/>
                <a:cs typeface="Calibri"/>
              </a:rPr>
              <a:t>F6</a:t>
            </a:r>
            <a:r>
              <a:rPr dirty="0" baseline="8547" sz="975" spc="240">
                <a:latin typeface="Calibri"/>
                <a:cs typeface="Calibri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)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—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позволяет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переименовать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(или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переместить)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один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или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несколько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каталогов.</a:t>
            </a:r>
            <a:endParaRPr sz="750">
              <a:latin typeface="Book Antiqua"/>
              <a:cs typeface="Book Antiqua"/>
            </a:endParaRPr>
          </a:p>
          <a:p>
            <a:pPr marL="231140" indent="-117475">
              <a:lnSpc>
                <a:spcPct val="100000"/>
              </a:lnSpc>
              <a:spcBef>
                <a:spcPts val="150"/>
              </a:spcBef>
              <a:buFont typeface="Book Antiqua"/>
              <a:buChar char="–"/>
              <a:tabLst>
                <a:tab pos="231140" algn="l"/>
              </a:tabLst>
            </a:pPr>
            <a:r>
              <a:rPr dirty="0" sz="750">
                <a:latin typeface="Book Antiqua"/>
                <a:cs typeface="Book Antiqua"/>
              </a:rPr>
              <a:t>Создание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F7</a:t>
            </a:r>
            <a:r>
              <a:rPr dirty="0" baseline="8547" sz="975" spc="292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каталог.</a:t>
            </a:r>
            <a:endParaRPr sz="750">
              <a:latin typeface="Book Antiqua"/>
              <a:cs typeface="Book Antiqua"/>
            </a:endParaRPr>
          </a:p>
          <a:p>
            <a:pPr marL="231140" indent="-117475">
              <a:lnSpc>
                <a:spcPct val="100000"/>
              </a:lnSpc>
              <a:spcBef>
                <a:spcPts val="215"/>
              </a:spcBef>
              <a:buFont typeface="Book Antiqua"/>
              <a:buChar char="–"/>
              <a:tabLst>
                <a:tab pos="231140" algn="l"/>
              </a:tabLst>
            </a:pPr>
            <a:r>
              <a:rPr dirty="0" sz="750" spc="-10">
                <a:latin typeface="Book Antiqua"/>
                <a:cs typeface="Book Antiqua"/>
              </a:rPr>
              <a:t>Удалить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F8</a:t>
            </a:r>
            <a:r>
              <a:rPr dirty="0" baseline="8547" sz="975" spc="217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удалить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один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каталогов.</a:t>
            </a:r>
            <a:endParaRPr sz="750">
              <a:latin typeface="Book Antiqua"/>
              <a:cs typeface="Book Antiqua"/>
            </a:endParaRPr>
          </a:p>
          <a:p>
            <a:pPr marL="231140" indent="-117475">
              <a:lnSpc>
                <a:spcPct val="100000"/>
              </a:lnSpc>
              <a:spcBef>
                <a:spcPts val="215"/>
              </a:spcBef>
              <a:buFont typeface="Book Antiqua"/>
              <a:buChar char="–"/>
              <a:tabLst>
                <a:tab pos="231140" algn="l"/>
              </a:tabLst>
            </a:pPr>
            <a:r>
              <a:rPr dirty="0" sz="750">
                <a:latin typeface="Book Antiqua"/>
                <a:cs typeface="Book Antiqua"/>
              </a:rPr>
              <a:t>Выход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F10</a:t>
            </a:r>
            <a:r>
              <a:rPr dirty="0" baseline="8547" sz="975" spc="179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завершает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работу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mc.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750">
              <a:latin typeface="Book Antiqua"/>
              <a:cs typeface="Book Antiqua"/>
            </a:endParaRPr>
          </a:p>
          <a:p>
            <a:pPr marL="99695">
              <a:lnSpc>
                <a:spcPct val="100000"/>
              </a:lnSpc>
              <a:spcBef>
                <a:spcPts val="5"/>
              </a:spcBef>
            </a:pPr>
            <a:r>
              <a:rPr dirty="0" sz="750" b="1">
                <a:latin typeface="Book Antiqua"/>
                <a:cs typeface="Book Antiqua"/>
              </a:rPr>
              <a:t>7.2.3.2.</a:t>
            </a:r>
            <a:r>
              <a:rPr dirty="0" sz="750" spc="335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Меню</a:t>
            </a:r>
            <a:r>
              <a:rPr dirty="0" sz="750" spc="114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Команда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679462" y="5779985"/>
            <a:ext cx="36830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меню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1061401" y="5791467"/>
            <a:ext cx="361950" cy="124460"/>
          </a:xfrm>
          <a:custGeom>
            <a:avLst/>
            <a:gdLst/>
            <a:ahLst/>
            <a:cxnLst/>
            <a:rect l="l" t="t" r="r" b="b"/>
            <a:pathLst>
              <a:path w="361950" h="124460">
                <a:moveTo>
                  <a:pt x="358072" y="0"/>
                </a:moveTo>
                <a:lnTo>
                  <a:pt x="188045" y="0"/>
                </a:lnTo>
                <a:lnTo>
                  <a:pt x="3295" y="0"/>
                </a:lnTo>
                <a:lnTo>
                  <a:pt x="0" y="3296"/>
                </a:lnTo>
                <a:lnTo>
                  <a:pt x="0" y="120629"/>
                </a:lnTo>
                <a:lnTo>
                  <a:pt x="3295" y="123925"/>
                </a:lnTo>
                <a:lnTo>
                  <a:pt x="358072" y="123925"/>
                </a:lnTo>
                <a:lnTo>
                  <a:pt x="361368" y="120629"/>
                </a:lnTo>
                <a:lnTo>
                  <a:pt x="361368" y="3296"/>
                </a:lnTo>
                <a:lnTo>
                  <a:pt x="35807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 txBox="1"/>
          <p:nvPr/>
        </p:nvSpPr>
        <p:spPr>
          <a:xfrm>
            <a:off x="1061401" y="5791467"/>
            <a:ext cx="361950" cy="133350"/>
          </a:xfrm>
          <a:prstGeom prst="rect">
            <a:avLst/>
          </a:prstGeom>
          <a:ln w="8356">
            <a:solidFill>
              <a:srgbClr val="4C4C4C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 spc="-10">
                <a:latin typeface="Calibri"/>
                <a:cs typeface="Calibri"/>
              </a:rPr>
              <a:t>Команда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436458" y="5779985"/>
            <a:ext cx="281178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содержатся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более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общие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mc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(рис.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  <a:hlinkClick r:id="rId4" action="ppaction://hlinksldjump"/>
              </a:rPr>
              <a:t>7</a:t>
            </a:r>
            <a:r>
              <a:rPr dirty="0" sz="750" spc="-10">
                <a:latin typeface="Book Antiqua"/>
                <a:cs typeface="Book Antiqua"/>
              </a:rPr>
              <a:t>.8).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1423830" y="5930567"/>
            <a:ext cx="367030" cy="129539"/>
            <a:chOff x="1423830" y="5930567"/>
            <a:chExt cx="367030" cy="129539"/>
          </a:xfrm>
        </p:grpSpPr>
        <p:sp>
          <p:nvSpPr>
            <p:cNvPr id="45" name="object 45" descr=""/>
            <p:cNvSpPr/>
            <p:nvPr/>
          </p:nvSpPr>
          <p:spPr>
            <a:xfrm>
              <a:off x="1426361" y="5933097"/>
              <a:ext cx="361950" cy="124460"/>
            </a:xfrm>
            <a:custGeom>
              <a:avLst/>
              <a:gdLst/>
              <a:ahLst/>
              <a:cxnLst/>
              <a:rect l="l" t="t" r="r" b="b"/>
              <a:pathLst>
                <a:path w="361950" h="124460">
                  <a:moveTo>
                    <a:pt x="358072" y="0"/>
                  </a:moveTo>
                  <a:lnTo>
                    <a:pt x="188045" y="0"/>
                  </a:lnTo>
                  <a:lnTo>
                    <a:pt x="3295" y="0"/>
                  </a:lnTo>
                  <a:lnTo>
                    <a:pt x="0" y="3296"/>
                  </a:lnTo>
                  <a:lnTo>
                    <a:pt x="0" y="120629"/>
                  </a:lnTo>
                  <a:lnTo>
                    <a:pt x="3295" y="123925"/>
                  </a:lnTo>
                  <a:lnTo>
                    <a:pt x="358072" y="123925"/>
                  </a:lnTo>
                  <a:lnTo>
                    <a:pt x="361368" y="120629"/>
                  </a:lnTo>
                  <a:lnTo>
                    <a:pt x="361368" y="3296"/>
                  </a:lnTo>
                  <a:lnTo>
                    <a:pt x="35807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426361" y="5933097"/>
              <a:ext cx="361950" cy="124460"/>
            </a:xfrm>
            <a:custGeom>
              <a:avLst/>
              <a:gdLst/>
              <a:ahLst/>
              <a:cxnLst/>
              <a:rect l="l" t="t" r="r" b="b"/>
              <a:pathLst>
                <a:path w="361950" h="124460">
                  <a:moveTo>
                    <a:pt x="188045" y="0"/>
                  </a:moveTo>
                  <a:lnTo>
                    <a:pt x="354006" y="0"/>
                  </a:lnTo>
                  <a:lnTo>
                    <a:pt x="358072" y="0"/>
                  </a:lnTo>
                  <a:lnTo>
                    <a:pt x="361368" y="3296"/>
                  </a:lnTo>
                  <a:lnTo>
                    <a:pt x="361368" y="120629"/>
                  </a:lnTo>
                  <a:lnTo>
                    <a:pt x="358072" y="123925"/>
                  </a:lnTo>
                  <a:lnTo>
                    <a:pt x="3295" y="123925"/>
                  </a:lnTo>
                  <a:lnTo>
                    <a:pt x="0" y="120629"/>
                  </a:lnTo>
                  <a:lnTo>
                    <a:pt x="0" y="3296"/>
                  </a:lnTo>
                  <a:lnTo>
                    <a:pt x="3295" y="0"/>
                  </a:lnTo>
                  <a:lnTo>
                    <a:pt x="7362" y="0"/>
                  </a:lnTo>
                  <a:lnTo>
                    <a:pt x="173322" y="0"/>
                  </a:lnTo>
                  <a:lnTo>
                    <a:pt x="177388" y="0"/>
                  </a:lnTo>
                  <a:lnTo>
                    <a:pt x="183980" y="0"/>
                  </a:lnTo>
                  <a:lnTo>
                    <a:pt x="18804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1425300" y="5928171"/>
            <a:ext cx="358775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dirty="0" sz="650" spc="-10">
                <a:latin typeface="Calibri"/>
                <a:cs typeface="Calibri"/>
              </a:rPr>
              <a:t>Команда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679462" y="5921629"/>
            <a:ext cx="115570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110615" algn="l"/>
              </a:tabLst>
            </a:pP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меню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10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594004" y="6345428"/>
            <a:ext cx="1612900" cy="0"/>
          </a:xfrm>
          <a:custGeom>
            <a:avLst/>
            <a:gdLst/>
            <a:ahLst/>
            <a:cxnLst/>
            <a:rect l="l" t="t" r="r" b="b"/>
            <a:pathLst>
              <a:path w="1612900" h="0">
                <a:moveTo>
                  <a:pt x="0" y="0"/>
                </a:moveTo>
                <a:lnTo>
                  <a:pt x="161277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543204" y="6035243"/>
            <a:ext cx="4144645" cy="6648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82245" indent="-117475">
              <a:lnSpc>
                <a:spcPts val="894"/>
              </a:lnSpc>
              <a:spcBef>
                <a:spcPts val="120"/>
              </a:spcBef>
              <a:buFont typeface="Book Antiqua"/>
              <a:buChar char="–"/>
              <a:tabLst>
                <a:tab pos="182245" algn="l"/>
              </a:tabLst>
            </a:pPr>
            <a:r>
              <a:rPr dirty="0" sz="750">
                <a:latin typeface="Book Antiqua"/>
                <a:cs typeface="Book Antiqua"/>
              </a:rPr>
              <a:t>Дерево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отображает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структуру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системы.</a:t>
            </a:r>
            <a:endParaRPr sz="750">
              <a:latin typeface="Book Antiqua"/>
              <a:cs typeface="Book Antiqua"/>
            </a:endParaRPr>
          </a:p>
          <a:p>
            <a:pPr marL="182245" indent="-117475">
              <a:lnSpc>
                <a:spcPts val="894"/>
              </a:lnSpc>
              <a:buFont typeface="Book Antiqua"/>
              <a:buChar char="–"/>
              <a:tabLst>
                <a:tab pos="182245" algn="l"/>
              </a:tabLst>
            </a:pPr>
            <a:r>
              <a:rPr dirty="0" sz="750">
                <a:latin typeface="Book Antiqua"/>
                <a:cs typeface="Book Antiqua"/>
              </a:rPr>
              <a:t>Поиск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выполняет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заданным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параметрам.</a:t>
            </a:r>
            <a:endParaRPr sz="750">
              <a:latin typeface="Book Antiqua"/>
              <a:cs typeface="Book Antiqua"/>
            </a:endParaRPr>
          </a:p>
          <a:p>
            <a:pPr marL="50800" marR="43180" indent="142240">
              <a:lnSpc>
                <a:spcPct val="110700"/>
              </a:lnSpc>
              <a:spcBef>
                <a:spcPts val="755"/>
              </a:spcBef>
            </a:pPr>
            <a:r>
              <a:rPr dirty="0" baseline="34722" sz="600">
                <a:latin typeface="Book Antiqua"/>
                <a:cs typeface="Book Antiqua"/>
              </a:rPr>
              <a:t>1</a:t>
            </a:r>
            <a:r>
              <a:rPr dirty="0" sz="600">
                <a:latin typeface="Book Antiqua"/>
                <a:cs typeface="Book Antiqua"/>
              </a:rPr>
              <a:t>Жёсткая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ссылка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проявляется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как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реальный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20">
                <a:latin typeface="Book Antiqua"/>
                <a:cs typeface="Book Antiqua"/>
              </a:rPr>
              <a:t>файл.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После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её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создания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невозможно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определить,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где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сам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файл,</a:t>
            </a:r>
            <a:r>
              <a:rPr dirty="0" sz="600" spc="50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а где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с</a:t>
            </a:r>
            <a:r>
              <a:rPr dirty="0" sz="600">
                <a:latin typeface="Book Antiqua"/>
                <a:cs typeface="Book Antiqua"/>
              </a:rPr>
              <a:t>сылка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на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него.</a:t>
            </a:r>
            <a:r>
              <a:rPr dirty="0" sz="600" spc="-2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Если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удалить </a:t>
            </a:r>
            <a:r>
              <a:rPr dirty="0" sz="600">
                <a:latin typeface="Book Antiqua"/>
                <a:cs typeface="Book Antiqua"/>
              </a:rPr>
              <a:t>один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из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этих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файлов,</a:t>
            </a:r>
            <a:r>
              <a:rPr dirty="0" sz="600" spc="-4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то</a:t>
            </a:r>
            <a:r>
              <a:rPr dirty="0" sz="600" spc="-10">
                <a:latin typeface="Book Antiqua"/>
                <a:cs typeface="Book Antiqua"/>
              </a:rPr>
              <a:t> другой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останется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целым.</a:t>
            </a:r>
            <a:endParaRPr sz="600">
              <a:latin typeface="Book Antiqua"/>
              <a:cs typeface="Book Antiqua"/>
            </a:endParaRPr>
          </a:p>
          <a:p>
            <a:pPr marL="193040">
              <a:lnSpc>
                <a:spcPct val="100000"/>
              </a:lnSpc>
              <a:spcBef>
                <a:spcPts val="150"/>
              </a:spcBef>
            </a:pPr>
            <a:r>
              <a:rPr dirty="0" baseline="34722" sz="600">
                <a:latin typeface="Book Antiqua"/>
                <a:cs typeface="Book Antiqua"/>
              </a:rPr>
              <a:t>2</a:t>
            </a:r>
            <a:r>
              <a:rPr dirty="0" sz="600">
                <a:latin typeface="Book Antiqua"/>
                <a:cs typeface="Book Antiqua"/>
              </a:rPr>
              <a:t>Символическая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ссылка</a:t>
            </a:r>
            <a:r>
              <a:rPr dirty="0" sz="600" spc="-10">
                <a:latin typeface="Book Antiqua"/>
                <a:cs typeface="Book Antiqua"/>
              </a:rPr>
              <a:t> </a:t>
            </a:r>
            <a:r>
              <a:rPr dirty="0" sz="600" spc="-80">
                <a:latin typeface="Book Antiqua"/>
                <a:cs typeface="Book Antiqua"/>
              </a:rPr>
              <a:t>—</a:t>
            </a:r>
            <a:r>
              <a:rPr dirty="0" sz="600" spc="-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ссылка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(указатель)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на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имя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файла-оригинала.</a:t>
            </a:r>
            <a:endParaRPr sz="60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66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139896" y="392412"/>
            <a:ext cx="249936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7.</a:t>
            </a:r>
            <a:r>
              <a:rPr dirty="0" sz="600" spc="4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Командная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оболочка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Midnight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Commander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094" y="650362"/>
            <a:ext cx="3507912" cy="2538214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1656169" y="3804345"/>
            <a:ext cx="250825" cy="129539"/>
            <a:chOff x="1656169" y="3804345"/>
            <a:chExt cx="250825" cy="129539"/>
          </a:xfrm>
        </p:grpSpPr>
        <p:sp>
          <p:nvSpPr>
            <p:cNvPr id="7" name="object 7" descr=""/>
            <p:cNvSpPr/>
            <p:nvPr/>
          </p:nvSpPr>
          <p:spPr>
            <a:xfrm>
              <a:off x="1658700" y="3806876"/>
              <a:ext cx="245745" cy="124460"/>
            </a:xfrm>
            <a:custGeom>
              <a:avLst/>
              <a:gdLst/>
              <a:ahLst/>
              <a:cxnLst/>
              <a:rect l="l" t="t" r="r" b="b"/>
              <a:pathLst>
                <a:path w="245744" h="124460">
                  <a:moveTo>
                    <a:pt x="238865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38865" y="123926"/>
                  </a:lnTo>
                  <a:lnTo>
                    <a:pt x="245457" y="117333"/>
                  </a:lnTo>
                  <a:lnTo>
                    <a:pt x="245457" y="6592"/>
                  </a:lnTo>
                  <a:lnTo>
                    <a:pt x="23886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658700" y="3806876"/>
              <a:ext cx="245745" cy="124460"/>
            </a:xfrm>
            <a:custGeom>
              <a:avLst/>
              <a:gdLst/>
              <a:ahLst/>
              <a:cxnLst/>
              <a:rect l="l" t="t" r="r" b="b"/>
              <a:pathLst>
                <a:path w="245744" h="124460">
                  <a:moveTo>
                    <a:pt x="230733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30733" y="123926"/>
                  </a:lnTo>
                  <a:lnTo>
                    <a:pt x="238865" y="123926"/>
                  </a:lnTo>
                  <a:lnTo>
                    <a:pt x="245457" y="117333"/>
                  </a:lnTo>
                  <a:lnTo>
                    <a:pt x="245457" y="109202"/>
                  </a:lnTo>
                  <a:lnTo>
                    <a:pt x="245457" y="14723"/>
                  </a:lnTo>
                  <a:lnTo>
                    <a:pt x="245457" y="6592"/>
                  </a:lnTo>
                  <a:lnTo>
                    <a:pt x="238865" y="0"/>
                  </a:lnTo>
                  <a:lnTo>
                    <a:pt x="230733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1930538" y="3804345"/>
            <a:ext cx="152400" cy="129539"/>
            <a:chOff x="1930538" y="3804345"/>
            <a:chExt cx="152400" cy="129539"/>
          </a:xfrm>
        </p:grpSpPr>
        <p:sp>
          <p:nvSpPr>
            <p:cNvPr id="10" name="object 10" descr=""/>
            <p:cNvSpPr/>
            <p:nvPr/>
          </p:nvSpPr>
          <p:spPr>
            <a:xfrm>
              <a:off x="1933069" y="380687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933069" y="380687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2020517" y="4387872"/>
            <a:ext cx="240029" cy="129539"/>
            <a:chOff x="2020517" y="4387872"/>
            <a:chExt cx="240029" cy="129539"/>
          </a:xfrm>
        </p:grpSpPr>
        <p:sp>
          <p:nvSpPr>
            <p:cNvPr id="13" name="object 13" descr=""/>
            <p:cNvSpPr/>
            <p:nvPr/>
          </p:nvSpPr>
          <p:spPr>
            <a:xfrm>
              <a:off x="2023047" y="4390403"/>
              <a:ext cx="234950" cy="124460"/>
            </a:xfrm>
            <a:custGeom>
              <a:avLst/>
              <a:gdLst/>
              <a:ahLst/>
              <a:cxnLst/>
              <a:rect l="l" t="t" r="r" b="b"/>
              <a:pathLst>
                <a:path w="234950" h="124460">
                  <a:moveTo>
                    <a:pt x="227822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27822" y="123926"/>
                  </a:lnTo>
                  <a:lnTo>
                    <a:pt x="234414" y="117333"/>
                  </a:lnTo>
                  <a:lnTo>
                    <a:pt x="234414" y="6592"/>
                  </a:lnTo>
                  <a:lnTo>
                    <a:pt x="22782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023047" y="4390403"/>
              <a:ext cx="234950" cy="124460"/>
            </a:xfrm>
            <a:custGeom>
              <a:avLst/>
              <a:gdLst/>
              <a:ahLst/>
              <a:cxnLst/>
              <a:rect l="l" t="t" r="r" b="b"/>
              <a:pathLst>
                <a:path w="234950" h="124460">
                  <a:moveTo>
                    <a:pt x="219690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19690" y="123926"/>
                  </a:lnTo>
                  <a:lnTo>
                    <a:pt x="227822" y="123926"/>
                  </a:lnTo>
                  <a:lnTo>
                    <a:pt x="234414" y="117333"/>
                  </a:lnTo>
                  <a:lnTo>
                    <a:pt x="234414" y="109202"/>
                  </a:lnTo>
                  <a:lnTo>
                    <a:pt x="234414" y="14723"/>
                  </a:lnTo>
                  <a:lnTo>
                    <a:pt x="234414" y="6592"/>
                  </a:lnTo>
                  <a:lnTo>
                    <a:pt x="227822" y="0"/>
                  </a:lnTo>
                  <a:lnTo>
                    <a:pt x="219690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2132049" y="5430936"/>
            <a:ext cx="152400" cy="129539"/>
            <a:chOff x="2132049" y="5430936"/>
            <a:chExt cx="152400" cy="129539"/>
          </a:xfrm>
        </p:grpSpPr>
        <p:sp>
          <p:nvSpPr>
            <p:cNvPr id="16" name="object 16" descr=""/>
            <p:cNvSpPr/>
            <p:nvPr/>
          </p:nvSpPr>
          <p:spPr>
            <a:xfrm>
              <a:off x="2134579" y="543346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134579" y="543346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19430" y="3294859"/>
            <a:ext cx="4204335" cy="27711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14604">
              <a:lnSpc>
                <a:spcPct val="100000"/>
              </a:lnSpc>
              <a:spcBef>
                <a:spcPts val="135"/>
              </a:spcBef>
            </a:pPr>
            <a:r>
              <a:rPr dirty="0" sz="650" spc="10" b="1">
                <a:latin typeface="Book Antiqua"/>
                <a:cs typeface="Book Antiqua"/>
              </a:rPr>
              <a:t>Рис.</a:t>
            </a:r>
            <a:r>
              <a:rPr dirty="0" sz="650" spc="120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7.8.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Меню</a:t>
            </a:r>
            <a:r>
              <a:rPr dirty="0" sz="650" spc="120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Команда</a:t>
            </a:r>
            <a:endParaRPr sz="6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6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650">
              <a:latin typeface="Book Antiqua"/>
              <a:cs typeface="Book Antiqua"/>
            </a:endParaRPr>
          </a:p>
          <a:p>
            <a:pPr algn="just" marL="206375" indent="-117475">
              <a:lnSpc>
                <a:spcPct val="100000"/>
              </a:lnSpc>
              <a:buFont typeface="Book Antiqua"/>
              <a:buChar char="–"/>
              <a:tabLst>
                <a:tab pos="206375" algn="l"/>
              </a:tabLst>
            </a:pPr>
            <a:r>
              <a:rPr dirty="0" sz="750">
                <a:latin typeface="Book Antiqua"/>
                <a:cs typeface="Book Antiqua"/>
              </a:rPr>
              <a:t>Переставить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панели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меняет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местами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левую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правую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панели.</a:t>
            </a:r>
            <a:endParaRPr sz="750">
              <a:latin typeface="Book Antiqua"/>
              <a:cs typeface="Book Antiqua"/>
            </a:endParaRPr>
          </a:p>
          <a:p>
            <a:pPr algn="just" marL="206375" indent="-117475">
              <a:lnSpc>
                <a:spcPts val="894"/>
              </a:lnSpc>
              <a:spcBef>
                <a:spcPts val="170"/>
              </a:spcBef>
              <a:buFont typeface="Book Antiqua"/>
              <a:buChar char="–"/>
              <a:tabLst>
                <a:tab pos="206375" algn="l"/>
              </a:tabLst>
            </a:pPr>
            <a:r>
              <a:rPr dirty="0" sz="750">
                <a:latin typeface="Book Antiqua"/>
                <a:cs typeface="Book Antiqua"/>
              </a:rPr>
              <a:t>Сравнить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Ctrl-x</a:t>
            </a:r>
            <a:r>
              <a:rPr dirty="0" baseline="8547" sz="975" spc="532">
                <a:latin typeface="Calibri"/>
                <a:cs typeface="Calibri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d</a:t>
            </a:r>
            <a:r>
              <a:rPr dirty="0" baseline="8547" sz="975" spc="562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сравнивает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содержимое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двух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каталогов.</a:t>
            </a:r>
            <a:endParaRPr sz="750">
              <a:latin typeface="Book Antiqua"/>
              <a:cs typeface="Book Antiqua"/>
            </a:endParaRPr>
          </a:p>
          <a:p>
            <a:pPr algn="just" marL="205740" marR="88900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207010" algn="l"/>
              </a:tabLst>
            </a:pPr>
            <a:r>
              <a:rPr dirty="0" sz="750" spc="10">
                <a:latin typeface="Book Antiqua"/>
                <a:cs typeface="Book Antiqua"/>
              </a:rPr>
              <a:t>Размеры</a:t>
            </a:r>
            <a:r>
              <a:rPr dirty="0" sz="750">
                <a:latin typeface="Book Antiqua"/>
                <a:cs typeface="Book Antiqua"/>
              </a:rPr>
              <a:t> каталогов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85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отображает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размер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время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изменения</a:t>
            </a:r>
            <a:r>
              <a:rPr dirty="0" sz="750">
                <a:latin typeface="Book Antiqua"/>
                <a:cs typeface="Book Antiqua"/>
              </a:rPr>
              <a:t> каталога (по </a:t>
            </a:r>
            <a:r>
              <a:rPr dirty="0" sz="750" spc="-10">
                <a:latin typeface="Book Antiqua"/>
                <a:cs typeface="Book Antiqua"/>
              </a:rPr>
              <a:t>умолчанию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	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mc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размер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каталога</a:t>
            </a:r>
            <a:r>
              <a:rPr dirty="0" sz="750">
                <a:latin typeface="Book Antiqua"/>
                <a:cs typeface="Book Antiqua"/>
              </a:rPr>
              <a:t> корректно </a:t>
            </a:r>
            <a:r>
              <a:rPr dirty="0" sz="750" spc="5">
                <a:latin typeface="Book Antiqua"/>
                <a:cs typeface="Book Antiqua"/>
              </a:rPr>
              <a:t>не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отображается).</a:t>
            </a:r>
            <a:endParaRPr sz="750">
              <a:latin typeface="Book Antiqua"/>
              <a:cs typeface="Book Antiqua"/>
            </a:endParaRPr>
          </a:p>
          <a:p>
            <a:pPr algn="just" marL="205740" marR="88900" indent="-117475">
              <a:lnSpc>
                <a:spcPts val="890"/>
              </a:lnSpc>
              <a:spcBef>
                <a:spcPts val="10"/>
              </a:spcBef>
              <a:buFont typeface="Book Antiqua"/>
              <a:buChar char="–"/>
              <a:tabLst>
                <a:tab pos="207010" algn="l"/>
              </a:tabLst>
            </a:pPr>
            <a:r>
              <a:rPr dirty="0" sz="750" spc="-15">
                <a:latin typeface="Book Antiqua"/>
                <a:cs typeface="Book Antiqua"/>
              </a:rPr>
              <a:t>История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командной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строки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 spc="-85">
                <a:latin typeface="Book Antiqua"/>
                <a:cs typeface="Book Antiqua"/>
              </a:rPr>
              <a:t>—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выводит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на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экран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список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ранее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выполненных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оболочке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	</a:t>
            </a:r>
            <a:r>
              <a:rPr dirty="0" sz="750" spc="10">
                <a:latin typeface="Book Antiqua"/>
                <a:cs typeface="Book Antiqua"/>
              </a:rPr>
              <a:t>команд.</a:t>
            </a:r>
            <a:endParaRPr sz="750">
              <a:latin typeface="Book Antiqua"/>
              <a:cs typeface="Book Antiqua"/>
            </a:endParaRPr>
          </a:p>
          <a:p>
            <a:pPr algn="just" marL="205740" marR="88900" indent="-117475">
              <a:lnSpc>
                <a:spcPct val="100000"/>
              </a:lnSpc>
              <a:spcBef>
                <a:spcPts val="95"/>
              </a:spcBef>
              <a:buFont typeface="Book Antiqua"/>
              <a:buChar char="–"/>
              <a:tabLst>
                <a:tab pos="207010" algn="l"/>
              </a:tabLst>
            </a:pPr>
            <a:r>
              <a:rPr dirty="0" sz="750" spc="-10">
                <a:latin typeface="Book Antiqua"/>
                <a:cs typeface="Book Antiqua"/>
              </a:rPr>
              <a:t>Каталоги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быстрого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baseline="8547" sz="975" spc="7">
                <a:latin typeface="Calibri"/>
                <a:cs typeface="Calibri"/>
              </a:rPr>
              <a:t>Ctrl-</a:t>
            </a:r>
            <a:r>
              <a:rPr dirty="0" baseline="8547" sz="975" spc="15">
                <a:latin typeface="Calibri"/>
                <a:cs typeface="Calibri"/>
              </a:rPr>
              <a:t>\</a:t>
            </a:r>
            <a:r>
              <a:rPr dirty="0" baseline="8547" sz="975" spc="104">
                <a:latin typeface="Calibri"/>
                <a:cs typeface="Calibri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)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85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вызове</a:t>
            </a:r>
            <a:r>
              <a:rPr dirty="0" sz="750">
                <a:latin typeface="Book Antiqua"/>
                <a:cs typeface="Book Antiqua"/>
              </a:rPr>
              <a:t> выполняется</a:t>
            </a:r>
            <a:r>
              <a:rPr dirty="0" sz="750" spc="-5">
                <a:latin typeface="Book Antiqua"/>
                <a:cs typeface="Book Antiqua"/>
              </a:rPr>
              <a:t> быстрая </a:t>
            </a:r>
            <a:r>
              <a:rPr dirty="0" sz="750" spc="10">
                <a:latin typeface="Book Antiqua"/>
                <a:cs typeface="Book Antiqua"/>
              </a:rPr>
              <a:t>смена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текущего 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5">
                <a:latin typeface="Book Antiqua"/>
                <a:cs typeface="Book Antiqua"/>
              </a:rPr>
              <a:t>каталога</a:t>
            </a:r>
            <a:r>
              <a:rPr dirty="0" sz="750">
                <a:latin typeface="Book Antiqua"/>
                <a:cs typeface="Book Antiqua"/>
              </a:rPr>
              <a:t> на один </a:t>
            </a:r>
            <a:r>
              <a:rPr dirty="0" sz="750" spc="20">
                <a:latin typeface="Book Antiqua"/>
                <a:cs typeface="Book Antiqua"/>
              </a:rPr>
              <a:t>из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заданного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списка.</a:t>
            </a:r>
            <a:endParaRPr sz="750">
              <a:latin typeface="Book Antiqua"/>
              <a:cs typeface="Book Antiqua"/>
            </a:endParaRPr>
          </a:p>
          <a:p>
            <a:pPr algn="just" marL="205740" marR="90170" indent="-117475">
              <a:lnSpc>
                <a:spcPts val="890"/>
              </a:lnSpc>
              <a:spcBef>
                <a:spcPts val="25"/>
              </a:spcBef>
              <a:buFont typeface="Book Antiqua"/>
              <a:buChar char="–"/>
              <a:tabLst>
                <a:tab pos="207010" algn="l"/>
              </a:tabLst>
            </a:pPr>
            <a:r>
              <a:rPr dirty="0" sz="750" spc="5">
                <a:latin typeface="Book Antiqua"/>
                <a:cs typeface="Book Antiqua"/>
              </a:rPr>
              <a:t>Восстановление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позволяет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восстановить</a:t>
            </a:r>
            <a:r>
              <a:rPr dirty="0" sz="750" spc="-15">
                <a:latin typeface="Book Antiqua"/>
                <a:cs typeface="Book Antiqua"/>
              </a:rPr>
              <a:t> файлы</a:t>
            </a:r>
            <a:r>
              <a:rPr dirty="0" sz="750">
                <a:latin typeface="Book Antiqua"/>
                <a:cs typeface="Book Antiqua"/>
              </a:rPr>
              <a:t> на </a:t>
            </a:r>
            <a:r>
              <a:rPr dirty="0" sz="750" spc="-5">
                <a:latin typeface="Book Antiqua"/>
                <a:cs typeface="Book Antiqua"/>
              </a:rPr>
              <a:t>файловых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системах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ext2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	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ext3.</a:t>
            </a:r>
            <a:endParaRPr sz="750">
              <a:latin typeface="Book Antiqua"/>
              <a:cs typeface="Book Antiqua"/>
            </a:endParaRPr>
          </a:p>
          <a:p>
            <a:pPr algn="just" marL="205740" marR="68580" indent="-117475">
              <a:lnSpc>
                <a:spcPts val="890"/>
              </a:lnSpc>
              <a:spcBef>
                <a:spcPts val="10"/>
              </a:spcBef>
              <a:buFont typeface="Book Antiqua"/>
              <a:buChar char="–"/>
              <a:tabLst>
                <a:tab pos="207010" algn="l"/>
              </a:tabLst>
            </a:pPr>
            <a:r>
              <a:rPr dirty="0" sz="750" spc="5">
                <a:latin typeface="Book Antiqua"/>
                <a:cs typeface="Book Antiqua"/>
              </a:rPr>
              <a:t>Редактировать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расширений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позволяет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задать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помощью</a:t>
            </a:r>
            <a:r>
              <a:rPr dirty="0" sz="750">
                <a:latin typeface="Book Antiqua"/>
                <a:cs typeface="Book Antiqua"/>
              </a:rPr>
              <a:t> определённого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син-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таксиса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действия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при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запуске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определённым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расширением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(например,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какое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	</a:t>
            </a:r>
            <a:r>
              <a:rPr dirty="0" sz="750" spc="-5">
                <a:latin typeface="Book Antiqua"/>
                <a:cs typeface="Book Antiqua"/>
              </a:rPr>
              <a:t>программного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обеспечение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запускать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для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открытия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или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редактирования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рас-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ширением doc </a:t>
            </a:r>
            <a:r>
              <a:rPr dirty="0" sz="750" spc="-5">
                <a:latin typeface="Book Antiqua"/>
                <a:cs typeface="Book Antiqua"/>
              </a:rPr>
              <a:t>или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docx).</a:t>
            </a:r>
            <a:endParaRPr sz="750">
              <a:latin typeface="Book Antiqua"/>
              <a:cs typeface="Book Antiqua"/>
            </a:endParaRPr>
          </a:p>
          <a:p>
            <a:pPr algn="just" marL="206375" indent="-117475">
              <a:lnSpc>
                <a:spcPts val="880"/>
              </a:lnSpc>
              <a:buFont typeface="Book Antiqua"/>
              <a:buChar char="–"/>
              <a:tabLst>
                <a:tab pos="206375" algn="l"/>
              </a:tabLst>
            </a:pPr>
            <a:r>
              <a:rPr dirty="0" sz="750">
                <a:latin typeface="Book Antiqua"/>
                <a:cs typeface="Book Antiqua"/>
              </a:rPr>
              <a:t>Редактировать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меню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позволяет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отредактировать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контекстное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меню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пользова-</a:t>
            </a:r>
            <a:endParaRPr sz="750">
              <a:latin typeface="Book Antiqua"/>
              <a:cs typeface="Book Antiqua"/>
            </a:endParaRPr>
          </a:p>
          <a:p>
            <a:pPr algn="just" marL="207010">
              <a:lnSpc>
                <a:spcPts val="894"/>
              </a:lnSpc>
              <a:spcBef>
                <a:spcPts val="155"/>
              </a:spcBef>
            </a:pPr>
            <a:r>
              <a:rPr dirty="0" sz="750" spc="10">
                <a:latin typeface="Book Antiqua"/>
                <a:cs typeface="Book Antiqua"/>
              </a:rPr>
              <a:t>теля,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вызываемое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клавише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baseline="8547" sz="975" spc="30">
                <a:latin typeface="Calibri"/>
                <a:cs typeface="Calibri"/>
              </a:rPr>
              <a:t>F2</a:t>
            </a:r>
            <a:r>
              <a:rPr dirty="0" baseline="8547" sz="975" spc="165">
                <a:latin typeface="Calibri"/>
                <a:cs typeface="Calibri"/>
              </a:rPr>
              <a:t> </a:t>
            </a:r>
            <a:r>
              <a:rPr dirty="0" sz="750" spc="-5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205740" marR="68580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207010" algn="l"/>
              </a:tabLst>
            </a:pPr>
            <a:r>
              <a:rPr dirty="0" sz="750" spc="5">
                <a:latin typeface="Book Antiqua"/>
                <a:cs typeface="Book Antiqua"/>
              </a:rPr>
              <a:t>Редактировать</a:t>
            </a:r>
            <a:r>
              <a:rPr dirty="0" sz="750" spc="-15">
                <a:latin typeface="Book Antiqua"/>
                <a:cs typeface="Book Antiqua"/>
              </a:rPr>
              <a:t> файл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расцветки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имён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70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позволяет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подобрать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оптимальную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для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поль- 	зователя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расцветку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имён</a:t>
            </a:r>
            <a:r>
              <a:rPr dirty="0" sz="750">
                <a:latin typeface="Book Antiqua"/>
                <a:cs typeface="Book Antiqua"/>
              </a:rPr>
              <a:t> файлов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зависимости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типа.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750">
              <a:latin typeface="Book Antiqua"/>
              <a:cs typeface="Book Antiqua"/>
            </a:endParaRPr>
          </a:p>
          <a:p>
            <a:pPr algn="just" marL="74295">
              <a:lnSpc>
                <a:spcPct val="100000"/>
              </a:lnSpc>
            </a:pPr>
            <a:r>
              <a:rPr dirty="0" sz="750" b="1">
                <a:latin typeface="Book Antiqua"/>
                <a:cs typeface="Book Antiqua"/>
              </a:rPr>
              <a:t>7.2.3.3.</a:t>
            </a:r>
            <a:r>
              <a:rPr dirty="0" sz="750" spc="325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Меню</a:t>
            </a:r>
            <a:r>
              <a:rPr dirty="0" sz="750" spc="114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Настройки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79462" y="6144602"/>
            <a:ext cx="29972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20">
                <a:latin typeface="Book Antiqua"/>
                <a:cs typeface="Book Antiqua"/>
              </a:rPr>
              <a:t>Меню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992323" y="6156071"/>
            <a:ext cx="431165" cy="124460"/>
          </a:xfrm>
          <a:custGeom>
            <a:avLst/>
            <a:gdLst/>
            <a:ahLst/>
            <a:cxnLst/>
            <a:rect l="l" t="t" r="r" b="b"/>
            <a:pathLst>
              <a:path w="431165" h="124460">
                <a:moveTo>
                  <a:pt x="427520" y="0"/>
                </a:moveTo>
                <a:lnTo>
                  <a:pt x="222770" y="0"/>
                </a:lnTo>
                <a:lnTo>
                  <a:pt x="3296" y="0"/>
                </a:lnTo>
                <a:lnTo>
                  <a:pt x="0" y="3296"/>
                </a:lnTo>
                <a:lnTo>
                  <a:pt x="0" y="120629"/>
                </a:lnTo>
                <a:lnTo>
                  <a:pt x="3296" y="123925"/>
                </a:lnTo>
                <a:lnTo>
                  <a:pt x="427520" y="123925"/>
                </a:lnTo>
                <a:lnTo>
                  <a:pt x="430817" y="120629"/>
                </a:lnTo>
                <a:lnTo>
                  <a:pt x="430817" y="3296"/>
                </a:lnTo>
                <a:lnTo>
                  <a:pt x="42752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992323" y="6156071"/>
            <a:ext cx="431165" cy="124460"/>
          </a:xfrm>
          <a:prstGeom prst="rect">
            <a:avLst/>
          </a:prstGeom>
          <a:ln w="8357">
            <a:solidFill>
              <a:srgbClr val="4C4C4C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 spc="-10">
                <a:latin typeface="Calibri"/>
                <a:cs typeface="Calibri"/>
              </a:rPr>
              <a:t>Настройки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436738" y="6144602"/>
            <a:ext cx="322326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содержит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ряд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дополнительных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внешнему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виду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функцио-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81304" y="6258204"/>
            <a:ext cx="111379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нальности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mc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(рис.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  <a:hlinkClick r:id="rId3" action="ppaction://hlinksldjump"/>
              </a:rPr>
              <a:t>7</a:t>
            </a:r>
            <a:r>
              <a:rPr dirty="0" sz="750" spc="-10">
                <a:latin typeface="Book Antiqua"/>
                <a:cs typeface="Book Antiqua"/>
              </a:rPr>
              <a:t>.9).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79462" y="6393395"/>
            <a:ext cx="29718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20">
                <a:latin typeface="Book Antiqua"/>
                <a:cs typeface="Book Antiqua"/>
              </a:rPr>
              <a:t>Меню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990240" y="6404864"/>
            <a:ext cx="431165" cy="124460"/>
          </a:xfrm>
          <a:custGeom>
            <a:avLst/>
            <a:gdLst/>
            <a:ahLst/>
            <a:cxnLst/>
            <a:rect l="l" t="t" r="r" b="b"/>
            <a:pathLst>
              <a:path w="431165" h="124459">
                <a:moveTo>
                  <a:pt x="427520" y="0"/>
                </a:moveTo>
                <a:lnTo>
                  <a:pt x="222770" y="0"/>
                </a:lnTo>
                <a:lnTo>
                  <a:pt x="3296" y="0"/>
                </a:lnTo>
                <a:lnTo>
                  <a:pt x="0" y="3296"/>
                </a:lnTo>
                <a:lnTo>
                  <a:pt x="0" y="120629"/>
                </a:lnTo>
                <a:lnTo>
                  <a:pt x="3296" y="123925"/>
                </a:lnTo>
                <a:lnTo>
                  <a:pt x="427520" y="123925"/>
                </a:lnTo>
                <a:lnTo>
                  <a:pt x="430817" y="120629"/>
                </a:lnTo>
                <a:lnTo>
                  <a:pt x="430817" y="3296"/>
                </a:lnTo>
                <a:lnTo>
                  <a:pt x="42752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990240" y="6404864"/>
            <a:ext cx="431165" cy="124460"/>
          </a:xfrm>
          <a:prstGeom prst="rect">
            <a:avLst/>
          </a:prstGeom>
          <a:ln w="8357">
            <a:solidFill>
              <a:srgbClr val="4C4C4C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 spc="-10">
                <a:latin typeface="Calibri"/>
                <a:cs typeface="Calibri"/>
              </a:rPr>
              <a:t>Настройки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434731" y="6393395"/>
            <a:ext cx="49339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содержит: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95630" y="6506997"/>
            <a:ext cx="365823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5" b="1">
                <a:latin typeface="Book Antiqua"/>
                <a:cs typeface="Book Antiqua"/>
              </a:rPr>
              <a:t>–</a:t>
            </a:r>
            <a:r>
              <a:rPr dirty="0" sz="750" spc="375" b="1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Конфигурация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скорректировать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настройки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панелями.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67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391" y="650380"/>
            <a:ext cx="3427306" cy="2479890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4180978" y="5255993"/>
            <a:ext cx="152400" cy="129539"/>
            <a:chOff x="4180978" y="5255993"/>
            <a:chExt cx="152400" cy="129539"/>
          </a:xfrm>
        </p:grpSpPr>
        <p:sp>
          <p:nvSpPr>
            <p:cNvPr id="7" name="object 7" descr=""/>
            <p:cNvSpPr/>
            <p:nvPr/>
          </p:nvSpPr>
          <p:spPr>
            <a:xfrm>
              <a:off x="4183508" y="525852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183508" y="525852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527164" y="3236554"/>
            <a:ext cx="4162425" cy="32156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135"/>
              </a:spcBef>
            </a:pPr>
            <a:r>
              <a:rPr dirty="0" sz="650" spc="10" b="1">
                <a:latin typeface="Book Antiqua"/>
                <a:cs typeface="Book Antiqua"/>
              </a:rPr>
              <a:t>Рис.</a:t>
            </a:r>
            <a:r>
              <a:rPr dirty="0" sz="650" spc="114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7.9.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Меню</a:t>
            </a:r>
            <a:r>
              <a:rPr dirty="0" sz="650" spc="120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Настройки</a:t>
            </a:r>
            <a:endParaRPr sz="6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6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650">
              <a:latin typeface="Book Antiqua"/>
              <a:cs typeface="Book Antiqua"/>
            </a:endParaRPr>
          </a:p>
          <a:p>
            <a:pPr algn="just" marL="198120" marR="34290" indent="-117475">
              <a:lnSpc>
                <a:spcPct val="100000"/>
              </a:lnSpc>
              <a:buFont typeface="Book Antiqua"/>
              <a:buChar char="–"/>
              <a:tabLst>
                <a:tab pos="199390" algn="l"/>
              </a:tabLst>
            </a:pPr>
            <a:r>
              <a:rPr dirty="0" sz="750" spc="5">
                <a:latin typeface="Book Antiqua"/>
                <a:cs typeface="Book Antiqua"/>
              </a:rPr>
              <a:t>Внешний </a:t>
            </a:r>
            <a:r>
              <a:rPr dirty="0" sz="750" spc="25">
                <a:latin typeface="Book Antiqua"/>
                <a:cs typeface="Book Antiqua"/>
              </a:rPr>
              <a:t>вид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Настройки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панелей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55">
                <a:latin typeface="Book Antiqua"/>
                <a:cs typeface="Book Antiqua"/>
              </a:rPr>
              <a:t>—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определяет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элементы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(строка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меню,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команд-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	</a:t>
            </a:r>
            <a:r>
              <a:rPr dirty="0" sz="750" spc="10">
                <a:latin typeface="Book Antiqua"/>
                <a:cs typeface="Book Antiqua"/>
              </a:rPr>
              <a:t>ная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строка,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подсказки</a:t>
            </a:r>
            <a:r>
              <a:rPr dirty="0" sz="750">
                <a:latin typeface="Book Antiqua"/>
                <a:cs typeface="Book Antiqua"/>
              </a:rPr>
              <a:t> и </a:t>
            </a:r>
            <a:r>
              <a:rPr dirty="0" sz="750" spc="15">
                <a:latin typeface="Book Antiqua"/>
                <a:cs typeface="Book Antiqua"/>
              </a:rPr>
              <a:t>прочее),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отображаемые</a:t>
            </a:r>
            <a:r>
              <a:rPr dirty="0" sz="750">
                <a:latin typeface="Book Antiqua"/>
                <a:cs typeface="Book Antiqua"/>
              </a:rPr>
              <a:t> при </a:t>
            </a:r>
            <a:r>
              <a:rPr dirty="0" sz="750" spc="40">
                <a:latin typeface="Book Antiqua"/>
                <a:cs typeface="Book Antiqua"/>
              </a:rPr>
              <a:t>вызове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mc,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также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геометрию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расположения панелей 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цветовыделение.</a:t>
            </a:r>
            <a:endParaRPr sz="750">
              <a:latin typeface="Book Antiqua"/>
              <a:cs typeface="Book Antiqua"/>
            </a:endParaRPr>
          </a:p>
          <a:p>
            <a:pPr algn="just" marL="198120" indent="-117475">
              <a:lnSpc>
                <a:spcPts val="880"/>
              </a:lnSpc>
              <a:buFont typeface="Book Antiqua"/>
              <a:buChar char="–"/>
              <a:tabLst>
                <a:tab pos="198120" algn="l"/>
              </a:tabLst>
            </a:pPr>
            <a:r>
              <a:rPr dirty="0" sz="750">
                <a:latin typeface="Book Antiqua"/>
                <a:cs typeface="Book Antiqua"/>
              </a:rPr>
              <a:t>Биты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символов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задаёт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обработки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информации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локальным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терминалом.</a:t>
            </a:r>
            <a:endParaRPr sz="750">
              <a:latin typeface="Book Antiqua"/>
              <a:cs typeface="Book Antiqua"/>
            </a:endParaRPr>
          </a:p>
          <a:p>
            <a:pPr algn="just" marL="198120" marR="34290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199390" algn="l"/>
              </a:tabLst>
            </a:pPr>
            <a:r>
              <a:rPr dirty="0" sz="750" spc="5">
                <a:latin typeface="Book Antiqua"/>
                <a:cs typeface="Book Antiqua"/>
              </a:rPr>
              <a:t>Подтверждение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70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позволяет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установить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или</a:t>
            </a:r>
            <a:r>
              <a:rPr dirty="0" sz="750">
                <a:latin typeface="Book Antiqua"/>
                <a:cs typeface="Book Antiqua"/>
              </a:rPr>
              <a:t> убрать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вывод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окна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запросом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подтвер-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ждения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действий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при</a:t>
            </a:r>
            <a:r>
              <a:rPr dirty="0" sz="750">
                <a:latin typeface="Book Antiqua"/>
                <a:cs typeface="Book Antiqua"/>
              </a:rPr>
              <a:t> операциях </a:t>
            </a:r>
            <a:r>
              <a:rPr dirty="0" sz="750" spc="-5">
                <a:latin typeface="Book Antiqua"/>
                <a:cs typeface="Book Antiqua"/>
              </a:rPr>
              <a:t>удаления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перезаписи</a:t>
            </a:r>
            <a:r>
              <a:rPr dirty="0" sz="750">
                <a:latin typeface="Book Antiqua"/>
                <a:cs typeface="Book Antiqua"/>
              </a:rPr>
              <a:t> файлов,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также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при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выходе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	</a:t>
            </a:r>
            <a:r>
              <a:rPr dirty="0" sz="750" spc="20">
                <a:latin typeface="Book Antiqua"/>
                <a:cs typeface="Book Antiqua"/>
              </a:rPr>
              <a:t>из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программы.</a:t>
            </a:r>
            <a:endParaRPr sz="750">
              <a:latin typeface="Book Antiqua"/>
              <a:cs typeface="Book Antiqua"/>
            </a:endParaRPr>
          </a:p>
          <a:p>
            <a:pPr algn="just" marL="198120" marR="34290" indent="-117475">
              <a:lnSpc>
                <a:spcPts val="890"/>
              </a:lnSpc>
              <a:spcBef>
                <a:spcPts val="15"/>
              </a:spcBef>
              <a:buFont typeface="Book Antiqua"/>
              <a:buChar char="–"/>
              <a:tabLst>
                <a:tab pos="199390" algn="l"/>
              </a:tabLst>
            </a:pPr>
            <a:r>
              <a:rPr dirty="0" sz="750" spc="15">
                <a:latin typeface="Book Antiqua"/>
                <a:cs typeface="Book Antiqua"/>
              </a:rPr>
              <a:t>Распознание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клавиш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5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диалоговое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окно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используется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 </a:t>
            </a:r>
            <a:r>
              <a:rPr dirty="0" sz="750" spc="15">
                <a:latin typeface="Book Antiqua"/>
                <a:cs typeface="Book Antiqua"/>
              </a:rPr>
              <a:t>тестирования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функцио- 	нальных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клавиш,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 управления курсором 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прочее.</a:t>
            </a:r>
            <a:endParaRPr sz="750">
              <a:latin typeface="Book Antiqua"/>
              <a:cs typeface="Book Antiqua"/>
            </a:endParaRPr>
          </a:p>
          <a:p>
            <a:pPr algn="just" marL="198120" marR="55244" indent="-117475">
              <a:lnSpc>
                <a:spcPts val="890"/>
              </a:lnSpc>
              <a:spcBef>
                <a:spcPts val="10"/>
              </a:spcBef>
              <a:buFont typeface="Book Antiqua"/>
              <a:buChar char="–"/>
              <a:tabLst>
                <a:tab pos="199390" algn="l"/>
              </a:tabLst>
            </a:pPr>
            <a:r>
              <a:rPr dirty="0" sz="750" spc="10">
                <a:latin typeface="Book Antiqua"/>
                <a:cs typeface="Book Antiqua"/>
              </a:rPr>
              <a:t>Виртуальные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ФС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14">
                <a:latin typeface="Book Antiqua"/>
                <a:cs typeface="Book Antiqua"/>
              </a:rPr>
              <a:t>––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настройки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виртуальной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файловой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системы: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тайм-аут,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пароль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прочее.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750">
              <a:latin typeface="Book Antiqua"/>
              <a:cs typeface="Book Antiqua"/>
            </a:endParaRPr>
          </a:p>
          <a:p>
            <a:pPr marL="66675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7.2.4.</a:t>
            </a:r>
            <a:r>
              <a:rPr dirty="0" sz="850" spc="335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Редактор</a:t>
            </a:r>
            <a:r>
              <a:rPr dirty="0" sz="850" spc="100" b="1">
                <a:latin typeface="Book Antiqua"/>
                <a:cs typeface="Book Antiqua"/>
              </a:rPr>
              <a:t> </a:t>
            </a:r>
            <a:r>
              <a:rPr dirty="0" sz="850" spc="-25" b="1">
                <a:latin typeface="Book Antiqua"/>
                <a:cs typeface="Book Antiqua"/>
              </a:rPr>
              <a:t>mc</a:t>
            </a:r>
            <a:endParaRPr sz="850">
              <a:latin typeface="Book Antiqua"/>
              <a:cs typeface="Book Antiqua"/>
            </a:endParaRPr>
          </a:p>
          <a:p>
            <a:pPr algn="just" marL="63500" marR="55880" indent="100965">
              <a:lnSpc>
                <a:spcPct val="100000"/>
              </a:lnSpc>
              <a:spcBef>
                <a:spcPts val="855"/>
              </a:spcBef>
            </a:pPr>
            <a:r>
              <a:rPr dirty="0" sz="750" spc="-5">
                <a:latin typeface="Book Antiqua"/>
                <a:cs typeface="Book Antiqua"/>
              </a:rPr>
              <a:t>Встроенный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mc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редактор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вызывается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функциональной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клавиши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baseline="8547" sz="975" spc="37">
                <a:latin typeface="Calibri"/>
                <a:cs typeface="Calibri"/>
              </a:rPr>
              <a:t>F4</a:t>
            </a:r>
            <a:r>
              <a:rPr dirty="0" baseline="8547" sz="975" spc="165">
                <a:latin typeface="Calibri"/>
                <a:cs typeface="Calibri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.</a:t>
            </a:r>
            <a:r>
              <a:rPr dirty="0" sz="750" spc="-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нём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удобно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использовать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различные</a:t>
            </a:r>
            <a:r>
              <a:rPr dirty="0" sz="750" spc="-5">
                <a:latin typeface="Book Antiqua"/>
                <a:cs typeface="Book Antiqua"/>
              </a:rPr>
              <a:t> комбинации клавиш </a:t>
            </a:r>
            <a:r>
              <a:rPr dirty="0" sz="750" spc="-10">
                <a:latin typeface="Book Antiqua"/>
                <a:cs typeface="Book Antiqua"/>
              </a:rPr>
              <a:t>при</a:t>
            </a:r>
            <a:r>
              <a:rPr dirty="0" sz="750" spc="-5">
                <a:latin typeface="Book Antiqua"/>
                <a:cs typeface="Book Antiqua"/>
              </a:rPr>
              <a:t> редактировании </a:t>
            </a:r>
            <a:r>
              <a:rPr dirty="0" sz="750">
                <a:latin typeface="Book Antiqua"/>
                <a:cs typeface="Book Antiqua"/>
              </a:rPr>
              <a:t>содержимого </a:t>
            </a:r>
            <a:r>
              <a:rPr dirty="0" sz="750" spc="5">
                <a:latin typeface="Book Antiqua"/>
                <a:cs typeface="Book Antiqua"/>
              </a:rPr>
              <a:t>(как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правило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текстового)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(табл.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  <a:hlinkClick r:id="rId3" action="ppaction://hlinksldjump"/>
              </a:rPr>
              <a:t>7</a:t>
            </a:r>
            <a:r>
              <a:rPr dirty="0" sz="750" spc="10">
                <a:latin typeface="Book Antiqua"/>
                <a:cs typeface="Book Antiqua"/>
              </a:rPr>
              <a:t>.2).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750">
              <a:latin typeface="Book Antiqua"/>
              <a:cs typeface="Book Antiqua"/>
            </a:endParaRPr>
          </a:p>
          <a:p>
            <a:pPr lvl="1" marL="352425" indent="-285750">
              <a:lnSpc>
                <a:spcPct val="100000"/>
              </a:lnSpc>
              <a:buAutoNum type="arabicPeriod" startAt="3"/>
              <a:tabLst>
                <a:tab pos="352425" algn="l"/>
              </a:tabLst>
            </a:pPr>
            <a:r>
              <a:rPr dirty="0" sz="850" spc="10" b="1">
                <a:latin typeface="Book Antiqua"/>
                <a:cs typeface="Book Antiqua"/>
              </a:rPr>
              <a:t>Последовательность</a:t>
            </a:r>
            <a:r>
              <a:rPr dirty="0" sz="850" spc="2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выполнения</a:t>
            </a:r>
            <a:r>
              <a:rPr dirty="0" sz="850" spc="3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lvl="2" marL="446405" indent="-379730">
              <a:lnSpc>
                <a:spcPct val="100000"/>
              </a:lnSpc>
              <a:spcBef>
                <a:spcPts val="850"/>
              </a:spcBef>
              <a:buAutoNum type="arabicPeriod"/>
              <a:tabLst>
                <a:tab pos="446405" algn="l"/>
              </a:tabLst>
            </a:pPr>
            <a:r>
              <a:rPr dirty="0" sz="850" b="1">
                <a:latin typeface="Book Antiqua"/>
                <a:cs typeface="Book Antiqua"/>
              </a:rPr>
              <a:t>Задание</a:t>
            </a:r>
            <a:r>
              <a:rPr dirty="0" sz="850" spc="9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по</a:t>
            </a:r>
            <a:r>
              <a:rPr dirty="0" sz="850" spc="100" b="1">
                <a:latin typeface="Book Antiqua"/>
                <a:cs typeface="Book Antiqua"/>
              </a:rPr>
              <a:t> </a:t>
            </a:r>
            <a:r>
              <a:rPr dirty="0" sz="850" spc="-35" b="1">
                <a:latin typeface="Book Antiqua"/>
                <a:cs typeface="Book Antiqua"/>
              </a:rPr>
              <a:t>mc</a:t>
            </a:r>
            <a:endParaRPr sz="850">
              <a:latin typeface="Book Antiqua"/>
              <a:cs typeface="Book Antiqua"/>
            </a:endParaRPr>
          </a:p>
          <a:p>
            <a:pPr algn="just" marL="198755" indent="-135890">
              <a:lnSpc>
                <a:spcPts val="894"/>
              </a:lnSpc>
              <a:spcBef>
                <a:spcPts val="555"/>
              </a:spcBef>
              <a:buAutoNum type="arabicPeriod"/>
              <a:tabLst>
                <a:tab pos="198755" algn="l"/>
              </a:tabLst>
            </a:pPr>
            <a:r>
              <a:rPr dirty="0" sz="750">
                <a:latin typeface="Book Antiqua"/>
                <a:cs typeface="Book Antiqua"/>
              </a:rPr>
              <a:t>Изучите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информацию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mc,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вызвав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командной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man</a:t>
            </a:r>
            <a:r>
              <a:rPr dirty="0" sz="700" spc="5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mc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98755" indent="-135890">
              <a:lnSpc>
                <a:spcPts val="894"/>
              </a:lnSpc>
              <a:buAutoNum type="arabicPeriod"/>
              <a:tabLst>
                <a:tab pos="198755" algn="l"/>
              </a:tabLst>
            </a:pPr>
            <a:r>
              <a:rPr dirty="0" sz="750">
                <a:latin typeface="Book Antiqua"/>
                <a:cs typeface="Book Antiqua"/>
              </a:rPr>
              <a:t>Запустите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mc,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изучите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структуру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меню.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68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139896" y="392412"/>
            <a:ext cx="249936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7.</a:t>
            </a:r>
            <a:r>
              <a:rPr dirty="0" sz="600" spc="4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Командная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оболочка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Midnight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Commander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100080" y="616912"/>
            <a:ext cx="539115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b="1">
                <a:latin typeface="Book Antiqua"/>
                <a:cs typeface="Book Antiqua"/>
              </a:rPr>
              <a:t>Таблица</a:t>
            </a:r>
            <a:r>
              <a:rPr dirty="0" sz="650" spc="200" b="1">
                <a:latin typeface="Book Antiqua"/>
                <a:cs typeface="Book Antiqua"/>
              </a:rPr>
              <a:t> </a:t>
            </a:r>
            <a:r>
              <a:rPr dirty="0" sz="650" spc="-25" b="1">
                <a:latin typeface="Book Antiqua"/>
                <a:cs typeface="Book Antiqua"/>
              </a:rPr>
              <a:t>7.2</a:t>
            </a:r>
            <a:endParaRPr sz="6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778571" y="730780"/>
            <a:ext cx="1663064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20" b="1">
                <a:latin typeface="Book Antiqua"/>
                <a:cs typeface="Book Antiqua"/>
              </a:rPr>
              <a:t>Клавиши</a:t>
            </a:r>
            <a:r>
              <a:rPr dirty="0" sz="650" spc="5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для</a:t>
            </a:r>
            <a:r>
              <a:rPr dirty="0" sz="650" spc="7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редактирования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файла</a:t>
            </a:r>
            <a:endParaRPr sz="65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643775" y="995350"/>
            <a:ext cx="3932554" cy="0"/>
          </a:xfrm>
          <a:custGeom>
            <a:avLst/>
            <a:gdLst/>
            <a:ahLst/>
            <a:cxnLst/>
            <a:rect l="l" t="t" r="r" b="b"/>
            <a:pathLst>
              <a:path w="3932554" h="0">
                <a:moveTo>
                  <a:pt x="0" y="0"/>
                </a:moveTo>
                <a:lnTo>
                  <a:pt x="3932440" y="0"/>
                </a:lnTo>
              </a:path>
            </a:pathLst>
          </a:custGeom>
          <a:ln w="78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719691" y="1031173"/>
            <a:ext cx="252729" cy="846455"/>
            <a:chOff x="719691" y="1031173"/>
            <a:chExt cx="252729" cy="846455"/>
          </a:xfrm>
        </p:grpSpPr>
        <p:sp>
          <p:nvSpPr>
            <p:cNvPr id="9" name="object 9" descr=""/>
            <p:cNvSpPr/>
            <p:nvPr/>
          </p:nvSpPr>
          <p:spPr>
            <a:xfrm>
              <a:off x="722225" y="1033704"/>
              <a:ext cx="241935" cy="124460"/>
            </a:xfrm>
            <a:custGeom>
              <a:avLst/>
              <a:gdLst/>
              <a:ahLst/>
              <a:cxnLst/>
              <a:rect l="l" t="t" r="r" b="b"/>
              <a:pathLst>
                <a:path w="241934" h="124459">
                  <a:moveTo>
                    <a:pt x="234857" y="0"/>
                  </a:moveTo>
                  <a:lnTo>
                    <a:pt x="6591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1" y="123926"/>
                  </a:lnTo>
                  <a:lnTo>
                    <a:pt x="234857" y="123926"/>
                  </a:lnTo>
                  <a:lnTo>
                    <a:pt x="241449" y="117333"/>
                  </a:lnTo>
                  <a:lnTo>
                    <a:pt x="241449" y="6592"/>
                  </a:lnTo>
                  <a:lnTo>
                    <a:pt x="23485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22225" y="1033704"/>
              <a:ext cx="241935" cy="124460"/>
            </a:xfrm>
            <a:custGeom>
              <a:avLst/>
              <a:gdLst/>
              <a:ahLst/>
              <a:cxnLst/>
              <a:rect l="l" t="t" r="r" b="b"/>
              <a:pathLst>
                <a:path w="241934" h="124459">
                  <a:moveTo>
                    <a:pt x="226725" y="0"/>
                  </a:moveTo>
                  <a:lnTo>
                    <a:pt x="14723" y="0"/>
                  </a:lnTo>
                  <a:lnTo>
                    <a:pt x="6591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1" y="123926"/>
                  </a:lnTo>
                  <a:lnTo>
                    <a:pt x="14723" y="123926"/>
                  </a:lnTo>
                  <a:lnTo>
                    <a:pt x="226725" y="123926"/>
                  </a:lnTo>
                  <a:lnTo>
                    <a:pt x="234857" y="123926"/>
                  </a:lnTo>
                  <a:lnTo>
                    <a:pt x="241449" y="117333"/>
                  </a:lnTo>
                  <a:lnTo>
                    <a:pt x="241449" y="109202"/>
                  </a:lnTo>
                  <a:lnTo>
                    <a:pt x="241449" y="14723"/>
                  </a:lnTo>
                  <a:lnTo>
                    <a:pt x="241449" y="6592"/>
                  </a:lnTo>
                  <a:lnTo>
                    <a:pt x="234857" y="0"/>
                  </a:lnTo>
                  <a:lnTo>
                    <a:pt x="22672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22223" y="1177188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59">
                  <a:moveTo>
                    <a:pt x="240828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40828" y="123926"/>
                  </a:lnTo>
                  <a:lnTo>
                    <a:pt x="247420" y="117333"/>
                  </a:lnTo>
                  <a:lnTo>
                    <a:pt x="247420" y="6592"/>
                  </a:lnTo>
                  <a:lnTo>
                    <a:pt x="24082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22223" y="1177188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59">
                  <a:moveTo>
                    <a:pt x="232697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32697" y="123926"/>
                  </a:lnTo>
                  <a:lnTo>
                    <a:pt x="240828" y="123926"/>
                  </a:lnTo>
                  <a:lnTo>
                    <a:pt x="247420" y="117333"/>
                  </a:lnTo>
                  <a:lnTo>
                    <a:pt x="247420" y="109202"/>
                  </a:lnTo>
                  <a:lnTo>
                    <a:pt x="247420" y="14723"/>
                  </a:lnTo>
                  <a:lnTo>
                    <a:pt x="247420" y="6592"/>
                  </a:lnTo>
                  <a:lnTo>
                    <a:pt x="240828" y="0"/>
                  </a:lnTo>
                  <a:lnTo>
                    <a:pt x="232697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22222" y="1320660"/>
              <a:ext cx="153670" cy="124460"/>
            </a:xfrm>
            <a:custGeom>
              <a:avLst/>
              <a:gdLst/>
              <a:ahLst/>
              <a:cxnLst/>
              <a:rect l="l" t="t" r="r" b="b"/>
              <a:pathLst>
                <a:path w="153669" h="124459">
                  <a:moveTo>
                    <a:pt x="147004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004" y="123926"/>
                  </a:lnTo>
                  <a:lnTo>
                    <a:pt x="153596" y="117333"/>
                  </a:lnTo>
                  <a:lnTo>
                    <a:pt x="153596" y="6592"/>
                  </a:lnTo>
                  <a:lnTo>
                    <a:pt x="147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22222" y="1320660"/>
              <a:ext cx="153670" cy="124460"/>
            </a:xfrm>
            <a:custGeom>
              <a:avLst/>
              <a:gdLst/>
              <a:ahLst/>
              <a:cxnLst/>
              <a:rect l="l" t="t" r="r" b="b"/>
              <a:pathLst>
                <a:path w="153669" h="124459">
                  <a:moveTo>
                    <a:pt x="138872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8872" y="123926"/>
                  </a:lnTo>
                  <a:lnTo>
                    <a:pt x="147004" y="123926"/>
                  </a:lnTo>
                  <a:lnTo>
                    <a:pt x="153596" y="117333"/>
                  </a:lnTo>
                  <a:lnTo>
                    <a:pt x="153596" y="109202"/>
                  </a:lnTo>
                  <a:lnTo>
                    <a:pt x="153596" y="14723"/>
                  </a:lnTo>
                  <a:lnTo>
                    <a:pt x="153596" y="6592"/>
                  </a:lnTo>
                  <a:lnTo>
                    <a:pt x="147004" y="0"/>
                  </a:lnTo>
                  <a:lnTo>
                    <a:pt x="138872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22225" y="146414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22225" y="146414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22229" y="1607617"/>
              <a:ext cx="234950" cy="124460"/>
            </a:xfrm>
            <a:custGeom>
              <a:avLst/>
              <a:gdLst/>
              <a:ahLst/>
              <a:cxnLst/>
              <a:rect l="l" t="t" r="r" b="b"/>
              <a:pathLst>
                <a:path w="234950" h="124460">
                  <a:moveTo>
                    <a:pt x="227989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27989" y="123926"/>
                  </a:lnTo>
                  <a:lnTo>
                    <a:pt x="234581" y="117333"/>
                  </a:lnTo>
                  <a:lnTo>
                    <a:pt x="234581" y="6592"/>
                  </a:lnTo>
                  <a:lnTo>
                    <a:pt x="22798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22229" y="1607617"/>
              <a:ext cx="234950" cy="124460"/>
            </a:xfrm>
            <a:custGeom>
              <a:avLst/>
              <a:gdLst/>
              <a:ahLst/>
              <a:cxnLst/>
              <a:rect l="l" t="t" r="r" b="b"/>
              <a:pathLst>
                <a:path w="234950" h="124460">
                  <a:moveTo>
                    <a:pt x="219857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19857" y="123926"/>
                  </a:lnTo>
                  <a:lnTo>
                    <a:pt x="227989" y="123926"/>
                  </a:lnTo>
                  <a:lnTo>
                    <a:pt x="234581" y="117333"/>
                  </a:lnTo>
                  <a:lnTo>
                    <a:pt x="234581" y="109202"/>
                  </a:lnTo>
                  <a:lnTo>
                    <a:pt x="234581" y="14723"/>
                  </a:lnTo>
                  <a:lnTo>
                    <a:pt x="234581" y="6592"/>
                  </a:lnTo>
                  <a:lnTo>
                    <a:pt x="227989" y="0"/>
                  </a:lnTo>
                  <a:lnTo>
                    <a:pt x="219857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22225" y="175110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22225" y="175110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1" name="object 21" descr=""/>
          <p:cNvGraphicFramePr>
            <a:graphicFrameLocks noGrp="1"/>
          </p:cNvGraphicFramePr>
          <p:nvPr/>
        </p:nvGraphicFramePr>
        <p:xfrm>
          <a:off x="722225" y="1033704"/>
          <a:ext cx="323850" cy="838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320"/>
                <a:gridCol w="93980"/>
              </a:tblGrid>
              <a:tr h="133350">
                <a:tc gridSpan="2"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50">
                          <a:latin typeface="Calibri"/>
                          <a:cs typeface="Calibri"/>
                        </a:rPr>
                        <a:t>Ctrl-</a:t>
                      </a:r>
                      <a:r>
                        <a:rPr dirty="0" sz="650" spc="-50">
                          <a:latin typeface="Calibri"/>
                          <a:cs typeface="Calibri"/>
                        </a:rPr>
                        <a:t>y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2875">
                <a:tc gridSpan="2"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650">
                          <a:latin typeface="Calibri"/>
                          <a:cs typeface="Calibri"/>
                        </a:rPr>
                        <a:t>Ctrl-</a:t>
                      </a:r>
                      <a:r>
                        <a:rPr dirty="0" sz="650" spc="-50">
                          <a:latin typeface="Calibri"/>
                          <a:cs typeface="Calibri"/>
                        </a:rPr>
                        <a:t>u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2875"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650" spc="-25">
                          <a:latin typeface="Calibri"/>
                          <a:cs typeface="Calibri"/>
                        </a:rPr>
                        <a:t>Ins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650" spc="-25">
                          <a:latin typeface="Calibri"/>
                          <a:cs typeface="Calibri"/>
                        </a:rPr>
                        <a:t>F7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42875">
                <a:tc gridSpan="2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65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650" spc="-25">
                          <a:latin typeface="Calibri"/>
                          <a:cs typeface="Calibri"/>
                        </a:rPr>
                        <a:t>F7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33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650" spc="-25">
                          <a:latin typeface="Calibri"/>
                          <a:cs typeface="Calibri"/>
                        </a:rPr>
                        <a:t>F4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22" name="object 22" descr=""/>
          <p:cNvSpPr/>
          <p:nvPr/>
        </p:nvSpPr>
        <p:spPr>
          <a:xfrm>
            <a:off x="749523" y="1625559"/>
            <a:ext cx="64135" cy="76200"/>
          </a:xfrm>
          <a:custGeom>
            <a:avLst/>
            <a:gdLst/>
            <a:ahLst/>
            <a:cxnLst/>
            <a:rect l="l" t="t" r="r" b="b"/>
            <a:pathLst>
              <a:path w="64134" h="76200">
                <a:moveTo>
                  <a:pt x="15918" y="75610"/>
                </a:moveTo>
                <a:lnTo>
                  <a:pt x="47754" y="75610"/>
                </a:lnTo>
                <a:lnTo>
                  <a:pt x="47754" y="27856"/>
                </a:lnTo>
                <a:lnTo>
                  <a:pt x="63672" y="27856"/>
                </a:lnTo>
                <a:lnTo>
                  <a:pt x="31835" y="0"/>
                </a:lnTo>
                <a:lnTo>
                  <a:pt x="0" y="27856"/>
                </a:lnTo>
                <a:lnTo>
                  <a:pt x="15918" y="27856"/>
                </a:lnTo>
                <a:lnTo>
                  <a:pt x="15918" y="75610"/>
                </a:lnTo>
                <a:close/>
              </a:path>
            </a:pathLst>
          </a:custGeom>
          <a:ln w="39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3" name="object 23" descr=""/>
          <p:cNvGrpSpPr/>
          <p:nvPr/>
        </p:nvGrpSpPr>
        <p:grpSpPr>
          <a:xfrm>
            <a:off x="719695" y="1892056"/>
            <a:ext cx="152400" cy="129539"/>
            <a:chOff x="719695" y="1892056"/>
            <a:chExt cx="152400" cy="129539"/>
          </a:xfrm>
        </p:grpSpPr>
        <p:sp>
          <p:nvSpPr>
            <p:cNvPr id="24" name="object 24" descr=""/>
            <p:cNvSpPr/>
            <p:nvPr/>
          </p:nvSpPr>
          <p:spPr>
            <a:xfrm>
              <a:off x="722225" y="189458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22225" y="189458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739711" y="1889648"/>
            <a:ext cx="112395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25">
                <a:latin typeface="Calibri"/>
                <a:cs typeface="Calibri"/>
              </a:rPr>
              <a:t>F3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719685" y="2174062"/>
            <a:ext cx="187325" cy="702945"/>
            <a:chOff x="719685" y="2174062"/>
            <a:chExt cx="187325" cy="702945"/>
          </a:xfrm>
        </p:grpSpPr>
        <p:sp>
          <p:nvSpPr>
            <p:cNvPr id="28" name="object 28" descr=""/>
            <p:cNvSpPr/>
            <p:nvPr/>
          </p:nvSpPr>
          <p:spPr>
            <a:xfrm>
              <a:off x="722225" y="217660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22225" y="217660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22225" y="232008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22225" y="232008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22225" y="246355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22225" y="246355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722225" y="260704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22225" y="260704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22225" y="2750528"/>
              <a:ext cx="182245" cy="124460"/>
            </a:xfrm>
            <a:custGeom>
              <a:avLst/>
              <a:gdLst/>
              <a:ahLst/>
              <a:cxnLst/>
              <a:rect l="l" t="t" r="r" b="b"/>
              <a:pathLst>
                <a:path w="182244" h="124460">
                  <a:moveTo>
                    <a:pt x="167339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67339" y="123926"/>
                  </a:lnTo>
                  <a:lnTo>
                    <a:pt x="175470" y="123926"/>
                  </a:lnTo>
                  <a:lnTo>
                    <a:pt x="182062" y="117333"/>
                  </a:lnTo>
                  <a:lnTo>
                    <a:pt x="182062" y="109202"/>
                  </a:lnTo>
                  <a:lnTo>
                    <a:pt x="182062" y="14723"/>
                  </a:lnTo>
                  <a:lnTo>
                    <a:pt x="182062" y="6592"/>
                  </a:lnTo>
                  <a:lnTo>
                    <a:pt x="175470" y="0"/>
                  </a:lnTo>
                  <a:lnTo>
                    <a:pt x="167339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7" name="object 37" descr=""/>
          <p:cNvGraphicFramePr>
            <a:graphicFrameLocks noGrp="1"/>
          </p:cNvGraphicFramePr>
          <p:nvPr/>
        </p:nvGraphicFramePr>
        <p:xfrm>
          <a:off x="722225" y="2176602"/>
          <a:ext cx="241300" cy="695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465"/>
              </a:tblGrid>
              <a:tr h="133350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50" spc="-25">
                          <a:latin typeface="Calibri"/>
                          <a:cs typeface="Calibri"/>
                        </a:rPr>
                        <a:t>F5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650" spc="-25">
                          <a:latin typeface="Calibri"/>
                          <a:cs typeface="Calibri"/>
                        </a:rPr>
                        <a:t>F6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650" spc="-25">
                          <a:latin typeface="Calibri"/>
                          <a:cs typeface="Calibri"/>
                        </a:rPr>
                        <a:t>F8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650" spc="-25">
                          <a:latin typeface="Calibri"/>
                          <a:cs typeface="Calibri"/>
                        </a:rPr>
                        <a:t>F2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algn="ctr" marL="1714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650" spc="-25">
                          <a:latin typeface="Calibri"/>
                          <a:cs typeface="Calibri"/>
                        </a:rPr>
                        <a:t>F10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8" name="object 38" descr=""/>
          <p:cNvSpPr txBox="1"/>
          <p:nvPr/>
        </p:nvSpPr>
        <p:spPr>
          <a:xfrm>
            <a:off x="1665211" y="996553"/>
            <a:ext cx="2847975" cy="188595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750">
                <a:latin typeface="Book Antiqua"/>
                <a:cs typeface="Book Antiqua"/>
              </a:rPr>
              <a:t>удалить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строку</a:t>
            </a:r>
            <a:endParaRPr sz="750">
              <a:latin typeface="Book Antiqua"/>
              <a:cs typeface="Book Antiqua"/>
            </a:endParaRPr>
          </a:p>
          <a:p>
            <a:pPr marL="12700" marR="1513840">
              <a:lnSpc>
                <a:spcPct val="125499"/>
              </a:lnSpc>
            </a:pPr>
            <a:r>
              <a:rPr dirty="0" sz="750">
                <a:latin typeface="Book Antiqua"/>
                <a:cs typeface="Book Antiqua"/>
              </a:rPr>
              <a:t>отмена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операции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вставка/замена</a:t>
            </a:r>
            <a:endParaRPr sz="750">
              <a:latin typeface="Book Antiqua"/>
              <a:cs typeface="Book Antiqua"/>
            </a:endParaRPr>
          </a:p>
          <a:p>
            <a:pPr marL="12700" marR="401320">
              <a:lnSpc>
                <a:spcPct val="125499"/>
              </a:lnSpc>
            </a:pPr>
            <a:r>
              <a:rPr dirty="0" sz="750" spc="10">
                <a:latin typeface="Book Antiqua"/>
                <a:cs typeface="Book Antiqua"/>
              </a:rPr>
              <a:t>поиск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(можно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регулярные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выражения)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повтор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поиска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750" spc="-10">
                <a:latin typeface="Book Antiqua"/>
                <a:cs typeface="Book Antiqua"/>
              </a:rPr>
              <a:t>замена</a:t>
            </a:r>
            <a:endParaRPr sz="750">
              <a:latin typeface="Book Antiqua"/>
              <a:cs typeface="Book Antiqua"/>
            </a:endParaRPr>
          </a:p>
          <a:p>
            <a:pPr marL="12700" marR="5080">
              <a:lnSpc>
                <a:spcPct val="121200"/>
              </a:lnSpc>
              <a:spcBef>
                <a:spcPts val="40"/>
              </a:spcBef>
            </a:pPr>
            <a:r>
              <a:rPr dirty="0" sz="750">
                <a:latin typeface="Book Antiqua"/>
                <a:cs typeface="Book Antiqua"/>
              </a:rPr>
              <a:t>первое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нажатие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—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начало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выделения,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второе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—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окончание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выделения</a:t>
            </a:r>
            <a:endParaRPr sz="750">
              <a:latin typeface="Book Antiqua"/>
              <a:cs typeface="Book Antiqua"/>
            </a:endParaRPr>
          </a:p>
          <a:p>
            <a:pPr marL="12700" marR="1160145">
              <a:lnSpc>
                <a:spcPct val="125499"/>
              </a:lnSpc>
            </a:pPr>
            <a:r>
              <a:rPr dirty="0" sz="750">
                <a:latin typeface="Book Antiqua"/>
                <a:cs typeface="Book Antiqua"/>
              </a:rPr>
              <a:t>копировать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выделенный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фрагмент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переместить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выделенный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фрагмент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удалить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выделенный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фрагмент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записать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изменения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750">
                <a:latin typeface="Book Antiqua"/>
                <a:cs typeface="Book Antiqua"/>
              </a:rPr>
              <a:t>выйти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редактора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643775" y="2915031"/>
            <a:ext cx="3932554" cy="0"/>
          </a:xfrm>
          <a:custGeom>
            <a:avLst/>
            <a:gdLst/>
            <a:ahLst/>
            <a:cxnLst/>
            <a:rect l="l" t="t" r="r" b="b"/>
            <a:pathLst>
              <a:path w="3932554" h="0">
                <a:moveTo>
                  <a:pt x="0" y="0"/>
                </a:moveTo>
                <a:lnTo>
                  <a:pt x="3932440" y="0"/>
                </a:lnTo>
              </a:path>
            </a:pathLst>
          </a:custGeom>
          <a:ln w="78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0" name="object 4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1301" y="3860898"/>
            <a:ext cx="245855" cy="128986"/>
          </a:xfrm>
          <a:prstGeom prst="rect">
            <a:avLst/>
          </a:prstGeom>
        </p:spPr>
      </p:pic>
      <p:sp>
        <p:nvSpPr>
          <p:cNvPr id="41" name="object 41" descr=""/>
          <p:cNvSpPr txBox="1"/>
          <p:nvPr/>
        </p:nvSpPr>
        <p:spPr>
          <a:xfrm>
            <a:off x="551967" y="3149714"/>
            <a:ext cx="4133215" cy="141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73355" marR="30480" indent="-135890">
              <a:lnSpc>
                <a:spcPct val="100000"/>
              </a:lnSpc>
              <a:spcBef>
                <a:spcPts val="120"/>
              </a:spcBef>
              <a:buAutoNum type="arabicPeriod" startAt="3"/>
              <a:tabLst>
                <a:tab pos="174625" algn="l"/>
              </a:tabLst>
            </a:pPr>
            <a:r>
              <a:rPr dirty="0" sz="750">
                <a:latin typeface="Book Antiqua"/>
                <a:cs typeface="Book Antiqua"/>
              </a:rPr>
              <a:t>Выполните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операций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mc,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используя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управляющие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клавиши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(операции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панелями;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выделение/отмена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выделения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копирование/перемещение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лов,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получение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информации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размере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правах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файлы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и/или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т.п.)</a:t>
            </a:r>
            <a:endParaRPr sz="750">
              <a:latin typeface="Book Antiqua"/>
              <a:cs typeface="Book Antiqua"/>
            </a:endParaRPr>
          </a:p>
          <a:p>
            <a:pPr algn="just" marL="173355" marR="50800" indent="-135890">
              <a:lnSpc>
                <a:spcPts val="890"/>
              </a:lnSpc>
              <a:spcBef>
                <a:spcPts val="20"/>
              </a:spcBef>
              <a:buAutoNum type="arabicPeriod" startAt="3"/>
              <a:tabLst>
                <a:tab pos="174625" algn="l"/>
              </a:tabLst>
            </a:pPr>
            <a:r>
              <a:rPr dirty="0" sz="750" spc="10">
                <a:latin typeface="Book Antiqua"/>
                <a:cs typeface="Book Antiqua"/>
              </a:rPr>
              <a:t>Выполните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основные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меню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левой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(или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правой)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панели.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Оцените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степень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подробности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информации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файлах.</a:t>
            </a:r>
            <a:endParaRPr sz="750">
              <a:latin typeface="Book Antiqua"/>
              <a:cs typeface="Book Antiqua"/>
            </a:endParaRPr>
          </a:p>
          <a:p>
            <a:pPr algn="just" marL="173990" indent="-135890">
              <a:lnSpc>
                <a:spcPts val="894"/>
              </a:lnSpc>
              <a:spcBef>
                <a:spcPts val="130"/>
              </a:spcBef>
              <a:buAutoNum type="arabicPeriod" startAt="3"/>
              <a:tabLst>
                <a:tab pos="173990" algn="l"/>
              </a:tabLst>
            </a:pPr>
            <a:r>
              <a:rPr dirty="0" sz="750">
                <a:latin typeface="Book Antiqua"/>
                <a:cs typeface="Book Antiqua"/>
              </a:rPr>
              <a:t>Используя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возможности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подменю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baseline="8547" sz="975" spc="15">
                <a:latin typeface="Calibri"/>
                <a:cs typeface="Calibri"/>
              </a:rPr>
              <a:t>Файл</a:t>
            </a:r>
            <a:r>
              <a:rPr dirty="0" baseline="8547" sz="975" spc="127">
                <a:latin typeface="Calibri"/>
                <a:cs typeface="Calibri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выполните:</a:t>
            </a:r>
            <a:endParaRPr sz="750">
              <a:latin typeface="Book Antiqua"/>
              <a:cs typeface="Book Antiqua"/>
            </a:endParaRPr>
          </a:p>
          <a:p>
            <a:pPr lvl="1" marL="386080" indent="-117475">
              <a:lnSpc>
                <a:spcPts val="894"/>
              </a:lnSpc>
              <a:buFont typeface="Book Antiqua"/>
              <a:buChar char="–"/>
              <a:tabLst>
                <a:tab pos="386080" algn="l"/>
              </a:tabLst>
            </a:pPr>
            <a:r>
              <a:rPr dirty="0" sz="750">
                <a:latin typeface="Book Antiqua"/>
                <a:cs typeface="Book Antiqua"/>
              </a:rPr>
              <a:t>просмотр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содержимого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текстового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файла;</a:t>
            </a:r>
            <a:endParaRPr sz="750">
              <a:latin typeface="Book Antiqua"/>
              <a:cs typeface="Book Antiqua"/>
            </a:endParaRPr>
          </a:p>
          <a:p>
            <a:pPr lvl="1" marL="385445" marR="50800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386715" algn="l"/>
              </a:tabLst>
            </a:pPr>
            <a:r>
              <a:rPr dirty="0" sz="750">
                <a:latin typeface="Book Antiqua"/>
                <a:cs typeface="Book Antiqua"/>
              </a:rPr>
              <a:t>редактирование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содержимого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текстового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(без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сохранения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результатов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редактирования);</a:t>
            </a:r>
            <a:endParaRPr sz="750">
              <a:latin typeface="Book Antiqua"/>
              <a:cs typeface="Book Antiqua"/>
            </a:endParaRPr>
          </a:p>
          <a:p>
            <a:pPr lvl="1" marL="386080" indent="-117475">
              <a:lnSpc>
                <a:spcPts val="869"/>
              </a:lnSpc>
              <a:buFont typeface="Book Antiqua"/>
              <a:buChar char="–"/>
              <a:tabLst>
                <a:tab pos="386080" algn="l"/>
              </a:tabLst>
            </a:pPr>
            <a:r>
              <a:rPr dirty="0" sz="750">
                <a:latin typeface="Book Antiqua"/>
                <a:cs typeface="Book Antiqua"/>
              </a:rPr>
              <a:t>создание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каталога;</a:t>
            </a:r>
            <a:endParaRPr sz="750">
              <a:latin typeface="Book Antiqua"/>
              <a:cs typeface="Book Antiqua"/>
            </a:endParaRPr>
          </a:p>
          <a:p>
            <a:pPr lvl="1" marL="386080" indent="-117475">
              <a:lnSpc>
                <a:spcPts val="894"/>
              </a:lnSpc>
              <a:buFont typeface="Book Antiqua"/>
              <a:buChar char="–"/>
              <a:tabLst>
                <a:tab pos="386080" algn="l"/>
              </a:tabLst>
            </a:pPr>
            <a:r>
              <a:rPr dirty="0" sz="750">
                <a:latin typeface="Book Antiqua"/>
                <a:cs typeface="Book Antiqua"/>
              </a:rPr>
              <a:t>копирование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созданный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577367" y="4554194"/>
            <a:ext cx="236283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6.</a:t>
            </a:r>
            <a:r>
              <a:rPr dirty="0" sz="750" spc="3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соответствующих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средств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подменю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2953409" y="4565675"/>
            <a:ext cx="361950" cy="124460"/>
          </a:xfrm>
          <a:custGeom>
            <a:avLst/>
            <a:gdLst/>
            <a:ahLst/>
            <a:cxnLst/>
            <a:rect l="l" t="t" r="r" b="b"/>
            <a:pathLst>
              <a:path w="361950" h="124460">
                <a:moveTo>
                  <a:pt x="358072" y="0"/>
                </a:moveTo>
                <a:lnTo>
                  <a:pt x="188045" y="0"/>
                </a:lnTo>
                <a:lnTo>
                  <a:pt x="3295" y="0"/>
                </a:lnTo>
                <a:lnTo>
                  <a:pt x="0" y="3296"/>
                </a:lnTo>
                <a:lnTo>
                  <a:pt x="0" y="120629"/>
                </a:lnTo>
                <a:lnTo>
                  <a:pt x="3295" y="123925"/>
                </a:lnTo>
                <a:lnTo>
                  <a:pt x="358072" y="123925"/>
                </a:lnTo>
                <a:lnTo>
                  <a:pt x="361368" y="120629"/>
                </a:lnTo>
                <a:lnTo>
                  <a:pt x="361368" y="3296"/>
                </a:lnTo>
                <a:lnTo>
                  <a:pt x="35807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2953409" y="4565675"/>
            <a:ext cx="361950" cy="124460"/>
          </a:xfrm>
          <a:prstGeom prst="rect">
            <a:avLst/>
          </a:prstGeom>
          <a:ln w="8356">
            <a:solidFill>
              <a:srgbClr val="4C4C4C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 spc="-10">
                <a:latin typeface="Calibri"/>
                <a:cs typeface="Calibri"/>
              </a:rPr>
              <a:t>Команда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3328466" y="4554194"/>
            <a:ext cx="64262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осуществите: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1627002" y="5265379"/>
            <a:ext cx="436245" cy="129539"/>
            <a:chOff x="1627002" y="5265379"/>
            <a:chExt cx="436245" cy="129539"/>
          </a:xfrm>
        </p:grpSpPr>
        <p:sp>
          <p:nvSpPr>
            <p:cNvPr id="47" name="object 47" descr=""/>
            <p:cNvSpPr/>
            <p:nvPr/>
          </p:nvSpPr>
          <p:spPr>
            <a:xfrm>
              <a:off x="1629533" y="5267909"/>
              <a:ext cx="431165" cy="124460"/>
            </a:xfrm>
            <a:custGeom>
              <a:avLst/>
              <a:gdLst/>
              <a:ahLst/>
              <a:cxnLst/>
              <a:rect l="l" t="t" r="r" b="b"/>
              <a:pathLst>
                <a:path w="431164" h="124460">
                  <a:moveTo>
                    <a:pt x="427520" y="0"/>
                  </a:moveTo>
                  <a:lnTo>
                    <a:pt x="222770" y="0"/>
                  </a:lnTo>
                  <a:lnTo>
                    <a:pt x="3296" y="0"/>
                  </a:lnTo>
                  <a:lnTo>
                    <a:pt x="0" y="3296"/>
                  </a:lnTo>
                  <a:lnTo>
                    <a:pt x="0" y="120629"/>
                  </a:lnTo>
                  <a:lnTo>
                    <a:pt x="3296" y="123925"/>
                  </a:lnTo>
                  <a:lnTo>
                    <a:pt x="427520" y="123925"/>
                  </a:lnTo>
                  <a:lnTo>
                    <a:pt x="430817" y="120629"/>
                  </a:lnTo>
                  <a:lnTo>
                    <a:pt x="430817" y="3296"/>
                  </a:lnTo>
                  <a:lnTo>
                    <a:pt x="42752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629533" y="5267909"/>
              <a:ext cx="431165" cy="124460"/>
            </a:xfrm>
            <a:custGeom>
              <a:avLst/>
              <a:gdLst/>
              <a:ahLst/>
              <a:cxnLst/>
              <a:rect l="l" t="t" r="r" b="b"/>
              <a:pathLst>
                <a:path w="431164" h="124460">
                  <a:moveTo>
                    <a:pt x="222770" y="0"/>
                  </a:moveTo>
                  <a:lnTo>
                    <a:pt x="423454" y="0"/>
                  </a:lnTo>
                  <a:lnTo>
                    <a:pt x="427520" y="0"/>
                  </a:lnTo>
                  <a:lnTo>
                    <a:pt x="430817" y="3296"/>
                  </a:lnTo>
                  <a:lnTo>
                    <a:pt x="430817" y="120629"/>
                  </a:lnTo>
                  <a:lnTo>
                    <a:pt x="427520" y="123925"/>
                  </a:lnTo>
                  <a:lnTo>
                    <a:pt x="3296" y="123925"/>
                  </a:lnTo>
                  <a:lnTo>
                    <a:pt x="0" y="120629"/>
                  </a:lnTo>
                  <a:lnTo>
                    <a:pt x="0" y="3296"/>
                  </a:lnTo>
                  <a:lnTo>
                    <a:pt x="3296" y="0"/>
                  </a:lnTo>
                  <a:lnTo>
                    <a:pt x="7362" y="0"/>
                  </a:lnTo>
                  <a:lnTo>
                    <a:pt x="208046" y="0"/>
                  </a:lnTo>
                  <a:lnTo>
                    <a:pt x="212112" y="0"/>
                  </a:lnTo>
                  <a:lnTo>
                    <a:pt x="218704" y="0"/>
                  </a:lnTo>
                  <a:lnTo>
                    <a:pt x="222770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536384" y="4667808"/>
            <a:ext cx="4153535" cy="19983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401320" marR="56515" indent="-117475">
              <a:lnSpc>
                <a:spcPct val="100000"/>
              </a:lnSpc>
              <a:spcBef>
                <a:spcPts val="120"/>
              </a:spcBef>
              <a:buFont typeface="Book Antiqua"/>
              <a:buChar char="–"/>
              <a:tabLst>
                <a:tab pos="402590" algn="l"/>
              </a:tabLst>
            </a:pPr>
            <a:r>
              <a:rPr dirty="0" sz="750">
                <a:latin typeface="Book Antiqua"/>
                <a:cs typeface="Book Antiqua"/>
              </a:rPr>
              <a:t>поиск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системе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заданными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условиями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(например,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расширением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.c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.cpp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содержащего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main</a:t>
            </a:r>
            <a:r>
              <a:rPr dirty="0" sz="750" spc="-10">
                <a:latin typeface="Book Antiqua"/>
                <a:cs typeface="Book Antiqua"/>
              </a:rPr>
              <a:t>);</a:t>
            </a:r>
            <a:endParaRPr sz="750">
              <a:latin typeface="Book Antiqua"/>
              <a:cs typeface="Book Antiqua"/>
            </a:endParaRPr>
          </a:p>
          <a:p>
            <a:pPr marL="401320" indent="-117475">
              <a:lnSpc>
                <a:spcPts val="885"/>
              </a:lnSpc>
              <a:buFont typeface="Book Antiqua"/>
              <a:buChar char="–"/>
              <a:tabLst>
                <a:tab pos="401320" algn="l"/>
              </a:tabLst>
            </a:pPr>
            <a:r>
              <a:rPr dirty="0" sz="750">
                <a:latin typeface="Book Antiqua"/>
                <a:cs typeface="Book Antiqua"/>
              </a:rPr>
              <a:t>выбор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повторение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одной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предыдущих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команд;</a:t>
            </a:r>
            <a:endParaRPr sz="750">
              <a:latin typeface="Book Antiqua"/>
              <a:cs typeface="Book Antiqua"/>
            </a:endParaRPr>
          </a:p>
          <a:p>
            <a:pPr marL="401320" indent="-117475">
              <a:lnSpc>
                <a:spcPts val="894"/>
              </a:lnSpc>
              <a:buFont typeface="Book Antiqua"/>
              <a:buChar char="–"/>
              <a:tabLst>
                <a:tab pos="401320" algn="l"/>
              </a:tabLst>
            </a:pPr>
            <a:r>
              <a:rPr dirty="0" sz="750">
                <a:latin typeface="Book Antiqua"/>
                <a:cs typeface="Book Antiqua"/>
              </a:rPr>
              <a:t>переход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домашний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каталог;</a:t>
            </a:r>
            <a:endParaRPr sz="750">
              <a:latin typeface="Book Antiqua"/>
              <a:cs typeface="Book Antiqua"/>
            </a:endParaRPr>
          </a:p>
          <a:p>
            <a:pPr marL="401320" indent="-117475">
              <a:lnSpc>
                <a:spcPts val="894"/>
              </a:lnSpc>
              <a:buFont typeface="Book Antiqua"/>
              <a:buChar char="–"/>
              <a:tabLst>
                <a:tab pos="401320" algn="l"/>
              </a:tabLst>
            </a:pPr>
            <a:r>
              <a:rPr dirty="0" sz="750">
                <a:latin typeface="Book Antiqua"/>
                <a:cs typeface="Book Antiqua"/>
              </a:rPr>
              <a:t>анализ файла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меню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расширений.</a:t>
            </a:r>
            <a:endParaRPr sz="750">
              <a:latin typeface="Book Antiqua"/>
              <a:cs typeface="Book Antiqua"/>
            </a:endParaRPr>
          </a:p>
          <a:p>
            <a:pPr marL="186690" marR="55880" indent="-123825">
              <a:lnSpc>
                <a:spcPct val="100000"/>
              </a:lnSpc>
              <a:spcBef>
                <a:spcPts val="160"/>
              </a:spcBef>
            </a:pPr>
            <a:r>
              <a:rPr dirty="0" sz="750">
                <a:latin typeface="Book Antiqua"/>
                <a:cs typeface="Book Antiqua"/>
              </a:rPr>
              <a:t>7.</a:t>
            </a:r>
            <a:r>
              <a:rPr dirty="0" sz="750" spc="3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Вызовите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подменю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Настройки</a:t>
            </a:r>
            <a:r>
              <a:rPr dirty="0" baseline="8547" sz="975" spc="142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Освойте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операции,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определяющие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структуру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mc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(Full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screen,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Double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Width,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Show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Hidden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Files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т.д.)ю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750">
              <a:latin typeface="Book Antiqua"/>
              <a:cs typeface="Book Antiqua"/>
            </a:endParaRPr>
          </a:p>
          <a:p>
            <a:pPr marL="57150">
              <a:lnSpc>
                <a:spcPct val="100000"/>
              </a:lnSpc>
            </a:pPr>
            <a:r>
              <a:rPr dirty="0" sz="850" spc="10" b="1">
                <a:latin typeface="Book Antiqua"/>
                <a:cs typeface="Book Antiqua"/>
              </a:rPr>
              <a:t>7.3.2.</a:t>
            </a:r>
            <a:r>
              <a:rPr dirty="0" sz="850" spc="285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Задание</a:t>
            </a:r>
            <a:r>
              <a:rPr dirty="0" sz="850" spc="6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по</a:t>
            </a:r>
            <a:r>
              <a:rPr dirty="0" sz="850" spc="6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встроенному</a:t>
            </a:r>
            <a:r>
              <a:rPr dirty="0" sz="850" spc="6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редактору</a:t>
            </a:r>
            <a:r>
              <a:rPr dirty="0" sz="850" spc="65" b="1">
                <a:latin typeface="Book Antiqua"/>
                <a:cs typeface="Book Antiqua"/>
              </a:rPr>
              <a:t> </a:t>
            </a:r>
            <a:r>
              <a:rPr dirty="0" sz="850" spc="-25" b="1">
                <a:latin typeface="Book Antiqua"/>
                <a:cs typeface="Book Antiqua"/>
              </a:rPr>
              <a:t>mc</a:t>
            </a:r>
            <a:endParaRPr sz="850">
              <a:latin typeface="Book Antiqua"/>
              <a:cs typeface="Book Antiqua"/>
            </a:endParaRPr>
          </a:p>
          <a:p>
            <a:pPr marL="189230" indent="-135890">
              <a:lnSpc>
                <a:spcPts val="894"/>
              </a:lnSpc>
              <a:spcBef>
                <a:spcPts val="555"/>
              </a:spcBef>
              <a:buAutoNum type="arabicPeriod"/>
              <a:tabLst>
                <a:tab pos="189230" algn="l"/>
              </a:tabLst>
            </a:pPr>
            <a:r>
              <a:rPr dirty="0" sz="750">
                <a:latin typeface="Book Antiqua"/>
                <a:cs typeface="Book Antiqua"/>
              </a:rPr>
              <a:t>Создайте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текстовой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text.txt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189230" indent="-135890">
              <a:lnSpc>
                <a:spcPts val="894"/>
              </a:lnSpc>
              <a:buAutoNum type="arabicPeriod"/>
              <a:tabLst>
                <a:tab pos="189230" algn="l"/>
              </a:tabLst>
            </a:pPr>
            <a:r>
              <a:rPr dirty="0" sz="750">
                <a:latin typeface="Book Antiqua"/>
                <a:cs typeface="Book Antiqua"/>
              </a:rPr>
              <a:t>Откройте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встроенного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mc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редактора.</a:t>
            </a:r>
            <a:endParaRPr sz="750">
              <a:latin typeface="Book Antiqua"/>
              <a:cs typeface="Book Antiqua"/>
            </a:endParaRPr>
          </a:p>
          <a:p>
            <a:pPr marL="188595" marR="55244" indent="-135890">
              <a:lnSpc>
                <a:spcPts val="890"/>
              </a:lnSpc>
              <a:spcBef>
                <a:spcPts val="35"/>
              </a:spcBef>
              <a:buAutoNum type="arabicPeriod"/>
              <a:tabLst>
                <a:tab pos="189865" algn="l"/>
              </a:tabLst>
            </a:pPr>
            <a:r>
              <a:rPr dirty="0" sz="750" spc="10">
                <a:latin typeface="Book Antiqua"/>
                <a:cs typeface="Book Antiqua"/>
              </a:rPr>
              <a:t>Вставьте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открытый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небольшой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фрагмент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текста, скопированный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любого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другого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Интернета.</a:t>
            </a:r>
            <a:endParaRPr sz="750">
              <a:latin typeface="Book Antiqua"/>
              <a:cs typeface="Book Antiqua"/>
            </a:endParaRPr>
          </a:p>
          <a:p>
            <a:pPr marL="189230" indent="-135890">
              <a:lnSpc>
                <a:spcPts val="869"/>
              </a:lnSpc>
              <a:buAutoNum type="arabicPeriod"/>
              <a:tabLst>
                <a:tab pos="189230" algn="l"/>
              </a:tabLst>
            </a:pPr>
            <a:r>
              <a:rPr dirty="0" sz="750">
                <a:latin typeface="Book Antiqua"/>
                <a:cs typeface="Book Antiqua"/>
              </a:rPr>
              <a:t>Проделайте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 текстом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манипуляции,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горячие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клавиши:</a:t>
            </a:r>
            <a:endParaRPr sz="750">
              <a:latin typeface="Book Antiqua"/>
              <a:cs typeface="Book Antiqua"/>
            </a:endParaRPr>
          </a:p>
          <a:p>
            <a:pPr lvl="1" marL="401955" indent="-215900">
              <a:lnSpc>
                <a:spcPts val="894"/>
              </a:lnSpc>
              <a:buAutoNum type="arabicPeriod"/>
              <a:tabLst>
                <a:tab pos="401955" algn="l"/>
              </a:tabLst>
            </a:pPr>
            <a:r>
              <a:rPr dirty="0" sz="750" spc="-10">
                <a:latin typeface="Book Antiqua"/>
                <a:cs typeface="Book Antiqua"/>
              </a:rPr>
              <a:t>Удалите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текста.</a:t>
            </a:r>
            <a:endParaRPr sz="750">
              <a:latin typeface="Book Antiqua"/>
              <a:cs typeface="Book Antiqua"/>
            </a:endParaRPr>
          </a:p>
          <a:p>
            <a:pPr lvl="1" marL="401955" indent="-215900">
              <a:lnSpc>
                <a:spcPts val="894"/>
              </a:lnSpc>
              <a:buAutoNum type="arabicPeriod"/>
              <a:tabLst>
                <a:tab pos="401955" algn="l"/>
              </a:tabLst>
            </a:pPr>
            <a:r>
              <a:rPr dirty="0" sz="750">
                <a:latin typeface="Book Antiqua"/>
                <a:cs typeface="Book Antiqua"/>
              </a:rPr>
              <a:t>Выделите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фрагмент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скопируйте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новую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строку.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69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1622" y="4449950"/>
            <a:ext cx="245855" cy="12898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39267" y="653389"/>
            <a:ext cx="4158615" cy="39312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lvl="1" marL="399415" indent="-215900">
              <a:lnSpc>
                <a:spcPts val="894"/>
              </a:lnSpc>
              <a:spcBef>
                <a:spcPts val="120"/>
              </a:spcBef>
              <a:buAutoNum type="arabicPeriod" startAt="3"/>
              <a:tabLst>
                <a:tab pos="399415" algn="l"/>
              </a:tabLst>
            </a:pPr>
            <a:r>
              <a:rPr dirty="0" sz="750">
                <a:latin typeface="Book Antiqua"/>
                <a:cs typeface="Book Antiqua"/>
              </a:rPr>
              <a:t>Выделите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фрагмент текста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перенесите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новую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строку.</a:t>
            </a:r>
            <a:endParaRPr sz="750">
              <a:latin typeface="Book Antiqua"/>
              <a:cs typeface="Book Antiqua"/>
            </a:endParaRPr>
          </a:p>
          <a:p>
            <a:pPr lvl="1" marL="399415" indent="-215900">
              <a:lnSpc>
                <a:spcPts val="894"/>
              </a:lnSpc>
              <a:buAutoNum type="arabicPeriod" startAt="3"/>
              <a:tabLst>
                <a:tab pos="399415" algn="l"/>
              </a:tabLst>
            </a:pPr>
            <a:r>
              <a:rPr dirty="0" sz="750">
                <a:latin typeface="Book Antiqua"/>
                <a:cs typeface="Book Antiqua"/>
              </a:rPr>
              <a:t>Сохраните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файл.</a:t>
            </a:r>
            <a:endParaRPr sz="750">
              <a:latin typeface="Book Antiqua"/>
              <a:cs typeface="Book Antiqua"/>
            </a:endParaRPr>
          </a:p>
          <a:p>
            <a:pPr lvl="1" marL="399415" indent="-215900">
              <a:lnSpc>
                <a:spcPts val="894"/>
              </a:lnSpc>
              <a:buAutoNum type="arabicPeriod" startAt="3"/>
              <a:tabLst>
                <a:tab pos="399415" algn="l"/>
              </a:tabLst>
            </a:pPr>
            <a:r>
              <a:rPr dirty="0" sz="750">
                <a:latin typeface="Book Antiqua"/>
                <a:cs typeface="Book Antiqua"/>
              </a:rPr>
              <a:t>Отмените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действие.</a:t>
            </a:r>
            <a:endParaRPr sz="750">
              <a:latin typeface="Book Antiqua"/>
              <a:cs typeface="Book Antiqua"/>
            </a:endParaRPr>
          </a:p>
          <a:p>
            <a:pPr lvl="1" marL="399415" marR="63500" indent="-216535">
              <a:lnSpc>
                <a:spcPts val="890"/>
              </a:lnSpc>
              <a:spcBef>
                <a:spcPts val="35"/>
              </a:spcBef>
              <a:buAutoNum type="arabicPeriod" startAt="3"/>
              <a:tabLst>
                <a:tab pos="399415" algn="l"/>
              </a:tabLst>
            </a:pPr>
            <a:r>
              <a:rPr dirty="0" sz="750">
                <a:latin typeface="Book Antiqua"/>
                <a:cs typeface="Book Antiqua"/>
              </a:rPr>
              <a:t>Перейдите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конец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(нажав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комбинацию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клавиш)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напишите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некоторый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текст.</a:t>
            </a:r>
            <a:endParaRPr sz="750">
              <a:latin typeface="Book Antiqua"/>
              <a:cs typeface="Book Antiqua"/>
            </a:endParaRPr>
          </a:p>
          <a:p>
            <a:pPr lvl="1" marL="398145" marR="64135" indent="-205740">
              <a:lnSpc>
                <a:spcPts val="890"/>
              </a:lnSpc>
              <a:spcBef>
                <a:spcPts val="10"/>
              </a:spcBef>
              <a:buAutoNum type="arabicPeriod" startAt="3"/>
              <a:tabLst>
                <a:tab pos="399415" algn="l"/>
              </a:tabLst>
            </a:pPr>
            <a:r>
              <a:rPr dirty="0" sz="750">
                <a:latin typeface="Book Antiqua"/>
                <a:cs typeface="Book Antiqua"/>
              </a:rPr>
              <a:t>Перейдите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начало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(нажав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комбинацию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клавиш)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напишите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некоторый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текст.</a:t>
            </a:r>
            <a:endParaRPr sz="750">
              <a:latin typeface="Book Antiqua"/>
              <a:cs typeface="Book Antiqua"/>
            </a:endParaRPr>
          </a:p>
          <a:p>
            <a:pPr lvl="1" marL="399415" indent="-215900">
              <a:lnSpc>
                <a:spcPts val="869"/>
              </a:lnSpc>
              <a:buAutoNum type="arabicPeriod" startAt="3"/>
              <a:tabLst>
                <a:tab pos="399415" algn="l"/>
              </a:tabLst>
            </a:pPr>
            <a:r>
              <a:rPr dirty="0" sz="750">
                <a:latin typeface="Book Antiqua"/>
                <a:cs typeface="Book Antiqua"/>
              </a:rPr>
              <a:t>Сохраните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закройте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файл.</a:t>
            </a:r>
            <a:endParaRPr sz="750">
              <a:latin typeface="Book Antiqua"/>
              <a:cs typeface="Book Antiqua"/>
            </a:endParaRPr>
          </a:p>
          <a:p>
            <a:pPr marL="186055" marR="43180" indent="-135890">
              <a:lnSpc>
                <a:spcPts val="890"/>
              </a:lnSpc>
              <a:spcBef>
                <a:spcPts val="35"/>
              </a:spcBef>
              <a:buAutoNum type="arabicPeriod" startAt="5"/>
              <a:tabLst>
                <a:tab pos="187325" algn="l"/>
              </a:tabLst>
            </a:pPr>
            <a:r>
              <a:rPr dirty="0" sz="750">
                <a:latin typeface="Book Antiqua"/>
                <a:cs typeface="Book Antiqua"/>
              </a:rPr>
              <a:t>Откройте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исходным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текстом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некотором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языке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(напри-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мер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C или </a:t>
            </a:r>
            <a:r>
              <a:rPr dirty="0" sz="750" spc="-10">
                <a:latin typeface="Book Antiqua"/>
                <a:cs typeface="Book Antiqua"/>
              </a:rPr>
              <a:t>Java)</a:t>
            </a:r>
            <a:endParaRPr sz="750">
              <a:latin typeface="Book Antiqua"/>
              <a:cs typeface="Book Antiqua"/>
            </a:endParaRPr>
          </a:p>
          <a:p>
            <a:pPr marL="186055" marR="50165" indent="-135890">
              <a:lnSpc>
                <a:spcPts val="890"/>
              </a:lnSpc>
              <a:spcBef>
                <a:spcPts val="10"/>
              </a:spcBef>
              <a:buAutoNum type="arabicPeriod" startAt="5"/>
              <a:tabLst>
                <a:tab pos="187325" algn="l"/>
              </a:tabLst>
            </a:pPr>
            <a:r>
              <a:rPr dirty="0" sz="750" spc="10">
                <a:latin typeface="Book Antiqua"/>
                <a:cs typeface="Book Antiqua"/>
              </a:rPr>
              <a:t>Используя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меню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редактора,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включите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подсветку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синтаксиса,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включена,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выключите,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включена.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75"/>
              </a:spcBef>
              <a:buAutoNum type="arabicPeriod" startAt="5"/>
            </a:pPr>
            <a:endParaRPr sz="750">
              <a:latin typeface="Book Antiqua"/>
              <a:cs typeface="Book Antiqua"/>
            </a:endParaRPr>
          </a:p>
          <a:p>
            <a:pPr marL="141605" indent="-93345">
              <a:lnSpc>
                <a:spcPct val="100000"/>
              </a:lnSpc>
              <a:spcBef>
                <a:spcPts val="5"/>
              </a:spcBef>
              <a:buSzPct val="88235"/>
              <a:buAutoNum type="arabicPeriod" startAt="5"/>
              <a:tabLst>
                <a:tab pos="141605" algn="l"/>
              </a:tabLst>
            </a:pPr>
            <a:r>
              <a:rPr dirty="0" sz="850" b="1">
                <a:latin typeface="Book Antiqua"/>
                <a:cs typeface="Book Antiqua"/>
              </a:rPr>
              <a:t>4.</a:t>
            </a:r>
            <a:r>
              <a:rPr dirty="0" sz="850" spc="24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Содержание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отчёта</a:t>
            </a:r>
            <a:endParaRPr sz="850">
              <a:latin typeface="Book Antiqua"/>
              <a:cs typeface="Book Antiqua"/>
            </a:endParaRPr>
          </a:p>
          <a:p>
            <a:pPr marL="186690" indent="-135890">
              <a:lnSpc>
                <a:spcPts val="894"/>
              </a:lnSpc>
              <a:spcBef>
                <a:spcPts val="860"/>
              </a:spcBef>
              <a:buAutoNum type="arabicPeriod"/>
              <a:tabLst>
                <a:tab pos="186690" algn="l"/>
              </a:tabLst>
            </a:pPr>
            <a:r>
              <a:rPr dirty="0" sz="750">
                <a:latin typeface="Book Antiqua"/>
                <a:cs typeface="Book Antiqua"/>
              </a:rPr>
              <a:t>Титульный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лист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указанием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ФИО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студента.</a:t>
            </a:r>
            <a:endParaRPr sz="750">
              <a:latin typeface="Book Antiqua"/>
              <a:cs typeface="Book Antiqua"/>
            </a:endParaRPr>
          </a:p>
          <a:p>
            <a:pPr marL="186690" indent="-135890">
              <a:lnSpc>
                <a:spcPts val="894"/>
              </a:lnSpc>
              <a:buAutoNum type="arabicPeriod"/>
              <a:tabLst>
                <a:tab pos="186690" algn="l"/>
              </a:tabLst>
            </a:pPr>
            <a:r>
              <a:rPr dirty="0" sz="750">
                <a:latin typeface="Book Antiqua"/>
                <a:cs typeface="Book Antiqua"/>
              </a:rPr>
              <a:t>Формулировка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186690" indent="-135890">
              <a:lnSpc>
                <a:spcPts val="894"/>
              </a:lnSpc>
              <a:buAutoNum type="arabicPeriod"/>
              <a:tabLst>
                <a:tab pos="186690" algn="l"/>
              </a:tabLst>
            </a:pPr>
            <a:r>
              <a:rPr dirty="0" sz="750">
                <a:latin typeface="Book Antiqua"/>
                <a:cs typeface="Book Antiqua"/>
              </a:rPr>
              <a:t>Описание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задания:</a:t>
            </a:r>
            <a:endParaRPr sz="750">
              <a:latin typeface="Book Antiqua"/>
              <a:cs typeface="Book Antiqua"/>
            </a:endParaRPr>
          </a:p>
          <a:p>
            <a:pPr lvl="1" marL="398780" indent="-117475">
              <a:lnSpc>
                <a:spcPts val="894"/>
              </a:lnSpc>
              <a:buFont typeface="Book Antiqua"/>
              <a:buChar char="–"/>
              <a:tabLst>
                <a:tab pos="398780" algn="l"/>
              </a:tabLst>
            </a:pPr>
            <a:r>
              <a:rPr dirty="0" sz="750">
                <a:latin typeface="Book Antiqua"/>
                <a:cs typeface="Book Antiqua"/>
              </a:rPr>
              <a:t>скриншоты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(снимки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экрана),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фиксирующие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работы;</a:t>
            </a:r>
            <a:endParaRPr sz="750">
              <a:latin typeface="Book Antiqua"/>
              <a:cs typeface="Book Antiqua"/>
            </a:endParaRPr>
          </a:p>
          <a:p>
            <a:pPr lvl="1" marL="398780" indent="-117475">
              <a:lnSpc>
                <a:spcPts val="894"/>
              </a:lnSpc>
              <a:buFont typeface="Book Antiqua"/>
              <a:buChar char="–"/>
              <a:tabLst>
                <a:tab pos="398780" algn="l"/>
              </a:tabLst>
            </a:pPr>
            <a:r>
              <a:rPr dirty="0" sz="750">
                <a:latin typeface="Book Antiqua"/>
                <a:cs typeface="Book Antiqua"/>
              </a:rPr>
              <a:t>листинги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(исходный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код)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есть);</a:t>
            </a:r>
            <a:endParaRPr sz="750">
              <a:latin typeface="Book Antiqua"/>
              <a:cs typeface="Book Antiqua"/>
            </a:endParaRPr>
          </a:p>
          <a:p>
            <a:pPr lvl="1" marL="398145" marR="64135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399415" algn="l"/>
              </a:tabLst>
            </a:pPr>
            <a:r>
              <a:rPr dirty="0" sz="750" spc="10">
                <a:latin typeface="Book Antiqua"/>
                <a:cs typeface="Book Antiqua"/>
              </a:rPr>
              <a:t>результаты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(текст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снимок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 </a:t>
            </a:r>
            <a:r>
              <a:rPr dirty="0" sz="750" spc="10">
                <a:latin typeface="Book Antiqua"/>
                <a:cs typeface="Book Antiqua"/>
              </a:rPr>
              <a:t>зависимости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от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задания).</a:t>
            </a:r>
            <a:endParaRPr sz="750">
              <a:latin typeface="Book Antiqua"/>
              <a:cs typeface="Book Antiqua"/>
            </a:endParaRPr>
          </a:p>
          <a:p>
            <a:pPr marL="186690" indent="-135890">
              <a:lnSpc>
                <a:spcPts val="869"/>
              </a:lnSpc>
              <a:buAutoNum type="arabicPeriod"/>
              <a:tabLst>
                <a:tab pos="186690" algn="l"/>
              </a:tabLst>
            </a:pPr>
            <a:r>
              <a:rPr dirty="0" sz="750">
                <a:latin typeface="Book Antiqua"/>
                <a:cs typeface="Book Antiqua"/>
              </a:rPr>
              <a:t>Выводы,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согласованные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целью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186690" indent="-135890">
              <a:lnSpc>
                <a:spcPts val="894"/>
              </a:lnSpc>
              <a:buAutoNum type="arabicPeriod"/>
              <a:tabLst>
                <a:tab pos="186690" algn="l"/>
              </a:tabLst>
            </a:pPr>
            <a:r>
              <a:rPr dirty="0" sz="750">
                <a:latin typeface="Book Antiqua"/>
                <a:cs typeface="Book Antiqua"/>
              </a:rPr>
              <a:t>Ответы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контрольные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вопросы.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750">
              <a:latin typeface="Book Antiqua"/>
              <a:cs typeface="Book Antiqua"/>
            </a:endParaRPr>
          </a:p>
          <a:p>
            <a:pPr marL="5461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7.5.</a:t>
            </a:r>
            <a:r>
              <a:rPr dirty="0" sz="850" spc="26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Контрольные</a:t>
            </a:r>
            <a:r>
              <a:rPr dirty="0" sz="850" spc="5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вопросы</a:t>
            </a:r>
            <a:endParaRPr sz="850">
              <a:latin typeface="Book Antiqua"/>
              <a:cs typeface="Book Antiqua"/>
            </a:endParaRPr>
          </a:p>
          <a:p>
            <a:pPr marL="18669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186690" algn="l"/>
              </a:tabLst>
            </a:pPr>
            <a:r>
              <a:rPr dirty="0" sz="750">
                <a:latin typeface="Book Antiqua"/>
                <a:cs typeface="Book Antiqua"/>
              </a:rPr>
              <a:t>Какие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mc. Охарактеризуйте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их.</a:t>
            </a:r>
            <a:endParaRPr sz="750">
              <a:latin typeface="Book Antiqua"/>
              <a:cs typeface="Book Antiqua"/>
            </a:endParaRPr>
          </a:p>
          <a:p>
            <a:pPr marL="186055" marR="43180" indent="-135890">
              <a:lnSpc>
                <a:spcPts val="890"/>
              </a:lnSpc>
              <a:spcBef>
                <a:spcPts val="35"/>
              </a:spcBef>
              <a:buAutoNum type="arabicPeriod"/>
              <a:tabLst>
                <a:tab pos="187325" algn="l"/>
              </a:tabLst>
            </a:pPr>
            <a:r>
              <a:rPr dirty="0" sz="750" spc="-10">
                <a:latin typeface="Book Antiqua"/>
                <a:cs typeface="Book Antiqua"/>
              </a:rPr>
              <a:t>Какие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файлами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выполнить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shell,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мощью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меню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(комбинаций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клавиш)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mc?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Приведите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примеров.</a:t>
            </a:r>
            <a:endParaRPr sz="750">
              <a:latin typeface="Book Antiqua"/>
              <a:cs typeface="Book Antiqua"/>
            </a:endParaRPr>
          </a:p>
          <a:p>
            <a:pPr marL="186055" marR="43180" indent="-135890">
              <a:lnSpc>
                <a:spcPts val="890"/>
              </a:lnSpc>
              <a:spcBef>
                <a:spcPts val="10"/>
              </a:spcBef>
              <a:buAutoNum type="arabicPeriod"/>
              <a:tabLst>
                <a:tab pos="187325" algn="l"/>
              </a:tabLst>
            </a:pPr>
            <a:r>
              <a:rPr dirty="0" sz="750">
                <a:latin typeface="Book Antiqua"/>
                <a:cs typeface="Book Antiqua"/>
              </a:rPr>
              <a:t>Опишите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структура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меню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левой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(или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правой)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панели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mc,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характеристику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ко-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мандам.</a:t>
            </a:r>
            <a:endParaRPr sz="750">
              <a:latin typeface="Book Antiqua"/>
              <a:cs typeface="Book Antiqua"/>
            </a:endParaRPr>
          </a:p>
          <a:p>
            <a:pPr marL="186690" indent="-13589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86690" algn="l"/>
              </a:tabLst>
            </a:pPr>
            <a:r>
              <a:rPr dirty="0" sz="750">
                <a:latin typeface="Book Antiqua"/>
                <a:cs typeface="Book Antiqua"/>
              </a:rPr>
              <a:t>Опишите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структура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меню</a:t>
            </a:r>
            <a:r>
              <a:rPr dirty="0" sz="750" spc="265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Файл</a:t>
            </a:r>
            <a:r>
              <a:rPr dirty="0" baseline="8547" sz="975" spc="472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mc,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характеристику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командам.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941612" y="4591584"/>
            <a:ext cx="367030" cy="129539"/>
            <a:chOff x="1941612" y="4591584"/>
            <a:chExt cx="367030" cy="129539"/>
          </a:xfrm>
        </p:grpSpPr>
        <p:sp>
          <p:nvSpPr>
            <p:cNvPr id="8" name="object 8" descr=""/>
            <p:cNvSpPr/>
            <p:nvPr/>
          </p:nvSpPr>
          <p:spPr>
            <a:xfrm>
              <a:off x="1944152" y="4594124"/>
              <a:ext cx="361950" cy="124460"/>
            </a:xfrm>
            <a:custGeom>
              <a:avLst/>
              <a:gdLst/>
              <a:ahLst/>
              <a:cxnLst/>
              <a:rect l="l" t="t" r="r" b="b"/>
              <a:pathLst>
                <a:path w="361950" h="124460">
                  <a:moveTo>
                    <a:pt x="358072" y="0"/>
                  </a:moveTo>
                  <a:lnTo>
                    <a:pt x="188045" y="0"/>
                  </a:lnTo>
                  <a:lnTo>
                    <a:pt x="3295" y="0"/>
                  </a:lnTo>
                  <a:lnTo>
                    <a:pt x="0" y="3296"/>
                  </a:lnTo>
                  <a:lnTo>
                    <a:pt x="0" y="120629"/>
                  </a:lnTo>
                  <a:lnTo>
                    <a:pt x="3295" y="123925"/>
                  </a:lnTo>
                  <a:lnTo>
                    <a:pt x="358072" y="123925"/>
                  </a:lnTo>
                  <a:lnTo>
                    <a:pt x="361368" y="120629"/>
                  </a:lnTo>
                  <a:lnTo>
                    <a:pt x="361368" y="3296"/>
                  </a:lnTo>
                  <a:lnTo>
                    <a:pt x="35807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944152" y="4594124"/>
              <a:ext cx="361950" cy="124460"/>
            </a:xfrm>
            <a:custGeom>
              <a:avLst/>
              <a:gdLst/>
              <a:ahLst/>
              <a:cxnLst/>
              <a:rect l="l" t="t" r="r" b="b"/>
              <a:pathLst>
                <a:path w="361950" h="124460">
                  <a:moveTo>
                    <a:pt x="188045" y="0"/>
                  </a:moveTo>
                  <a:lnTo>
                    <a:pt x="354006" y="0"/>
                  </a:lnTo>
                  <a:lnTo>
                    <a:pt x="358072" y="0"/>
                  </a:lnTo>
                  <a:lnTo>
                    <a:pt x="361368" y="3296"/>
                  </a:lnTo>
                  <a:lnTo>
                    <a:pt x="361368" y="120629"/>
                  </a:lnTo>
                  <a:lnTo>
                    <a:pt x="358072" y="123925"/>
                  </a:lnTo>
                  <a:lnTo>
                    <a:pt x="3295" y="123925"/>
                  </a:lnTo>
                  <a:lnTo>
                    <a:pt x="0" y="120629"/>
                  </a:lnTo>
                  <a:lnTo>
                    <a:pt x="0" y="3296"/>
                  </a:lnTo>
                  <a:lnTo>
                    <a:pt x="3295" y="0"/>
                  </a:lnTo>
                  <a:lnTo>
                    <a:pt x="7362" y="0"/>
                  </a:lnTo>
                  <a:lnTo>
                    <a:pt x="173322" y="0"/>
                  </a:lnTo>
                  <a:lnTo>
                    <a:pt x="177388" y="0"/>
                  </a:lnTo>
                  <a:lnTo>
                    <a:pt x="183980" y="0"/>
                  </a:lnTo>
                  <a:lnTo>
                    <a:pt x="18804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948331" y="4589198"/>
            <a:ext cx="35306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95"/>
              </a:spcBef>
            </a:pPr>
            <a:r>
              <a:rPr dirty="0" sz="650" spc="-10">
                <a:latin typeface="Calibri"/>
                <a:cs typeface="Calibri"/>
              </a:rPr>
              <a:t>Команда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941619" y="4733223"/>
            <a:ext cx="436245" cy="129539"/>
            <a:chOff x="1941619" y="4733223"/>
            <a:chExt cx="436245" cy="129539"/>
          </a:xfrm>
        </p:grpSpPr>
        <p:sp>
          <p:nvSpPr>
            <p:cNvPr id="12" name="object 12" descr=""/>
            <p:cNvSpPr/>
            <p:nvPr/>
          </p:nvSpPr>
          <p:spPr>
            <a:xfrm>
              <a:off x="1944150" y="4735754"/>
              <a:ext cx="431165" cy="124460"/>
            </a:xfrm>
            <a:custGeom>
              <a:avLst/>
              <a:gdLst/>
              <a:ahLst/>
              <a:cxnLst/>
              <a:rect l="l" t="t" r="r" b="b"/>
              <a:pathLst>
                <a:path w="431164" h="124460">
                  <a:moveTo>
                    <a:pt x="427520" y="0"/>
                  </a:moveTo>
                  <a:lnTo>
                    <a:pt x="222770" y="0"/>
                  </a:lnTo>
                  <a:lnTo>
                    <a:pt x="3296" y="0"/>
                  </a:lnTo>
                  <a:lnTo>
                    <a:pt x="0" y="3296"/>
                  </a:lnTo>
                  <a:lnTo>
                    <a:pt x="0" y="120629"/>
                  </a:lnTo>
                  <a:lnTo>
                    <a:pt x="3296" y="123925"/>
                  </a:lnTo>
                  <a:lnTo>
                    <a:pt x="427520" y="123925"/>
                  </a:lnTo>
                  <a:lnTo>
                    <a:pt x="430817" y="120629"/>
                  </a:lnTo>
                  <a:lnTo>
                    <a:pt x="430817" y="3296"/>
                  </a:lnTo>
                  <a:lnTo>
                    <a:pt x="42752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944150" y="4735754"/>
              <a:ext cx="431165" cy="124460"/>
            </a:xfrm>
            <a:custGeom>
              <a:avLst/>
              <a:gdLst/>
              <a:ahLst/>
              <a:cxnLst/>
              <a:rect l="l" t="t" r="r" b="b"/>
              <a:pathLst>
                <a:path w="431164" h="124460">
                  <a:moveTo>
                    <a:pt x="222770" y="0"/>
                  </a:moveTo>
                  <a:lnTo>
                    <a:pt x="423454" y="0"/>
                  </a:lnTo>
                  <a:lnTo>
                    <a:pt x="427520" y="0"/>
                  </a:lnTo>
                  <a:lnTo>
                    <a:pt x="430817" y="3296"/>
                  </a:lnTo>
                  <a:lnTo>
                    <a:pt x="430817" y="120629"/>
                  </a:lnTo>
                  <a:lnTo>
                    <a:pt x="427520" y="123925"/>
                  </a:lnTo>
                  <a:lnTo>
                    <a:pt x="3296" y="123925"/>
                  </a:lnTo>
                  <a:lnTo>
                    <a:pt x="0" y="120629"/>
                  </a:lnTo>
                  <a:lnTo>
                    <a:pt x="0" y="3296"/>
                  </a:lnTo>
                  <a:lnTo>
                    <a:pt x="3296" y="0"/>
                  </a:lnTo>
                  <a:lnTo>
                    <a:pt x="7362" y="0"/>
                  </a:lnTo>
                  <a:lnTo>
                    <a:pt x="208046" y="0"/>
                  </a:lnTo>
                  <a:lnTo>
                    <a:pt x="212112" y="0"/>
                  </a:lnTo>
                  <a:lnTo>
                    <a:pt x="218704" y="0"/>
                  </a:lnTo>
                  <a:lnTo>
                    <a:pt x="222770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948331" y="4730828"/>
            <a:ext cx="422909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95"/>
              </a:spcBef>
            </a:pPr>
            <a:r>
              <a:rPr dirty="0" sz="650" spc="-10">
                <a:latin typeface="Calibri"/>
                <a:cs typeface="Calibri"/>
              </a:rPr>
              <a:t>Настройки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77367" y="4558789"/>
            <a:ext cx="3544570" cy="30924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48590" indent="-135890">
              <a:lnSpc>
                <a:spcPct val="100000"/>
              </a:lnSpc>
              <a:spcBef>
                <a:spcPts val="310"/>
              </a:spcBef>
              <a:buAutoNum type="arabicPeriod" startAt="5"/>
              <a:tabLst>
                <a:tab pos="148590" algn="l"/>
                <a:tab pos="1753870" algn="l"/>
              </a:tabLst>
            </a:pPr>
            <a:r>
              <a:rPr dirty="0" sz="750">
                <a:latin typeface="Book Antiqua"/>
                <a:cs typeface="Book Antiqua"/>
              </a:rPr>
              <a:t>Опишите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структура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меню</a:t>
            </a:r>
            <a:r>
              <a:rPr dirty="0" sz="750">
                <a:latin typeface="Book Antiqua"/>
                <a:cs typeface="Book Antiqua"/>
              </a:rPr>
              <a:t>	mc,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характеристику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командам.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ct val="100000"/>
              </a:lnSpc>
              <a:spcBef>
                <a:spcPts val="215"/>
              </a:spcBef>
              <a:buAutoNum type="arabicPeriod" startAt="5"/>
              <a:tabLst>
                <a:tab pos="148590" algn="l"/>
                <a:tab pos="1823720" algn="l"/>
              </a:tabLst>
            </a:pPr>
            <a:r>
              <a:rPr dirty="0" sz="750">
                <a:latin typeface="Book Antiqua"/>
                <a:cs typeface="Book Antiqua"/>
              </a:rPr>
              <a:t>Опишите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структура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меню</a:t>
            </a:r>
            <a:r>
              <a:rPr dirty="0" sz="750">
                <a:latin typeface="Book Antiqua"/>
                <a:cs typeface="Book Antiqua"/>
              </a:rPr>
              <a:t>	mc,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характеристику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командам.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25056" y="4837900"/>
            <a:ext cx="4135120" cy="711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00025" indent="-125730">
              <a:lnSpc>
                <a:spcPts val="894"/>
              </a:lnSpc>
              <a:spcBef>
                <a:spcPts val="120"/>
              </a:spcBef>
              <a:buAutoNum type="arabicPeriod" startAt="7"/>
              <a:tabLst>
                <a:tab pos="200025" algn="l"/>
              </a:tabLst>
            </a:pPr>
            <a:r>
              <a:rPr dirty="0" sz="750">
                <a:latin typeface="Book Antiqua"/>
                <a:cs typeface="Book Antiqua"/>
              </a:rPr>
              <a:t>Назовите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характеристику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встроенным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mc.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 startAt="7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Назовите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характеристику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встроенного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mc.</a:t>
            </a:r>
            <a:endParaRPr sz="750">
              <a:latin typeface="Book Antiqua"/>
              <a:cs typeface="Book Antiqua"/>
            </a:endParaRPr>
          </a:p>
          <a:p>
            <a:pPr marL="200025" marR="5080" indent="-135890">
              <a:lnSpc>
                <a:spcPts val="890"/>
              </a:lnSpc>
              <a:spcBef>
                <a:spcPts val="35"/>
              </a:spcBef>
              <a:buAutoNum type="arabicPeriod" startAt="7"/>
              <a:tabLst>
                <a:tab pos="201295" algn="l"/>
              </a:tabLst>
            </a:pP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характеристику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средствам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mc,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позволяют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создавать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меню,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определяе-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мые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пользователем.</a:t>
            </a:r>
            <a:endParaRPr sz="750">
              <a:latin typeface="Book Antiqua"/>
              <a:cs typeface="Book Antiqua"/>
            </a:endParaRPr>
          </a:p>
          <a:p>
            <a:pPr marL="200025" marR="5080" indent="-187960">
              <a:lnSpc>
                <a:spcPts val="890"/>
              </a:lnSpc>
              <a:spcBef>
                <a:spcPts val="10"/>
              </a:spcBef>
              <a:buAutoNum type="arabicPeriod" startAt="7"/>
              <a:tabLst>
                <a:tab pos="201295" algn="l"/>
              </a:tabLst>
            </a:pP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характеристику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средствам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mc,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позволяют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выполнять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действия,</a:t>
            </a:r>
            <a:r>
              <a:rPr dirty="0" sz="750" spc="-10">
                <a:latin typeface="Book Antiqua"/>
                <a:cs typeface="Book Antiqua"/>
              </a:rPr>
              <a:t> опреде-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10">
                <a:latin typeface="Book Antiqua"/>
                <a:cs typeface="Book Antiqua"/>
              </a:rPr>
              <a:t>ляемые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пользователем,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над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текущим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файлом.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2026-03-20T17:47:10Z</dcterms:created>
  <dcterms:modified xsi:type="dcterms:W3CDTF">2026-03-20T17:47:10Z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2026-03-20T00:00:00Z</vt:filetime>
  </property>
  <property fmtid="{D5CDD505-2E9C-101B-9397-08002B2CF9AE}" pid="3" name="LastSaved">
    <vt:filetime>2026-03-20T00:00:00Z</vt:filetime>
  </property>
  <property fmtid="{D5CDD505-2E9C-101B-9397-08002B2CF9AE}" pid="4" name="Producer">
    <vt:lpwstr>3-Heights(TM) PDF Security Shell 4.8.25.2 (http://www.pdf-tools.com)</vt:lpwstr>
  </property>
</Properties>
</file>